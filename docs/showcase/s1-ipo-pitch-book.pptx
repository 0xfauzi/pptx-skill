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"/>
          <c:y val="0.06"/>
          <c:w val="0.78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A7B2C3"/>
            </a:solidFill>
            <a:ln>
              <a:noFill/>
            </a:ln>
          </c:spPr>
          <c:dPt>
            <c:idx val="5"/>
            <c:spPr>
              <a:solidFill>
                <a:srgbClr val="1B2F55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Q1 25</c:v>
                </c:pt>
                <c:pt idx="1">
                  <c:v>Q2 25</c:v>
                </c:pt>
                <c:pt idx="2">
                  <c:v>Q3 25</c:v>
                </c:pt>
                <c:pt idx="3">
                  <c:v>Q4 25</c:v>
                </c:pt>
                <c:pt idx="4">
                  <c:v>Q1 26</c:v>
                </c:pt>
                <c:pt idx="5">
                  <c:v>Q2 26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376</c:v>
                </c:pt>
                <c:pt idx="1">
                  <c:v>787</c:v>
                </c:pt>
                <c:pt idx="2">
                  <c:v>1382</c:v>
                </c:pt>
                <c:pt idx="3">
                  <c:v>2040</c:v>
                </c:pt>
                <c:pt idx="4">
                  <c:v>4731</c:v>
                </c:pt>
                <c:pt idx="5">
                  <c:v>11555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 (pay-for-intelligence)</c:v>
                </c:pt>
              </c:strCache>
            </c:strRef>
          </c:tx>
          <c:spPr>
            <a:solidFill>
              <a:srgbClr val="1B2F55"/>
            </a:solidFill>
            <a:ln w="9525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75%</a:t>
                    </a:r>
                  </a:p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$288m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FFFFFF"/>
                      </a:solidFill>
                      <a:latin typeface="Liberation San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83%</a:t>
                    </a:r>
                  </a:p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$3.8bn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FFFFFF"/>
                      </a:solidFill>
                      <a:latin typeface="Liberation San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80%</a:t>
                    </a:r>
                  </a:p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$13.1bn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FFFFFF"/>
                      </a:solidFill>
                      <a:latin typeface="Liberation San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FFFFFF"/>
                    </a:solidFill>
                    <a:latin typeface="Liberation 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H1 2026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75</c:v>
                </c:pt>
                <c:pt idx="1">
                  <c:v>83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rgbClr val="A7B2C3"/>
            </a:solidFill>
            <a:ln w="9525">
              <a:solidFill>
                <a:srgbClr val="FFFFFF"/>
              </a:solidFill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H1 2026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25</c:v>
                </c:pt>
                <c:pt idx="1">
                  <c:v>17</c:v>
                </c:pt>
                <c:pt idx="2">
                  <c:v>20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legend>
      <c:legendPos val="t"/>
      <c:overlay val="0"/>
      <c:txPr>
        <a:bodyPr/>
        <a:lstStyle/>
        <a:p>
          <a:pPr>
            <a:defRPr sz="700" b="0" i="0">
              <a:solidFill>
                <a:srgbClr val="16181D"/>
              </a:solidFill>
              <a:latin typeface="Liberation Sans"/>
            </a:defRPr>
          </a:pPr>
        </a:p>
      </c:txPr>
    </c:legend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7"/>
          <c:y val="0.06"/>
          <c:w val="0.71"/>
          <c:h val="0.8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Typical reduction</c:v>
                </c:pt>
              </c:strCache>
            </c:strRef>
          </c:tx>
          <c:spPr>
            <a:solidFill>
              <a:srgbClr val="1B2F55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~40%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FFFFFF"/>
                      </a:solidFill>
                      <a:latin typeface="Liberation San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~25%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FFFFFF"/>
                      </a:solidFill>
                      <a:latin typeface="Liberation San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FFFFFF"/>
                    </a:solidFill>
                    <a:latin typeface="Liberation 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Opus 5.5 vs Opus 5</c:v>
                </c:pt>
                <c:pt idx="1">
                  <c:v>Fable 5.1 vs Fable 5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40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 to</c:v>
                </c:pt>
              </c:strCache>
            </c:strRef>
          </c:tx>
          <c:spPr>
            <a:noFill/>
            <a:ln w="12700">
              <a:solidFill>
                <a:srgbClr val="1B2F55"/>
              </a:solidFill>
              <a:prstDash val="dash"/>
            </a:ln>
          </c:spPr>
          <c:cat>
            <c:strRef>
              <c:f>Sheet1!$A$2:$A$3</c:f>
              <c:strCache>
                <c:ptCount val="2"/>
                <c:pt idx="0">
                  <c:v>Opus 5.5 vs Opus 5</c:v>
                </c:pt>
                <c:pt idx="1">
                  <c:v>Fable 5.1 vs Fable 5</c:v>
                </c:pt>
              </c:strCache>
            </c:strRef>
          </c:cat>
          <c:val>
            <c:numRef>
              <c:f>Sheet1!$C$2:$C$3</c:f>
              <c:numCache>
                <c:formatCode>0</c:formatCode>
                <c:ptCount val="2"/>
                <c:pt idx="0">
                  <c:v>0</c:v>
                </c:pt>
                <c:pt idx="1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Gap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Opus 5.5 vs Opus 5</c:v>
                </c:pt>
                <c:pt idx="1">
                  <c:v>Fable 5.1 vs Fable 5</c:v>
                </c:pt>
              </c:strCache>
            </c:strRef>
          </c:cat>
          <c:val>
            <c:numRef>
              <c:f>Sheet1!$D$2:$D$3</c:f>
              <c:numCache>
                <c:formatCode>0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Carrier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delete val="1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up to 45%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Opus 5.5 vs Opus 5</c:v>
                </c:pt>
                <c:pt idx="1">
                  <c:v>Fable 5.1 vs Fable 5</c:v>
                </c:pt>
              </c:strCache>
            </c:strRef>
          </c:cat>
          <c:val>
            <c:numRef>
              <c:f>Sheet1!$E$2:$E$3</c:f>
              <c:numCache>
                <c:formatCode>0</c:formatCode>
                <c:ptCount val="2"/>
                <c:pt idx="0">
                  <c:v>40</c:v>
                </c:pt>
                <c:pt idx="1">
                  <c:v>40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4"/>
          <c:w val="0.68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A7B2C3"/>
            </a:solidFill>
            <a:ln>
              <a:noFill/>
            </a:ln>
          </c:spPr>
          <c:dPt>
            <c:idx val="2"/>
            <c:spPr>
              <a:solidFill>
                <a:srgbClr val="1B2F55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41: too small</a:t>
                    </a:r>
                  </a:p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to show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41</c:v>
                </c:pt>
                <c:pt idx="1">
                  <c:v>386</c:v>
                </c:pt>
                <c:pt idx="2">
                  <c:v>4585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4"/>
          <c:y val="0.04"/>
          <c:w val="0.92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A7B2C3"/>
            </a:solidFill>
            <a:ln>
              <a:noFill/>
            </a:ln>
          </c:spPr>
          <c:dPt>
            <c:idx val="1"/>
            <c:spPr>
              <a:solidFill>
                <a:srgbClr val="1B2F55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H1 2025</c:v>
                </c:pt>
                <c:pt idx="1">
                  <c:v>H1 2026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1163</c:v>
                </c:pt>
                <c:pt idx="1">
                  <c:v>16286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3"/>
          <c:y val="0.03"/>
          <c:w val="0.84"/>
          <c:h val="0.9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at $100k+ TTM revenue (log scale)</c:v>
                </c:pt>
              </c:strCache>
            </c:strRef>
          </c:tx>
          <c:spPr>
            <a:ln w="15875">
              <a:solidFill>
                <a:srgbClr val="1B2F55"/>
              </a:solidFill>
            </a:ln>
          </c:spPr>
          <c:marker>
            <c:symbol val="circle"/>
            <c:size val="5"/>
            <c:spPr>
              <a:solidFill>
                <a:srgbClr val="1B2F55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Dec 23</a:t>
                    </a:r>
                  </a:p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~20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Dec 24</a:t>
                    </a:r>
                  </a:p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~200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Mar 25</a:t>
                    </a:r>
                  </a:p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~400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Jun 25</a:t>
                    </a:r>
                  </a:p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&gt;600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Sep 25</a:t>
                    </a:r>
                  </a:p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&gt;950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Dec 25</a:t>
                    </a:r>
                  </a:p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~1,500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Jun 26</a:t>
                    </a:r>
                  </a:p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&gt;6,000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Sep 26</a:t>
                    </a:r>
                  </a:p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&gt;11,900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Sheet1!$A$2:$A$9</c:f>
              <c:numCache>
                <c:formatCode>#,##0</c:formatCode>
                <c:ptCount val="8"/>
                <c:pt idx="0">
                  <c:v>0</c:v>
                </c:pt>
                <c:pt idx="1">
                  <c:v>12</c:v>
                </c:pt>
                <c:pt idx="2">
                  <c:v>15</c:v>
                </c:pt>
                <c:pt idx="3">
                  <c:v>18</c:v>
                </c:pt>
                <c:pt idx="4">
                  <c:v>21</c:v>
                </c:pt>
                <c:pt idx="5">
                  <c:v>24</c:v>
                </c:pt>
                <c:pt idx="6">
                  <c:v>30</c:v>
                </c:pt>
                <c:pt idx="7">
                  <c:v>33</c:v>
                </c:pt>
              </c:numCache>
            </c:numRef>
          </c:xVal>
          <c:yVal>
            <c:numRef>
              <c:f>Sheet1!$B$2:$B$9</c:f>
              <c:numCache>
                <c:formatCode>#,##0</c:formatCode>
                <c:ptCount val="8"/>
                <c:pt idx="0">
                  <c:v>1.301</c:v>
                </c:pt>
                <c:pt idx="1">
                  <c:v>2.301</c:v>
                </c:pt>
                <c:pt idx="2">
                  <c:v>2.6021</c:v>
                </c:pt>
                <c:pt idx="3">
                  <c:v>2.7782</c:v>
                </c:pt>
                <c:pt idx="4">
                  <c:v>2.9777</c:v>
                </c:pt>
                <c:pt idx="5">
                  <c:v>3.1761</c:v>
                </c:pt>
                <c:pt idx="6">
                  <c:v>3.7782</c:v>
                </c:pt>
                <c:pt idx="7">
                  <c:v>4.0755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max val="36.5"/>
          <c:min val="-1.5"/>
        </c:scaling>
        <c:delete val="0"/>
        <c:axPos val="b"/>
        <c:numFmt formatCode="0" sourceLinked="0"/>
        <c:majorTickMark val="none"/>
        <c:minorTickMark val="none"/>
        <c:tickLblPos val="none"/>
        <c:spPr>
          <a:ln w="9525">
            <a:solidFill>
              <a:srgbClr val="C3CAD4"/>
            </a:solidFill>
          </a:ln>
        </c:spPr>
        <c:crossAx val="-2129643912"/>
        <c:crosses val="autoZero"/>
        <c:crossBetween val="midCat"/>
        <c:majorUnit val="3.0"/>
      </c:valAx>
      <c:valAx>
        <c:axId val="-2129643912"/>
        <c:scaling>
          <c:orientation val="minMax"/>
          <c:max val="4.45"/>
          <c:min val="1.0"/>
        </c:scaling>
        <c:delete/>
        <c:axPos val="l"/>
        <c:numFmt formatCode="General" sourceLinked="1"/>
        <c:majorTickMark val="out"/>
        <c:minorTickMark val="none"/>
        <c:tickLblPos val="nextTo"/>
        <c:crossAx val="-2128940872"/>
        <c:crosses val="min"/>
        <c:crossBetween val="midCat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five customers (Halden &amp; Rowe: 100% less the S-1 figure)</c:v>
                </c:pt>
              </c:strCache>
            </c:strRef>
          </c:tx>
          <c:spPr>
            <a:solidFill>
              <a:srgbClr val="946500"/>
            </a:solidFill>
            <a:ln w="9525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~36%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FFFFFF"/>
                      </a:solidFill>
                      <a:latin typeface="Liberation San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~21%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FFFFFF"/>
                      </a:solidFill>
                      <a:latin typeface="Liberation San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FFFFFF"/>
                    </a:solidFill>
                    <a:latin typeface="Liberation 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Q1 2026</c:v>
                </c:pt>
                <c:pt idx="1">
                  <c:v>Q3 2026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36</c:v>
                </c:pt>
                <c:pt idx="1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Outside the top five (S-1, approximate)</c:v>
                </c:pt>
              </c:strCache>
            </c:strRef>
          </c:tx>
          <c:spPr>
            <a:solidFill>
              <a:srgbClr val="1B2F55"/>
            </a:solidFill>
            <a:ln w="9525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~64%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FFFFFF"/>
                      </a:solidFill>
                      <a:latin typeface="Liberation San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FFFFFF"/>
                        </a:solidFill>
                        <a:latin typeface="Liberation Sans"/>
                      </a:rPr>
                      <a:t>~79%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FFFFFF"/>
                      </a:solidFill>
                      <a:latin typeface="Liberation San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FFFFFF"/>
                    </a:solidFill>
                    <a:latin typeface="Liberation 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Q1 2026</c:v>
                </c:pt>
                <c:pt idx="1">
                  <c:v>Q3 2026</c:v>
                </c:pt>
              </c:strCache>
            </c:strRef>
          </c:cat>
          <c:val>
            <c:numRef>
              <c:f>Sheet1!$C$2:$C$3</c:f>
              <c:numCache>
                <c:formatCode>0</c:formatCode>
                <c:ptCount val="2"/>
                <c:pt idx="0">
                  <c:v>64</c:v>
                </c:pt>
                <c:pt idx="1">
                  <c:v>79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9"/>
          <c:y val="0.1"/>
          <c:w val="0.79"/>
          <c:h val="0.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2F55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Q1 25</c:v>
                </c:pt>
                <c:pt idx="1">
                  <c:v>Q2 25</c:v>
                </c:pt>
                <c:pt idx="2">
                  <c:v>Q3 25</c:v>
                </c:pt>
                <c:pt idx="3">
                  <c:v>Q4 25</c:v>
                </c:pt>
                <c:pt idx="4">
                  <c:v>Q1 26</c:v>
                </c:pt>
                <c:pt idx="5">
                  <c:v>Q2 26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376</c:v>
                </c:pt>
                <c:pt idx="1">
                  <c:v>787</c:v>
                </c:pt>
                <c:pt idx="2">
                  <c:v>1382</c:v>
                </c:pt>
                <c:pt idx="3">
                  <c:v>2040</c:v>
                </c:pt>
                <c:pt idx="4">
                  <c:v>4731</c:v>
                </c:pt>
                <c:pt idx="5">
                  <c:v>11555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Compute and infrastructure</c:v>
                </c:pt>
              </c:strCache>
            </c:strRef>
          </c:tx>
          <c:spPr>
            <a:solidFill>
              <a:srgbClr val="A7B2C3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Q1 25</c:v>
                </c:pt>
                <c:pt idx="1">
                  <c:v>Q2 25</c:v>
                </c:pt>
                <c:pt idx="2">
                  <c:v>Q3 25</c:v>
                </c:pt>
                <c:pt idx="3">
                  <c:v>Q4 25</c:v>
                </c:pt>
                <c:pt idx="4">
                  <c:v>Q1 26</c:v>
                </c:pt>
                <c:pt idx="5">
                  <c:v>Q2 26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944</c:v>
                </c:pt>
                <c:pt idx="1">
                  <c:v>1390</c:v>
                </c:pt>
                <c:pt idx="2">
                  <c:v>2047</c:v>
                </c:pt>
                <c:pt idx="3">
                  <c:v>2945</c:v>
                </c:pt>
                <c:pt idx="4">
                  <c:v>3387</c:v>
                </c:pt>
                <c:pt idx="5">
                  <c:v>5558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legend>
      <c:legendPos val="t"/>
      <c:overlay val="0"/>
      <c:txPr>
        <a:bodyPr/>
        <a:lstStyle/>
        <a:p>
          <a:pPr>
            <a:defRPr sz="700" b="0" i="0">
              <a:solidFill>
                <a:srgbClr val="16181D"/>
              </a:solidFill>
              <a:latin typeface="Liberation Sans"/>
            </a:defRPr>
          </a:pPr>
        </a:p>
      </c:txPr>
    </c:legend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7"/>
          <c:y val="0.04"/>
          <c:w val="0.81"/>
          <c:h val="0.6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GAAP operating margin</c:v>
                </c:pt>
              </c:strCache>
            </c:strRef>
          </c:tx>
          <c:spPr>
            <a:ln w="19050">
              <a:solidFill>
                <a:srgbClr val="A7B2C3"/>
              </a:solidFill>
            </a:ln>
          </c:spPr>
          <c:marker>
            <c:symbol val="circle"/>
            <c:size val="5"/>
            <c:spPr>
              <a:solidFill>
                <a:srgbClr val="A7B2C3"/>
              </a:solidFill>
            </c:spPr>
          </c:marker>
          <c:cat>
            <c:strRef>
              <c:f>Sheet1!$A$2:$A$7</c:f>
              <c:strCache>
                <c:ptCount val="6"/>
                <c:pt idx="0">
                  <c:v>Q1 25</c:v>
                </c:pt>
                <c:pt idx="1">
                  <c:v>Q2 25</c:v>
                </c:pt>
                <c:pt idx="2">
                  <c:v>Q3 25</c:v>
                </c:pt>
                <c:pt idx="3">
                  <c:v>Q4 25</c:v>
                </c:pt>
                <c:pt idx="4">
                  <c:v>Q1 26</c:v>
                </c:pt>
                <c:pt idx="5">
                  <c:v>Q2 26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-249</c:v>
                </c:pt>
                <c:pt idx="1">
                  <c:v>-152</c:v>
                </c:pt>
                <c:pt idx="2">
                  <c:v>-224</c:v>
                </c:pt>
                <c:pt idx="3">
                  <c:v>-139</c:v>
                </c:pt>
                <c:pt idx="4">
                  <c:v>-35</c:v>
                </c:pt>
                <c:pt idx="5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Adjusted operating margin</c:v>
                </c:pt>
              </c:strCache>
            </c:strRef>
          </c:tx>
          <c:spPr>
            <a:ln w="19050">
              <a:solidFill>
                <a:srgbClr val="1B2F55"/>
              </a:solidFill>
            </a:ln>
          </c:spPr>
          <c:marker>
            <c:symbol val="circle"/>
            <c:size val="5"/>
            <c:spPr>
              <a:solidFill>
                <a:srgbClr val="1B2F55"/>
              </a:solidFill>
            </c:spPr>
          </c:marker>
          <c:cat>
            <c:strRef>
              <c:f>Sheet1!$A$2:$A$7</c:f>
              <c:strCache>
                <c:ptCount val="6"/>
                <c:pt idx="0">
                  <c:v>Q1 25</c:v>
                </c:pt>
                <c:pt idx="1">
                  <c:v>Q2 25</c:v>
                </c:pt>
                <c:pt idx="2">
                  <c:v>Q3 25</c:v>
                </c:pt>
                <c:pt idx="3">
                  <c:v>Q4 25</c:v>
                </c:pt>
                <c:pt idx="4">
                  <c:v>Q1 26</c:v>
                </c:pt>
                <c:pt idx="5">
                  <c:v>Q2 26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-221</c:v>
                </c:pt>
                <c:pt idx="1">
                  <c:v>-129</c:v>
                </c:pt>
                <c:pt idx="2">
                  <c:v>-93</c:v>
                </c:pt>
                <c:pt idx="3">
                  <c:v>-84</c:v>
                </c:pt>
                <c:pt idx="4">
                  <c:v>-13</c:v>
                </c:pt>
                <c:pt idx="5">
                  <c:v>19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/>
        <c:delete val="0"/>
        <c:axPos val="b"/>
        <c:majorTickMark val="none"/>
        <c:minorTickMark val="none"/>
        <c:tickLblPos val="low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2140495176"/>
        <c:crosses val="min"/>
        <c:auto val="1"/>
        <c:lblAlgn val="ctr"/>
        <c:lblOffset val="100"/>
        <c:noMultiLvlLbl val="0"/>
      </c:catAx>
      <c:valAx>
        <c:axId val="2140495176"/>
        <c:scaling>
          <c:max val="100.0"/>
          <c:min val="-250.0"/>
        </c:scaling>
        <c:delete val="0"/>
        <c:axPos val="l"/>
        <c:majorGridlines>
          <c:spPr>
            <a:ln w="6350">
              <a:solidFill>
                <a:srgbClr val="C3CAD4"/>
              </a:solidFill>
            </a:ln>
          </c:spPr>
        </c:majorGridlines>
        <c:numFmt formatCode="0&quot;%&quot;;(0&quot;%&quot;)" sourceLinked="0"/>
        <c:majorTickMark val="out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2118791784"/>
        <c:crosses val="autoZero"/>
        <c:crossBetween val="between"/>
        <c:majorUnit val="50.0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1"/>
          <c:w val="0.68"/>
          <c:h val="0.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as the S-1 states it ($bn)</c:v>
                </c:pt>
              </c:strCache>
            </c:strRef>
          </c:tx>
          <c:spPr>
            <a:solidFill>
              <a:srgbClr val="1B2F55"/>
            </a:solidFill>
            <a:ln w="12700">
              <a:solidFill>
                <a:srgbClr val="1B2F55"/>
              </a:solidFill>
            </a:ln>
          </c:spPr>
          <c:dPt>
            <c:idx val="7"/>
            <c:spPr>
              <a:solidFill>
                <a:srgbClr val="FFFFFF"/>
              </a:solidFill>
              <a:ln w="12700">
                <a:solidFill>
                  <a:srgbClr val="1B2F55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at least ~$114.5bn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at least $110.0bn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at least $44.9bn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~$161.2bn rent, excl. interest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up to $120.5bn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up to ~$44.6bn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~$41.3bn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&gt;$20.0bn if fully procured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Google (Cloud)</c:v>
                </c:pt>
                <c:pt idx="1">
                  <c:v>Amazon (AWS)</c:v>
                </c:pt>
                <c:pt idx="2">
                  <c:v>Microsoft</c:v>
                </c:pt>
                <c:pt idx="3">
                  <c:v>Broadcom TPU leases</c:v>
                </c:pt>
                <c:pt idx="4">
                  <c:v>SpaceXAI (NVIDIA)</c:v>
                </c:pt>
                <c:pt idx="5">
                  <c:v>Nscale (NVIDIA)</c:v>
                </c:pt>
                <c:pt idx="6">
                  <c:v>Lambda (NVIDIA)</c:v>
                </c:pt>
                <c:pt idx="7">
                  <c:v>AMD (Helios MI450)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114.5</c:v>
                </c:pt>
                <c:pt idx="1">
                  <c:v>110.0</c:v>
                </c:pt>
                <c:pt idx="2">
                  <c:v>44.9</c:v>
                </c:pt>
                <c:pt idx="3">
                  <c:v>161.2</c:v>
                </c:pt>
                <c:pt idx="4">
                  <c:v>120.5</c:v>
                </c:pt>
                <c:pt idx="5">
                  <c:v>44.6</c:v>
                </c:pt>
                <c:pt idx="6">
                  <c:v>41.3</c:v>
                </c:pt>
                <c:pt idx="7">
                  <c:v>20.0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42"/>
          <c:y val="0.02"/>
          <c:w val="0.56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$bn a year</c:v>
                </c:pt>
              </c:strCache>
            </c:strRef>
          </c:tx>
          <c:spPr>
            <a:solidFill>
              <a:srgbClr val="946500"/>
            </a:solidFill>
            <a:ln>
              <a:noFill/>
            </a:ln>
          </c:spPr>
          <c:dPt>
            <c:idx val="3"/>
            <c:spPr>
              <a:solidFill>
                <a:srgbClr val="0E6E70"/>
              </a:solidFill>
            </c:spPr>
          </c:dPt>
          <c:dLbls>
            <c:numFmt formatCode="&quot;$&quot;0.0&quot;bn&quot;" sourceLinked="0"/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Compute expense, H1 2026 x2</c:v>
                </c:pt>
                <c:pt idx="1">
                  <c:v>Compute expense, Q2 2026 x4</c:v>
                </c:pt>
                <c:pt idx="2">
                  <c:v>Google, Amazon, Microsoft minimums, straight-line</c:v>
                </c:pt>
                <c:pt idx="3">
                  <c:v>SpaceXAI at full delivery, ~$3.1bn a month x12</c:v>
                </c:pt>
                <c:pt idx="4">
                  <c:v>Revenue, Q2 2026 x4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17.9</c:v>
                </c:pt>
                <c:pt idx="1">
                  <c:v>22.2</c:v>
                </c:pt>
                <c:pt idx="2">
                  <c:v>33.4</c:v>
                </c:pt>
                <c:pt idx="3">
                  <c:v>37.2</c:v>
                </c:pt>
                <c:pt idx="4">
                  <c:v>46.2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3"/>
          <c:y val="0.08"/>
          <c:w val="0.8"/>
          <c:h val="0.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Carrying value ($bn)</c:v>
                </c:pt>
              </c:strCache>
            </c:strRef>
          </c:tx>
          <c:spPr>
            <a:solidFill>
              <a:srgbClr val="A7B2C3"/>
            </a:solidFill>
            <a:ln>
              <a:noFill/>
            </a:ln>
          </c:spPr>
          <c:dPt>
            <c:idx val="6"/>
            <c:spPr>
              <a:solidFill>
                <a:srgbClr val="1B2F55"/>
              </a:solidFill>
            </c:spPr>
          </c:dPt>
          <c:dPt>
            <c:idx val="7"/>
            <c:spPr>
              <a:solidFill>
                <a:srgbClr val="1B2F55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0.1</c:v>
                </c:pt>
                <c:pt idx="1">
                  <c:v>1.0</c:v>
                </c:pt>
                <c:pt idx="2">
                  <c:v>0.4</c:v>
                </c:pt>
                <c:pt idx="3">
                  <c:v>1.3</c:v>
                </c:pt>
                <c:pt idx="4">
                  <c:v>11.7</c:v>
                </c:pt>
                <c:pt idx="5">
                  <c:v>15.2</c:v>
                </c:pt>
                <c:pt idx="6">
                  <c:v>62.5</c:v>
                </c:pt>
                <c:pt idx="7">
                  <c:v>65.2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7"/>
          <c:y val="0.02"/>
          <c:w val="0.7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A7B2C3"/>
            </a:solidFill>
            <a:ln>
              <a:noFill/>
            </a:ln>
          </c:spPr>
          <c:dPt>
            <c:idx val="0"/>
            <c:spPr>
              <a:solidFill>
                <a:srgbClr val="1B2F55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Anthropic (Q2 2026)</c:v>
                </c:pt>
                <c:pt idx="1">
                  <c:v>ServiceNow</c:v>
                </c:pt>
                <c:pt idx="2">
                  <c:v>Palantir</c:v>
                </c:pt>
                <c:pt idx="3">
                  <c:v>Snowflake</c:v>
                </c:pt>
                <c:pt idx="4">
                  <c:v>CrowdStrike</c:v>
                </c:pt>
                <c:pt idx="5">
                  <c:v>Datadog</c:v>
                </c:pt>
                <c:pt idx="6">
                  <c:v>Cloudflare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11555.0</c:v>
                </c:pt>
                <c:pt idx="1">
                  <c:v>3987.0</c:v>
                </c:pt>
                <c:pt idx="2">
                  <c:v>1935.5</c:v>
                </c:pt>
                <c:pt idx="3">
                  <c:v>1546.8</c:v>
                </c:pt>
                <c:pt idx="4">
                  <c:v>1470.9</c:v>
                </c:pt>
                <c:pt idx="5">
                  <c:v>1121.5</c:v>
                </c:pt>
                <c:pt idx="6">
                  <c:v>696.1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5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12"/>
          <c:y val="0.1"/>
          <c:w val="0.84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Hyperscale platforms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A7B2C3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MSFT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GOOGL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AMZN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META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Sheet1!$A$2:$A$5</c:f>
              <c:numCache>
                <c:formatCode>0</c:formatCode>
                <c:ptCount val="6"/>
                <c:pt idx="0">
                  <c:v>17.7</c:v>
                </c:pt>
                <c:pt idx="1">
                  <c:v>24.2</c:v>
                </c:pt>
                <c:pt idx="2">
                  <c:v>19.6</c:v>
                </c:pt>
                <c:pt idx="3">
                  <c:v>26.1</c:v>
                </c:pt>
              </c:numCache>
            </c:numRef>
          </c:xVal>
          <c:yVal>
            <c:numRef>
              <c:f>Sheet1!$B$2:$B$5</c:f>
              <c:numCache>
                <c:formatCode>0</c:formatCode>
                <c:ptCount val="6"/>
                <c:pt idx="0">
                  <c:v>45.1</c:v>
                </c:pt>
                <c:pt idx="1">
                  <c:v>34.0</c:v>
                </c:pt>
                <c:pt idx="2">
                  <c:v>13.7</c:v>
                </c:pt>
                <c:pt idx="3">
                  <c:v>20.1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</c:f>
              <c:strCache>
                <c:ptCount val="1"/>
                <c:pt idx="0">
                  <c:v>AI infrastructure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7"/>
            <c:spPr>
              <a:solidFill>
                <a:srgbClr val="A7B2C3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NVDA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ORCL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Sheet1!$A$8:$A$9</c:f>
              <c:numCache>
                <c:formatCode>0</c:formatCode>
                <c:ptCount val="6"/>
                <c:pt idx="0">
                  <c:v>105.9</c:v>
                </c:pt>
                <c:pt idx="1">
                  <c:v>29.6</c:v>
                </c:pt>
              </c:numCache>
            </c:numRef>
          </c:xVal>
          <c:yVal>
            <c:numRef>
              <c:f>Sheet1!$B$8:$B$9</c:f>
              <c:numCache>
                <c:formatCode>0</c:formatCode>
                <c:ptCount val="6"/>
                <c:pt idx="0">
                  <c:v>66.2</c:v>
                </c:pt>
                <c:pt idx="1">
                  <c:v>34.8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Sheet1!$B$11</c:f>
              <c:strCache>
                <c:ptCount val="1"/>
                <c:pt idx="0">
                  <c:v>Software at scale</c:v>
                </c:pt>
              </c:strCache>
            </c:strRef>
          </c:tx>
          <c:spPr>
            <a:ln w="47625">
              <a:noFill/>
            </a:ln>
          </c:spPr>
          <c:marker>
            <c:symbol val="triangle"/>
            <c:size val="7"/>
            <c:spPr>
              <a:solidFill>
                <a:srgbClr val="A7B2C3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PLTR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NOW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SNOW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DDOG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CRWD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NET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Sheet1!$A$12:$A$17</c:f>
              <c:numCache>
                <c:formatCode>0</c:formatCode>
                <c:ptCount val="6"/>
                <c:pt idx="0">
                  <c:v>92.8</c:v>
                </c:pt>
                <c:pt idx="1">
                  <c:v>24.0</c:v>
                </c:pt>
                <c:pt idx="2">
                  <c:v>35.1</c:v>
                </c:pt>
                <c:pt idx="3">
                  <c:v>35.6</c:v>
                </c:pt>
                <c:pt idx="4">
                  <c:v>25.8</c:v>
                </c:pt>
                <c:pt idx="5">
                  <c:v>35.9</c:v>
                </c:pt>
              </c:numCache>
            </c:numRef>
          </c:xVal>
          <c:yVal>
            <c:numRef>
              <c:f>Sheet1!$B$12:$B$17</c:f>
              <c:numCache>
                <c:formatCode>0</c:formatCode>
                <c:ptCount val="6"/>
                <c:pt idx="0">
                  <c:v>47.1</c:v>
                </c:pt>
                <c:pt idx="1">
                  <c:v>4.1</c:v>
                </c:pt>
                <c:pt idx="2">
                  <c:v>-17.0</c:v>
                </c:pt>
                <c:pt idx="3">
                  <c:v>0.5</c:v>
                </c:pt>
                <c:pt idx="4">
                  <c:v>-2.3</c:v>
                </c:pt>
                <c:pt idx="5">
                  <c:v>-29.6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Sheet1!$B$19</c:f>
              <c:strCache>
                <c:ptCount val="1"/>
                <c:pt idx="0">
                  <c:v>Anthropic (off scale)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1B2F55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B2F55"/>
                        </a:solidFill>
                        <a:latin typeface="Liberation Sans"/>
                      </a:rPr>
                      <a:t>Anthropic</a:t>
                    </a:r>
                  </a:p>
                  <a:p>
                    <a:r>
                      <a:rPr sz="700" b="1" i="0">
                        <a:solidFill>
                          <a:srgbClr val="1B2F55"/>
                        </a:solidFill>
                        <a:latin typeface="Liberation Sans"/>
                      </a:rPr>
                      <a:t>(off scale)</a:t>
                    </a:r>
                  </a:p>
                  <a:p>
                    <a:r>
                      <a:rPr sz="700" b="1" i="0">
                        <a:solidFill>
                          <a:srgbClr val="1B2F55"/>
                        </a:solidFill>
                        <a:latin typeface="Liberation Sans"/>
                      </a:rPr>
                      <a:t>1,368%, 8.4%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B2F55"/>
                      </a:solidFill>
                      <a:latin typeface="Liberation San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1B2F55"/>
                    </a:solidFill>
                    <a:latin typeface="Liberation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Sheet1!$A$20:$A$20</c:f>
              <c:numCache>
                <c:formatCode>0</c:formatCode>
                <c:ptCount val="6"/>
                <c:pt idx="0">
                  <c:v>124</c:v>
                </c:pt>
              </c:numCache>
            </c:numRef>
          </c:xVal>
          <c:yVal>
            <c:numRef>
              <c:f>Sheet1!$B$20:$B$20</c:f>
              <c:numCache>
                <c:formatCode>0</c:formatCode>
                <c:ptCount val="6"/>
                <c:pt idx="0">
                  <c:v>8.4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max val="132.0"/>
          <c:min val="0.0"/>
        </c:scaling>
        <c:delete val="0"/>
        <c:axPos val="b"/>
        <c:title>
          <c:tx>
            <c:rich>
              <a:bodyPr rot="0" vert="horz"/>
              <a:lstStyle/>
              <a:p>
                <a:r>
                  <a:rPr sz="700" b="0" i="0">
                    <a:solidFill>
                      <a:srgbClr val="555D6B"/>
                    </a:solidFill>
                    <a:latin typeface="Liberation Sans"/>
                  </a:rPr>
                  <a:t>Revenue growth on the year-earlier quarter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29643912"/>
        <c:crosses val="min"/>
        <c:crossBetween val="midCat"/>
        <c:majorUnit val="50.0"/>
      </c:valAx>
      <c:valAx>
        <c:axId val="-2129643912"/>
        <c:scaling>
          <c:max val="80.0"/>
          <c:min val="-40.0"/>
        </c:scaling>
        <c:delete val="0"/>
        <c:axPos val="l"/>
        <c:title>
          <c:tx>
            <c:rich>
              <a:bodyPr rot="-5400000" vert="horz"/>
              <a:lstStyle/>
              <a:p>
                <a:r>
                  <a:rPr sz="700" b="0" i="0">
                    <a:solidFill>
                      <a:srgbClr val="555D6B"/>
                    </a:solidFill>
                    <a:latin typeface="Liberation Sans"/>
                  </a:rPr>
                  <a:t>GAAP operating margin</a:t>
                </a:r>
              </a:p>
            </c:rich>
          </c:tx>
          <c:layout/>
          <c:overlay val="0"/>
        </c:title>
        <c:numFmt formatCode="0&quot;%&quot;;(0&quot;%&quot;)" sourceLinked="0"/>
        <c:majorTickMark val="out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28940872"/>
        <c:crosses val="min"/>
        <c:crossBetween val="midCat"/>
        <c:majorUnit val="20.0"/>
      </c:valAx>
      <c:spPr>
        <a:noFill/>
      </c:spPr>
    </c:plotArea>
    <c:legend>
      <c:legendPos val="t"/>
      <c:layout/>
      <c:overlay val="0"/>
      <c:txPr>
        <a:bodyPr/>
        <a:lstStyle/>
        <a:p>
          <a:pPr>
            <a:defRPr sz="700" b="0" i="0">
              <a:solidFill>
                <a:srgbClr val="16181D"/>
              </a:solidFill>
              <a:latin typeface="Liberation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7"/>
          <c:y val="0.1"/>
          <c:w val="0.6"/>
          <c:h val="0.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846.9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783.1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825.0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438.9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EV / Q2 2026 adj. op. inc. x4: 80x to 120x</c:v>
                </c:pt>
                <c:pt idx="1">
                  <c:v>EV / H1 2026 revenue x2: 20x to 30x</c:v>
                </c:pt>
                <c:pt idx="2">
                  <c:v>EV / Q2 2026 revenue x4: 15x to 25x</c:v>
                </c:pt>
                <c:pt idx="3">
                  <c:v>Private rounds: G to H price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846.9</c:v>
                </c:pt>
                <c:pt idx="1">
                  <c:v>783.1</c:v>
                </c:pt>
                <c:pt idx="2">
                  <c:v>825.0</c:v>
                </c:pt>
                <c:pt idx="3">
                  <c:v>438.9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9465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EV / Q2 2026 adj. op. inc. x4: 80x to 120x</c:v>
                </c:pt>
                <c:pt idx="1">
                  <c:v>EV / H1 2026 revenue x2: 20x to 30x</c:v>
                </c:pt>
                <c:pt idx="2">
                  <c:v>EV / Q2 2026 revenue x4: 15x to 25x</c:v>
                </c:pt>
                <c:pt idx="3">
                  <c:v>Private rounds: G to H price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357.6</c:v>
                </c:pt>
                <c:pt idx="1">
                  <c:v>325.7</c:v>
                </c:pt>
                <c:pt idx="2">
                  <c:v>462.2</c:v>
                </c:pt>
                <c:pt idx="3">
                  <c:v>558.7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1,204.5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1,108.8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1,287.2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00" b="1" i="0">
                        <a:solidFill>
                          <a:srgbClr val="16181D"/>
                        </a:solidFill>
                        <a:latin typeface="Liberation Sans"/>
                      </a:rPr>
                      <a:t>997.6 (H)</a:t>
                    </a:r>
                  </a:p>
                </c:rich>
              </c:tx>
              <c:txPr>
                <a:bodyPr/>
                <a:lstStyle/>
                <a:p>
                  <a:pPr>
                    <a:defRPr sz="700" b="1" i="0">
                      <a:solidFill>
                        <a:srgbClr val="16181D"/>
                      </a:solidFill>
                      <a:latin typeface="Liberation Sans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 b="1" i="0">
                    <a:solidFill>
                      <a:srgbClr val="16181D"/>
                    </a:solidFill>
                    <a:latin typeface="Liberation San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EV / Q2 2026 adj. op. inc. x4: 80x to 120x</c:v>
                </c:pt>
                <c:pt idx="1">
                  <c:v>EV / H1 2026 revenue x2: 20x to 30x</c:v>
                </c:pt>
                <c:pt idx="2">
                  <c:v>EV / Q2 2026 revenue x4: 15x to 25x</c:v>
                </c:pt>
                <c:pt idx="3">
                  <c:v>Private rounds: G to H price</c:v>
                </c:pt>
              </c:strCache>
            </c:strRef>
          </c:cat>
          <c:val>
            <c:numRef>
              <c:f>Sheet1!$D$2:$D$5</c:f>
              <c:numCache>
                <c:formatCode>#,##0</c:formatCode>
                <c:ptCount val="4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/>
        <c:delete val="0"/>
        <c:axPos val="l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0.0"/>
          <c:min val="300.0"/>
        </c:scaling>
        <c:delete val="0"/>
        <c:axPos val="b"/>
        <c:numFmt formatCode="#,##0" sourceLinked="0"/>
        <c:majorTickMark val="out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068027336"/>
        <c:crosses val="autoZero"/>
        <c:crossBetween val="between"/>
        <c:majorUnit val="200.0"/>
      </c:valAx>
      <c:spPr>
        <a:noFill/>
      </c:spPr>
    </c:plotArea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8"/>
          <c:y val="0.07"/>
          <c:w val="0.89"/>
          <c:h val="0.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Certain holders, staged from day 27</c:v>
                </c:pt>
              </c:strCache>
            </c:strRef>
          </c:tx>
          <c:spPr>
            <a:ln w="19050">
              <a:solidFill>
                <a:srgbClr val="1B2F55"/>
              </a:solidFill>
            </a:ln>
          </c:spPr>
          <c:marker>
            <c:symbol val="none"/>
          </c:marker>
          <c:xVal>
            <c:numRef>
              <c:f>Sheet1!$A$2:$A$24</c:f>
              <c:numCache>
                <c:formatCode>0</c:formatCode>
                <c:ptCount val="45"/>
                <c:pt idx="0">
                  <c:v>0</c:v>
                </c:pt>
                <c:pt idx="1">
                  <c:v>28</c:v>
                </c:pt>
                <c:pt idx="2">
                  <c:v>28</c:v>
                </c:pt>
                <c:pt idx="3">
                  <c:v>49</c:v>
                </c:pt>
                <c:pt idx="4">
                  <c:v>49</c:v>
                </c:pt>
                <c:pt idx="5">
                  <c:v>64</c:v>
                </c:pt>
                <c:pt idx="6">
                  <c:v>64</c:v>
                </c:pt>
                <c:pt idx="7">
                  <c:v>77</c:v>
                </c:pt>
                <c:pt idx="8">
                  <c:v>77</c:v>
                </c:pt>
                <c:pt idx="9">
                  <c:v>79</c:v>
                </c:pt>
                <c:pt idx="10">
                  <c:v>79</c:v>
                </c:pt>
                <c:pt idx="11">
                  <c:v>91</c:v>
                </c:pt>
                <c:pt idx="12">
                  <c:v>91</c:v>
                </c:pt>
                <c:pt idx="13">
                  <c:v>105</c:v>
                </c:pt>
                <c:pt idx="14">
                  <c:v>105</c:v>
                </c:pt>
                <c:pt idx="15">
                  <c:v>119</c:v>
                </c:pt>
                <c:pt idx="16">
                  <c:v>119</c:v>
                </c:pt>
                <c:pt idx="17">
                  <c:v>133</c:v>
                </c:pt>
                <c:pt idx="18">
                  <c:v>133</c:v>
                </c:pt>
                <c:pt idx="19">
                  <c:v>147</c:v>
                </c:pt>
                <c:pt idx="20">
                  <c:v>147</c:v>
                </c:pt>
                <c:pt idx="21">
                  <c:v>156</c:v>
                </c:pt>
                <c:pt idx="22">
                  <c:v>156</c:v>
                </c:pt>
              </c:numCache>
            </c:numRef>
          </c:xVal>
          <c:yVal>
            <c:numRef>
              <c:f>Sheet1!$B$2:$B$24</c:f>
              <c:numCache>
                <c:formatCode>0</c:formatCode>
                <c:ptCount val="45"/>
                <c:pt idx="0">
                  <c:v>0.0</c:v>
                </c:pt>
                <c:pt idx="1">
                  <c:v>0.0</c:v>
                </c:pt>
                <c:pt idx="2">
                  <c:v>6.0</c:v>
                </c:pt>
                <c:pt idx="3">
                  <c:v>6.0</c:v>
                </c:pt>
                <c:pt idx="4">
                  <c:v>12.0</c:v>
                </c:pt>
                <c:pt idx="5">
                  <c:v>12.0</c:v>
                </c:pt>
                <c:pt idx="6">
                  <c:v>19.0</c:v>
                </c:pt>
                <c:pt idx="7">
                  <c:v>19.0</c:v>
                </c:pt>
                <c:pt idx="8">
                  <c:v>26.0</c:v>
                </c:pt>
                <c:pt idx="9">
                  <c:v>26.0</c:v>
                </c:pt>
                <c:pt idx="10">
                  <c:v>38.5</c:v>
                </c:pt>
                <c:pt idx="11">
                  <c:v>38.5</c:v>
                </c:pt>
                <c:pt idx="12">
                  <c:v>48.0</c:v>
                </c:pt>
                <c:pt idx="13">
                  <c:v>48.0</c:v>
                </c:pt>
                <c:pt idx="14">
                  <c:v>57.5</c:v>
                </c:pt>
                <c:pt idx="15">
                  <c:v>57.5</c:v>
                </c:pt>
                <c:pt idx="16">
                  <c:v>67.0</c:v>
                </c:pt>
                <c:pt idx="17">
                  <c:v>67.0</c:v>
                </c:pt>
                <c:pt idx="18">
                  <c:v>76.5</c:v>
                </c:pt>
                <c:pt idx="19">
                  <c:v>76.5</c:v>
                </c:pt>
                <c:pt idx="20">
                  <c:v>86.0</c:v>
                </c:pt>
                <c:pt idx="21">
                  <c:v>86.0</c:v>
                </c:pt>
                <c:pt idx="22">
                  <c:v>100.0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Sheet1!$B$26</c:f>
              <c:strCache>
                <c:ptCount val="1"/>
                <c:pt idx="0">
                  <c:v>Officers and non-founder directors</c:v>
                </c:pt>
              </c:strCache>
            </c:strRef>
          </c:tx>
          <c:spPr>
            <a:ln w="19050">
              <a:solidFill>
                <a:srgbClr val="1B2F55"/>
              </a:solidFill>
              <a:prstDash val="dash"/>
            </a:ln>
          </c:spPr>
          <c:marker>
            <c:symbol val="none"/>
          </c:marker>
          <c:xVal>
            <c:numRef>
              <c:f>Sheet1!$A$27:$A$33</c:f>
              <c:numCache>
                <c:formatCode>0</c:formatCode>
                <c:ptCount val="4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79</c:v>
                </c:pt>
                <c:pt idx="4">
                  <c:v>79</c:v>
                </c:pt>
                <c:pt idx="5">
                  <c:v>156</c:v>
                </c:pt>
                <c:pt idx="6">
                  <c:v>156</c:v>
                </c:pt>
              </c:numCache>
            </c:numRef>
          </c:xVal>
          <c:yVal>
            <c:numRef>
              <c:f>Sheet1!$B$27:$B$33</c:f>
              <c:numCache>
                <c:formatCode>0</c:formatCode>
                <c:ptCount val="45"/>
                <c:pt idx="0">
                  <c:v>0.0</c:v>
                </c:pt>
                <c:pt idx="1">
                  <c:v>0.0</c:v>
                </c:pt>
                <c:pt idx="2">
                  <c:v>10.0</c:v>
                </c:pt>
                <c:pt idx="3">
                  <c:v>10.0</c:v>
                </c:pt>
                <c:pt idx="4">
                  <c:v>45.0</c:v>
                </c:pt>
                <c:pt idx="5">
                  <c:v>45.0</c:v>
                </c:pt>
                <c:pt idx="6">
                  <c:v>100.0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Sheet1!$B$35</c:f>
              <c:strCache>
                <c:ptCount val="1"/>
                <c:pt idx="0">
                  <c:v>Certain holders over 0.5% of FD shares</c:v>
                </c:pt>
              </c:strCache>
            </c:strRef>
          </c:tx>
          <c:spPr>
            <a:ln w="19050">
              <a:solidFill>
                <a:srgbClr val="A7B2C3"/>
              </a:solidFill>
            </a:ln>
          </c:spPr>
          <c:marker>
            <c:symbol val="none"/>
          </c:marker>
          <c:xVal>
            <c:numRef>
              <c:f>Sheet1!$A$36:$A$80</c:f>
              <c:numCache>
                <c:formatCode>0</c:formatCode>
                <c:ptCount val="45"/>
                <c:pt idx="0">
                  <c:v>0</c:v>
                </c:pt>
                <c:pt idx="1">
                  <c:v>28</c:v>
                </c:pt>
                <c:pt idx="2">
                  <c:v>28</c:v>
                </c:pt>
                <c:pt idx="3">
                  <c:v>49</c:v>
                </c:pt>
                <c:pt idx="4">
                  <c:v>49</c:v>
                </c:pt>
                <c:pt idx="5">
                  <c:v>64</c:v>
                </c:pt>
                <c:pt idx="6">
                  <c:v>64</c:v>
                </c:pt>
                <c:pt idx="7">
                  <c:v>77</c:v>
                </c:pt>
                <c:pt idx="8">
                  <c:v>77</c:v>
                </c:pt>
                <c:pt idx="9">
                  <c:v>79</c:v>
                </c:pt>
                <c:pt idx="10">
                  <c:v>79</c:v>
                </c:pt>
                <c:pt idx="11">
                  <c:v>91</c:v>
                </c:pt>
                <c:pt idx="12">
                  <c:v>91</c:v>
                </c:pt>
                <c:pt idx="13">
                  <c:v>105</c:v>
                </c:pt>
                <c:pt idx="14">
                  <c:v>105</c:v>
                </c:pt>
                <c:pt idx="15">
                  <c:v>119</c:v>
                </c:pt>
                <c:pt idx="16">
                  <c:v>119</c:v>
                </c:pt>
                <c:pt idx="17">
                  <c:v>133</c:v>
                </c:pt>
                <c:pt idx="18">
                  <c:v>133</c:v>
                </c:pt>
                <c:pt idx="19">
                  <c:v>147</c:v>
                </c:pt>
                <c:pt idx="20">
                  <c:v>147</c:v>
                </c:pt>
                <c:pt idx="21">
                  <c:v>156</c:v>
                </c:pt>
                <c:pt idx="22">
                  <c:v>156</c:v>
                </c:pt>
                <c:pt idx="23">
                  <c:v>189</c:v>
                </c:pt>
                <c:pt idx="24">
                  <c:v>189</c:v>
                </c:pt>
                <c:pt idx="25">
                  <c:v>204</c:v>
                </c:pt>
                <c:pt idx="26">
                  <c:v>204</c:v>
                </c:pt>
                <c:pt idx="27">
                  <c:v>217</c:v>
                </c:pt>
                <c:pt idx="28">
                  <c:v>217</c:v>
                </c:pt>
                <c:pt idx="29">
                  <c:v>231</c:v>
                </c:pt>
                <c:pt idx="30">
                  <c:v>231</c:v>
                </c:pt>
                <c:pt idx="31">
                  <c:v>247</c:v>
                </c:pt>
                <c:pt idx="32">
                  <c:v>247</c:v>
                </c:pt>
                <c:pt idx="33">
                  <c:v>273</c:v>
                </c:pt>
                <c:pt idx="34">
                  <c:v>273</c:v>
                </c:pt>
                <c:pt idx="35">
                  <c:v>287</c:v>
                </c:pt>
                <c:pt idx="36">
                  <c:v>287</c:v>
                </c:pt>
                <c:pt idx="37">
                  <c:v>301</c:v>
                </c:pt>
                <c:pt idx="38">
                  <c:v>301</c:v>
                </c:pt>
                <c:pt idx="39">
                  <c:v>315</c:v>
                </c:pt>
                <c:pt idx="40">
                  <c:v>315</c:v>
                </c:pt>
                <c:pt idx="41">
                  <c:v>329</c:v>
                </c:pt>
                <c:pt idx="42">
                  <c:v>329</c:v>
                </c:pt>
                <c:pt idx="43">
                  <c:v>338</c:v>
                </c:pt>
                <c:pt idx="44">
                  <c:v>338</c:v>
                </c:pt>
              </c:numCache>
            </c:numRef>
          </c:xVal>
          <c:yVal>
            <c:numRef>
              <c:f>Sheet1!$B$36:$B$80</c:f>
              <c:numCache>
                <c:formatCode>0</c:formatCode>
                <c:ptCount val="45"/>
                <c:pt idx="0">
                  <c:v>0.0</c:v>
                </c:pt>
                <c:pt idx="1">
                  <c:v>0.0</c:v>
                </c:pt>
                <c:pt idx="2">
                  <c:v>1.8</c:v>
                </c:pt>
                <c:pt idx="3">
                  <c:v>1.8</c:v>
                </c:pt>
                <c:pt idx="4">
                  <c:v>3.6</c:v>
                </c:pt>
                <c:pt idx="5">
                  <c:v>3.6</c:v>
                </c:pt>
                <c:pt idx="6">
                  <c:v>5.7</c:v>
                </c:pt>
                <c:pt idx="7">
                  <c:v>5.7</c:v>
                </c:pt>
                <c:pt idx="8">
                  <c:v>7.8</c:v>
                </c:pt>
                <c:pt idx="9">
                  <c:v>7.8</c:v>
                </c:pt>
                <c:pt idx="10">
                  <c:v>11.55</c:v>
                </c:pt>
                <c:pt idx="11">
                  <c:v>11.55</c:v>
                </c:pt>
                <c:pt idx="12">
                  <c:v>14.4</c:v>
                </c:pt>
                <c:pt idx="13">
                  <c:v>14.4</c:v>
                </c:pt>
                <c:pt idx="14">
                  <c:v>17.25</c:v>
                </c:pt>
                <c:pt idx="15">
                  <c:v>17.25</c:v>
                </c:pt>
                <c:pt idx="16">
                  <c:v>20.1</c:v>
                </c:pt>
                <c:pt idx="17">
                  <c:v>20.1</c:v>
                </c:pt>
                <c:pt idx="18">
                  <c:v>22.95</c:v>
                </c:pt>
                <c:pt idx="19">
                  <c:v>22.95</c:v>
                </c:pt>
                <c:pt idx="20">
                  <c:v>25.8</c:v>
                </c:pt>
                <c:pt idx="21">
                  <c:v>25.8</c:v>
                </c:pt>
                <c:pt idx="22">
                  <c:v>30.0</c:v>
                </c:pt>
                <c:pt idx="23">
                  <c:v>30.0</c:v>
                </c:pt>
                <c:pt idx="24">
                  <c:v>35.6</c:v>
                </c:pt>
                <c:pt idx="25">
                  <c:v>35.6</c:v>
                </c:pt>
                <c:pt idx="26">
                  <c:v>41.2</c:v>
                </c:pt>
                <c:pt idx="27">
                  <c:v>41.2</c:v>
                </c:pt>
                <c:pt idx="28">
                  <c:v>46.8</c:v>
                </c:pt>
                <c:pt idx="29">
                  <c:v>46.8</c:v>
                </c:pt>
                <c:pt idx="30">
                  <c:v>52.4</c:v>
                </c:pt>
                <c:pt idx="31">
                  <c:v>52.4</c:v>
                </c:pt>
                <c:pt idx="32">
                  <c:v>59.4</c:v>
                </c:pt>
                <c:pt idx="33">
                  <c:v>59.4</c:v>
                </c:pt>
                <c:pt idx="34">
                  <c:v>65.7</c:v>
                </c:pt>
                <c:pt idx="35">
                  <c:v>65.7</c:v>
                </c:pt>
                <c:pt idx="36">
                  <c:v>72.0</c:v>
                </c:pt>
                <c:pt idx="37">
                  <c:v>72.0</c:v>
                </c:pt>
                <c:pt idx="38">
                  <c:v>78.3</c:v>
                </c:pt>
                <c:pt idx="39">
                  <c:v>78.3</c:v>
                </c:pt>
                <c:pt idx="40">
                  <c:v>84.6</c:v>
                </c:pt>
                <c:pt idx="41">
                  <c:v>84.6</c:v>
                </c:pt>
                <c:pt idx="42">
                  <c:v>90.9</c:v>
                </c:pt>
                <c:pt idx="43">
                  <c:v>90.9</c:v>
                </c:pt>
                <c:pt idx="44">
                  <c:v>100.0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Sheet1!$B$82</c:f>
              <c:strCache>
                <c:ptCount val="1"/>
                <c:pt idx="0">
                  <c:v>Founders</c:v>
                </c:pt>
              </c:strCache>
            </c:strRef>
          </c:tx>
          <c:spPr>
            <a:ln w="19050">
              <a:solidFill>
                <a:srgbClr val="A7B2C3"/>
              </a:solidFill>
              <a:prstDash val="dash"/>
            </a:ln>
          </c:spPr>
          <c:marker>
            <c:symbol val="none"/>
          </c:marker>
          <c:xVal>
            <c:numRef>
              <c:f>Sheet1!$A$83:$A$87</c:f>
              <c:numCache>
                <c:formatCode>0</c:formatCode>
                <c:ptCount val="45"/>
                <c:pt idx="0">
                  <c:v>0</c:v>
                </c:pt>
                <c:pt idx="1">
                  <c:v>156</c:v>
                </c:pt>
                <c:pt idx="2">
                  <c:v>156</c:v>
                </c:pt>
                <c:pt idx="3">
                  <c:v>338</c:v>
                </c:pt>
                <c:pt idx="4">
                  <c:v>338</c:v>
                </c:pt>
              </c:numCache>
            </c:numRef>
          </c:xVal>
          <c:yVal>
            <c:numRef>
              <c:f>Sheet1!$B$83:$B$87</c:f>
              <c:numCache>
                <c:formatCode>0</c:formatCode>
                <c:ptCount val="45"/>
                <c:pt idx="0">
                  <c:v>0.0</c:v>
                </c:pt>
                <c:pt idx="1">
                  <c:v>0.0</c:v>
                </c:pt>
                <c:pt idx="2">
                  <c:v>29.0</c:v>
                </c:pt>
                <c:pt idx="3">
                  <c:v>29.0</c:v>
                </c:pt>
                <c:pt idx="4">
                  <c:v>100.0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max val="370.0"/>
          <c:min val="0.0"/>
        </c:scaling>
        <c:delete val="0"/>
        <c:axPos val="b"/>
        <c:title>
          <c:tx>
            <c:rich>
              <a:bodyPr rot="0" vert="horz"/>
              <a:lstStyle/>
              <a:p>
                <a:r>
                  <a:rPr sz="700" b="0" i="0">
                    <a:solidFill>
                      <a:srgbClr val="555D6B"/>
                    </a:solidFill>
                    <a:latin typeface="Liberation Sans"/>
                  </a:rPr>
                  <a:t>Days after the prospectus date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29643912"/>
        <c:crosses val="min"/>
        <c:crossBetween val="midCat"/>
        <c:majorUnit val="60.0"/>
      </c:valAx>
      <c:valAx>
        <c:axId val="-2129643912"/>
        <c:scaling>
          <c:max val="115.0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28940872"/>
        <c:crosses val="min"/>
        <c:crossBetween val="midCat"/>
        <c:majorUnit val="25.0"/>
      </c:valAx>
      <c:spPr>
        <a:noFill/>
      </c:spPr>
    </c:plotArea>
    <c:legend>
      <c:legendPos val="b"/>
      <c:layout/>
      <c:overlay val="0"/>
      <c:txPr>
        <a:bodyPr/>
        <a:lstStyle/>
        <a:p>
          <a:pPr>
            <a:defRPr sz="700" b="0" i="0">
              <a:solidFill>
                <a:srgbClr val="16181D"/>
              </a:solidFill>
              <a:latin typeface="Liberation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4"/>
          <c:y val="0.08"/>
          <c:w val="0.57"/>
          <c:h val="0.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Public S-1 filing (fact): 26 Oct</c:v>
                </c:pt>
                <c:pt idx="1">
                  <c:v>SEC review and amendments: 26 Oct to 27 Nov</c:v>
                </c:pt>
                <c:pt idx="2">
                  <c:v>Analyst and investor education: 2 Nov to 27 Nov</c:v>
                </c:pt>
                <c:pt idx="3">
                  <c:v>Q3 results, price range in S-1/A: 23 Nov to 30 Nov</c:v>
                </c:pt>
                <c:pt idx="4">
                  <c:v>Roadshow and bookbuild: 30 Nov to 11 Dec</c:v>
                </c:pt>
                <c:pt idx="5">
                  <c:v>Pricing; prospectus date: 14 Dec</c:v>
                </c:pt>
                <c:pt idx="6">
                  <c:v>Trading from day 1; option to day 30: 15 Dec to 13 Jan</c:v>
                </c:pt>
                <c:pt idx="7">
                  <c:v>Day-27 staged release: 11 Jan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1.0</c:v>
                </c:pt>
                <c:pt idx="3">
                  <c:v>4.0</c:v>
                </c:pt>
                <c:pt idx="4">
                  <c:v>5.0</c:v>
                </c:pt>
                <c:pt idx="5">
                  <c:v>7.0</c:v>
                </c:pt>
                <c:pt idx="6">
                  <c:v>7.143</c:v>
                </c:pt>
                <c:pt idx="7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Span</c:v>
                </c:pt>
              </c:strCache>
            </c:strRef>
          </c:tx>
          <c:spPr>
            <a:solidFill>
              <a:srgbClr val="946500"/>
            </a:solidFill>
            <a:ln>
              <a:noFill/>
            </a:ln>
          </c:spPr>
          <c:dPt>
            <c:idx val="0"/>
            <c:spPr>
              <a:solidFill>
                <a:srgbClr val="1B2F55"/>
              </a:solidFill>
            </c:spPr>
          </c:dPt>
          <c:cat>
            <c:strRef>
              <c:f>Sheet1!$A$2:$A$9</c:f>
              <c:strCache>
                <c:ptCount val="8"/>
                <c:pt idx="0">
                  <c:v>Public S-1 filing (fact): 26 Oct</c:v>
                </c:pt>
                <c:pt idx="1">
                  <c:v>SEC review and amendments: 26 Oct to 27 Nov</c:v>
                </c:pt>
                <c:pt idx="2">
                  <c:v>Analyst and investor education: 2 Nov to 27 Nov</c:v>
                </c:pt>
                <c:pt idx="3">
                  <c:v>Q3 results, price range in S-1/A: 23 Nov to 30 Nov</c:v>
                </c:pt>
                <c:pt idx="4">
                  <c:v>Roadshow and bookbuild: 30 Nov to 11 Dec</c:v>
                </c:pt>
                <c:pt idx="5">
                  <c:v>Pricing; prospectus date: 14 Dec</c:v>
                </c:pt>
                <c:pt idx="6">
                  <c:v>Trading from day 1; option to day 30: 15 Dec to 13 Jan</c:v>
                </c:pt>
                <c:pt idx="7">
                  <c:v>Day-27 staged release: 11 Jan</c:v>
                </c:pt>
              </c:strCache>
            </c:strRef>
          </c:cat>
          <c:val>
            <c:numRef>
              <c:f>Sheet1!$C$2:$C$9</c:f>
              <c:numCache>
                <c:formatCode>0</c:formatCode>
                <c:ptCount val="8"/>
                <c:pt idx="0">
                  <c:v>0.2</c:v>
                </c:pt>
                <c:pt idx="1">
                  <c:v>4.714</c:v>
                </c:pt>
                <c:pt idx="2">
                  <c:v>3.714</c:v>
                </c:pt>
                <c:pt idx="3">
                  <c:v>1.143</c:v>
                </c:pt>
                <c:pt idx="4">
                  <c:v>1.714</c:v>
                </c:pt>
                <c:pt idx="5">
                  <c:v>0.2</c:v>
                </c:pt>
                <c:pt idx="6">
                  <c:v>4.286</c:v>
                </c:pt>
                <c:pt idx="7">
                  <c:v>0.2</c:v>
                </c:pt>
              </c:numCache>
            </c:numRef>
          </c:val>
        </c:ser>
        <c:gapWidth val="18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5"/>
          <c:min val="0.0"/>
        </c:scaling>
        <c:delete val="0"/>
        <c:axPos val="b"/>
        <c:majorGridlines>
          <c:spPr>
            <a:ln w="6350">
              <a:solidFill>
                <a:srgbClr val="C3CAD4"/>
              </a:solidFill>
            </a:ln>
          </c:spPr>
        </c:majorGridlines>
        <c:numFmt formatCode="&quot;Wk &quot;0" sourceLinked="0"/>
        <c:majorTickMark val="out"/>
        <c:minorTickMark val="none"/>
        <c:tickLblPos val="nextTo"/>
        <c:spPr>
          <a:ln>
            <a:solidFill>
              <a:srgbClr val="C3CAD4"/>
            </a:solidFill>
          </a:ln>
        </c:spPr>
        <c:txPr>
          <a:bodyPr/>
          <a:lstStyle/>
          <a:p>
            <a:pPr>
              <a:defRPr sz="700" b="0" i="0">
                <a:solidFill>
                  <a:srgbClr val="555D6B"/>
                </a:solidFill>
                <a:latin typeface="Liberation Sans"/>
              </a:defRPr>
            </a:pPr>
          </a:p>
        </c:txPr>
        <c:crossAx val="-2068027336"/>
        <c:crosses val="autoZero"/>
        <c:crossBetween val="between"/>
        <c:majorUnit val="1.0"/>
      </c:valAx>
      <c:spPr>
        <a:noFill/>
      </c:spPr>
    </c:plotArea>
    <c:dispBlanksAs val="gap"/>
  </c:chart>
  <c:txPr>
    <a:bodyPr/>
    <a:lstStyle/>
    <a:p>
      <a:pPr>
        <a:defRPr sz="700" b="0" i="0">
          <a:solidFill>
            <a:srgbClr val="555D6B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tags" Target="../tags/tag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tags" Target="../tags/tag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tags" Target="../tags/tag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tags" Target="../tags/tag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tags" Target="../tags/tag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Relationship Id="rId4" Type="http://schemas.openxmlformats.org/officeDocument/2006/relationships/tags" Target="../tags/tag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tags" Target="../tags/tag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tags" Target="../tags/tag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tags" Target="../tags/tag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Relationship Id="rId3" Type="http://schemas.openxmlformats.org/officeDocument/2006/relationships/tags" Target="../tags/tag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Relationship Id="rId3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58" name="chrome-1"/>
          <p:cNvCxnSpPr/>
          <p:nvPr/>
        </p:nvCxnSpPr>
        <p:spPr>
          <a:xfrm>
            <a:off x="384048" y="900684"/>
            <a:ext cx="9290304" cy="0"/>
          </a:xfrm>
          <a:prstGeom prst="line">
            <a:avLst/>
          </a:prstGeom>
          <a:ln w="12700">
            <a:solidFill>
              <a:srgbClr val="1B2F55"/>
            </a:solidFill>
          </a:ln>
        </p:spPr>
      </p:cxnSp>
      <p:sp>
        <p:nvSpPr>
          <p:cNvPr id="59" name="chrome-2"/>
          <p:cNvSpPr txBox="1"/>
          <p:nvPr/>
        </p:nvSpPr>
        <p:spPr>
          <a:xfrm>
            <a:off x="6967728" y="109728"/>
            <a:ext cx="270662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1B2F55"/>
                </a:solidFill>
                <a:latin typeface="Liberation Sans"/>
              </a:rPr>
              <a:t>HALDEN &amp; ROWE | IPO discussion materials | October 2026</a:t>
            </a:r>
          </a:p>
        </p:txBody>
      </p:sp>
      <p:cxnSp>
        <p:nvCxnSpPr>
          <p:cNvPr id="60" name="chrome-3"/>
          <p:cNvCxnSpPr/>
          <p:nvPr/>
        </p:nvCxnSpPr>
        <p:spPr>
          <a:xfrm>
            <a:off x="384048" y="7317486"/>
            <a:ext cx="9290304" cy="0"/>
          </a:xfrm>
          <a:prstGeom prst="line">
            <a:avLst/>
          </a:prstGeom>
          <a:ln w="6350">
            <a:solidFill>
              <a:srgbClr val="C3CAD4"/>
            </a:solidFill>
          </a:ln>
        </p:spPr>
      </p:cxnSp>
      <p:sp>
        <p:nvSpPr>
          <p:cNvPr id="61" name="chrome-4"/>
          <p:cNvSpPr txBox="1"/>
          <p:nvPr/>
        </p:nvSpPr>
        <p:spPr>
          <a:xfrm>
            <a:off x="384048" y="7370064"/>
            <a:ext cx="877824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55D6B"/>
                </a:solidFill>
                <a:latin typeface="Liberation Sans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" name="kicker"/>
          <p:cNvSpPr/>
          <p:nvPr/>
        </p:nvSpPr>
        <p:spPr>
          <a:xfrm>
            <a:off x="384048" y="384048"/>
            <a:ext cx="92903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2F55"/>
                </a:solidFill>
                <a:latin typeface="Liberation Sans"/>
              </a:rPr>
              <a:t>1 | SITUATION OVERVIEW  |  ANTHROPIC, PBC INITIAL PUBLIC OFFERING</a:t>
            </a:r>
          </a:p>
        </p:txBody>
      </p:sp>
      <p:sp>
        <p:nvSpPr>
          <p:cNvPr id="3" name="title"/>
          <p:cNvSpPr/>
          <p:nvPr/>
        </p:nvSpPr>
        <p:spPr>
          <a:xfrm>
            <a:off x="384048" y="525780"/>
            <a:ext cx="9290304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6181D"/>
                </a:solidFill>
                <a:latin typeface="Liberation Sans"/>
              </a:rPr>
              <a:t>Situation overview: the S-1 in one page</a:t>
            </a:r>
          </a:p>
        </p:txBody>
      </p:sp>
      <p:sp>
        <p:nvSpPr>
          <p:cNvPr id="4" name="k0-fill"/>
          <p:cNvSpPr/>
          <p:nvPr/>
        </p:nvSpPr>
        <p:spPr>
          <a:xfrm>
            <a:off x="384048" y="950976"/>
            <a:ext cx="1502664" cy="52832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k0f"/>
          <p:cNvSpPr/>
          <p:nvPr/>
        </p:nvSpPr>
        <p:spPr>
          <a:xfrm>
            <a:off x="438912" y="1005840"/>
            <a:ext cx="1392936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B2F55"/>
                </a:solidFill>
                <a:latin typeface="Liberation Sans"/>
              </a:rPr>
              <a:t>$16.3bn</a:t>
            </a:r>
          </a:p>
        </p:txBody>
      </p:sp>
      <p:sp>
        <p:nvSpPr>
          <p:cNvPr id="6" name="k0l"/>
          <p:cNvSpPr/>
          <p:nvPr/>
        </p:nvSpPr>
        <p:spPr>
          <a:xfrm>
            <a:off x="438912" y="1211072"/>
            <a:ext cx="1392936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H1 2026 revenue, up 1,300% on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H1 2025</a:t>
            </a:r>
          </a:p>
        </p:txBody>
      </p:sp>
      <p:sp>
        <p:nvSpPr>
          <p:cNvPr id="7" name="k1-fill"/>
          <p:cNvSpPr/>
          <p:nvPr/>
        </p:nvSpPr>
        <p:spPr>
          <a:xfrm>
            <a:off x="1941576" y="950976"/>
            <a:ext cx="1502664" cy="52832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k1f"/>
          <p:cNvSpPr/>
          <p:nvPr/>
        </p:nvSpPr>
        <p:spPr>
          <a:xfrm>
            <a:off x="1996440" y="1005840"/>
            <a:ext cx="1392936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B2F55"/>
                </a:solidFill>
                <a:latin typeface="Liberation Sans"/>
              </a:rPr>
              <a:t>$974m</a:t>
            </a:r>
          </a:p>
        </p:txBody>
      </p:sp>
      <p:sp>
        <p:nvSpPr>
          <p:cNvPr id="9" name="k1l"/>
          <p:cNvSpPr/>
          <p:nvPr/>
        </p:nvSpPr>
        <p:spPr>
          <a:xfrm>
            <a:off x="1996440" y="1211072"/>
            <a:ext cx="1392936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Q2 2026 operating income, an 8%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margin</a:t>
            </a:r>
          </a:p>
        </p:txBody>
      </p:sp>
      <p:sp>
        <p:nvSpPr>
          <p:cNvPr id="10" name="k2-fill"/>
          <p:cNvSpPr/>
          <p:nvPr/>
        </p:nvSpPr>
        <p:spPr>
          <a:xfrm>
            <a:off x="3499104" y="950976"/>
            <a:ext cx="1502664" cy="52832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k2f"/>
          <p:cNvSpPr/>
          <p:nvPr/>
        </p:nvSpPr>
        <p:spPr>
          <a:xfrm>
            <a:off x="3553968" y="1005840"/>
            <a:ext cx="1392936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B2F55"/>
                </a:solidFill>
                <a:latin typeface="Liberation Sans"/>
              </a:rPr>
              <a:t>&gt;11,900</a:t>
            </a:r>
          </a:p>
        </p:txBody>
      </p:sp>
      <p:sp>
        <p:nvSpPr>
          <p:cNvPr id="12" name="k2l"/>
          <p:cNvSpPr/>
          <p:nvPr/>
        </p:nvSpPr>
        <p:spPr>
          <a:xfrm>
            <a:off x="3553968" y="1211072"/>
            <a:ext cx="1392936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customers at $100k+ TTM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revenue, Sep 2026</a:t>
            </a:r>
          </a:p>
        </p:txBody>
      </p:sp>
      <p:sp>
        <p:nvSpPr>
          <p:cNvPr id="13" name="k3-fill"/>
          <p:cNvSpPr/>
          <p:nvPr/>
        </p:nvSpPr>
        <p:spPr>
          <a:xfrm>
            <a:off x="5056632" y="950976"/>
            <a:ext cx="1502664" cy="52832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k3f"/>
          <p:cNvSpPr/>
          <p:nvPr/>
        </p:nvSpPr>
        <p:spPr>
          <a:xfrm>
            <a:off x="5111496" y="1005840"/>
            <a:ext cx="1392936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B2F55"/>
                </a:solidFill>
                <a:latin typeface="Liberation Sans"/>
              </a:rPr>
              <a:t>~900%</a:t>
            </a:r>
          </a:p>
        </p:txBody>
      </p:sp>
      <p:sp>
        <p:nvSpPr>
          <p:cNvPr id="15" name="k3l"/>
          <p:cNvSpPr/>
          <p:nvPr/>
        </p:nvSpPr>
        <p:spPr>
          <a:xfrm>
            <a:off x="5111496" y="1211072"/>
            <a:ext cx="1392936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Net Revenue Retention, Sep 2026</a:t>
            </a:r>
          </a:p>
        </p:txBody>
      </p:sp>
      <p:sp>
        <p:nvSpPr>
          <p:cNvPr id="16" name="k4-fill"/>
          <p:cNvSpPr/>
          <p:nvPr/>
        </p:nvSpPr>
        <p:spPr>
          <a:xfrm>
            <a:off x="6614160" y="950976"/>
            <a:ext cx="1502664" cy="52832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k4f"/>
          <p:cNvSpPr/>
          <p:nvPr/>
        </p:nvSpPr>
        <p:spPr>
          <a:xfrm>
            <a:off x="6669024" y="1005840"/>
            <a:ext cx="1392936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B2F55"/>
                </a:solidFill>
                <a:latin typeface="Liberation Sans"/>
              </a:rPr>
              <a:t>$131.7bn</a:t>
            </a:r>
          </a:p>
        </p:txBody>
      </p:sp>
      <p:sp>
        <p:nvSpPr>
          <p:cNvPr id="18" name="k4l"/>
          <p:cNvSpPr/>
          <p:nvPr/>
        </p:nvSpPr>
        <p:spPr>
          <a:xfrm>
            <a:off x="6669024" y="1211072"/>
            <a:ext cx="1392936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cash and short-term investments,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Jun 2026</a:t>
            </a:r>
          </a:p>
        </p:txBody>
      </p:sp>
      <p:sp>
        <p:nvSpPr>
          <p:cNvPr id="19" name="k5-fill"/>
          <p:cNvSpPr/>
          <p:nvPr/>
        </p:nvSpPr>
        <p:spPr>
          <a:xfrm>
            <a:off x="8171688" y="950976"/>
            <a:ext cx="1502664" cy="52832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k5f"/>
          <p:cNvSpPr/>
          <p:nvPr/>
        </p:nvSpPr>
        <p:spPr>
          <a:xfrm>
            <a:off x="8226552" y="1005840"/>
            <a:ext cx="1392936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B2F55"/>
                </a:solidFill>
                <a:latin typeface="Liberation Sans"/>
              </a:rPr>
              <a:t>$141.1bn</a:t>
            </a:r>
          </a:p>
        </p:txBody>
      </p:sp>
      <p:sp>
        <p:nvSpPr>
          <p:cNvPr id="21" name="k5l"/>
          <p:cNvSpPr/>
          <p:nvPr/>
        </p:nvSpPr>
        <p:spPr>
          <a:xfrm>
            <a:off x="8226552" y="1211072"/>
            <a:ext cx="1392936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capital raised to Jun 2026</a:t>
            </a:r>
          </a:p>
        </p:txBody>
      </p:sp>
      <p:sp>
        <p:nvSpPr>
          <p:cNvPr id="22" name="rev_h"/>
          <p:cNvSpPr/>
          <p:nvPr/>
        </p:nvSpPr>
        <p:spPr>
          <a:xfrm>
            <a:off x="384048" y="1534160"/>
            <a:ext cx="493318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Quarterly revenue, margin and growth</a:t>
            </a:r>
          </a:p>
        </p:txBody>
      </p:sp>
      <p:sp>
        <p:nvSpPr>
          <p:cNvPr id="23" name="rev_u"/>
          <p:cNvSpPr/>
          <p:nvPr/>
        </p:nvSpPr>
        <p:spPr>
          <a:xfrm>
            <a:off x="384048" y="1698752"/>
            <a:ext cx="4933188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$m, columns; GAAP operating margin and growth on the prior quarter beneath; quarters to June 2026</a:t>
            </a:r>
          </a:p>
        </p:txBody>
      </p:sp>
      <p:graphicFrame>
        <p:nvGraphicFramePr>
          <p:cNvPr id="24" name="rev"/>
          <p:cNvGraphicFramePr>
            <a:graphicFrameLocks noGrp="1"/>
          </p:cNvGraphicFramePr>
          <p:nvPr/>
        </p:nvGraphicFramePr>
        <p:xfrm>
          <a:off x="384048" y="1832864"/>
          <a:ext cx="4933188" cy="3466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rev_fn"/>
          <p:cNvSpPr/>
          <p:nvPr/>
        </p:nvSpPr>
        <p:spPr>
          <a:xfrm>
            <a:off x="384048" y="5326888"/>
            <a:ext cx="4933188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Operating margin is GAAP operating income (loss) over revenue; growth on the prior quarter is Halden &amp; Rowe's arithmetic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on the S-1 quarterly table. Q2 2026 is the latest quarter with reported results.</a:t>
            </a:r>
          </a:p>
        </p:txBody>
      </p:sp>
      <p:sp>
        <p:nvSpPr>
          <p:cNvPr id="26" name="rev_s"/>
          <p:cNvSpPr/>
          <p:nvPr/>
        </p:nvSpPr>
        <p:spPr>
          <a:xfrm>
            <a:off x="384048" y="5567680"/>
            <a:ext cx="4933188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Quarterly Results of Operations.</a:t>
            </a:r>
          </a:p>
        </p:txBody>
      </p:sp>
      <p:sp>
        <p:nvSpPr>
          <p:cNvPr id="27" name="blank_h"/>
          <p:cNvSpPr/>
          <p:nvPr/>
        </p:nvSpPr>
        <p:spPr>
          <a:xfrm>
            <a:off x="384048" y="5701792"/>
            <a:ext cx="4933188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Still blank in the S-1 as filed</a:t>
            </a:r>
          </a:p>
        </p:txBody>
      </p:sp>
      <p:sp>
        <p:nvSpPr>
          <p:cNvPr id="28" name="blank_t"/>
          <p:cNvSpPr/>
          <p:nvPr/>
        </p:nvSpPr>
        <p:spPr>
          <a:xfrm>
            <a:off x="384048" y="5851144"/>
            <a:ext cx="4933188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Q3 2026 revenue and nine-month results; Run-Rate Revenue; the aggregate committed compute spend; share counts,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ownership percentages and the price range. Each is expected in a later amendment and would update this book. Halden &amp;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Rowe is a fictional bank and this book a demonstration: the S-1 already names Goldman Sachs and Morgan Stanley as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representatives of the underwriters.</a:t>
            </a:r>
          </a:p>
        </p:txBody>
      </p:sp>
      <p:sp>
        <p:nvSpPr>
          <p:cNvPr id="29" name="key"/>
          <p:cNvSpPr/>
          <p:nvPr/>
        </p:nvSpPr>
        <p:spPr>
          <a:xfrm>
            <a:off x="384048" y="6305296"/>
            <a:ext cx="493318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Colour key, every page: navy, an S-1 figure for the period or series in focus; grey-blue, an S-1 comparison (earlier period or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second series) or a peer; ochre, a Halden &amp; Rowe derivation or assumption; teal, a look-here mark. Negatives are in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parentheses.</a:t>
            </a:r>
          </a:p>
        </p:txBody>
      </p:sp>
      <p:sp>
        <p:nvSpPr>
          <p:cNvPr id="30" name="terms_h"/>
          <p:cNvSpPr/>
          <p:nvPr/>
        </p:nvSpPr>
        <p:spPr>
          <a:xfrm>
            <a:off x="5500116" y="1534160"/>
            <a:ext cx="4174236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The offering as filed</a:t>
            </a:r>
          </a:p>
        </p:txBody>
      </p:sp>
      <p:sp>
        <p:nvSpPr>
          <p:cNvPr id="31" name="terms_u"/>
          <p:cNvSpPr/>
          <p:nvPr/>
        </p:nvSpPr>
        <p:spPr>
          <a:xfrm>
            <a:off x="5500116" y="1698752"/>
            <a:ext cx="4174236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S-1 of 26 October 2026; terms the S-1 leaves blank are set in italics</a:t>
            </a:r>
          </a:p>
        </p:txBody>
      </p:sp>
      <p:graphicFrame>
        <p:nvGraphicFramePr>
          <p:cNvPr id="32" name="terms"/>
          <p:cNvGraphicFramePr>
            <a:graphicFrameLocks noGrp="1"/>
          </p:cNvGraphicFramePr>
          <p:nvPr/>
        </p:nvGraphicFramePr>
        <p:xfrm>
          <a:off x="5500116" y="1832864"/>
          <a:ext cx="4174236" cy="209270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27044"/>
                <a:gridCol w="3047192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Term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As stated in the S-1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Issuer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Anthropic, PBC, a Delaware public benefit corporation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Security, listing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Class A common stock; Nasdaq Global Select Market, "ANT"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Shares offered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555D6B"/>
                          </a:solidFill>
                          <a:latin typeface="Liberation Sans"/>
                        </a:rPr>
                        <a:t>Primary and secondary Class A: not yet stated in the S-1</a:t>
                      </a:r>
                      <a:endParaRPr sz="750" b="0" i="1">
                        <a:solidFill>
                          <a:srgbClr val="555D6B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Price range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555D6B"/>
                          </a:solidFill>
                          <a:latin typeface="Liberation Sans"/>
                        </a:rPr>
                        <a:t>Not yet stated in the S-1</a:t>
                      </a:r>
                      <a:endParaRPr sz="750" b="0" i="1">
                        <a:solidFill>
                          <a:srgbClr val="555D6B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Over-allotment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30-day option for additional Class A shares from the company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Use of proceeds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General corporate purposes, incl. compute; RSU tax withholding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Concurrent placement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Google option: up to $10.0bn of Class N at the IPO price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Governance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LTBT elects a board majority; Class F holds 50.1% of votes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398526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Lock-up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By holder group: officers and non-founder directors 10% from day 1; certain holders staged from day 27; founders and some holders over 0.5% up to day 365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Representatives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Goldman Sachs, Morgan Stanley; 20 other underwriters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terms_s"/>
          <p:cNvSpPr/>
          <p:nvPr/>
        </p:nvSpPr>
        <p:spPr>
          <a:xfrm>
            <a:off x="5500116" y="3953002"/>
            <a:ext cx="4174236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 cover page, Prospectus Summary (The Offering) and Underwriting (Lock-Up and Market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Standoff Agreements).</a:t>
            </a:r>
          </a:p>
        </p:txBody>
      </p:sp>
      <p:sp>
        <p:nvSpPr>
          <p:cNvPr id="34" name="fin_h"/>
          <p:cNvSpPr/>
          <p:nvPr/>
        </p:nvSpPr>
        <p:spPr>
          <a:xfrm>
            <a:off x="5500116" y="4193794"/>
            <a:ext cx="4174236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Summary financials</a:t>
            </a:r>
          </a:p>
        </p:txBody>
      </p:sp>
      <p:sp>
        <p:nvSpPr>
          <p:cNvPr id="35" name="fin_u"/>
          <p:cNvSpPr/>
          <p:nvPr/>
        </p:nvSpPr>
        <p:spPr>
          <a:xfrm>
            <a:off x="5500116" y="4358386"/>
            <a:ext cx="4174236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$m; years to December and six months to June</a:t>
            </a:r>
          </a:p>
        </p:txBody>
      </p:sp>
      <p:graphicFrame>
        <p:nvGraphicFramePr>
          <p:cNvPr id="36" name="fin"/>
          <p:cNvGraphicFramePr>
            <a:graphicFrameLocks noGrp="1"/>
          </p:cNvGraphicFramePr>
          <p:nvPr/>
        </p:nvGraphicFramePr>
        <p:xfrm>
          <a:off x="5500116" y="4492498"/>
          <a:ext cx="4174236" cy="135534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502725"/>
                <a:gridCol w="600333"/>
                <a:gridCol w="684713"/>
                <a:gridCol w="693231"/>
                <a:gridCol w="693234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2024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H1 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H1 2026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Revenue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386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4,585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1,163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16,286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Growth (%)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841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1,088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1,300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Operating income (loss)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(2,980)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(8,060)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(2,135)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(693)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Adj. operating income (loss)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(2,788)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(4,854)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(1,849)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1,618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Adj. operating margin (%)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(722)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(106)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(159)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10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Net loss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(8,309)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(41,965)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(12,969)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(80,748)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Operating cash flow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(5,692)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(2,637)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(1,513)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3,929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" name="fin_fn"/>
          <p:cNvSpPr/>
          <p:nvPr/>
        </p:nvSpPr>
        <p:spPr>
          <a:xfrm>
            <a:off x="5500116" y="5875274"/>
            <a:ext cx="417423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Adjusted: excludes stock-based compensation, non-cash charitable contributions and the Bartz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settlement. Net loss includes the change in fair value of convertible notes, derivative liabilities and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SAFEs: $34.3bn in 2025 and $72.4bn in H1 2026.</a:t>
            </a:r>
          </a:p>
        </p:txBody>
      </p:sp>
      <p:sp>
        <p:nvSpPr>
          <p:cNvPr id="38" name="fin_s"/>
          <p:cNvSpPr/>
          <p:nvPr/>
        </p:nvSpPr>
        <p:spPr>
          <a:xfrm>
            <a:off x="5500116" y="6222746"/>
            <a:ext cx="4174236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Summary Consolidated Financial Data; MD&amp;A, Non-GAAP Financial Measures; Cash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Flows.</a:t>
            </a:r>
          </a:p>
        </p:txBody>
      </p:sp>
      <p:sp>
        <p:nvSpPr>
          <p:cNvPr id="39" name="take-fill"/>
          <p:cNvSpPr/>
          <p:nvPr/>
        </p:nvSpPr>
        <p:spPr>
          <a:xfrm>
            <a:off x="384048" y="6680200"/>
            <a:ext cx="9290304" cy="607568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ake_h"/>
          <p:cNvSpPr/>
          <p:nvPr/>
        </p:nvSpPr>
        <p:spPr>
          <a:xfrm>
            <a:off x="438912" y="6735064"/>
            <a:ext cx="1452799" cy="497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Halden &amp; Rowe view</a:t>
            </a:r>
          </a:p>
        </p:txBody>
      </p:sp>
      <p:sp>
        <p:nvSpPr>
          <p:cNvPr id="41" name="take_t"/>
          <p:cNvSpPr/>
          <p:nvPr/>
        </p:nvSpPr>
        <p:spPr>
          <a:xfrm>
            <a:off x="1992295" y="6735064"/>
            <a:ext cx="7627193" cy="497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Scale and profit arrived together: Q2 2026 revenue of $11.6bn was 1,368% above Q2 2025 while compute expense grew 300%, and the quarter turned an operating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profit.</a:t>
            </a:r>
          </a:p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The equity story rests on four tests investors will put: durability of growth, the eight compute arrangements the S-1 names (minimums, caps and estimates; the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aggregate is blank), the PBC and LTBT governance, and revenue quality.</a:t>
            </a:r>
          </a:p>
        </p:txBody>
      </p:sp>
      <p:sp>
        <p:nvSpPr>
          <p:cNvPr id="42" name="opm-0-text"/>
          <p:cNvSpPr/>
          <p:nvPr/>
        </p:nvSpPr>
        <p:spPr>
          <a:xfrm>
            <a:off x="1527818" y="4888829"/>
            <a:ext cx="327049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(249%)</a:t>
            </a:r>
          </a:p>
        </p:txBody>
      </p:sp>
      <p:sp>
        <p:nvSpPr>
          <p:cNvPr id="43" name="opm-1-text"/>
          <p:cNvSpPr/>
          <p:nvPr/>
        </p:nvSpPr>
        <p:spPr>
          <a:xfrm>
            <a:off x="2169133" y="4888829"/>
            <a:ext cx="327049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(152%)</a:t>
            </a:r>
          </a:p>
        </p:txBody>
      </p:sp>
      <p:sp>
        <p:nvSpPr>
          <p:cNvPr id="44" name="opm-2-text"/>
          <p:cNvSpPr/>
          <p:nvPr/>
        </p:nvSpPr>
        <p:spPr>
          <a:xfrm>
            <a:off x="2810447" y="4888829"/>
            <a:ext cx="327049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(224%)</a:t>
            </a:r>
          </a:p>
        </p:txBody>
      </p:sp>
      <p:sp>
        <p:nvSpPr>
          <p:cNvPr id="45" name="opm-3-text"/>
          <p:cNvSpPr/>
          <p:nvPr/>
        </p:nvSpPr>
        <p:spPr>
          <a:xfrm>
            <a:off x="3451762" y="4888829"/>
            <a:ext cx="327049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(139%)</a:t>
            </a:r>
          </a:p>
        </p:txBody>
      </p:sp>
      <p:sp>
        <p:nvSpPr>
          <p:cNvPr id="46" name="opm-4-text"/>
          <p:cNvSpPr/>
          <p:nvPr/>
        </p:nvSpPr>
        <p:spPr>
          <a:xfrm>
            <a:off x="4117797" y="4888829"/>
            <a:ext cx="277607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(35%)</a:t>
            </a:r>
          </a:p>
        </p:txBody>
      </p:sp>
      <p:sp>
        <p:nvSpPr>
          <p:cNvPr id="47" name="opm-5-text"/>
          <p:cNvSpPr/>
          <p:nvPr/>
        </p:nvSpPr>
        <p:spPr>
          <a:xfrm>
            <a:off x="4813437" y="4888829"/>
            <a:ext cx="168956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B2F55"/>
                </a:solidFill>
                <a:latin typeface="Liberation Sans"/>
              </a:rPr>
              <a:t>8%</a:t>
            </a:r>
          </a:p>
        </p:txBody>
      </p:sp>
      <p:sp>
        <p:nvSpPr>
          <p:cNvPr id="48" name="opm-label"/>
          <p:cNvSpPr/>
          <p:nvPr/>
        </p:nvSpPr>
        <p:spPr>
          <a:xfrm>
            <a:off x="643370" y="4888829"/>
            <a:ext cx="727316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16181D"/>
                </a:solidFill>
                <a:latin typeface="Liberation Sans"/>
              </a:rPr>
              <a:t>Operating margin</a:t>
            </a:r>
          </a:p>
        </p:txBody>
      </p:sp>
      <p:sp>
        <p:nvSpPr>
          <p:cNvPr id="49" name="qoq-1-text"/>
          <p:cNvSpPr/>
          <p:nvPr/>
        </p:nvSpPr>
        <p:spPr>
          <a:xfrm>
            <a:off x="2172779" y="5050373"/>
            <a:ext cx="319756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+109%</a:t>
            </a:r>
          </a:p>
        </p:txBody>
      </p:sp>
      <p:sp>
        <p:nvSpPr>
          <p:cNvPr id="50" name="qoq-2-text"/>
          <p:cNvSpPr/>
          <p:nvPr/>
        </p:nvSpPr>
        <p:spPr>
          <a:xfrm>
            <a:off x="2838815" y="5050373"/>
            <a:ext cx="270314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+76%</a:t>
            </a:r>
          </a:p>
        </p:txBody>
      </p:sp>
      <p:sp>
        <p:nvSpPr>
          <p:cNvPr id="51" name="qoq-3-text"/>
          <p:cNvSpPr/>
          <p:nvPr/>
        </p:nvSpPr>
        <p:spPr>
          <a:xfrm>
            <a:off x="3480129" y="5050373"/>
            <a:ext cx="270314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+48%</a:t>
            </a:r>
          </a:p>
        </p:txBody>
      </p:sp>
      <p:sp>
        <p:nvSpPr>
          <p:cNvPr id="52" name="qoq-4-text"/>
          <p:cNvSpPr/>
          <p:nvPr/>
        </p:nvSpPr>
        <p:spPr>
          <a:xfrm>
            <a:off x="4096723" y="5050373"/>
            <a:ext cx="319756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+132%</a:t>
            </a:r>
          </a:p>
        </p:txBody>
      </p:sp>
      <p:sp>
        <p:nvSpPr>
          <p:cNvPr id="53" name="qoq-5-text"/>
          <p:cNvSpPr/>
          <p:nvPr/>
        </p:nvSpPr>
        <p:spPr>
          <a:xfrm>
            <a:off x="4738037" y="5050373"/>
            <a:ext cx="319756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B2F55"/>
                </a:solidFill>
                <a:latin typeface="Liberation Sans"/>
              </a:rPr>
              <a:t>+144%</a:t>
            </a:r>
          </a:p>
        </p:txBody>
      </p:sp>
      <p:sp>
        <p:nvSpPr>
          <p:cNvPr id="54" name="qoq-label"/>
          <p:cNvSpPr/>
          <p:nvPr/>
        </p:nvSpPr>
        <p:spPr>
          <a:xfrm>
            <a:off x="687994" y="5050373"/>
            <a:ext cx="682692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16181D"/>
                </a:solidFill>
                <a:latin typeface="Liberation Sans"/>
              </a:rPr>
              <a:t>Growth, prior qtr</a:t>
            </a:r>
          </a:p>
        </p:txBody>
      </p:sp>
      <p:sp>
        <p:nvSpPr>
          <p:cNvPr id="55" name="q2-box"/>
          <p:cNvSpPr/>
          <p:nvPr/>
        </p:nvSpPr>
        <p:spPr>
          <a:xfrm>
            <a:off x="2163079" y="2078736"/>
            <a:ext cx="2486256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0E6E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q2-label"/>
          <p:cNvSpPr/>
          <p:nvPr/>
        </p:nvSpPr>
        <p:spPr>
          <a:xfrm>
            <a:off x="2190511" y="2106168"/>
            <a:ext cx="24313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0E6E70"/>
                </a:solidFill>
                <a:latin typeface="Liberation Sans"/>
              </a:rPr>
              <a:t>Q2 2026: operating income of $974m, an 8% margin, the</a:t>
            </a:r>
            <a:br/>
            <a:r>
              <a:rPr sz="700" b="1" i="0">
                <a:solidFill>
                  <a:srgbClr val="0E6E70"/>
                </a:solidFill>
                <a:latin typeface="Liberation Sans"/>
              </a:rPr>
              <a:t>first profitable quarter of the six the S-1 reports; revenue</a:t>
            </a:r>
            <a:br/>
            <a:r>
              <a:rPr sz="700" b="1" i="0">
                <a:solidFill>
                  <a:srgbClr val="0E6E70"/>
                </a:solidFill>
                <a:latin typeface="Liberation Sans"/>
              </a:rPr>
              <a:t>up 144.2% on Q1 2026 and 1,368% on Q2 2025</a:t>
            </a:r>
          </a:p>
        </p:txBody>
      </p:sp>
      <p:cxnSp>
        <p:nvCxnSpPr>
          <p:cNvPr id="57" name="q2-leader"/>
          <p:cNvCxnSpPr/>
          <p:nvPr/>
        </p:nvCxnSpPr>
        <p:spPr>
          <a:xfrm>
            <a:off x="4649335" y="2266188"/>
            <a:ext cx="100584" cy="0"/>
          </a:xfrm>
          <a:prstGeom prst="line">
            <a:avLst/>
          </a:prstGeom>
          <a:ln w="9525">
            <a:solidFill>
              <a:srgbClr val="0E6E70"/>
            </a:solidFill>
          </a:ln>
        </p:spPr>
      </p:cxn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0" name="chrome-1"/>
          <p:cNvCxnSpPr/>
          <p:nvPr/>
        </p:nvCxnSpPr>
        <p:spPr>
          <a:xfrm>
            <a:off x="384048" y="900684"/>
            <a:ext cx="9290304" cy="0"/>
          </a:xfrm>
          <a:prstGeom prst="line">
            <a:avLst/>
          </a:prstGeom>
          <a:ln w="12700">
            <a:solidFill>
              <a:srgbClr val="1B2F55"/>
            </a:solidFill>
          </a:ln>
        </p:spPr>
      </p:cxnSp>
      <p:sp>
        <p:nvSpPr>
          <p:cNvPr id="31" name="chrome-2"/>
          <p:cNvSpPr txBox="1"/>
          <p:nvPr/>
        </p:nvSpPr>
        <p:spPr>
          <a:xfrm>
            <a:off x="6967728" y="109728"/>
            <a:ext cx="270662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1B2F55"/>
                </a:solidFill>
                <a:latin typeface="Liberation Sans"/>
              </a:rPr>
              <a:t>HALDEN &amp; ROWE | IPO discussion materials | October 2026</a:t>
            </a:r>
          </a:p>
        </p:txBody>
      </p:sp>
      <p:cxnSp>
        <p:nvCxnSpPr>
          <p:cNvPr id="32" name="chrome-3"/>
          <p:cNvCxnSpPr/>
          <p:nvPr/>
        </p:nvCxnSpPr>
        <p:spPr>
          <a:xfrm>
            <a:off x="384048" y="7317486"/>
            <a:ext cx="9290304" cy="0"/>
          </a:xfrm>
          <a:prstGeom prst="line">
            <a:avLst/>
          </a:prstGeom>
          <a:ln w="6350">
            <a:solidFill>
              <a:srgbClr val="C3CAD4"/>
            </a:solidFill>
          </a:ln>
        </p:spPr>
      </p:cxnSp>
      <p:sp>
        <p:nvSpPr>
          <p:cNvPr id="33" name="chrome-4"/>
          <p:cNvSpPr txBox="1"/>
          <p:nvPr/>
        </p:nvSpPr>
        <p:spPr>
          <a:xfrm>
            <a:off x="384048" y="7370064"/>
            <a:ext cx="877824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55D6B"/>
                </a:solidFill>
                <a:latin typeface="Liberation Sans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" name="kicker"/>
          <p:cNvSpPr/>
          <p:nvPr/>
        </p:nvSpPr>
        <p:spPr>
          <a:xfrm>
            <a:off x="384048" y="384048"/>
            <a:ext cx="92903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2F55"/>
                </a:solidFill>
                <a:latin typeface="Liberation Sans"/>
              </a:rPr>
              <a:t>2 | BUSINESS AND MODEL OVERVIEW</a:t>
            </a:r>
          </a:p>
        </p:txBody>
      </p:sp>
      <p:sp>
        <p:nvSpPr>
          <p:cNvPr id="3" name="title"/>
          <p:cNvSpPr/>
          <p:nvPr/>
        </p:nvSpPr>
        <p:spPr>
          <a:xfrm>
            <a:off x="384048" y="525780"/>
            <a:ext cx="9290304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6181D"/>
                </a:solidFill>
                <a:latin typeface="Liberation Sans"/>
              </a:rPr>
              <a:t>Business and model overview</a:t>
            </a:r>
          </a:p>
        </p:txBody>
      </p:sp>
      <p:sp>
        <p:nvSpPr>
          <p:cNvPr id="4" name="offer_h"/>
          <p:cNvSpPr/>
          <p:nvPr/>
        </p:nvSpPr>
        <p:spPr>
          <a:xfrm>
            <a:off x="384048" y="950976"/>
            <a:ext cx="5911837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How Claude is built, sold and distributed</a:t>
            </a:r>
          </a:p>
        </p:txBody>
      </p:sp>
      <p:sp>
        <p:nvSpPr>
          <p:cNvPr id="5" name="offer_u"/>
          <p:cNvSpPr/>
          <p:nvPr/>
        </p:nvSpPr>
        <p:spPr>
          <a:xfrm>
            <a:off x="384048" y="1115568"/>
            <a:ext cx="591183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Offer layers and channels, with the S-1 figure that evidences each; Sep 2026 unless stated</a:t>
            </a:r>
          </a:p>
        </p:txBody>
      </p:sp>
      <p:graphicFrame>
        <p:nvGraphicFramePr>
          <p:cNvPr id="6" name="offer"/>
          <p:cNvGraphicFramePr>
            <a:graphicFrameLocks noGrp="1"/>
          </p:cNvGraphicFramePr>
          <p:nvPr/>
        </p:nvGraphicFramePr>
        <p:xfrm>
          <a:off x="384048" y="1249680"/>
          <a:ext cx="5911837" cy="220243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064131"/>
                <a:gridCol w="2305616"/>
                <a:gridCol w="2542090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Layer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What it is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S-1 evidence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Products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Claude models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Mythos (incl. Fable), Opus, Sonnet, Haiku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Versions &lt;6 months old: &gt;80% of Q3 2026 revenue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Claude Platform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The primitives for customers' own agents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&gt;50% of $100k+ customers use it and an app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Claude Code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Coding agent; research preview Feb 2025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Top 5% Code users: ~20x non-users' &lt;$75 a month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Claude Cowork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Knowledge-work agent; preview Jan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Adoption ahead of Claude Code at the same point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Revenue model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Pay-for-intelligence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Consumption, metered in tokens, priced by model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$13.1bn, 80% of H1 2026 revenue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Subscriptions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Enterprise and prosumer plans, 12 months or less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$3.2bn, 20% of H1 2026 revenue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Distribution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Direct and Applied AI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Go-to-market and forward-deployed engineers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Sales, marketing and partners: 19% of H1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Cloud marketplaces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AWS, Google Cloud, Azure; fee paid to each CSP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Channel partner fees up $2.7bn in H1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Ecosystem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SIs, data platforms, Ode with Anthropic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&gt;150,000 certified practitioners, &gt;4,000 firms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ffer_s"/>
          <p:cNvSpPr/>
          <p:nvPr/>
        </p:nvSpPr>
        <p:spPr>
          <a:xfrm>
            <a:off x="384048" y="3479546"/>
            <a:ext cx="591183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Prospectus Summary; Business; MD&amp;A, How We Generate Revenue and Our Customers and Approach to Claude Diffusion.</a:t>
            </a:r>
          </a:p>
        </p:txBody>
      </p:sp>
      <p:sp>
        <p:nvSpPr>
          <p:cNvPr id="8" name="drv_h"/>
          <p:cNvSpPr/>
          <p:nvPr/>
        </p:nvSpPr>
        <p:spPr>
          <a:xfrm>
            <a:off x="384048" y="3613658"/>
            <a:ext cx="5911837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The four drivers of the financial model, as the S-1 frames them</a:t>
            </a:r>
          </a:p>
        </p:txBody>
      </p:sp>
      <p:sp>
        <p:nvSpPr>
          <p:cNvPr id="9" name="drv_u"/>
          <p:cNvSpPr/>
          <p:nvPr/>
        </p:nvSpPr>
        <p:spPr>
          <a:xfrm>
            <a:off x="384048" y="3778250"/>
            <a:ext cx="591183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Driver and the S-1 metric behind it</a:t>
            </a:r>
          </a:p>
        </p:txBody>
      </p:sp>
      <p:graphicFrame>
        <p:nvGraphicFramePr>
          <p:cNvPr id="10" name="drv"/>
          <p:cNvGraphicFramePr>
            <a:graphicFrameLocks noGrp="1"/>
          </p:cNvGraphicFramePr>
          <p:nvPr/>
        </p:nvGraphicFramePr>
        <p:xfrm>
          <a:off x="384048" y="3912362"/>
          <a:ext cx="5911837" cy="8470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418841"/>
                <a:gridCol w="4492996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Driver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S-1 metric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Adoption of Claude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Over 11,900 customers at $100k+ TTM revenue, from over 950 a year earlier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Compute efficiency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Q2 2026 revenue up 1,368% year on year against compute and infrastructure expense up 300%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Operating efficiency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TTM revenue per employee over $6.6m, from $1.4m; about 5,300 employees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Compute investments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Procured 12 to 18 months ahead; margins may compress as capacity comes online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ms_h"/>
          <p:cNvSpPr/>
          <p:nvPr/>
        </p:nvSpPr>
        <p:spPr>
          <a:xfrm>
            <a:off x="384048" y="4786884"/>
            <a:ext cx="5911837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Release milestones named in the S-1</a:t>
            </a:r>
          </a:p>
        </p:txBody>
      </p:sp>
      <p:sp>
        <p:nvSpPr>
          <p:cNvPr id="12" name="ms_u"/>
          <p:cNvSpPr/>
          <p:nvPr/>
        </p:nvSpPr>
        <p:spPr>
          <a:xfrm>
            <a:off x="384048" y="4951476"/>
            <a:ext cx="591183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Each launch and what followed; 250 launches in the nine months to Sep 2026</a:t>
            </a:r>
          </a:p>
        </p:txBody>
      </p:sp>
      <p:graphicFrame>
        <p:nvGraphicFramePr>
          <p:cNvPr id="13" name="ms"/>
          <p:cNvGraphicFramePr>
            <a:graphicFrameLocks noGrp="1"/>
          </p:cNvGraphicFramePr>
          <p:nvPr/>
        </p:nvGraphicFramePr>
        <p:xfrm>
          <a:off x="384048" y="5085588"/>
          <a:ext cx="5911837" cy="118592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68539"/>
                <a:gridCol w="2364735"/>
                <a:gridCol w="2778563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Date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Release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What the S-1 reports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2024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Claude 3 family: Opus, Sonnet, Haiku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Broader commercial availability; 2024 revenue up 841%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Feb 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Claude Code research preview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Became the reference point for autonomous coding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Nov 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Opus 4.5: more capable, lower price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QoQ growth 48% to 132%; several factors combined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Jan 2026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Claude Cowork research preview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Adoption ahead of Claude Code's at the same point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Apr 2026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Mythos, gated via Project Glasswing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Held back from broad release for its cyber capabilities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Sep 2026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Opus 5.5 and Fable 5.1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Cost per task cut ~40% (Opus) and ~25% typical (Fable)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drv_s"/>
          <p:cNvSpPr/>
          <p:nvPr/>
        </p:nvSpPr>
        <p:spPr>
          <a:xfrm>
            <a:off x="384048" y="6298946"/>
            <a:ext cx="591183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Our Financial Model and Key Factors Affecting Our Performance; Business; Risk Factors.</a:t>
            </a:r>
          </a:p>
        </p:txBody>
      </p:sp>
      <p:sp>
        <p:nvSpPr>
          <p:cNvPr id="15" name="mix_h"/>
          <p:cNvSpPr/>
          <p:nvPr/>
        </p:nvSpPr>
        <p:spPr>
          <a:xfrm>
            <a:off x="6478765" y="950976"/>
            <a:ext cx="3195587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Revenue by revenue model</a:t>
            </a:r>
          </a:p>
        </p:txBody>
      </p:sp>
      <p:sp>
        <p:nvSpPr>
          <p:cNvPr id="16" name="mix_u"/>
          <p:cNvSpPr/>
          <p:nvPr/>
        </p:nvSpPr>
        <p:spPr>
          <a:xfrm>
            <a:off x="6478765" y="1115568"/>
            <a:ext cx="319558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% of revenue, with $ of consumption revenue; the S-1 describes two models</a:t>
            </a:r>
          </a:p>
        </p:txBody>
      </p:sp>
      <p:graphicFrame>
        <p:nvGraphicFramePr>
          <p:cNvPr id="17" name="mix"/>
          <p:cNvGraphicFramePr>
            <a:graphicFrameLocks noGrp="1"/>
          </p:cNvGraphicFramePr>
          <p:nvPr/>
        </p:nvGraphicFramePr>
        <p:xfrm>
          <a:off x="6478765" y="1249680"/>
          <a:ext cx="3195587" cy="2755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mix_s"/>
          <p:cNvSpPr/>
          <p:nvPr/>
        </p:nvSpPr>
        <p:spPr>
          <a:xfrm>
            <a:off x="6478765" y="4032504"/>
            <a:ext cx="319558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How We Generate Revenue.</a:t>
            </a:r>
          </a:p>
        </p:txBody>
      </p:sp>
      <p:sp>
        <p:nvSpPr>
          <p:cNvPr id="19" name="cpt_h"/>
          <p:cNvSpPr/>
          <p:nvPr/>
        </p:nvSpPr>
        <p:spPr>
          <a:xfrm>
            <a:off x="6478765" y="4166616"/>
            <a:ext cx="3195587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Customer cost per task, Sep 2026 releases</a:t>
            </a:r>
          </a:p>
        </p:txBody>
      </p:sp>
      <p:sp>
        <p:nvSpPr>
          <p:cNvPr id="20" name="cpt_u"/>
          <p:cNvSpPr/>
          <p:nvPr/>
        </p:nvSpPr>
        <p:spPr>
          <a:xfrm>
            <a:off x="6478765" y="4331208"/>
            <a:ext cx="3195587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% reduction against the predecessor; solid: the typical reduction; dashed outline: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Fable's "up to 45%" for complex coding and highly agentic tasks, a ceiling</a:t>
            </a:r>
          </a:p>
        </p:txBody>
      </p:sp>
      <p:graphicFrame>
        <p:nvGraphicFramePr>
          <p:cNvPr id="21" name="cpt"/>
          <p:cNvGraphicFramePr>
            <a:graphicFrameLocks noGrp="1"/>
          </p:cNvGraphicFramePr>
          <p:nvPr/>
        </p:nvGraphicFramePr>
        <p:xfrm>
          <a:off x="6478765" y="4572000"/>
          <a:ext cx="3195587" cy="137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cpt_s"/>
          <p:cNvSpPr/>
          <p:nvPr/>
        </p:nvSpPr>
        <p:spPr>
          <a:xfrm>
            <a:off x="6478765" y="5971032"/>
            <a:ext cx="3195587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Business, Compute Efficiency. Lower price and better efficiency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combined; the split depends on the task.</a:t>
            </a:r>
          </a:p>
        </p:txBody>
      </p:sp>
      <p:sp>
        <p:nvSpPr>
          <p:cNvPr id="23" name="xs-fill"/>
          <p:cNvSpPr/>
          <p:nvPr/>
        </p:nvSpPr>
        <p:spPr>
          <a:xfrm>
            <a:off x="6478765" y="6211824"/>
            <a:ext cx="3195587" cy="52832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xs_f"/>
          <p:cNvSpPr/>
          <p:nvPr/>
        </p:nvSpPr>
        <p:spPr>
          <a:xfrm>
            <a:off x="6533629" y="6266688"/>
            <a:ext cx="3085859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B2F55"/>
                </a:solidFill>
                <a:latin typeface="Liberation Sans"/>
              </a:rPr>
              <a:t>~30% to &gt;50%</a:t>
            </a:r>
          </a:p>
        </p:txBody>
      </p:sp>
      <p:sp>
        <p:nvSpPr>
          <p:cNvPr id="25" name="xs_l"/>
          <p:cNvSpPr/>
          <p:nvPr/>
        </p:nvSpPr>
        <p:spPr>
          <a:xfrm>
            <a:off x="6533629" y="6471920"/>
            <a:ext cx="3085859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of customers at $100k+ TTM revenue used Claude Platform and at least one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first-party application, Q4 2025 to Q3 2026</a:t>
            </a:r>
          </a:p>
        </p:txBody>
      </p:sp>
      <p:sp>
        <p:nvSpPr>
          <p:cNvPr id="26" name="xs_s"/>
          <p:cNvSpPr/>
          <p:nvPr/>
        </p:nvSpPr>
        <p:spPr>
          <a:xfrm>
            <a:off x="6478765" y="6767576"/>
            <a:ext cx="319558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Adoption of Claude.</a:t>
            </a:r>
          </a:p>
        </p:txBody>
      </p:sp>
      <p:sp>
        <p:nvSpPr>
          <p:cNvPr id="27" name="take-fill"/>
          <p:cNvSpPr/>
          <p:nvPr/>
        </p:nvSpPr>
        <p:spPr>
          <a:xfrm>
            <a:off x="384048" y="6929120"/>
            <a:ext cx="9290304" cy="358648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ake_h"/>
          <p:cNvSpPr/>
          <p:nvPr/>
        </p:nvSpPr>
        <p:spPr>
          <a:xfrm>
            <a:off x="438912" y="6983984"/>
            <a:ext cx="1452799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Halden &amp; Rowe view</a:t>
            </a:r>
          </a:p>
        </p:txBody>
      </p:sp>
      <p:sp>
        <p:nvSpPr>
          <p:cNvPr id="29" name="take_t"/>
          <p:cNvSpPr/>
          <p:nvPr/>
        </p:nvSpPr>
        <p:spPr>
          <a:xfrm>
            <a:off x="1992295" y="6983984"/>
            <a:ext cx="7627193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The investor message is one model family sold on two revenue models, consumption (80% of H1 2026) and subscription, through direct sales and every major cloud.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Cross-sell rose from about 30% to over 50% of large customers, and the three releases the S-1 cites (Opus 4.5, Opus 5.5, Fable 5.1) each lowered cost per task.</a:t>
            </a: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7" name="chrome-1"/>
          <p:cNvCxnSpPr/>
          <p:nvPr/>
        </p:nvCxnSpPr>
        <p:spPr>
          <a:xfrm>
            <a:off x="384048" y="900684"/>
            <a:ext cx="9290304" cy="0"/>
          </a:xfrm>
          <a:prstGeom prst="line">
            <a:avLst/>
          </a:prstGeom>
          <a:ln w="12700">
            <a:solidFill>
              <a:srgbClr val="1B2F55"/>
            </a:solidFill>
          </a:ln>
        </p:spPr>
      </p:cxnSp>
      <p:sp>
        <p:nvSpPr>
          <p:cNvPr id="38" name="chrome-2"/>
          <p:cNvSpPr txBox="1"/>
          <p:nvPr/>
        </p:nvSpPr>
        <p:spPr>
          <a:xfrm>
            <a:off x="6967728" y="109728"/>
            <a:ext cx="270662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1B2F55"/>
                </a:solidFill>
                <a:latin typeface="Liberation Sans"/>
              </a:rPr>
              <a:t>HALDEN &amp; ROWE | IPO discussion materials | October 2026</a:t>
            </a:r>
          </a:p>
        </p:txBody>
      </p:sp>
      <p:cxnSp>
        <p:nvCxnSpPr>
          <p:cNvPr id="39" name="chrome-3"/>
          <p:cNvCxnSpPr/>
          <p:nvPr/>
        </p:nvCxnSpPr>
        <p:spPr>
          <a:xfrm>
            <a:off x="384048" y="7317486"/>
            <a:ext cx="9290304" cy="0"/>
          </a:xfrm>
          <a:prstGeom prst="line">
            <a:avLst/>
          </a:prstGeom>
          <a:ln w="6350">
            <a:solidFill>
              <a:srgbClr val="C3CAD4"/>
            </a:solidFill>
          </a:ln>
        </p:spPr>
      </p:cxnSp>
      <p:sp>
        <p:nvSpPr>
          <p:cNvPr id="40" name="chrome-4"/>
          <p:cNvSpPr txBox="1"/>
          <p:nvPr/>
        </p:nvSpPr>
        <p:spPr>
          <a:xfrm>
            <a:off x="384048" y="7370064"/>
            <a:ext cx="877824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55D6B"/>
                </a:solidFill>
                <a:latin typeface="Liberation Sans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" name="kicker"/>
          <p:cNvSpPr/>
          <p:nvPr/>
        </p:nvSpPr>
        <p:spPr>
          <a:xfrm>
            <a:off x="384048" y="384048"/>
            <a:ext cx="92903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2F55"/>
                </a:solidFill>
                <a:latin typeface="Liberation Sans"/>
              </a:rPr>
              <a:t>3 | REVENUE GROWTH</a:t>
            </a:r>
          </a:p>
        </p:txBody>
      </p:sp>
      <p:sp>
        <p:nvSpPr>
          <p:cNvPr id="3" name="title"/>
          <p:cNvSpPr/>
          <p:nvPr/>
        </p:nvSpPr>
        <p:spPr>
          <a:xfrm>
            <a:off x="384048" y="525780"/>
            <a:ext cx="9290304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6181D"/>
                </a:solidFill>
                <a:latin typeface="Liberation Sans"/>
              </a:rPr>
              <a:t>Revenue growth</a:t>
            </a:r>
          </a:p>
        </p:txBody>
      </p:sp>
      <p:sp>
        <p:nvSpPr>
          <p:cNvPr id="4" name="ann_h"/>
          <p:cNvSpPr/>
          <p:nvPr/>
        </p:nvSpPr>
        <p:spPr>
          <a:xfrm>
            <a:off x="384048" y="950976"/>
            <a:ext cx="523192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Revenue by period</a:t>
            </a:r>
          </a:p>
        </p:txBody>
      </p:sp>
      <p:sp>
        <p:nvSpPr>
          <p:cNvPr id="5" name="ann_u"/>
          <p:cNvSpPr/>
          <p:nvPr/>
        </p:nvSpPr>
        <p:spPr>
          <a:xfrm>
            <a:off x="384048" y="1115568"/>
            <a:ext cx="523192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$m; full years and half-years drawn apart, on one scale</a:t>
            </a:r>
          </a:p>
        </p:txBody>
      </p:sp>
      <p:sp>
        <p:nvSpPr>
          <p:cNvPr id="6" name="fy_h"/>
          <p:cNvSpPr/>
          <p:nvPr/>
        </p:nvSpPr>
        <p:spPr>
          <a:xfrm>
            <a:off x="384048" y="1249680"/>
            <a:ext cx="3194622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Years to December</a:t>
            </a:r>
          </a:p>
        </p:txBody>
      </p:sp>
      <p:graphicFrame>
        <p:nvGraphicFramePr>
          <p:cNvPr id="7" name="fy"/>
          <p:cNvGraphicFramePr>
            <a:graphicFrameLocks noGrp="1"/>
          </p:cNvGraphicFramePr>
          <p:nvPr/>
        </p:nvGraphicFramePr>
        <p:xfrm>
          <a:off x="384048" y="1399032"/>
          <a:ext cx="3194622" cy="2993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hy_h"/>
          <p:cNvSpPr/>
          <p:nvPr/>
        </p:nvSpPr>
        <p:spPr>
          <a:xfrm>
            <a:off x="3743262" y="1249680"/>
            <a:ext cx="187271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Six months to June</a:t>
            </a:r>
          </a:p>
        </p:txBody>
      </p:sp>
      <p:graphicFrame>
        <p:nvGraphicFramePr>
          <p:cNvPr id="9" name="hy"/>
          <p:cNvGraphicFramePr>
            <a:graphicFrameLocks noGrp="1"/>
          </p:cNvGraphicFramePr>
          <p:nvPr/>
        </p:nvGraphicFramePr>
        <p:xfrm>
          <a:off x="3743262" y="1399032"/>
          <a:ext cx="1872710" cy="299313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ann_s"/>
          <p:cNvSpPr/>
          <p:nvPr/>
        </p:nvSpPr>
        <p:spPr>
          <a:xfrm>
            <a:off x="384048" y="4419600"/>
            <a:ext cx="5231924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Summary Consolidated Financial and Other Data; MD&amp;A, Key Factors and Comparison of Periods (share of revenue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from customers at $100k+ TTM revenue).</a:t>
            </a:r>
          </a:p>
        </p:txBody>
      </p:sp>
      <p:sp>
        <p:nvSpPr>
          <p:cNvPr id="11" name="n_h"/>
          <p:cNvSpPr/>
          <p:nvPr/>
        </p:nvSpPr>
        <p:spPr>
          <a:xfrm>
            <a:off x="5798852" y="950976"/>
            <a:ext cx="38755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What drives the line</a:t>
            </a:r>
          </a:p>
        </p:txBody>
      </p:sp>
      <p:sp>
        <p:nvSpPr>
          <p:cNvPr id="12" name="n1"/>
          <p:cNvSpPr/>
          <p:nvPr/>
        </p:nvSpPr>
        <p:spPr>
          <a:xfrm>
            <a:off x="5798852" y="1100328"/>
            <a:ext cx="387550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Quarter-on-quarter growth rose from 48% (Q4 2025) to 132% (Q1 2026) after Opus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4.5 (Nov 2025); the S-1 credits several factors together: lower prices and better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capability, new products and wider adoption.</a:t>
            </a:r>
          </a:p>
        </p:txBody>
      </p:sp>
      <p:sp>
        <p:nvSpPr>
          <p:cNvPr id="13" name="n2"/>
          <p:cNvSpPr/>
          <p:nvPr/>
        </p:nvSpPr>
        <p:spPr>
          <a:xfrm>
            <a:off x="5798852" y="1488440"/>
            <a:ext cx="3875500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Versions released in the six months to Sep 2026 earned over 80% of Q3 2026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revenue.</a:t>
            </a:r>
          </a:p>
        </p:txBody>
      </p:sp>
      <p:sp>
        <p:nvSpPr>
          <p:cNvPr id="14" name="n3"/>
          <p:cNvSpPr/>
          <p:nvPr/>
        </p:nvSpPr>
        <p:spPr>
          <a:xfrm>
            <a:off x="5798852" y="1764792"/>
            <a:ext cx="387550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Revenue from customers at $100k+ TTM revenue grew from about $37m (2023) to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$220m (2024) and $3.5bn (2025); for the six months to June it was $12.0bn in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2026 against $870m in 2025.</a:t>
            </a:r>
          </a:p>
        </p:txBody>
      </p:sp>
      <p:sp>
        <p:nvSpPr>
          <p:cNvPr id="15" name="n4"/>
          <p:cNvSpPr/>
          <p:nvPr/>
        </p:nvSpPr>
        <p:spPr>
          <a:xfrm>
            <a:off x="5798852" y="2152904"/>
            <a:ext cx="3875500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Seasonal: spend fell about 20% in the two weeks to 2 Jan 2026 against the prior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two weeks.</a:t>
            </a:r>
          </a:p>
        </p:txBody>
      </p:sp>
      <p:sp>
        <p:nvSpPr>
          <p:cNvPr id="16" name="n5"/>
          <p:cNvSpPr/>
          <p:nvPr/>
        </p:nvSpPr>
        <p:spPr>
          <a:xfrm>
            <a:off x="5798852" y="2429256"/>
            <a:ext cx="3875500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An estimated 5% to 7% of nine-month 2026 revenue came from customers in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breach of usage policy or terms; the S-1 expects this to decline.</a:t>
            </a:r>
          </a:p>
        </p:txBody>
      </p:sp>
      <p:sp>
        <p:nvSpPr>
          <p:cNvPr id="17" name="n6"/>
          <p:cNvSpPr/>
          <p:nvPr/>
        </p:nvSpPr>
        <p:spPr>
          <a:xfrm>
            <a:off x="5798852" y="2705608"/>
            <a:ext cx="38755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The S-1 expects the growth rate to decline, possibly significantly.</a:t>
            </a:r>
          </a:p>
        </p:txBody>
      </p:sp>
      <p:sp>
        <p:nvSpPr>
          <p:cNvPr id="18" name="h1_h"/>
          <p:cNvSpPr/>
          <p:nvPr/>
        </p:nvSpPr>
        <p:spPr>
          <a:xfrm>
            <a:off x="5798852" y="2870200"/>
            <a:ext cx="38755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Where the H1 2026 growth came from</a:t>
            </a:r>
          </a:p>
        </p:txBody>
      </p:sp>
      <p:sp>
        <p:nvSpPr>
          <p:cNvPr id="19" name="h1_u"/>
          <p:cNvSpPr/>
          <p:nvPr/>
        </p:nvSpPr>
        <p:spPr>
          <a:xfrm>
            <a:off x="5798852" y="3034792"/>
            <a:ext cx="38755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Six months to June 2026 against the same months of 2025, as the S-1 states it</a:t>
            </a:r>
          </a:p>
        </p:txBody>
      </p:sp>
      <p:graphicFrame>
        <p:nvGraphicFramePr>
          <p:cNvPr id="20" name="h1"/>
          <p:cNvGraphicFramePr>
            <a:graphicFrameLocks noGrp="1"/>
          </p:cNvGraphicFramePr>
          <p:nvPr/>
        </p:nvGraphicFramePr>
        <p:xfrm>
          <a:off x="5798852" y="3168904"/>
          <a:ext cx="3875500" cy="118592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015260"/>
                <a:gridCol w="930120"/>
                <a:gridCol w="930120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H1 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H1 2026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Revenue ($m)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1,163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16,286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Consumption-based revenue increase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+$12.1bn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Subscription-based revenue increase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+$3.0bn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Customers at $100k+ TTM revenue (30 June)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&gt;600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&gt;6,000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Revenue from those customers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$870m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$12.0bn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Their share of revenue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~75%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~74%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h1_s"/>
          <p:cNvSpPr/>
          <p:nvPr/>
        </p:nvSpPr>
        <p:spPr>
          <a:xfrm>
            <a:off x="5798852" y="4382262"/>
            <a:ext cx="387550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Comparison of the Six Months Ended June 30, 2025 and 2026 (Revenue).</a:t>
            </a:r>
          </a:p>
        </p:txBody>
      </p:sp>
      <p:sp>
        <p:nvSpPr>
          <p:cNvPr id="22" name="qt_h"/>
          <p:cNvSpPr/>
          <p:nvPr/>
        </p:nvSpPr>
        <p:spPr>
          <a:xfrm>
            <a:off x="384048" y="4687824"/>
            <a:ext cx="929030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Quarterly results</a:t>
            </a:r>
          </a:p>
        </p:txBody>
      </p:sp>
      <p:sp>
        <p:nvSpPr>
          <p:cNvPr id="23" name="qt_u"/>
          <p:cNvSpPr/>
          <p:nvPr/>
        </p:nvSpPr>
        <p:spPr>
          <a:xfrm>
            <a:off x="384048" y="4852416"/>
            <a:ext cx="929030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$m unless stated; three months to the date shown</a:t>
            </a:r>
          </a:p>
        </p:txBody>
      </p:sp>
      <p:graphicFrame>
        <p:nvGraphicFramePr>
          <p:cNvPr id="24" name="qt"/>
          <p:cNvGraphicFramePr>
            <a:graphicFrameLocks noGrp="1"/>
          </p:cNvGraphicFramePr>
          <p:nvPr/>
        </p:nvGraphicFramePr>
        <p:xfrm>
          <a:off x="384048" y="4986528"/>
          <a:ext cx="9290304" cy="203301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601285"/>
                <a:gridCol w="1114836"/>
                <a:gridCol w="1114836"/>
                <a:gridCol w="1114836"/>
                <a:gridCol w="1114836"/>
                <a:gridCol w="1114836"/>
                <a:gridCol w="1114839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Q1 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Q2 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Q3 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Q4 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Q1 2026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Q2 2026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Revenue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376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787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1,382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2,040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4,731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11,555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Growth on prior quarter (%)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109.3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75.6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47.6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131.9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144.2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Compute and infrastructure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944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1,390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2,047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2,945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3,387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5,558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Personnel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218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320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489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812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1,295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1,857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Sales, marketing and partnerships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24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96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202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246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1,033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2,135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Other operating and administrative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125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181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233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873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683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1,031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Bartz settlement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1,500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Operating income (loss)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(935)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(1,200)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(3,089)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(2,836)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(1,667)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974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Operating margin (%)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(249)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(152)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(224)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(139)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(35)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8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Adj. operating income (loss)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(830)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(1,019)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(1,284)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(1,721)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(617)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2,235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Adj. operating margin (%)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(221)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(129)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(93)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(84)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6181D"/>
                          </a:solidFill>
                          <a:latin typeface="Liberation Sans"/>
                        </a:rPr>
                        <a:t>(13)</a:t>
                      </a:r>
                      <a:endParaRPr sz="750" b="0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19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qt_fn"/>
          <p:cNvSpPr/>
          <p:nvPr/>
        </p:nvSpPr>
        <p:spPr>
          <a:xfrm>
            <a:off x="384048" y="7046976"/>
            <a:ext cx="929030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Growth on prior quarter computed by Halden &amp; Rowe from the S-1 quarterly table; the S-1 states 48% (Q4 2025) and 132% (Q1 2026). Q2 2026 revenue was 1,368% above Q2 2025.</a:t>
            </a:r>
          </a:p>
        </p:txBody>
      </p:sp>
      <p:sp>
        <p:nvSpPr>
          <p:cNvPr id="26" name="qt_s"/>
          <p:cNvSpPr/>
          <p:nvPr/>
        </p:nvSpPr>
        <p:spPr>
          <a:xfrm>
            <a:off x="384048" y="7181088"/>
            <a:ext cx="929030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Quarterly Results of Operations and Quarterly Adjusted Operating Income (Loss).</a:t>
            </a:r>
          </a:p>
        </p:txBody>
      </p:sp>
      <p:sp>
        <p:nvSpPr>
          <p:cNvPr id="27" name="fy_sh-0-text"/>
          <p:cNvSpPr/>
          <p:nvPr/>
        </p:nvSpPr>
        <p:spPr>
          <a:xfrm>
            <a:off x="1595293" y="4006901"/>
            <a:ext cx="218398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90%</a:t>
            </a:r>
          </a:p>
        </p:txBody>
      </p:sp>
      <p:sp>
        <p:nvSpPr>
          <p:cNvPr id="28" name="fy_sh-1-text"/>
          <p:cNvSpPr/>
          <p:nvPr/>
        </p:nvSpPr>
        <p:spPr>
          <a:xfrm>
            <a:off x="2319407" y="4006901"/>
            <a:ext cx="218398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57%</a:t>
            </a:r>
          </a:p>
        </p:txBody>
      </p:sp>
      <p:sp>
        <p:nvSpPr>
          <p:cNvPr id="29" name="fy_sh-2-text"/>
          <p:cNvSpPr/>
          <p:nvPr/>
        </p:nvSpPr>
        <p:spPr>
          <a:xfrm>
            <a:off x="3043521" y="4006901"/>
            <a:ext cx="218398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76%</a:t>
            </a:r>
          </a:p>
        </p:txBody>
      </p:sp>
      <p:sp>
        <p:nvSpPr>
          <p:cNvPr id="30" name="fy_sh-label"/>
          <p:cNvSpPr/>
          <p:nvPr/>
        </p:nvSpPr>
        <p:spPr>
          <a:xfrm>
            <a:off x="760754" y="4006901"/>
            <a:ext cx="581681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16181D"/>
                </a:solidFill>
                <a:latin typeface="Liberation Sans"/>
              </a:rPr>
              <a:t>$100k+ share</a:t>
            </a:r>
          </a:p>
        </p:txBody>
      </p:sp>
      <p:sp>
        <p:nvSpPr>
          <p:cNvPr id="31" name="fy_g-1-text"/>
          <p:cNvSpPr/>
          <p:nvPr/>
        </p:nvSpPr>
        <p:spPr>
          <a:xfrm>
            <a:off x="2268728" y="4168445"/>
            <a:ext cx="319756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+841%</a:t>
            </a:r>
          </a:p>
        </p:txBody>
      </p:sp>
      <p:sp>
        <p:nvSpPr>
          <p:cNvPr id="32" name="fy_g-2-text"/>
          <p:cNvSpPr/>
          <p:nvPr/>
        </p:nvSpPr>
        <p:spPr>
          <a:xfrm>
            <a:off x="2955771" y="4168445"/>
            <a:ext cx="393898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B2F55"/>
                </a:solidFill>
                <a:latin typeface="Liberation Sans"/>
              </a:rPr>
              <a:t>+1,088%</a:t>
            </a:r>
          </a:p>
        </p:txBody>
      </p:sp>
      <p:sp>
        <p:nvSpPr>
          <p:cNvPr id="33" name="fy_g-label"/>
          <p:cNvSpPr/>
          <p:nvPr/>
        </p:nvSpPr>
        <p:spPr>
          <a:xfrm>
            <a:off x="1015429" y="4168445"/>
            <a:ext cx="327006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16181D"/>
                </a:solidFill>
                <a:latin typeface="Liberation Sans"/>
              </a:rPr>
              <a:t>Growth</a:t>
            </a:r>
          </a:p>
        </p:txBody>
      </p:sp>
      <p:sp>
        <p:nvSpPr>
          <p:cNvPr id="34" name="hy_sh-0-text"/>
          <p:cNvSpPr/>
          <p:nvPr/>
        </p:nvSpPr>
        <p:spPr>
          <a:xfrm>
            <a:off x="4139695" y="4006901"/>
            <a:ext cx="218398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75%</a:t>
            </a:r>
          </a:p>
        </p:txBody>
      </p:sp>
      <p:sp>
        <p:nvSpPr>
          <p:cNvPr id="35" name="hy_sh-1-text"/>
          <p:cNvSpPr/>
          <p:nvPr/>
        </p:nvSpPr>
        <p:spPr>
          <a:xfrm>
            <a:off x="5001141" y="4006901"/>
            <a:ext cx="218398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74%</a:t>
            </a:r>
          </a:p>
        </p:txBody>
      </p:sp>
      <p:sp>
        <p:nvSpPr>
          <p:cNvPr id="36" name="hy_g-1-text"/>
          <p:cNvSpPr/>
          <p:nvPr/>
        </p:nvSpPr>
        <p:spPr>
          <a:xfrm>
            <a:off x="4913391" y="4168445"/>
            <a:ext cx="393898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B2F55"/>
                </a:solidFill>
                <a:latin typeface="Liberation Sans"/>
              </a:rPr>
              <a:t>+1,300%</a:t>
            </a: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5" name="chrome-1"/>
          <p:cNvCxnSpPr/>
          <p:nvPr/>
        </p:nvCxnSpPr>
        <p:spPr>
          <a:xfrm>
            <a:off x="384048" y="900684"/>
            <a:ext cx="9290304" cy="0"/>
          </a:xfrm>
          <a:prstGeom prst="line">
            <a:avLst/>
          </a:prstGeom>
          <a:ln w="12700">
            <a:solidFill>
              <a:srgbClr val="1B2F55"/>
            </a:solidFill>
          </a:ln>
        </p:spPr>
      </p:cxnSp>
      <p:sp>
        <p:nvSpPr>
          <p:cNvPr id="36" name="chrome-2"/>
          <p:cNvSpPr txBox="1"/>
          <p:nvPr/>
        </p:nvSpPr>
        <p:spPr>
          <a:xfrm>
            <a:off x="6967728" y="109728"/>
            <a:ext cx="270662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1B2F55"/>
                </a:solidFill>
                <a:latin typeface="Liberation Sans"/>
              </a:rPr>
              <a:t>HALDEN &amp; ROWE | IPO discussion materials | October 2026</a:t>
            </a:r>
          </a:p>
        </p:txBody>
      </p:sp>
      <p:cxnSp>
        <p:nvCxnSpPr>
          <p:cNvPr id="37" name="chrome-3"/>
          <p:cNvCxnSpPr/>
          <p:nvPr/>
        </p:nvCxnSpPr>
        <p:spPr>
          <a:xfrm>
            <a:off x="384048" y="7317486"/>
            <a:ext cx="9290304" cy="0"/>
          </a:xfrm>
          <a:prstGeom prst="line">
            <a:avLst/>
          </a:prstGeom>
          <a:ln w="6350">
            <a:solidFill>
              <a:srgbClr val="C3CAD4"/>
            </a:solidFill>
          </a:ln>
        </p:spPr>
      </p:cxnSp>
      <p:sp>
        <p:nvSpPr>
          <p:cNvPr id="38" name="chrome-4"/>
          <p:cNvSpPr txBox="1"/>
          <p:nvPr/>
        </p:nvSpPr>
        <p:spPr>
          <a:xfrm>
            <a:off x="384048" y="7370064"/>
            <a:ext cx="877824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55D6B"/>
                </a:solidFill>
                <a:latin typeface="Liberation Sans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" name="kicker"/>
          <p:cNvSpPr/>
          <p:nvPr/>
        </p:nvSpPr>
        <p:spPr>
          <a:xfrm>
            <a:off x="384048" y="384048"/>
            <a:ext cx="92903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2F55"/>
                </a:solidFill>
                <a:latin typeface="Liberation Sans"/>
              </a:rPr>
              <a:t>4 | CUSTOMER AND USAGE METRICS</a:t>
            </a:r>
          </a:p>
        </p:txBody>
      </p:sp>
      <p:sp>
        <p:nvSpPr>
          <p:cNvPr id="3" name="title"/>
          <p:cNvSpPr/>
          <p:nvPr/>
        </p:nvSpPr>
        <p:spPr>
          <a:xfrm>
            <a:off x="384048" y="525780"/>
            <a:ext cx="9290304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6181D"/>
                </a:solidFill>
                <a:latin typeface="Liberation Sans"/>
              </a:rPr>
              <a:t>Customer and usage metrics</a:t>
            </a:r>
          </a:p>
        </p:txBody>
      </p:sp>
      <p:sp>
        <p:nvSpPr>
          <p:cNvPr id="4" name="cust_h"/>
          <p:cNvSpPr/>
          <p:nvPr/>
        </p:nvSpPr>
        <p:spPr>
          <a:xfrm>
            <a:off x="384048" y="950976"/>
            <a:ext cx="4967686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Customers paying $100k+ a year</a:t>
            </a:r>
          </a:p>
        </p:txBody>
      </p:sp>
      <p:sp>
        <p:nvSpPr>
          <p:cNvPr id="5" name="cust_u"/>
          <p:cNvSpPr/>
          <p:nvPr/>
        </p:nvSpPr>
        <p:spPr>
          <a:xfrm>
            <a:off x="384048" y="1115568"/>
            <a:ext cx="4967686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Count with $100k or more of TTM revenue at each date the S-1 gives (none for Mar 2026), spaced by date; log scale, so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equal rises are equal growth rates; the S-1's approximations as stated</a:t>
            </a:r>
          </a:p>
        </p:txBody>
      </p:sp>
      <p:graphicFrame>
        <p:nvGraphicFramePr>
          <p:cNvPr id="6" name="cust"/>
          <p:cNvGraphicFramePr>
            <a:graphicFrameLocks noGrp="1"/>
          </p:cNvGraphicFramePr>
          <p:nvPr/>
        </p:nvGraphicFramePr>
        <p:xfrm>
          <a:off x="384048" y="1356360"/>
          <a:ext cx="4967686" cy="385800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ust_s"/>
          <p:cNvSpPr/>
          <p:nvPr/>
        </p:nvSpPr>
        <p:spPr>
          <a:xfrm>
            <a:off x="384048" y="5241798"/>
            <a:ext cx="4967686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Key Factors Affecting Our Performance; Comparison of Periods; Quarterly Trends; Business.</a:t>
            </a:r>
          </a:p>
        </p:txBody>
      </p:sp>
      <p:sp>
        <p:nvSpPr>
          <p:cNvPr id="8" name="tier_h"/>
          <p:cNvSpPr/>
          <p:nvPr/>
        </p:nvSpPr>
        <p:spPr>
          <a:xfrm>
            <a:off x="384048" y="5375910"/>
            <a:ext cx="4967686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Customers by annual spend, Sep 2026</a:t>
            </a:r>
          </a:p>
        </p:txBody>
      </p:sp>
      <p:sp>
        <p:nvSpPr>
          <p:cNvPr id="9" name="tier_u"/>
          <p:cNvSpPr/>
          <p:nvPr/>
        </p:nvSpPr>
        <p:spPr>
          <a:xfrm>
            <a:off x="384048" y="5540502"/>
            <a:ext cx="4967686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TTM revenue per customer</a:t>
            </a:r>
          </a:p>
        </p:txBody>
      </p:sp>
      <p:graphicFrame>
        <p:nvGraphicFramePr>
          <p:cNvPr id="10" name="tier"/>
          <p:cNvGraphicFramePr>
            <a:graphicFrameLocks noGrp="1"/>
          </p:cNvGraphicFramePr>
          <p:nvPr/>
        </p:nvGraphicFramePr>
        <p:xfrm>
          <a:off x="384048" y="5674614"/>
          <a:ext cx="4967686" cy="8470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980612"/>
                <a:gridCol w="1987074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Tier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Customers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$10m or more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~250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$1m or more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&gt;1,900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$100k or more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&gt;11,900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Under $100k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~40 million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ier_fn"/>
          <p:cNvSpPr/>
          <p:nvPr/>
        </p:nvSpPr>
        <p:spPr>
          <a:xfrm>
            <a:off x="384048" y="6549136"/>
            <a:ext cx="4967686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$100k+ customers' share of revenue: 90%, 57% and 76% in 2023 to 2025, 74% in H1 2026. Over 50% of the Fortune 500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and over 30% of the Global 2000 are $100k+ customers. Revenue from them grew from about $37m (2023) to $3.5bn (2025).</a:t>
            </a:r>
          </a:p>
        </p:txBody>
      </p:sp>
      <p:sp>
        <p:nvSpPr>
          <p:cNvPr id="12" name="met_h"/>
          <p:cNvSpPr/>
          <p:nvPr/>
        </p:nvSpPr>
        <p:spPr>
          <a:xfrm>
            <a:off x="5534614" y="950976"/>
            <a:ext cx="413973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Penetration, expansion and efficiency</a:t>
            </a:r>
          </a:p>
        </p:txBody>
      </p:sp>
      <p:sp>
        <p:nvSpPr>
          <p:cNvPr id="13" name="met_u"/>
          <p:cNvSpPr/>
          <p:nvPr/>
        </p:nvSpPr>
        <p:spPr>
          <a:xfrm>
            <a:off x="5534614" y="1115568"/>
            <a:ext cx="4139738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As stated in the S-1</a:t>
            </a:r>
          </a:p>
        </p:txBody>
      </p:sp>
      <p:graphicFrame>
        <p:nvGraphicFramePr>
          <p:cNvPr id="14" name="met"/>
          <p:cNvGraphicFramePr>
            <a:graphicFrameLocks noGrp="1"/>
          </p:cNvGraphicFramePr>
          <p:nvPr/>
        </p:nvGraphicFramePr>
        <p:xfrm>
          <a:off x="5534614" y="1249680"/>
          <a:ext cx="4139738" cy="180873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069869"/>
                <a:gridCol w="1117729"/>
                <a:gridCol w="952140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Metric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Value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As of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Net Revenue Retention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~900%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Sep 2026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Fortune 10 that are $100k+ customers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All 10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Sep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Fortune 500 / Global 2000 penetration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&gt;50% / &gt;30%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Sep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Revenue as share of F500 customers' expenses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&lt;0.1%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Q3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Same, top 10 F500 customers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&lt;1%, &gt;8x avg.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Q3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Enterprise users with Claude Code, top 5%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~20x spend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Q3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TTM revenue per employee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&gt;$6.6m vs $1.4m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Sep 2026 vs 2025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Employees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~5,300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Sep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TTM revenue / headcount growth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~1,200% / ~170%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Year to Sep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met_s"/>
          <p:cNvSpPr/>
          <p:nvPr/>
        </p:nvSpPr>
        <p:spPr>
          <a:xfrm>
            <a:off x="5534614" y="3085846"/>
            <a:ext cx="4139738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Prospectus Summary; MD&amp;A, Key Factors; Business.</a:t>
            </a:r>
          </a:p>
        </p:txBody>
      </p:sp>
      <p:sp>
        <p:nvSpPr>
          <p:cNvPr id="16" name="f5_h"/>
          <p:cNvSpPr/>
          <p:nvPr/>
        </p:nvSpPr>
        <p:spPr>
          <a:xfrm>
            <a:off x="5534614" y="3219958"/>
            <a:ext cx="413973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Fortune 500 sector leaders that are $100k+ customers</a:t>
            </a:r>
          </a:p>
        </p:txBody>
      </p:sp>
      <p:sp>
        <p:nvSpPr>
          <p:cNvPr id="17" name="f5_u"/>
          <p:cNvSpPr/>
          <p:nvPr/>
        </p:nvSpPr>
        <p:spPr>
          <a:xfrm>
            <a:off x="5534614" y="3384550"/>
            <a:ext cx="4139738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Of the ten largest Fortune 500 companies in each group, as of 30 Sep 2026; the S-1 does not say when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each became one</a:t>
            </a:r>
          </a:p>
        </p:txBody>
      </p:sp>
      <p:graphicFrame>
        <p:nvGraphicFramePr>
          <p:cNvPr id="18" name="f5"/>
          <p:cNvGraphicFramePr>
            <a:graphicFrameLocks noGrp="1"/>
          </p:cNvGraphicFramePr>
          <p:nvPr/>
        </p:nvGraphicFramePr>
        <p:xfrm>
          <a:off x="5534614" y="3625342"/>
          <a:ext cx="4139738" cy="118592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566638"/>
                <a:gridCol w="1573100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Fortune 500 group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$100k+ customers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Software and IT services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10 of 10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Internet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10 of 10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Banks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10 of 10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Pharmaceuticals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9 of 10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Semiconductors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9 of 10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Healthcare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8 of 10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f5_s"/>
          <p:cNvSpPr/>
          <p:nvPr/>
        </p:nvSpPr>
        <p:spPr>
          <a:xfrm>
            <a:off x="5534614" y="4838700"/>
            <a:ext cx="4139738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Business, Unprecedented Financial Model.</a:t>
            </a:r>
          </a:p>
        </p:txBody>
      </p:sp>
      <p:sp>
        <p:nvSpPr>
          <p:cNvPr id="20" name="conc_h"/>
          <p:cNvSpPr/>
          <p:nvPr/>
        </p:nvSpPr>
        <p:spPr>
          <a:xfrm>
            <a:off x="5534614" y="4972812"/>
            <a:ext cx="413973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Revenue concentration</a:t>
            </a:r>
          </a:p>
        </p:txBody>
      </p:sp>
      <p:sp>
        <p:nvSpPr>
          <p:cNvPr id="21" name="conc_u"/>
          <p:cNvSpPr/>
          <p:nvPr/>
        </p:nvSpPr>
        <p:spPr>
          <a:xfrm>
            <a:off x="5534614" y="5137404"/>
            <a:ext cx="4139738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% of quarterly revenue; navy: outside the top five, as the S-1 states it, approximately; ochre: the top five,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Halden &amp; Rowe's complement; no customer was over 10% of nine-month 2026 revenue</a:t>
            </a:r>
          </a:p>
        </p:txBody>
      </p:sp>
      <p:graphicFrame>
        <p:nvGraphicFramePr>
          <p:cNvPr id="22" name="conc"/>
          <p:cNvGraphicFramePr>
            <a:graphicFrameLocks noGrp="1"/>
          </p:cNvGraphicFramePr>
          <p:nvPr/>
        </p:nvGraphicFramePr>
        <p:xfrm>
          <a:off x="5534614" y="5378196"/>
          <a:ext cx="4139738" cy="11435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conc_s"/>
          <p:cNvSpPr/>
          <p:nvPr/>
        </p:nvSpPr>
        <p:spPr>
          <a:xfrm>
            <a:off x="5534614" y="6549136"/>
            <a:ext cx="4139738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Key Factors Affecting Our Performance. Top-five shares: Halden &amp; Rowe, 100%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less the S-1's ~64% and ~79%.</a:t>
            </a:r>
          </a:p>
        </p:txBody>
      </p:sp>
      <p:sp>
        <p:nvSpPr>
          <p:cNvPr id="24" name="take-fill"/>
          <p:cNvSpPr/>
          <p:nvPr/>
        </p:nvSpPr>
        <p:spPr>
          <a:xfrm>
            <a:off x="384048" y="6817360"/>
            <a:ext cx="9290304" cy="470408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ake_h"/>
          <p:cNvSpPr/>
          <p:nvPr/>
        </p:nvSpPr>
        <p:spPr>
          <a:xfrm>
            <a:off x="438912" y="6872224"/>
            <a:ext cx="1452799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Halden &amp; Rowe view</a:t>
            </a:r>
          </a:p>
        </p:txBody>
      </p:sp>
      <p:sp>
        <p:nvSpPr>
          <p:cNvPr id="26" name="take_t"/>
          <p:cNvSpPr/>
          <p:nvPr/>
        </p:nvSpPr>
        <p:spPr>
          <a:xfrm>
            <a:off x="1992295" y="6872224"/>
            <a:ext cx="7627193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Breadth is the answer to concentration: the top five customers' share fell from about 36% to about 21% of revenue between Q1 and Q3 2026 (Halden &amp; Rowe, from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the S-1's ~64% and ~79% outside them), and by September 2026 all ten of the largest Fortune 500 banks and of the largest software and IT services companies were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$100k+ customers; the debate will be how much of ~900% NRR survives as the base matures.</a:t>
            </a:r>
          </a:p>
        </p:txBody>
      </p:sp>
      <p:sp>
        <p:nvSpPr>
          <p:cNvPr id="27" name="yr-label"/>
          <p:cNvSpPr/>
          <p:nvPr/>
        </p:nvSpPr>
        <p:spPr>
          <a:xfrm>
            <a:off x="1102074" y="2396671"/>
            <a:ext cx="1705433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946500"/>
                </a:solidFill>
                <a:latin typeface="Liberation Sans"/>
              </a:rPr>
              <a:t>Halden &amp; Rowe: about 12.5x in twelve</a:t>
            </a:r>
            <a:br/>
            <a:r>
              <a:rPr sz="700" b="1" i="0">
                <a:solidFill>
                  <a:srgbClr val="946500"/>
                </a:solidFill>
                <a:latin typeface="Liberation Sans"/>
              </a:rPr>
              <a:t>months, from over 950 here (Sep 2025)</a:t>
            </a:r>
            <a:br/>
            <a:r>
              <a:rPr sz="700" b="1" i="0">
                <a:solidFill>
                  <a:srgbClr val="946500"/>
                </a:solidFill>
                <a:latin typeface="Liberation Sans"/>
              </a:rPr>
              <a:t>to over 11,900 (Sep 2026); a ratio of two</a:t>
            </a:r>
            <a:br/>
            <a:r>
              <a:rPr sz="700" b="1" i="0">
                <a:solidFill>
                  <a:srgbClr val="946500"/>
                </a:solidFill>
                <a:latin typeface="Liberation Sans"/>
              </a:rPr>
              <a:t>lower bounds</a:t>
            </a:r>
          </a:p>
        </p:txBody>
      </p:sp>
      <p:cxnSp>
        <p:nvCxnSpPr>
          <p:cNvPr id="28" name="yr-leader"/>
          <p:cNvCxnSpPr/>
          <p:nvPr/>
        </p:nvCxnSpPr>
        <p:spPr>
          <a:xfrm>
            <a:off x="2807507" y="2823391"/>
            <a:ext cx="164592" cy="164592"/>
          </a:xfrm>
          <a:prstGeom prst="line">
            <a:avLst/>
          </a:prstGeom>
          <a:ln w="12700">
            <a:solidFill>
              <a:srgbClr val="0E6E70"/>
            </a:solidFill>
            <a:tailEnd type="triangle"/>
          </a:ln>
        </p:spPr>
      </p:cxnSp>
      <p:cxnSp>
        <p:nvCxnSpPr>
          <p:cNvPr id="29" name="g2-line"/>
          <p:cNvCxnSpPr/>
          <p:nvPr/>
        </p:nvCxnSpPr>
        <p:spPr>
          <a:xfrm>
            <a:off x="533079" y="4047459"/>
            <a:ext cx="4172856" cy="0"/>
          </a:xfrm>
          <a:prstGeom prst="line">
            <a:avLst/>
          </a:prstGeom>
          <a:ln w="6350">
            <a:solidFill>
              <a:srgbClr val="C3CAD4"/>
            </a:solidFill>
            <a:prstDash val="dash"/>
          </a:ln>
        </p:spPr>
      </p:cxnSp>
      <p:sp>
        <p:nvSpPr>
          <p:cNvPr id="30" name="g2-label"/>
          <p:cNvSpPr/>
          <p:nvPr/>
        </p:nvSpPr>
        <p:spPr>
          <a:xfrm>
            <a:off x="533079" y="3940779"/>
            <a:ext cx="18879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555D6B"/>
                </a:solidFill>
                <a:latin typeface="Liberation Sans"/>
              </a:rPr>
              <a:t>100</a:t>
            </a:r>
          </a:p>
        </p:txBody>
      </p:sp>
      <p:cxnSp>
        <p:nvCxnSpPr>
          <p:cNvPr id="31" name="g3-line"/>
          <p:cNvCxnSpPr/>
          <p:nvPr/>
        </p:nvCxnSpPr>
        <p:spPr>
          <a:xfrm>
            <a:off x="533079" y="2996292"/>
            <a:ext cx="4172856" cy="0"/>
          </a:xfrm>
          <a:prstGeom prst="line">
            <a:avLst/>
          </a:prstGeom>
          <a:ln w="6350">
            <a:solidFill>
              <a:srgbClr val="C3CAD4"/>
            </a:solidFill>
            <a:prstDash val="dash"/>
          </a:ln>
        </p:spPr>
      </p:cxnSp>
      <p:sp>
        <p:nvSpPr>
          <p:cNvPr id="32" name="g3-label"/>
          <p:cNvSpPr/>
          <p:nvPr/>
        </p:nvSpPr>
        <p:spPr>
          <a:xfrm>
            <a:off x="533079" y="2889612"/>
            <a:ext cx="262935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555D6B"/>
                </a:solidFill>
                <a:latin typeface="Liberation Sans"/>
              </a:rPr>
              <a:t>1,000</a:t>
            </a:r>
          </a:p>
        </p:txBody>
      </p:sp>
      <p:cxnSp>
        <p:nvCxnSpPr>
          <p:cNvPr id="33" name="g4-line"/>
          <p:cNvCxnSpPr/>
          <p:nvPr/>
        </p:nvCxnSpPr>
        <p:spPr>
          <a:xfrm>
            <a:off x="533079" y="1945125"/>
            <a:ext cx="4172856" cy="0"/>
          </a:xfrm>
          <a:prstGeom prst="line">
            <a:avLst/>
          </a:prstGeom>
          <a:ln w="6350">
            <a:solidFill>
              <a:srgbClr val="C3CAD4"/>
            </a:solidFill>
            <a:prstDash val="dash"/>
          </a:ln>
        </p:spPr>
      </p:cxnSp>
      <p:sp>
        <p:nvSpPr>
          <p:cNvPr id="34" name="g4-label"/>
          <p:cNvSpPr/>
          <p:nvPr/>
        </p:nvSpPr>
        <p:spPr>
          <a:xfrm>
            <a:off x="533079" y="1838445"/>
            <a:ext cx="31237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555D6B"/>
                </a:solidFill>
                <a:latin typeface="Liberation Sans"/>
              </a:rPr>
              <a:t>10,000</a:t>
            </a: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57" name="chrome-1"/>
          <p:cNvCxnSpPr/>
          <p:nvPr/>
        </p:nvCxnSpPr>
        <p:spPr>
          <a:xfrm>
            <a:off x="384048" y="900684"/>
            <a:ext cx="9290304" cy="0"/>
          </a:xfrm>
          <a:prstGeom prst="line">
            <a:avLst/>
          </a:prstGeom>
          <a:ln w="12700">
            <a:solidFill>
              <a:srgbClr val="1B2F55"/>
            </a:solidFill>
          </a:ln>
        </p:spPr>
      </p:cxnSp>
      <p:sp>
        <p:nvSpPr>
          <p:cNvPr id="58" name="chrome-2"/>
          <p:cNvSpPr txBox="1"/>
          <p:nvPr/>
        </p:nvSpPr>
        <p:spPr>
          <a:xfrm>
            <a:off x="6967728" y="109728"/>
            <a:ext cx="270662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1B2F55"/>
                </a:solidFill>
                <a:latin typeface="Liberation Sans"/>
              </a:rPr>
              <a:t>HALDEN &amp; ROWE | IPO discussion materials | October 2026</a:t>
            </a:r>
          </a:p>
        </p:txBody>
      </p:sp>
      <p:cxnSp>
        <p:nvCxnSpPr>
          <p:cNvPr id="59" name="chrome-3"/>
          <p:cNvCxnSpPr/>
          <p:nvPr/>
        </p:nvCxnSpPr>
        <p:spPr>
          <a:xfrm>
            <a:off x="384048" y="7317486"/>
            <a:ext cx="9290304" cy="0"/>
          </a:xfrm>
          <a:prstGeom prst="line">
            <a:avLst/>
          </a:prstGeom>
          <a:ln w="6350">
            <a:solidFill>
              <a:srgbClr val="C3CAD4"/>
            </a:solidFill>
          </a:ln>
        </p:spPr>
      </p:cxnSp>
      <p:sp>
        <p:nvSpPr>
          <p:cNvPr id="60" name="chrome-4"/>
          <p:cNvSpPr txBox="1"/>
          <p:nvPr/>
        </p:nvSpPr>
        <p:spPr>
          <a:xfrm>
            <a:off x="384048" y="7370064"/>
            <a:ext cx="877824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55D6B"/>
                </a:solidFill>
                <a:latin typeface="Liberation Sans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" name="kicker"/>
          <p:cNvSpPr/>
          <p:nvPr/>
        </p:nvSpPr>
        <p:spPr>
          <a:xfrm>
            <a:off x="384048" y="384048"/>
            <a:ext cx="92903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2F55"/>
                </a:solidFill>
                <a:latin typeface="Liberation Sans"/>
              </a:rPr>
              <a:t>5 | MARGINS AND THE COST OF COMPUTE</a:t>
            </a:r>
          </a:p>
        </p:txBody>
      </p:sp>
      <p:sp>
        <p:nvSpPr>
          <p:cNvPr id="3" name="title"/>
          <p:cNvSpPr/>
          <p:nvPr/>
        </p:nvSpPr>
        <p:spPr>
          <a:xfrm>
            <a:off x="384048" y="525780"/>
            <a:ext cx="9290304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6181D"/>
                </a:solidFill>
                <a:latin typeface="Liberation Sans"/>
              </a:rPr>
              <a:t>Margins and the cost of compute</a:t>
            </a:r>
          </a:p>
        </p:txBody>
      </p:sp>
      <p:sp>
        <p:nvSpPr>
          <p:cNvPr id="4" name="rc_h"/>
          <p:cNvSpPr/>
          <p:nvPr/>
        </p:nvSpPr>
        <p:spPr>
          <a:xfrm>
            <a:off x="384048" y="950976"/>
            <a:ext cx="5009083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Revenue against compute and infrastructure expense</a:t>
            </a:r>
          </a:p>
        </p:txBody>
      </p:sp>
      <p:sp>
        <p:nvSpPr>
          <p:cNvPr id="5" name="rc_u"/>
          <p:cNvSpPr/>
          <p:nvPr/>
        </p:nvSpPr>
        <p:spPr>
          <a:xfrm>
            <a:off x="384048" y="1115568"/>
            <a:ext cx="5009083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$m by quarter; compute as % of revenue beneath</a:t>
            </a:r>
          </a:p>
        </p:txBody>
      </p:sp>
      <p:graphicFrame>
        <p:nvGraphicFramePr>
          <p:cNvPr id="6" name="rc"/>
          <p:cNvGraphicFramePr>
            <a:graphicFrameLocks noGrp="1"/>
          </p:cNvGraphicFramePr>
          <p:nvPr/>
        </p:nvGraphicFramePr>
        <p:xfrm>
          <a:off x="384048" y="1249680"/>
          <a:ext cx="5009083" cy="229438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c_s"/>
          <p:cNvSpPr/>
          <p:nvPr/>
        </p:nvSpPr>
        <p:spPr>
          <a:xfrm>
            <a:off x="384048" y="3571494"/>
            <a:ext cx="5009083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Quarterly Results of Operations (as a percentage of revenue).</a:t>
            </a:r>
          </a:p>
        </p:txBody>
      </p:sp>
      <p:sp>
        <p:nvSpPr>
          <p:cNvPr id="8" name="mg_h"/>
          <p:cNvSpPr/>
          <p:nvPr/>
        </p:nvSpPr>
        <p:spPr>
          <a:xfrm>
            <a:off x="5576011" y="950976"/>
            <a:ext cx="409834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GAAP and adjusted operating margin</a:t>
            </a:r>
          </a:p>
        </p:txBody>
      </p:sp>
      <p:sp>
        <p:nvSpPr>
          <p:cNvPr id="9" name="mg_u"/>
          <p:cNvSpPr/>
          <p:nvPr/>
        </p:nvSpPr>
        <p:spPr>
          <a:xfrm>
            <a:off x="5576011" y="1115568"/>
            <a:ext cx="4098341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% of revenue by quarter; navy: adjusted, grey-blue: GAAP; dashed line: break-even; each quarter's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margins beneath</a:t>
            </a:r>
          </a:p>
        </p:txBody>
      </p:sp>
      <p:graphicFrame>
        <p:nvGraphicFramePr>
          <p:cNvPr id="10" name="mg"/>
          <p:cNvGraphicFramePr>
            <a:graphicFrameLocks noGrp="1"/>
          </p:cNvGraphicFramePr>
          <p:nvPr/>
        </p:nvGraphicFramePr>
        <p:xfrm>
          <a:off x="5576011" y="1356360"/>
          <a:ext cx="4098341" cy="208102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mg_s"/>
          <p:cNvSpPr/>
          <p:nvPr/>
        </p:nvSpPr>
        <p:spPr>
          <a:xfrm>
            <a:off x="5576011" y="3464814"/>
            <a:ext cx="4098341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Quarterly Results of Operations; Quarterly Adjusted Operating Income (Loss) and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Adjusted Operating Margin.</a:t>
            </a:r>
          </a:p>
        </p:txBody>
      </p:sp>
      <p:sp>
        <p:nvSpPr>
          <p:cNvPr id="12" name="cost_h"/>
          <p:cNvSpPr/>
          <p:nvPr/>
        </p:nvSpPr>
        <p:spPr>
          <a:xfrm>
            <a:off x="384048" y="3733038"/>
            <a:ext cx="577544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Costs and margins as a share of revenue</a:t>
            </a:r>
          </a:p>
        </p:txBody>
      </p:sp>
      <p:sp>
        <p:nvSpPr>
          <p:cNvPr id="13" name="cost_u"/>
          <p:cNvSpPr/>
          <p:nvPr/>
        </p:nvSpPr>
        <p:spPr>
          <a:xfrm>
            <a:off x="384048" y="3897630"/>
            <a:ext cx="57754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% of revenue, to the nearest percent; years to December and six months to June</a:t>
            </a:r>
          </a:p>
        </p:txBody>
      </p:sp>
      <p:graphicFrame>
        <p:nvGraphicFramePr>
          <p:cNvPr id="14" name="cost"/>
          <p:cNvGraphicFramePr>
            <a:graphicFrameLocks noGrp="1"/>
          </p:cNvGraphicFramePr>
          <p:nvPr/>
        </p:nvGraphicFramePr>
        <p:xfrm>
          <a:off x="384048" y="4031742"/>
          <a:ext cx="5775440" cy="254127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310176"/>
                <a:gridCol w="763014"/>
                <a:gridCol w="631702"/>
                <a:gridCol w="631702"/>
                <a:gridCol w="719422"/>
                <a:gridCol w="719424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2023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2024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H1 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H1 2026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By nature (as reported)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Compute and infrastructure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1,056%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653%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160%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201%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55%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Personnel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232%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118%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40%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46%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19%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Sales, marketing and partnerships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5%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12%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10%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19%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Other operating and administrative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151%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90%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26%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11%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Bartz settlement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33%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Operating margin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(1,344%)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(772%)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(176%)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(184%)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(4%)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Adjusted operating margin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(1,273%)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(722%)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(106%)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(159%)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10%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By function (Note 8)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Cost of revenue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63%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195%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60%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88%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15%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946500"/>
                          </a:solidFill>
                          <a:latin typeface="Liberation Sans"/>
                        </a:rPr>
                        <a:t>Gross margin, derived by Halden &amp; Rowe</a:t>
                      </a:r>
                      <a:endParaRPr sz="750" b="0" i="1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946500"/>
                          </a:solidFill>
                          <a:latin typeface="Liberation Sans"/>
                        </a:rPr>
                        <a:t>37%</a:t>
                      </a:r>
                      <a:endParaRPr sz="750" b="0" i="1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946500"/>
                          </a:solidFill>
                          <a:latin typeface="Liberation Sans"/>
                        </a:rPr>
                        <a:t>(95%)</a:t>
                      </a:r>
                      <a:endParaRPr sz="750" b="0" i="1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946500"/>
                          </a:solidFill>
                          <a:latin typeface="Liberation Sans"/>
                        </a:rPr>
                        <a:t>40%</a:t>
                      </a:r>
                      <a:endParaRPr sz="750" b="0" i="1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946500"/>
                          </a:solidFill>
                          <a:latin typeface="Liberation Sans"/>
                        </a:rPr>
                        <a:t>12%</a:t>
                      </a:r>
                      <a:endParaRPr sz="750" b="0" i="1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946500"/>
                          </a:solidFill>
                          <a:latin typeface="Liberation Sans"/>
                        </a:rPr>
                        <a:t>85%</a:t>
                      </a:r>
                      <a:endParaRPr sz="750" b="0" i="1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Research and development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1,029%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589%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138%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159%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60%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Sales and marketing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185%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42%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20%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23%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General and administrative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166%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46%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24%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16%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6%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cost_fn"/>
          <p:cNvSpPr/>
          <p:nvPr/>
        </p:nvSpPr>
        <p:spPr>
          <a:xfrm>
            <a:off x="384048" y="6600444"/>
            <a:ext cx="5775440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Gross margin is Halden &amp; Rowe's calculation: revenue less cost of revenue from the S-1's functional presentation (Note 8); the S-1 does not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present a gross margin. At one decimal: 36.6%, (94.8%), 39.5%, 12.4% and 85.4%.</a:t>
            </a:r>
          </a:p>
        </p:txBody>
      </p:sp>
      <p:sp>
        <p:nvSpPr>
          <p:cNvPr id="16" name="cost_s"/>
          <p:cNvSpPr/>
          <p:nvPr/>
        </p:nvSpPr>
        <p:spPr>
          <a:xfrm>
            <a:off x="384048" y="6841236"/>
            <a:ext cx="57754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Results of Operations (percentage of revenue); Notes to Consolidated Financial Statements, Note 8.</a:t>
            </a:r>
          </a:p>
        </p:txBody>
      </p:sp>
      <p:sp>
        <p:nvSpPr>
          <p:cNvPr id="17" name="n_h"/>
          <p:cNvSpPr/>
          <p:nvPr/>
        </p:nvSpPr>
        <p:spPr>
          <a:xfrm>
            <a:off x="6342368" y="3733038"/>
            <a:ext cx="3331984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Why the margin moves</a:t>
            </a:r>
          </a:p>
        </p:txBody>
      </p:sp>
      <p:sp>
        <p:nvSpPr>
          <p:cNvPr id="18" name="n1"/>
          <p:cNvSpPr/>
          <p:nvPr/>
        </p:nvSpPr>
        <p:spPr>
          <a:xfrm>
            <a:off x="6342368" y="3882390"/>
            <a:ext cx="3331984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Compute is committed 12 to 18 months ahead and expensed as it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comes online, so cost steps up before the revenue it will serve.</a:t>
            </a:r>
          </a:p>
        </p:txBody>
      </p:sp>
      <p:sp>
        <p:nvSpPr>
          <p:cNvPr id="19" name="n2"/>
          <p:cNvSpPr/>
          <p:nvPr/>
        </p:nvSpPr>
        <p:spPr>
          <a:xfrm>
            <a:off x="6342368" y="4158742"/>
            <a:ext cx="3331984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Q2 2026: revenue up 1,368% on Q2 2025 against compute expense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up 300%, taking compute from 177% to 48% of revenue.</a:t>
            </a:r>
          </a:p>
        </p:txBody>
      </p:sp>
      <p:sp>
        <p:nvSpPr>
          <p:cNvPr id="20" name="n3"/>
          <p:cNvSpPr/>
          <p:nvPr/>
        </p:nvSpPr>
        <p:spPr>
          <a:xfrm>
            <a:off x="6342368" y="4435094"/>
            <a:ext cx="3331984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The S-1 expects more short-term compute near term, at a higher unit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cost, and says margins may compress.</a:t>
            </a:r>
          </a:p>
        </p:txBody>
      </p:sp>
      <p:sp>
        <p:nvSpPr>
          <p:cNvPr id="21" name="sbc_h"/>
          <p:cNvSpPr/>
          <p:nvPr/>
        </p:nvSpPr>
        <p:spPr>
          <a:xfrm>
            <a:off x="6342368" y="4711446"/>
            <a:ext cx="333198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Stock-based compensation</a:t>
            </a:r>
          </a:p>
        </p:txBody>
      </p:sp>
      <p:sp>
        <p:nvSpPr>
          <p:cNvPr id="22" name="sbc_u"/>
          <p:cNvSpPr/>
          <p:nvPr/>
        </p:nvSpPr>
        <p:spPr>
          <a:xfrm>
            <a:off x="6342368" y="4876038"/>
            <a:ext cx="333198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$m from the S-1; % of revenue, Halden &amp; Rowe's arithmetic (ochre)</a:t>
            </a:r>
          </a:p>
        </p:txBody>
      </p:sp>
      <p:graphicFrame>
        <p:nvGraphicFramePr>
          <p:cNvPr id="23" name="sbc"/>
          <p:cNvGraphicFramePr>
            <a:graphicFrameLocks noGrp="1"/>
          </p:cNvGraphicFramePr>
          <p:nvPr/>
        </p:nvGraphicFramePr>
        <p:xfrm>
          <a:off x="6342368" y="5010150"/>
          <a:ext cx="3331984" cy="50825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999595"/>
                <a:gridCol w="646328"/>
                <a:gridCol w="705924"/>
                <a:gridCol w="980137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2024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H1 2026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SBC ($m)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192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1,165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2,185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946500"/>
                          </a:solidFill>
                          <a:latin typeface="Liberation Sans"/>
                        </a:rPr>
                        <a:t>% of revenue</a:t>
                      </a:r>
                      <a:endParaRPr sz="750" b="0" i="1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946500"/>
                          </a:solidFill>
                          <a:latin typeface="Liberation Sans"/>
                        </a:rPr>
                        <a:t>50%</a:t>
                      </a:r>
                      <a:endParaRPr sz="750" b="0" i="1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946500"/>
                          </a:solidFill>
                          <a:latin typeface="Liberation Sans"/>
                        </a:rPr>
                        <a:t>25%</a:t>
                      </a:r>
                      <a:endParaRPr sz="750" b="0" i="1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946500"/>
                          </a:solidFill>
                          <a:latin typeface="Liberation Sans"/>
                        </a:rPr>
                        <a:t>13%</a:t>
                      </a:r>
                      <a:endParaRPr sz="750" b="0" i="1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sbc_fn"/>
          <p:cNvSpPr/>
          <p:nvPr/>
        </p:nvSpPr>
        <p:spPr>
          <a:xfrm>
            <a:off x="6342368" y="5545836"/>
            <a:ext cx="3331984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% of revenue: SBC over revenue, 192 / 386, 1,165 / 4,585 and 2,185 / 16,286; the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S-1 states neither ratio.</a:t>
            </a:r>
          </a:p>
        </p:txBody>
      </p:sp>
      <p:sp>
        <p:nvSpPr>
          <p:cNvPr id="25" name="rsu_h"/>
          <p:cNvSpPr/>
          <p:nvPr/>
        </p:nvSpPr>
        <p:spPr>
          <a:xfrm>
            <a:off x="6342368" y="5786628"/>
            <a:ext cx="333198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Equity award expense not yet recognised, 30 June 2026</a:t>
            </a:r>
          </a:p>
        </p:txBody>
      </p:sp>
      <p:sp>
        <p:nvSpPr>
          <p:cNvPr id="26" name="rsu_u"/>
          <p:cNvSpPr/>
          <p:nvPr/>
        </p:nvSpPr>
        <p:spPr>
          <a:xfrm>
            <a:off x="6342368" y="5951220"/>
            <a:ext cx="333198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$bn; RSUs vest on service and on the IPO, so none was expensed to June 2026</a:t>
            </a:r>
          </a:p>
        </p:txBody>
      </p:sp>
      <p:graphicFrame>
        <p:nvGraphicFramePr>
          <p:cNvPr id="27" name="rsu"/>
          <p:cNvGraphicFramePr>
            <a:graphicFrameLocks noGrp="1"/>
          </p:cNvGraphicFramePr>
          <p:nvPr/>
        </p:nvGraphicFramePr>
        <p:xfrm>
          <a:off x="6342368" y="6085332"/>
          <a:ext cx="3331984" cy="96164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932551"/>
                <a:gridCol w="399838"/>
                <a:gridCol w="999595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$bn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Recognised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RSUs: service condition satisfied or partially satisfied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2.9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Cumulative, when the IPO completes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RSUs: service condition still to be met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23.7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Over ~2.1 years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Total RSUs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26.6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Other equity awards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3.1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Over ~1.3 years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sbc_s"/>
          <p:cNvSpPr/>
          <p:nvPr/>
        </p:nvSpPr>
        <p:spPr>
          <a:xfrm>
            <a:off x="6342368" y="7074408"/>
            <a:ext cx="3331984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Non-GAAP Financial Measures; Critical Accounting Estimates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(Stock-Based Compensation); Risk Factors.</a:t>
            </a:r>
          </a:p>
        </p:txBody>
      </p:sp>
      <p:sp>
        <p:nvSpPr>
          <p:cNvPr id="29" name="cpct-0-text"/>
          <p:cNvSpPr/>
          <p:nvPr/>
        </p:nvSpPr>
        <p:spPr>
          <a:xfrm>
            <a:off x="1531618" y="3206770"/>
            <a:ext cx="267840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251%</a:t>
            </a:r>
          </a:p>
        </p:txBody>
      </p:sp>
      <p:sp>
        <p:nvSpPr>
          <p:cNvPr id="30" name="cpct-1-text"/>
          <p:cNvSpPr/>
          <p:nvPr/>
        </p:nvSpPr>
        <p:spPr>
          <a:xfrm>
            <a:off x="2191148" y="3206770"/>
            <a:ext cx="267840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177%</a:t>
            </a:r>
          </a:p>
        </p:txBody>
      </p:sp>
      <p:sp>
        <p:nvSpPr>
          <p:cNvPr id="31" name="cpct-2-text"/>
          <p:cNvSpPr/>
          <p:nvPr/>
        </p:nvSpPr>
        <p:spPr>
          <a:xfrm>
            <a:off x="2850677" y="3206770"/>
            <a:ext cx="267840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148%</a:t>
            </a:r>
          </a:p>
        </p:txBody>
      </p:sp>
      <p:sp>
        <p:nvSpPr>
          <p:cNvPr id="32" name="cpct-3-text"/>
          <p:cNvSpPr/>
          <p:nvPr/>
        </p:nvSpPr>
        <p:spPr>
          <a:xfrm>
            <a:off x="3510206" y="3206770"/>
            <a:ext cx="267840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144%</a:t>
            </a:r>
          </a:p>
        </p:txBody>
      </p:sp>
      <p:sp>
        <p:nvSpPr>
          <p:cNvPr id="33" name="cpct-4-text"/>
          <p:cNvSpPr/>
          <p:nvPr/>
        </p:nvSpPr>
        <p:spPr>
          <a:xfrm>
            <a:off x="4194456" y="3206770"/>
            <a:ext cx="218398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72%</a:t>
            </a:r>
          </a:p>
        </p:txBody>
      </p:sp>
      <p:sp>
        <p:nvSpPr>
          <p:cNvPr id="34" name="cpct-5-text"/>
          <p:cNvSpPr/>
          <p:nvPr/>
        </p:nvSpPr>
        <p:spPr>
          <a:xfrm>
            <a:off x="4853986" y="3206770"/>
            <a:ext cx="218398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B2F55"/>
                </a:solidFill>
                <a:latin typeface="Liberation Sans"/>
              </a:rPr>
              <a:t>48%</a:t>
            </a:r>
          </a:p>
        </p:txBody>
      </p:sp>
      <p:sp>
        <p:nvSpPr>
          <p:cNvPr id="35" name="cpct-label"/>
          <p:cNvSpPr/>
          <p:nvPr/>
        </p:nvSpPr>
        <p:spPr>
          <a:xfrm>
            <a:off x="539222" y="3206770"/>
            <a:ext cx="796552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16181D"/>
                </a:solidFill>
                <a:latin typeface="Liberation Sans"/>
              </a:rPr>
              <a:t>Compute / revenue</a:t>
            </a:r>
          </a:p>
        </p:txBody>
      </p:sp>
      <p:sp>
        <p:nvSpPr>
          <p:cNvPr id="36" name="cross-label"/>
          <p:cNvSpPr/>
          <p:nvPr/>
        </p:nvSpPr>
        <p:spPr>
          <a:xfrm>
            <a:off x="2416402" y="2092244"/>
            <a:ext cx="1522858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0E6E70"/>
                </a:solidFill>
                <a:latin typeface="Liberation Sans"/>
              </a:rPr>
              <a:t>Q1 2026: revenue passes compute,</a:t>
            </a:r>
            <a:br/>
            <a:r>
              <a:rPr sz="700" b="1" i="0">
                <a:solidFill>
                  <a:srgbClr val="0E6E70"/>
                </a:solidFill>
                <a:latin typeface="Liberation Sans"/>
              </a:rPr>
              <a:t>the first of the six quarters shown</a:t>
            </a:r>
          </a:p>
        </p:txBody>
      </p:sp>
      <p:cxnSp>
        <p:nvCxnSpPr>
          <p:cNvPr id="37" name="cross-leader"/>
          <p:cNvCxnSpPr/>
          <p:nvPr/>
        </p:nvCxnSpPr>
        <p:spPr>
          <a:xfrm>
            <a:off x="3939260" y="2305604"/>
            <a:ext cx="100584" cy="100584"/>
          </a:xfrm>
          <a:prstGeom prst="line">
            <a:avLst/>
          </a:prstGeom>
          <a:ln w="12700">
            <a:solidFill>
              <a:srgbClr val="0E6E70"/>
            </a:solidFill>
            <a:tailEnd type="triangle"/>
          </a:ln>
        </p:spPr>
      </p:cxnSp>
      <p:cxnSp>
        <p:nvCxnSpPr>
          <p:cNvPr id="38" name="zero-line"/>
          <p:cNvCxnSpPr/>
          <p:nvPr/>
        </p:nvCxnSpPr>
        <p:spPr>
          <a:xfrm>
            <a:off x="6272729" y="1832022"/>
            <a:ext cx="3319656" cy="0"/>
          </a:xfrm>
          <a:prstGeom prst="line">
            <a:avLst/>
          </a:prstGeom>
          <a:ln w="9525">
            <a:solidFill>
              <a:srgbClr val="555D6B"/>
            </a:solidFill>
            <a:prstDash val="dash"/>
          </a:ln>
        </p:spPr>
      </p:cxnSp>
      <p:sp>
        <p:nvSpPr>
          <p:cNvPr id="39" name="zero-label"/>
          <p:cNvSpPr/>
          <p:nvPr/>
        </p:nvSpPr>
        <p:spPr>
          <a:xfrm>
            <a:off x="6272729" y="1725342"/>
            <a:ext cx="519825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555D6B"/>
                </a:solidFill>
                <a:latin typeface="Liberation Sans"/>
              </a:rPr>
              <a:t>Break-even</a:t>
            </a:r>
          </a:p>
        </p:txBody>
      </p:sp>
      <p:sp>
        <p:nvSpPr>
          <p:cNvPr id="40" name="q2m-box"/>
          <p:cNvSpPr/>
          <p:nvPr/>
        </p:nvSpPr>
        <p:spPr>
          <a:xfrm>
            <a:off x="7503519" y="1402624"/>
            <a:ext cx="1725614" cy="268224"/>
          </a:xfrm>
          <a:prstGeom prst="rect">
            <a:avLst/>
          </a:prstGeom>
          <a:solidFill>
            <a:srgbClr val="FFFFFF"/>
          </a:solidFill>
          <a:ln w="9525">
            <a:solidFill>
              <a:srgbClr val="0E6E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q2m-label"/>
          <p:cNvSpPr/>
          <p:nvPr/>
        </p:nvSpPr>
        <p:spPr>
          <a:xfrm>
            <a:off x="7530951" y="1430056"/>
            <a:ext cx="1670750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0E6E70"/>
                </a:solidFill>
                <a:latin typeface="Liberation Sans"/>
              </a:rPr>
              <a:t>Q2 2026: both margins above zero, the</a:t>
            </a:r>
            <a:br/>
            <a:r>
              <a:rPr sz="700" b="1" i="0">
                <a:solidFill>
                  <a:srgbClr val="0E6E70"/>
                </a:solidFill>
                <a:latin typeface="Liberation Sans"/>
              </a:rPr>
              <a:t>first of the six quarters shown</a:t>
            </a:r>
          </a:p>
        </p:txBody>
      </p:sp>
      <p:cxnSp>
        <p:nvCxnSpPr>
          <p:cNvPr id="42" name="q2m-leader"/>
          <p:cNvCxnSpPr/>
          <p:nvPr/>
        </p:nvCxnSpPr>
        <p:spPr>
          <a:xfrm>
            <a:off x="9229133" y="1670848"/>
            <a:ext cx="54864" cy="54864"/>
          </a:xfrm>
          <a:prstGeom prst="line">
            <a:avLst/>
          </a:prstGeom>
          <a:ln w="9525">
            <a:solidFill>
              <a:srgbClr val="0E6E70"/>
            </a:solidFill>
          </a:ln>
        </p:spPr>
      </p:cxnSp>
      <p:sp>
        <p:nvSpPr>
          <p:cNvPr id="43" name="mg_g-0-text"/>
          <p:cNvSpPr/>
          <p:nvPr/>
        </p:nvSpPr>
        <p:spPr>
          <a:xfrm>
            <a:off x="6385842" y="3026435"/>
            <a:ext cx="327049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(249%)</a:t>
            </a:r>
          </a:p>
        </p:txBody>
      </p:sp>
      <p:sp>
        <p:nvSpPr>
          <p:cNvPr id="44" name="mg_g-1-text"/>
          <p:cNvSpPr/>
          <p:nvPr/>
        </p:nvSpPr>
        <p:spPr>
          <a:xfrm>
            <a:off x="6939119" y="3026435"/>
            <a:ext cx="327049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(152%)</a:t>
            </a:r>
          </a:p>
        </p:txBody>
      </p:sp>
      <p:sp>
        <p:nvSpPr>
          <p:cNvPr id="45" name="mg_g-2-text"/>
          <p:cNvSpPr/>
          <p:nvPr/>
        </p:nvSpPr>
        <p:spPr>
          <a:xfrm>
            <a:off x="7492395" y="3026435"/>
            <a:ext cx="327049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(224%)</a:t>
            </a:r>
          </a:p>
        </p:txBody>
      </p:sp>
      <p:sp>
        <p:nvSpPr>
          <p:cNvPr id="46" name="mg_g-3-text"/>
          <p:cNvSpPr/>
          <p:nvPr/>
        </p:nvSpPr>
        <p:spPr>
          <a:xfrm>
            <a:off x="8045671" y="3026435"/>
            <a:ext cx="327049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(139%)</a:t>
            </a:r>
          </a:p>
        </p:txBody>
      </p:sp>
      <p:sp>
        <p:nvSpPr>
          <p:cNvPr id="47" name="mg_g-4-text"/>
          <p:cNvSpPr/>
          <p:nvPr/>
        </p:nvSpPr>
        <p:spPr>
          <a:xfrm>
            <a:off x="8623668" y="3026435"/>
            <a:ext cx="277607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(35%)</a:t>
            </a:r>
          </a:p>
        </p:txBody>
      </p:sp>
      <p:sp>
        <p:nvSpPr>
          <p:cNvPr id="48" name="mg_g-5-text"/>
          <p:cNvSpPr/>
          <p:nvPr/>
        </p:nvSpPr>
        <p:spPr>
          <a:xfrm>
            <a:off x="9231269" y="3026435"/>
            <a:ext cx="168956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B2F55"/>
                </a:solidFill>
                <a:latin typeface="Liberation Sans"/>
              </a:rPr>
              <a:t>8%</a:t>
            </a:r>
          </a:p>
        </p:txBody>
      </p:sp>
      <p:sp>
        <p:nvSpPr>
          <p:cNvPr id="49" name="mg_g-label"/>
          <p:cNvSpPr/>
          <p:nvPr/>
        </p:nvSpPr>
        <p:spPr>
          <a:xfrm>
            <a:off x="5985225" y="3026435"/>
            <a:ext cx="287504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16181D"/>
                </a:solidFill>
                <a:latin typeface="Liberation Sans"/>
              </a:rPr>
              <a:t>GAAP</a:t>
            </a:r>
          </a:p>
        </p:txBody>
      </p:sp>
      <p:sp>
        <p:nvSpPr>
          <p:cNvPr id="50" name="mg_a-0-text"/>
          <p:cNvSpPr/>
          <p:nvPr/>
        </p:nvSpPr>
        <p:spPr>
          <a:xfrm>
            <a:off x="6385842" y="3187979"/>
            <a:ext cx="327049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(221%)</a:t>
            </a:r>
          </a:p>
        </p:txBody>
      </p:sp>
      <p:sp>
        <p:nvSpPr>
          <p:cNvPr id="51" name="mg_a-1-text"/>
          <p:cNvSpPr/>
          <p:nvPr/>
        </p:nvSpPr>
        <p:spPr>
          <a:xfrm>
            <a:off x="6939119" y="3187979"/>
            <a:ext cx="327049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(129%)</a:t>
            </a:r>
          </a:p>
        </p:txBody>
      </p:sp>
      <p:sp>
        <p:nvSpPr>
          <p:cNvPr id="52" name="mg_a-2-text"/>
          <p:cNvSpPr/>
          <p:nvPr/>
        </p:nvSpPr>
        <p:spPr>
          <a:xfrm>
            <a:off x="7517116" y="3187979"/>
            <a:ext cx="277607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(93%)</a:t>
            </a:r>
          </a:p>
        </p:txBody>
      </p:sp>
      <p:sp>
        <p:nvSpPr>
          <p:cNvPr id="53" name="mg_a-3-text"/>
          <p:cNvSpPr/>
          <p:nvPr/>
        </p:nvSpPr>
        <p:spPr>
          <a:xfrm>
            <a:off x="8070392" y="3187979"/>
            <a:ext cx="277607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(84%)</a:t>
            </a:r>
          </a:p>
        </p:txBody>
      </p:sp>
      <p:sp>
        <p:nvSpPr>
          <p:cNvPr id="54" name="mg_a-4-text"/>
          <p:cNvSpPr/>
          <p:nvPr/>
        </p:nvSpPr>
        <p:spPr>
          <a:xfrm>
            <a:off x="8623668" y="3187979"/>
            <a:ext cx="277607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(13%)</a:t>
            </a:r>
          </a:p>
        </p:txBody>
      </p:sp>
      <p:sp>
        <p:nvSpPr>
          <p:cNvPr id="55" name="mg_a-5-text"/>
          <p:cNvSpPr/>
          <p:nvPr/>
        </p:nvSpPr>
        <p:spPr>
          <a:xfrm>
            <a:off x="9206548" y="3187979"/>
            <a:ext cx="218398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B2F55"/>
                </a:solidFill>
                <a:latin typeface="Liberation Sans"/>
              </a:rPr>
              <a:t>19%</a:t>
            </a:r>
          </a:p>
        </p:txBody>
      </p:sp>
      <p:sp>
        <p:nvSpPr>
          <p:cNvPr id="56" name="mg_a-label"/>
          <p:cNvSpPr/>
          <p:nvPr/>
        </p:nvSpPr>
        <p:spPr>
          <a:xfrm>
            <a:off x="5886298" y="3187979"/>
            <a:ext cx="386431" cy="106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16181D"/>
                </a:solidFill>
                <a:latin typeface="Liberation Sans"/>
              </a:rPr>
              <a:t>Adjusted</a:t>
            </a: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0" name="chrome-1"/>
          <p:cNvCxnSpPr/>
          <p:nvPr/>
        </p:nvCxnSpPr>
        <p:spPr>
          <a:xfrm>
            <a:off x="384048" y="900684"/>
            <a:ext cx="9290304" cy="0"/>
          </a:xfrm>
          <a:prstGeom prst="line">
            <a:avLst/>
          </a:prstGeom>
          <a:ln w="12700">
            <a:solidFill>
              <a:srgbClr val="1B2F55"/>
            </a:solidFill>
          </a:ln>
        </p:spPr>
      </p:cxnSp>
      <p:sp>
        <p:nvSpPr>
          <p:cNvPr id="21" name="chrome-2"/>
          <p:cNvSpPr txBox="1"/>
          <p:nvPr/>
        </p:nvSpPr>
        <p:spPr>
          <a:xfrm>
            <a:off x="6967728" y="109728"/>
            <a:ext cx="270662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1B2F55"/>
                </a:solidFill>
                <a:latin typeface="Liberation Sans"/>
              </a:rPr>
              <a:t>HALDEN &amp; ROWE | IPO discussion materials | October 2026</a:t>
            </a:r>
          </a:p>
        </p:txBody>
      </p:sp>
      <p:cxnSp>
        <p:nvCxnSpPr>
          <p:cNvPr id="22" name="chrome-3"/>
          <p:cNvCxnSpPr/>
          <p:nvPr/>
        </p:nvCxnSpPr>
        <p:spPr>
          <a:xfrm>
            <a:off x="384048" y="7317486"/>
            <a:ext cx="9290304" cy="0"/>
          </a:xfrm>
          <a:prstGeom prst="line">
            <a:avLst/>
          </a:prstGeom>
          <a:ln w="6350">
            <a:solidFill>
              <a:srgbClr val="C3CAD4"/>
            </a:solidFill>
          </a:ln>
        </p:spPr>
      </p:cxnSp>
      <p:sp>
        <p:nvSpPr>
          <p:cNvPr id="23" name="chrome-4"/>
          <p:cNvSpPr txBox="1"/>
          <p:nvPr/>
        </p:nvSpPr>
        <p:spPr>
          <a:xfrm>
            <a:off x="384048" y="7370064"/>
            <a:ext cx="877824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55D6B"/>
                </a:solidFill>
                <a:latin typeface="Liberation Sans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" name="kicker"/>
          <p:cNvSpPr/>
          <p:nvPr/>
        </p:nvSpPr>
        <p:spPr>
          <a:xfrm>
            <a:off x="384048" y="384048"/>
            <a:ext cx="92903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2F55"/>
                </a:solidFill>
                <a:latin typeface="Liberation Sans"/>
              </a:rPr>
              <a:t>6 | COMPUTE COMMITMENTS</a:t>
            </a:r>
          </a:p>
        </p:txBody>
      </p:sp>
      <p:sp>
        <p:nvSpPr>
          <p:cNvPr id="3" name="title"/>
          <p:cNvSpPr/>
          <p:nvPr/>
        </p:nvSpPr>
        <p:spPr>
          <a:xfrm>
            <a:off x="384048" y="525780"/>
            <a:ext cx="9290304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6181D"/>
                </a:solidFill>
                <a:latin typeface="Liberation Sans"/>
              </a:rPr>
              <a:t>Compute commitments</a:t>
            </a:r>
          </a:p>
        </p:txBody>
      </p:sp>
      <p:sp>
        <p:nvSpPr>
          <p:cNvPr id="4" name="cm_h"/>
          <p:cNvSpPr/>
          <p:nvPr/>
        </p:nvSpPr>
        <p:spPr>
          <a:xfrm>
            <a:off x="384048" y="950976"/>
            <a:ext cx="4378569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The eight compute arrangements the S-1 names</a:t>
            </a:r>
          </a:p>
        </p:txBody>
      </p:sp>
      <p:sp>
        <p:nvSpPr>
          <p:cNvPr id="5" name="cm_u"/>
          <p:cNvSpPr/>
          <p:nvPr/>
        </p:nvSpPr>
        <p:spPr>
          <a:xfrm>
            <a:off x="384048" y="1115568"/>
            <a:ext cx="4378569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$bn as the S-1 states each, in the order of the groups below: minimums, lease rent, caps and approximations;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AMD drawn in outline, having no fixed commitment</a:t>
            </a:r>
          </a:p>
        </p:txBody>
      </p:sp>
      <p:graphicFrame>
        <p:nvGraphicFramePr>
          <p:cNvPr id="6" name="cm"/>
          <p:cNvGraphicFramePr>
            <a:graphicFrameLocks noGrp="1"/>
          </p:cNvGraphicFramePr>
          <p:nvPr/>
        </p:nvGraphicFramePr>
        <p:xfrm>
          <a:off x="384048" y="1356360"/>
          <a:ext cx="4378569" cy="372491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gs"/>
          <p:cNvGraphicFramePr>
            <a:graphicFrameLocks noGrp="1"/>
          </p:cNvGraphicFramePr>
          <p:nvPr/>
        </p:nvGraphicFramePr>
        <p:xfrm>
          <a:off x="384048" y="5108702"/>
          <a:ext cx="4378569" cy="8470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714713"/>
                <a:gridCol w="1663856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Grouped by how the S-1 states the amount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$bn; sums in ochre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Stated minimums: Google, Amazon, Microsoft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269.4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Lease rent: Broadcom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~161.2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Caps and approximations: SpaceXAI, Nscale, Lambda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~206.4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No fixed commitment: AMD, if fully procured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&gt;20.0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m_fn"/>
          <p:cNvSpPr/>
          <p:nvPr/>
        </p:nvSpPr>
        <p:spPr>
          <a:xfrm>
            <a:off x="384048" y="5983224"/>
            <a:ext cx="4378569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Ochre: Halden &amp; Rowe sums of S-1 amounts; Broadcom and AMD are single S-1 figures. The groups are of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different kinds and are not added: no total is a floor or a cap, and the S-1 leaves its aggregate blank. Not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shown: additional TPU compute from TPU providers incl. Google, 2028 to 2031, which the S-1 estimates at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$125.0bn to $150.0bn.</a:t>
            </a:r>
          </a:p>
        </p:txBody>
      </p:sp>
      <p:sp>
        <p:nvSpPr>
          <p:cNvPr id="9" name="cm_s"/>
          <p:cNvSpPr/>
          <p:nvPr/>
        </p:nvSpPr>
        <p:spPr>
          <a:xfrm>
            <a:off x="384048" y="6437376"/>
            <a:ext cx="4378569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Contractual Obligations (Infrastructure Service Arrangements; Infrastructure Equipment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Leases). Group sums: Halden &amp; Rowe.</a:t>
            </a:r>
          </a:p>
        </p:txBody>
      </p:sp>
      <p:sp>
        <p:nvSpPr>
          <p:cNvPr id="10" name="ct_h"/>
          <p:cNvSpPr/>
          <p:nvPr/>
        </p:nvSpPr>
        <p:spPr>
          <a:xfrm>
            <a:off x="4945497" y="950976"/>
            <a:ext cx="472885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Terms of each arrangement</a:t>
            </a:r>
          </a:p>
        </p:txBody>
      </p:sp>
      <p:sp>
        <p:nvSpPr>
          <p:cNvPr id="11" name="ct_u"/>
          <p:cNvSpPr/>
          <p:nvPr/>
        </p:nvSpPr>
        <p:spPr>
          <a:xfrm>
            <a:off x="4945497" y="1115568"/>
            <a:ext cx="4728855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Counterparty, compute, term, and how the S-1 states the amount</a:t>
            </a:r>
          </a:p>
        </p:txBody>
      </p:sp>
      <p:graphicFrame>
        <p:nvGraphicFramePr>
          <p:cNvPr id="12" name="ct"/>
          <p:cNvGraphicFramePr>
            <a:graphicFrameLocks noGrp="1"/>
          </p:cNvGraphicFramePr>
          <p:nvPr/>
        </p:nvGraphicFramePr>
        <p:xfrm>
          <a:off x="4945497" y="1249680"/>
          <a:ext cx="4728855" cy="163931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9328"/>
                <a:gridCol w="898482"/>
                <a:gridCol w="1087637"/>
                <a:gridCol w="2033408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Counterparty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Compute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Term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Amount and firmness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Google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Cloud services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Apr 2026 to Jul 2033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At least ~; non-cancelable; true-up on shortfall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Amazon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AWS cloud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May 2026 to Apr 2036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At least; non-cancelable; true-up on shortfall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Microsoft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Cloud services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Nov 2026 to May 2033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At least; non-cancelable; per-tranche exits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Broadcom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TPU racks, leased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5-year finance leases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~ rent; non-cancelable; from ready-for-service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SpaceXAI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NVIDIA GPUs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Into 2029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Up to; 90 days' notice after Jan / Mar 2027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Nscale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NVIDIA GPUs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Into 2033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Up to ~; fees as capacity is accepted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Lambda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NVIDIA GPUs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Into 2034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~; fees as accepted; $34.9bn terminable without a facility lease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AMD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Helios MI450 racks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From 2027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No fixed dollar commitment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es_h"/>
          <p:cNvSpPr/>
          <p:nvPr/>
        </p:nvSpPr>
        <p:spPr>
          <a:xfrm>
            <a:off x="4945497" y="2916428"/>
            <a:ext cx="472885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Annual rates: commitments and compute spend, with revenue for scale</a:t>
            </a:r>
          </a:p>
        </p:txBody>
      </p:sp>
      <p:sp>
        <p:nvSpPr>
          <p:cNvPr id="14" name="res_u"/>
          <p:cNvSpPr/>
          <p:nvPr/>
        </p:nvSpPr>
        <p:spPr>
          <a:xfrm>
            <a:off x="4945497" y="3081020"/>
            <a:ext cx="4728855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$bn a year; each bar is a Halden &amp; Rowe annualisation of an S-1 figure (ochre; teal marks SpaceXAI, which the view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names); minimums spread evenly over 88, 120 and 79 months</a:t>
            </a:r>
          </a:p>
        </p:txBody>
      </p:sp>
      <p:graphicFrame>
        <p:nvGraphicFramePr>
          <p:cNvPr id="15" name="res"/>
          <p:cNvGraphicFramePr>
            <a:graphicFrameLocks noGrp="1"/>
          </p:cNvGraphicFramePr>
          <p:nvPr/>
        </p:nvGraphicFramePr>
        <p:xfrm>
          <a:off x="4945497" y="3321812"/>
          <a:ext cx="4728855" cy="30881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s_s"/>
          <p:cNvSpPr/>
          <p:nvPr/>
        </p:nvSpPr>
        <p:spPr>
          <a:xfrm>
            <a:off x="4945497" y="6437376"/>
            <a:ext cx="4728855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Quarterly Results of Operations; Contractual Obligations. Annualisation and straight-line spread: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Halden &amp; Rowe assumptions.</a:t>
            </a:r>
          </a:p>
        </p:txBody>
      </p:sp>
      <p:sp>
        <p:nvSpPr>
          <p:cNvPr id="17" name="take-fill"/>
          <p:cNvSpPr/>
          <p:nvPr/>
        </p:nvSpPr>
        <p:spPr>
          <a:xfrm>
            <a:off x="384048" y="6705600"/>
            <a:ext cx="9290304" cy="582168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ake_h"/>
          <p:cNvSpPr/>
          <p:nvPr/>
        </p:nvSpPr>
        <p:spPr>
          <a:xfrm>
            <a:off x="438912" y="6760464"/>
            <a:ext cx="1452799" cy="472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Halden &amp; Rowe view</a:t>
            </a:r>
          </a:p>
        </p:txBody>
      </p:sp>
      <p:sp>
        <p:nvSpPr>
          <p:cNvPr id="19" name="take_t"/>
          <p:cNvSpPr/>
          <p:nvPr/>
        </p:nvSpPr>
        <p:spPr>
          <a:xfrm>
            <a:off x="1992295" y="6760464"/>
            <a:ext cx="7627193" cy="472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Compute is the issue investors will price hardest. Of the eight arrangements, $269.4bn are stated minimums and ~$161.2bn non-cancelable lease rent; Nscale and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Lambda accrue fees only as capacity is delivered and accepted, SpaceXAI is an up-to amount with non-cancelable initial periods to January and March 2027 and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ramp-period fees, and AMD carries no fixed commitment. On a like-for-like annual basis, SpaceXAI at full delivery (~$37.2bn a year) is 2.1x H1 2026 compute expense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annualised.</a:t>
            </a: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0" name="chrome-1"/>
          <p:cNvCxnSpPr/>
          <p:nvPr/>
        </p:nvCxnSpPr>
        <p:spPr>
          <a:xfrm>
            <a:off x="384048" y="900684"/>
            <a:ext cx="9290304" cy="0"/>
          </a:xfrm>
          <a:prstGeom prst="line">
            <a:avLst/>
          </a:prstGeom>
          <a:ln w="12700">
            <a:solidFill>
              <a:srgbClr val="1B2F55"/>
            </a:solidFill>
          </a:ln>
        </p:spPr>
      </p:cxnSp>
      <p:sp>
        <p:nvSpPr>
          <p:cNvPr id="31" name="chrome-2"/>
          <p:cNvSpPr txBox="1"/>
          <p:nvPr/>
        </p:nvSpPr>
        <p:spPr>
          <a:xfrm>
            <a:off x="6967728" y="109728"/>
            <a:ext cx="270662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1B2F55"/>
                </a:solidFill>
                <a:latin typeface="Liberation Sans"/>
              </a:rPr>
              <a:t>HALDEN &amp; ROWE | IPO discussion materials | October 2026</a:t>
            </a:r>
          </a:p>
        </p:txBody>
      </p:sp>
      <p:cxnSp>
        <p:nvCxnSpPr>
          <p:cNvPr id="32" name="chrome-3"/>
          <p:cNvCxnSpPr/>
          <p:nvPr/>
        </p:nvCxnSpPr>
        <p:spPr>
          <a:xfrm>
            <a:off x="384048" y="7317486"/>
            <a:ext cx="9290304" cy="0"/>
          </a:xfrm>
          <a:prstGeom prst="line">
            <a:avLst/>
          </a:prstGeom>
          <a:ln w="6350">
            <a:solidFill>
              <a:srgbClr val="C3CAD4"/>
            </a:solidFill>
          </a:ln>
        </p:spPr>
      </p:cxnSp>
      <p:sp>
        <p:nvSpPr>
          <p:cNvPr id="33" name="chrome-4"/>
          <p:cNvSpPr txBox="1"/>
          <p:nvPr/>
        </p:nvSpPr>
        <p:spPr>
          <a:xfrm>
            <a:off x="384048" y="7370064"/>
            <a:ext cx="877824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55D6B"/>
                </a:solidFill>
                <a:latin typeface="Liberation Sans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" name="kicker"/>
          <p:cNvSpPr/>
          <p:nvPr/>
        </p:nvSpPr>
        <p:spPr>
          <a:xfrm>
            <a:off x="384048" y="384048"/>
            <a:ext cx="92903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2F55"/>
                </a:solidFill>
                <a:latin typeface="Liberation Sans"/>
              </a:rPr>
              <a:t>7 | BALANCE SHEET AND CAPITAL RAISED</a:t>
            </a:r>
          </a:p>
        </p:txBody>
      </p:sp>
      <p:sp>
        <p:nvSpPr>
          <p:cNvPr id="3" name="title"/>
          <p:cNvSpPr/>
          <p:nvPr/>
        </p:nvSpPr>
        <p:spPr>
          <a:xfrm>
            <a:off x="384048" y="525780"/>
            <a:ext cx="9290304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6181D"/>
                </a:solidFill>
                <a:latin typeface="Liberation Sans"/>
              </a:rPr>
              <a:t>Balance sheet and capital raised</a:t>
            </a:r>
          </a:p>
        </p:txBody>
      </p:sp>
      <p:sp>
        <p:nvSpPr>
          <p:cNvPr id="4" name="bs_h"/>
          <p:cNvSpPr/>
          <p:nvPr/>
        </p:nvSpPr>
        <p:spPr>
          <a:xfrm>
            <a:off x="384048" y="950976"/>
            <a:ext cx="4336869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Balance sheet</a:t>
            </a:r>
          </a:p>
        </p:txBody>
      </p:sp>
      <p:sp>
        <p:nvSpPr>
          <p:cNvPr id="5" name="bs_u"/>
          <p:cNvSpPr/>
          <p:nvPr/>
        </p:nvSpPr>
        <p:spPr>
          <a:xfrm>
            <a:off x="384048" y="1115568"/>
            <a:ext cx="4336869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$m; 31 December 2024 and 2025 (audited) and 30 June 2026 (unaudited)</a:t>
            </a:r>
          </a:p>
        </p:txBody>
      </p:sp>
      <p:graphicFrame>
        <p:nvGraphicFramePr>
          <p:cNvPr id="6" name="bs"/>
          <p:cNvGraphicFramePr>
            <a:graphicFrameLocks noGrp="1"/>
          </p:cNvGraphicFramePr>
          <p:nvPr/>
        </p:nvGraphicFramePr>
        <p:xfrm>
          <a:off x="384048" y="1249680"/>
          <a:ext cx="4336869" cy="203301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255172"/>
                <a:gridCol w="696442"/>
                <a:gridCol w="696442"/>
                <a:gridCol w="688813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Dec 2024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Dec 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Jun 2026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Balance sheet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Cash and cash equivalents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3,141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17,388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112,389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Short-term investments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2,889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19,262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Accounts receivable, net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95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909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5,833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Total assets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7,752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24,661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147,358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Deferred revenue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28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269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1,650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Convertible notes payable, at fair value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14,116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41,677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108,566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Total liabilities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14,679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45,397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117,467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Redeemable convertible preferred stock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2,874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29,769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157,510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Accumulated deficit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(10,040)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(52,154)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(132,902)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Total stockholders' deficit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(9,801)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(50,505)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(127,619)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bs_fn"/>
          <p:cNvSpPr/>
          <p:nvPr/>
        </p:nvSpPr>
        <p:spPr>
          <a:xfrm>
            <a:off x="384048" y="3310128"/>
            <a:ext cx="4336869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Convertible notes are carried at fair value: $108.6bn on the balance sheet against $6.2bn principal of Amazon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rollover notes, which convert into Class N at the lower of their fixed prices ($2.0928 and $5.0478) and the IPO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price, subject to Amazon's 12% ownership cap. The deficit includes the change in fair value of convertible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notes, derivative liabilities and SAFEs: $1.0bn (2023), $5.4bn (2024), $34.3bn (2025), $72.4bn (H1 2026).</a:t>
            </a:r>
          </a:p>
        </p:txBody>
      </p:sp>
      <p:sp>
        <p:nvSpPr>
          <p:cNvPr id="8" name="cf_h"/>
          <p:cNvSpPr/>
          <p:nvPr/>
        </p:nvSpPr>
        <p:spPr>
          <a:xfrm>
            <a:off x="384048" y="3764280"/>
            <a:ext cx="4336869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Cash flows</a:t>
            </a:r>
          </a:p>
        </p:txBody>
      </p:sp>
      <p:sp>
        <p:nvSpPr>
          <p:cNvPr id="9" name="cf_u"/>
          <p:cNvSpPr/>
          <p:nvPr/>
        </p:nvSpPr>
        <p:spPr>
          <a:xfrm>
            <a:off x="384048" y="3928872"/>
            <a:ext cx="4336869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$m; net cash provided by (used in)</a:t>
            </a:r>
          </a:p>
        </p:txBody>
      </p:sp>
      <p:graphicFrame>
        <p:nvGraphicFramePr>
          <p:cNvPr id="10" name="cf"/>
          <p:cNvGraphicFramePr>
            <a:graphicFrameLocks noGrp="1"/>
          </p:cNvGraphicFramePr>
          <p:nvPr/>
        </p:nvGraphicFramePr>
        <p:xfrm>
          <a:off x="384048" y="4062984"/>
          <a:ext cx="4336869" cy="67767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474535"/>
                <a:gridCol w="539097"/>
                <a:gridCol w="539097"/>
                <a:gridCol w="539097"/>
                <a:gridCol w="622520"/>
                <a:gridCol w="622523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2023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2024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H1 2025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H1 2026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Operating activities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(1,627)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(5,692)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(2,637)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(1,513)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3,929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Investing activities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(2)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(22)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(3,077)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(49)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(17,181)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Financing activities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2,320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7,248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19,960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4,749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110,774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bs_s"/>
          <p:cNvSpPr/>
          <p:nvPr/>
        </p:nvSpPr>
        <p:spPr>
          <a:xfrm>
            <a:off x="384048" y="4768088"/>
            <a:ext cx="4336869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Consolidated Balance Sheets; MD&amp;A, Cash Flows; Liquidity and Capital Resources; Convertible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Notes; Risk Factors.</a:t>
            </a:r>
          </a:p>
        </p:txBody>
      </p:sp>
      <p:sp>
        <p:nvSpPr>
          <p:cNvPr id="12" name="fin26_h"/>
          <p:cNvSpPr/>
          <p:nvPr/>
        </p:nvSpPr>
        <p:spPr>
          <a:xfrm>
            <a:off x="384048" y="5008880"/>
            <a:ext cx="4336869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2026 equity financings</a:t>
            </a:r>
          </a:p>
        </p:txBody>
      </p:sp>
      <p:sp>
        <p:nvSpPr>
          <p:cNvPr id="13" name="fin26_u"/>
          <p:cNvSpPr/>
          <p:nvPr/>
        </p:nvSpPr>
        <p:spPr>
          <a:xfrm>
            <a:off x="384048" y="5173472"/>
            <a:ext cx="4336869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Price per preferred share; each converts 10:1 into common</a:t>
            </a:r>
          </a:p>
        </p:txBody>
      </p:sp>
      <p:graphicFrame>
        <p:nvGraphicFramePr>
          <p:cNvPr id="14" name="fin26"/>
          <p:cNvGraphicFramePr>
            <a:graphicFrameLocks noGrp="1"/>
          </p:cNvGraphicFramePr>
          <p:nvPr/>
        </p:nvGraphicFramePr>
        <p:xfrm>
          <a:off x="384048" y="5307584"/>
          <a:ext cx="4336869" cy="67767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37268"/>
                <a:gridCol w="1431167"/>
                <a:gridCol w="867374"/>
                <a:gridCol w="1301060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When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Round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Price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Gross $bn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Q1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Series G-1 and G-2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$259.1364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30.2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Q2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Series G-2 (57.9m shares) (a)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$259.1364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15.0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Q2 2026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Series H-1 and H-2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$589.0095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65.2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fin26_fn"/>
          <p:cNvSpPr/>
          <p:nvPr/>
        </p:nvSpPr>
        <p:spPr>
          <a:xfrm>
            <a:off x="384048" y="6012688"/>
            <a:ext cx="4336869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(a) The S-1 conflicts on Google's $10.0bn and Amazon's $5.0bn of May 2026 equity. Note 9 says both bought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Series H. Notes 4 and 16 say they bought 38.6m and 19.3m Series G-2 shares at $259.1364, which are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together the 57.9m-share, $15.0bn Q2 sale. Shown once here, priced at neither until an amendment resolves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it.</a:t>
            </a:r>
          </a:p>
        </p:txBody>
      </p:sp>
      <p:sp>
        <p:nvSpPr>
          <p:cNvPr id="16" name="fin26_s"/>
          <p:cNvSpPr/>
          <p:nvPr/>
        </p:nvSpPr>
        <p:spPr>
          <a:xfrm>
            <a:off x="384048" y="6466840"/>
            <a:ext cx="4336869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Notes to Consolidated Financial Statements, Series G and Series H Financings; Convertible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Notes.</a:t>
            </a:r>
          </a:p>
        </p:txBody>
      </p:sp>
      <p:sp>
        <p:nvSpPr>
          <p:cNvPr id="17" name="pref_h"/>
          <p:cNvSpPr/>
          <p:nvPr/>
        </p:nvSpPr>
        <p:spPr>
          <a:xfrm>
            <a:off x="4903797" y="950976"/>
            <a:ext cx="477055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Preferred stock by series</a:t>
            </a:r>
          </a:p>
        </p:txBody>
      </p:sp>
      <p:sp>
        <p:nvSpPr>
          <p:cNvPr id="18" name="pref_u"/>
          <p:cNvSpPr/>
          <p:nvPr/>
        </p:nvSpPr>
        <p:spPr>
          <a:xfrm>
            <a:off x="4903797" y="1115568"/>
            <a:ext cx="4770555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$bn carrying value at 30 June 2026 by series, A to H; $157.5bn in total; capital raised to date $141.1bn</a:t>
            </a:r>
          </a:p>
        </p:txBody>
      </p:sp>
      <p:graphicFrame>
        <p:nvGraphicFramePr>
          <p:cNvPr id="19" name="pref"/>
          <p:cNvGraphicFramePr>
            <a:graphicFrameLocks noGrp="1"/>
          </p:cNvGraphicFramePr>
          <p:nvPr/>
        </p:nvGraphicFramePr>
        <p:xfrm>
          <a:off x="4903797" y="1249680"/>
          <a:ext cx="4770555" cy="19250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pref_s"/>
          <p:cNvSpPr/>
          <p:nvPr/>
        </p:nvSpPr>
        <p:spPr>
          <a:xfrm>
            <a:off x="4903797" y="3202178"/>
            <a:ext cx="4770555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Notes to Consolidated Financial Statements, Redeemable Convertible Preferred Stock; Prospectus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Summary.</a:t>
            </a:r>
          </a:p>
        </p:txBody>
      </p:sp>
      <p:sp>
        <p:nvSpPr>
          <p:cNvPr id="21" name="fac_h"/>
          <p:cNvSpPr/>
          <p:nvPr/>
        </p:nvSpPr>
        <p:spPr>
          <a:xfrm>
            <a:off x="4903797" y="3442970"/>
            <a:ext cx="477055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Facilities beyond cash, and what limits each</a:t>
            </a:r>
          </a:p>
        </p:txBody>
      </p:sp>
      <p:sp>
        <p:nvSpPr>
          <p:cNvPr id="22" name="fac_u"/>
          <p:cNvSpPr/>
          <p:nvPr/>
        </p:nvSpPr>
        <p:spPr>
          <a:xfrm>
            <a:off x="4903797" y="3607562"/>
            <a:ext cx="4770555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$bn; terms as stated in the S-1; only the revolver may fund general corporate purposes</a:t>
            </a:r>
          </a:p>
        </p:txBody>
      </p:sp>
      <p:graphicFrame>
        <p:nvGraphicFramePr>
          <p:cNvPr id="23" name="fac"/>
          <p:cNvGraphicFramePr>
            <a:graphicFrameLocks noGrp="1"/>
          </p:cNvGraphicFramePr>
          <p:nvPr/>
        </p:nvGraphicFramePr>
        <p:xfrm>
          <a:off x="4903797" y="3741674"/>
          <a:ext cx="4770555" cy="278003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574283"/>
                <a:gridCol w="429350"/>
                <a:gridCol w="2766922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Facility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$bn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Limits as stated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Revolving credit: general corporate purposes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A&amp;R revolving credit facility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15.0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Entered Sep 2026, after the June balance sheet; draw status not yet stated; $5.0bn liquidity covenant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Contingent capacity: restricted, gated or settled in shares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Broadcom NPA (Infrastructure Partner)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42.0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Only to finance rent under the 2026 Lease Arrangement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Google 2026 NPA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20.0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Conditional draws to Dec 2030; cut by up to $10.0bn if Google buys at the IPO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Amazon 2026 NPA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15.0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$5.0bn steps on compute milestones; settled in Class N stock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AMD equity commitment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5.0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Class N stock on GPU delivery milestones, the first expected in 2027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Not financing capacity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Amazon rollover notes outstanding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6.2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 liability: converts to Class N at the IPO up to Amazon's 12% cap; the rest stays outstanding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April 2026 tender offer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4.7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Stockholders bought 179.9m Class A shares at $25.9136; no proceeds to the company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fac_s"/>
          <p:cNvSpPr/>
          <p:nvPr/>
        </p:nvSpPr>
        <p:spPr>
          <a:xfrm>
            <a:off x="4903797" y="6549136"/>
            <a:ext cx="4770555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MD&amp;A, Revolving Credit Agreement; AMD Agreement; Convertible Notes; Certain Relationships and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Related Party Transactions, Tender Offers.</a:t>
            </a:r>
          </a:p>
        </p:txBody>
      </p:sp>
      <p:sp>
        <p:nvSpPr>
          <p:cNvPr id="25" name="take-fill"/>
          <p:cNvSpPr/>
          <p:nvPr/>
        </p:nvSpPr>
        <p:spPr>
          <a:xfrm>
            <a:off x="384048" y="6817360"/>
            <a:ext cx="9290304" cy="470408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ake_h"/>
          <p:cNvSpPr/>
          <p:nvPr/>
        </p:nvSpPr>
        <p:spPr>
          <a:xfrm>
            <a:off x="438912" y="6872224"/>
            <a:ext cx="1452799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Halden &amp; Rowe view</a:t>
            </a:r>
          </a:p>
        </p:txBody>
      </p:sp>
      <p:sp>
        <p:nvSpPr>
          <p:cNvPr id="27" name="take_t"/>
          <p:cNvSpPr/>
          <p:nvPr/>
        </p:nvSpPr>
        <p:spPr>
          <a:xfrm>
            <a:off x="1992295" y="6872224"/>
            <a:ext cx="7627193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Cash carries the plan: $131.7bn of cash and short-term investments at June 2026, with operating cash flow positive in H1 2026. Beyond the $15bn revolver, the NPAs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and AMD commitment are restricted, gated or settled in shares, so the IPO's job is a public currency and a daily price. Series H priced at 2.27x the Series G price,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while G-2 shares were still sold at the G price in the same quarter.</a:t>
            </a:r>
          </a:p>
        </p:txBody>
      </p:sp>
      <p:sp>
        <p:nvSpPr>
          <p:cNvPr id="28" name="gh-bracket"/>
          <p:cNvSpPr/>
          <p:nvPr/>
        </p:nvSpPr>
        <p:spPr>
          <a:xfrm rot="5400000">
            <a:off x="8372586" y="1199026"/>
            <a:ext cx="27432" cy="806059"/>
          </a:xfrm>
          <a:prstGeom prst="leftBracket">
            <a:avLst/>
          </a:prstGeom>
          <a:noFill/>
          <a:ln w="9525">
            <a:solidFill>
              <a:srgbClr val="0E6E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h-label"/>
          <p:cNvSpPr/>
          <p:nvPr/>
        </p:nvSpPr>
        <p:spPr>
          <a:xfrm>
            <a:off x="7896674" y="1317068"/>
            <a:ext cx="97925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0E6E70"/>
                </a:solidFill>
                <a:latin typeface="Liberation Sans"/>
              </a:rPr>
              <a:t>Series G and H: 81.1%</a:t>
            </a: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4" name="chrome-1"/>
          <p:cNvCxnSpPr/>
          <p:nvPr/>
        </p:nvCxnSpPr>
        <p:spPr>
          <a:xfrm>
            <a:off x="384048" y="900684"/>
            <a:ext cx="9290304" cy="0"/>
          </a:xfrm>
          <a:prstGeom prst="line">
            <a:avLst/>
          </a:prstGeom>
          <a:ln w="12700">
            <a:solidFill>
              <a:srgbClr val="1B2F55"/>
            </a:solidFill>
          </a:ln>
        </p:spPr>
      </p:cxnSp>
      <p:sp>
        <p:nvSpPr>
          <p:cNvPr id="25" name="chrome-2"/>
          <p:cNvSpPr txBox="1"/>
          <p:nvPr/>
        </p:nvSpPr>
        <p:spPr>
          <a:xfrm>
            <a:off x="6967728" y="109728"/>
            <a:ext cx="270662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1B2F55"/>
                </a:solidFill>
                <a:latin typeface="Liberation Sans"/>
              </a:rPr>
              <a:t>HALDEN &amp; ROWE | IPO discussion materials | October 2026</a:t>
            </a:r>
          </a:p>
        </p:txBody>
      </p:sp>
      <p:cxnSp>
        <p:nvCxnSpPr>
          <p:cNvPr id="26" name="chrome-3"/>
          <p:cNvCxnSpPr/>
          <p:nvPr/>
        </p:nvCxnSpPr>
        <p:spPr>
          <a:xfrm>
            <a:off x="384048" y="7317486"/>
            <a:ext cx="9290304" cy="0"/>
          </a:xfrm>
          <a:prstGeom prst="line">
            <a:avLst/>
          </a:prstGeom>
          <a:ln w="6350">
            <a:solidFill>
              <a:srgbClr val="C3CAD4"/>
            </a:solidFill>
          </a:ln>
        </p:spPr>
      </p:cxnSp>
      <p:sp>
        <p:nvSpPr>
          <p:cNvPr id="27" name="chrome-4"/>
          <p:cNvSpPr txBox="1"/>
          <p:nvPr/>
        </p:nvSpPr>
        <p:spPr>
          <a:xfrm>
            <a:off x="384048" y="7370064"/>
            <a:ext cx="877824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55D6B"/>
                </a:solidFill>
                <a:latin typeface="Liberation Sans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" name="kicker"/>
          <p:cNvSpPr/>
          <p:nvPr/>
        </p:nvSpPr>
        <p:spPr>
          <a:xfrm>
            <a:off x="384048" y="384048"/>
            <a:ext cx="92903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2F55"/>
                </a:solidFill>
                <a:latin typeface="Liberation Sans"/>
              </a:rPr>
              <a:t>8 | PUBLIC COMPARABLES FRAMEWORK</a:t>
            </a:r>
          </a:p>
        </p:txBody>
      </p:sp>
      <p:sp>
        <p:nvSpPr>
          <p:cNvPr id="3" name="title"/>
          <p:cNvSpPr/>
          <p:nvPr/>
        </p:nvSpPr>
        <p:spPr>
          <a:xfrm>
            <a:off x="384048" y="525780"/>
            <a:ext cx="9290304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6181D"/>
                </a:solidFill>
                <a:latin typeface="Liberation Sans"/>
              </a:rPr>
              <a:t>Public comparables framework</a:t>
            </a:r>
          </a:p>
        </p:txBody>
      </p:sp>
      <p:sp>
        <p:nvSpPr>
          <p:cNvPr id="4" name="cp_h"/>
          <p:cNvSpPr/>
          <p:nvPr/>
        </p:nvSpPr>
        <p:spPr>
          <a:xfrm>
            <a:off x="384048" y="950976"/>
            <a:ext cx="4871413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Operating benchmarks: latest quarter in a 10-Q or 10-K filed by 27 October 2026</a:t>
            </a:r>
          </a:p>
        </p:txBody>
      </p:sp>
      <p:sp>
        <p:nvSpPr>
          <p:cNvPr id="5" name="cp_u"/>
          <p:cNvSpPr/>
          <p:nvPr/>
        </p:nvSpPr>
        <p:spPr>
          <a:xfrm>
            <a:off x="384048" y="1115568"/>
            <a:ext cx="4871413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$m; revenue growth on the same quarter a year earlier; GAAP operating margin as filed, unadjusted</a:t>
            </a:r>
          </a:p>
        </p:txBody>
      </p:sp>
      <p:graphicFrame>
        <p:nvGraphicFramePr>
          <p:cNvPr id="6" name="cp"/>
          <p:cNvGraphicFramePr>
            <a:graphicFrameLocks noGrp="1"/>
          </p:cNvGraphicFramePr>
          <p:nvPr/>
        </p:nvGraphicFramePr>
        <p:xfrm>
          <a:off x="384048" y="1249680"/>
          <a:ext cx="4871413" cy="304952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461424"/>
                <a:gridCol w="487141"/>
                <a:gridCol w="633284"/>
                <a:gridCol w="730712"/>
                <a:gridCol w="779426"/>
                <a:gridCol w="779426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Company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Ticker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Quarter to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Revenue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Growth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Op. margin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Hyperscale platforms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Microsoft (a)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MSFT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Jun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90,007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17.7%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45.1%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Alphabet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GOOGL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Jun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119,796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24.2%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34.0%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Amazon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AMZN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Jun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200,606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19.6%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13.7%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Meta Platforms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META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Sep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64,601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26.1%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20.1%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AI infrastructure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NVIDIA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NVDA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Jul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96,221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105.9%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66.2%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Oracle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ORCL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Aug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19,345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29.6%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34.8%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Software at scale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ECEFF4"/>
                    </a:solidFill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Palantir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PLTR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Jun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1,936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92.8%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47.1%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ServiceNow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NOW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Jun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3,987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24.0%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4.1%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Snowflake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SNOW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Jul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1,547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35.1%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(17.0%)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Datadog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DDOG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Jun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1,122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35.6%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0.5%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CrowdStrike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CRWD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Jul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1,471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25.8%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(2.3%)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Cloudflare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NET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Jun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696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35.9%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(29.6%)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1">
                          <a:solidFill>
                            <a:srgbClr val="16181D"/>
                          </a:solidFill>
                          <a:latin typeface="Liberation Sans"/>
                        </a:rPr>
                        <a:t>Median of the 12 peers</a:t>
                      </a:r>
                      <a:endParaRPr sz="750" b="1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1">
                          <a:solidFill>
                            <a:srgbClr val="16181D"/>
                          </a:solidFill>
                          <a:latin typeface="Liberation Sans"/>
                        </a:rPr>
                        <a:t>27.9%</a:t>
                      </a:r>
                      <a:endParaRPr sz="750" b="1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1">
                          <a:solidFill>
                            <a:srgbClr val="16181D"/>
                          </a:solidFill>
                          <a:latin typeface="Liberation Sans"/>
                        </a:rPr>
                        <a:t>16.9%</a:t>
                      </a:r>
                      <a:endParaRPr sz="750" b="1" i="1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Anthropic (S-1)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Jun 2026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11,555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1,368.2%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8.4%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cp_fn"/>
          <p:cNvSpPr/>
          <p:nvPr/>
        </p:nvSpPr>
        <p:spPr>
          <a:xfrm>
            <a:off x="384048" y="4326636"/>
            <a:ext cx="4871413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(a) Fiscal fourth quarter, reported only within the FY2026 10-K: fiscal year less the nine months in the March 2026 10-Q, as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is the year-earlier quarter. Quarters differ by fiscal calendar; a quarter reported by press release but not yet in a 10-Q is not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used. Each value read from SEC XBRL company facts (data.sec.gov) on 27 October 2026 and found again as printed in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the filed 10-Q or 10-K. Trading multiples are not shown: market prices are not in filings.</a:t>
            </a:r>
          </a:p>
        </p:txBody>
      </p:sp>
      <p:sp>
        <p:nvSpPr>
          <p:cNvPr id="8" name="cp_s"/>
          <p:cNvSpPr/>
          <p:nvPr/>
        </p:nvSpPr>
        <p:spPr>
          <a:xfrm>
            <a:off x="384048" y="4780788"/>
            <a:ext cx="4871413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company Forms 10-Q and 10-K via SEC EDGAR; Anthropic: S-1, MD&amp;A, Quarterly Results of Operations.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Medians and the Q4 derivation: Halden &amp; Rowe.</a:t>
            </a:r>
          </a:p>
        </p:txBody>
      </p:sp>
      <p:sp>
        <p:nvSpPr>
          <p:cNvPr id="9" name="scale_h"/>
          <p:cNvSpPr/>
          <p:nvPr/>
        </p:nvSpPr>
        <p:spPr>
          <a:xfrm>
            <a:off x="384048" y="5021580"/>
            <a:ext cx="4871413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Quarterly revenue: Anthropic against the software peers</a:t>
            </a:r>
          </a:p>
        </p:txBody>
      </p:sp>
      <p:sp>
        <p:nvSpPr>
          <p:cNvPr id="10" name="scale_u"/>
          <p:cNvSpPr/>
          <p:nvPr/>
        </p:nvSpPr>
        <p:spPr>
          <a:xfrm>
            <a:off x="384048" y="5186172"/>
            <a:ext cx="4871413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$m, latest quarter as above</a:t>
            </a:r>
          </a:p>
        </p:txBody>
      </p:sp>
      <p:graphicFrame>
        <p:nvGraphicFramePr>
          <p:cNvPr id="11" name="scale"/>
          <p:cNvGraphicFramePr>
            <a:graphicFrameLocks noGrp="1"/>
          </p:cNvGraphicFramePr>
          <p:nvPr/>
        </p:nvGraphicFramePr>
        <p:xfrm>
          <a:off x="384048" y="5320284"/>
          <a:ext cx="4871413" cy="15539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c_h"/>
          <p:cNvSpPr/>
          <p:nvPr/>
        </p:nvSpPr>
        <p:spPr>
          <a:xfrm>
            <a:off x="5438341" y="950976"/>
            <a:ext cx="42360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Growth against GAAP operating margin</a:t>
            </a:r>
          </a:p>
        </p:txBody>
      </p:sp>
      <p:sp>
        <p:nvSpPr>
          <p:cNvPr id="13" name="sc_u"/>
          <p:cNvSpPr/>
          <p:nvPr/>
        </p:nvSpPr>
        <p:spPr>
          <a:xfrm>
            <a:off x="5438341" y="1115568"/>
            <a:ext cx="4236011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Latest quarter as in the table, %; marker shape by peer group; Anthropic placed past a scale break</a:t>
            </a:r>
          </a:p>
        </p:txBody>
      </p:sp>
      <p:graphicFrame>
        <p:nvGraphicFramePr>
          <p:cNvPr id="14" name="sc"/>
          <p:cNvGraphicFramePr>
            <a:graphicFrameLocks noGrp="1"/>
          </p:cNvGraphicFramePr>
          <p:nvPr/>
        </p:nvGraphicFramePr>
        <p:xfrm>
          <a:off x="5438341" y="1249680"/>
          <a:ext cx="4236011" cy="37993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fw_h"/>
          <p:cNvSpPr/>
          <p:nvPr/>
        </p:nvSpPr>
        <p:spPr>
          <a:xfrm>
            <a:off x="5438341" y="5076444"/>
            <a:ext cx="42360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Which peers answer which question</a:t>
            </a:r>
          </a:p>
        </p:txBody>
      </p:sp>
      <p:sp>
        <p:nvSpPr>
          <p:cNvPr id="16" name="fw_u"/>
          <p:cNvSpPr/>
          <p:nvPr/>
        </p:nvSpPr>
        <p:spPr>
          <a:xfrm>
            <a:off x="5438341" y="5241036"/>
            <a:ext cx="4236011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Halden &amp; Rowe framework; OpenAI, named in the S-1 as a primary competitor, is private</a:t>
            </a:r>
          </a:p>
        </p:txBody>
      </p:sp>
      <p:graphicFrame>
        <p:nvGraphicFramePr>
          <p:cNvPr id="17" name="fw"/>
          <p:cNvGraphicFramePr>
            <a:graphicFrameLocks noGrp="1"/>
          </p:cNvGraphicFramePr>
          <p:nvPr/>
        </p:nvGraphicFramePr>
        <p:xfrm>
          <a:off x="5438341" y="5375148"/>
          <a:ext cx="4236011" cy="136499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016643"/>
                <a:gridCol w="1609684"/>
                <a:gridCol w="1609684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Group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Why it is in the set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Link in the S-1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627634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Hyperscale platforms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Scale and margin benchmark; where AI exposure sits today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Investors, suppliers and channels; Google a named primary competitor, and Amazon, Google and Microsoft each build competing models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AI infrastructure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Growth benchmark for the compute cycle Anthropic buys from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NVIDIA GPUs reach Anthropic via SpaceXAI, Nscale and Lambda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Software at scale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Consumption and subscription models; retention and margin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80% of revenue is consumption-based, like Snowflake and Datadog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fw_s"/>
          <p:cNvSpPr/>
          <p:nvPr/>
        </p:nvSpPr>
        <p:spPr>
          <a:xfrm>
            <a:off x="5438341" y="6767576"/>
            <a:ext cx="4236011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Risk Factors (competition); MD&amp;A, Contractual Obligations; How We Generate Revenue.</a:t>
            </a:r>
          </a:p>
        </p:txBody>
      </p:sp>
      <p:sp>
        <p:nvSpPr>
          <p:cNvPr id="19" name="take-fill"/>
          <p:cNvSpPr/>
          <p:nvPr/>
        </p:nvSpPr>
        <p:spPr>
          <a:xfrm>
            <a:off x="384048" y="6929120"/>
            <a:ext cx="9290304" cy="358648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ake_h"/>
          <p:cNvSpPr/>
          <p:nvPr/>
        </p:nvSpPr>
        <p:spPr>
          <a:xfrm>
            <a:off x="438912" y="6983984"/>
            <a:ext cx="1452799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Halden &amp; Rowe view</a:t>
            </a:r>
          </a:p>
        </p:txBody>
      </p:sp>
      <p:sp>
        <p:nvSpPr>
          <p:cNvPr id="21" name="take_t"/>
          <p:cNvSpPr/>
          <p:nvPr/>
        </p:nvSpPr>
        <p:spPr>
          <a:xfrm>
            <a:off x="1992295" y="6983984"/>
            <a:ext cx="7627193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No listed company is a true comparable: Anthropic's quarterly revenue already exceeds each software peer's, at growth 49x the peer median of 27.9%. We would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anchor investors on the hyperscalers for scale and margin and on NVIDIA and Palantir for growth, and price off forward revenue rather than trailing multiples.</a:t>
            </a:r>
          </a:p>
        </p:txBody>
      </p:sp>
      <p:cxnSp>
        <p:nvCxnSpPr>
          <p:cNvPr id="22" name="brk-line"/>
          <p:cNvCxnSpPr/>
          <p:nvPr/>
        </p:nvCxnSpPr>
        <p:spPr>
          <a:xfrm flipV="1">
            <a:off x="8965783" y="1629613"/>
            <a:ext cx="0" cy="2887493"/>
          </a:xfrm>
          <a:prstGeom prst="line">
            <a:avLst/>
          </a:prstGeom>
          <a:ln w="9525">
            <a:solidFill>
              <a:srgbClr val="555D6B"/>
            </a:solidFill>
            <a:prstDash val="dash"/>
          </a:ln>
        </p:spPr>
      </p:cxnSp>
      <p:sp>
        <p:nvSpPr>
          <p:cNvPr id="23" name="brk-label"/>
          <p:cNvSpPr/>
          <p:nvPr/>
        </p:nvSpPr>
        <p:spPr>
          <a:xfrm>
            <a:off x="7451476" y="1629613"/>
            <a:ext cx="1514307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555D6B"/>
                </a:solidFill>
                <a:latin typeface="Liberation Sans"/>
              </a:rPr>
              <a:t>scale break: Anthropic not to scale</a:t>
            </a: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8" name="chrome-1"/>
          <p:cNvCxnSpPr/>
          <p:nvPr/>
        </p:nvCxnSpPr>
        <p:spPr>
          <a:xfrm>
            <a:off x="384048" y="900684"/>
            <a:ext cx="9290304" cy="0"/>
          </a:xfrm>
          <a:prstGeom prst="line">
            <a:avLst/>
          </a:prstGeom>
          <a:ln w="12700">
            <a:solidFill>
              <a:srgbClr val="1B2F55"/>
            </a:solidFill>
          </a:ln>
        </p:spPr>
      </p:cxnSp>
      <p:sp>
        <p:nvSpPr>
          <p:cNvPr id="29" name="chrome-2"/>
          <p:cNvSpPr txBox="1"/>
          <p:nvPr/>
        </p:nvSpPr>
        <p:spPr>
          <a:xfrm>
            <a:off x="6967728" y="109728"/>
            <a:ext cx="270662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1B2F55"/>
                </a:solidFill>
                <a:latin typeface="Liberation Sans"/>
              </a:rPr>
              <a:t>HALDEN &amp; ROWE | IPO discussion materials | October 2026</a:t>
            </a:r>
          </a:p>
        </p:txBody>
      </p:sp>
      <p:cxnSp>
        <p:nvCxnSpPr>
          <p:cNvPr id="30" name="chrome-3"/>
          <p:cNvCxnSpPr/>
          <p:nvPr/>
        </p:nvCxnSpPr>
        <p:spPr>
          <a:xfrm>
            <a:off x="384048" y="7317486"/>
            <a:ext cx="9290304" cy="0"/>
          </a:xfrm>
          <a:prstGeom prst="line">
            <a:avLst/>
          </a:prstGeom>
          <a:ln w="6350">
            <a:solidFill>
              <a:srgbClr val="C3CAD4"/>
            </a:solidFill>
          </a:ln>
        </p:spPr>
      </p:cxnSp>
      <p:sp>
        <p:nvSpPr>
          <p:cNvPr id="31" name="chrome-4"/>
          <p:cNvSpPr txBox="1"/>
          <p:nvPr/>
        </p:nvSpPr>
        <p:spPr>
          <a:xfrm>
            <a:off x="384048" y="7370064"/>
            <a:ext cx="877824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55D6B"/>
                </a:solidFill>
                <a:latin typeface="Liberation Sans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" name="kicker"/>
          <p:cNvSpPr/>
          <p:nvPr/>
        </p:nvSpPr>
        <p:spPr>
          <a:xfrm>
            <a:off x="384048" y="384048"/>
            <a:ext cx="92903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2F55"/>
                </a:solidFill>
                <a:latin typeface="Liberation Sans"/>
              </a:rPr>
              <a:t>9 | VALUATION RANGE AND METHOD</a:t>
            </a:r>
          </a:p>
        </p:txBody>
      </p:sp>
      <p:sp>
        <p:nvSpPr>
          <p:cNvPr id="3" name="title"/>
          <p:cNvSpPr/>
          <p:nvPr/>
        </p:nvSpPr>
        <p:spPr>
          <a:xfrm>
            <a:off x="384048" y="525780"/>
            <a:ext cx="9290304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6181D"/>
                </a:solidFill>
                <a:latin typeface="Liberation Sans"/>
              </a:rPr>
              <a:t>Valuation range and method (illustrative)</a:t>
            </a:r>
          </a:p>
        </p:txBody>
      </p:sp>
      <p:sp>
        <p:nvSpPr>
          <p:cNvPr id="4" name="ff_h"/>
          <p:cNvSpPr/>
          <p:nvPr/>
        </p:nvSpPr>
        <p:spPr>
          <a:xfrm>
            <a:off x="384048" y="950976"/>
            <a:ext cx="505968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Illustrative equity value by method</a:t>
            </a:r>
          </a:p>
        </p:txBody>
      </p:sp>
      <p:sp>
        <p:nvSpPr>
          <p:cNvPr id="5" name="ff_u"/>
          <p:cNvSpPr/>
          <p:nvPr/>
        </p:nvSpPr>
        <p:spPr>
          <a:xfrm>
            <a:off x="384048" y="1115568"/>
            <a:ext cx="5059680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$bn; equity value = EV + $131.7bn of cash and short-term investments; every bar is a Halden &amp; Rowe construction; shaded: the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illustrative range, $850bn to $1,050bn; (H): the Series H price on the fully diluted count</a:t>
            </a:r>
          </a:p>
        </p:txBody>
      </p:sp>
      <p:sp>
        <p:nvSpPr>
          <p:cNvPr id="6" name="ref-band"/>
          <p:cNvSpPr/>
          <p:nvPr/>
        </p:nvSpPr>
        <p:spPr>
          <a:xfrm>
            <a:off x="3647542" y="1711630"/>
            <a:ext cx="505968" cy="2842158"/>
          </a:xfrm>
          <a:prstGeom prst="rect">
            <a:avLst/>
          </a:prstGeom>
          <a:solidFill>
            <a:srgbClr val="F3E7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ff"/>
          <p:cNvGraphicFramePr>
            <a:graphicFrameLocks noGrp="1"/>
          </p:cNvGraphicFramePr>
          <p:nvPr/>
        </p:nvGraphicFramePr>
        <p:xfrm>
          <a:off x="384048" y="1356360"/>
          <a:ext cx="5059680" cy="355269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mt"/>
          <p:cNvGraphicFramePr>
            <a:graphicFrameLocks noGrp="1"/>
          </p:cNvGraphicFramePr>
          <p:nvPr/>
        </p:nvGraphicFramePr>
        <p:xfrm>
          <a:off x="384048" y="4936490"/>
          <a:ext cx="5059680" cy="113106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074469"/>
                <a:gridCol w="505968"/>
                <a:gridCol w="505968"/>
                <a:gridCol w="505968"/>
                <a:gridCol w="505968"/>
                <a:gridCol w="961339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Method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Low $bn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High $bn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Low $/sh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High $/sh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Basis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Private rounds, G to H price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438.9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997.6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25.91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58.90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S-1 prices, H&amp;R count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EV / Q2 2026 revenue x4, 15x to 25x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825.0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1,287.2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48.71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76.00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Assumed multiple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EV / H1 2026 revenue x2, 20x to 30x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783.1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1,108.8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46.24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65.47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Assumed multiple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EV / Q2 2026 adj. op. inc. x4, 80x to 120x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846.9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1,204.5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50.00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71.11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Assumed multiple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Illustrative range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solidFill>
                      <a:srgbClr val="F3E7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850.0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solidFill>
                      <a:srgbClr val="F3E7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1,050.0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solidFill>
                      <a:srgbClr val="F3E7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50.19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solidFill>
                      <a:srgbClr val="F3E7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62.00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solidFill>
                      <a:srgbClr val="F3E7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H&amp;R assumption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solidFill>
                      <a:srgbClr val="F3E7CC"/>
                    </a:solidFill>
                  </a:tcPr>
                </a:tc>
              </a:tr>
            </a:tbl>
          </a:graphicData>
        </a:graphic>
      </p:graphicFrame>
      <p:sp>
        <p:nvSpPr>
          <p:cNvPr id="9" name="ff_fn"/>
          <p:cNvSpPr/>
          <p:nvPr/>
        </p:nvSpPr>
        <p:spPr>
          <a:xfrm>
            <a:off x="384048" y="6094984"/>
            <a:ext cx="505968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Per share on 16.94bn fully diluted shares (846,840,960 Public Benefit Issuance shares are 5% of fully diluted shares at 30 June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2026, incl. the Amazon notes). The private-rounds bar prices that June 2026 count, which already includes the Series H and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Public Benefit shares, at each round's price: a construction, not a post-money value. Excludes IPO proceeds, RSU tax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withholding and later issuance; no IPO discount.</a:t>
            </a:r>
          </a:p>
        </p:txBody>
      </p:sp>
      <p:sp>
        <p:nvSpPr>
          <p:cNvPr id="10" name="ff_s"/>
          <p:cNvSpPr/>
          <p:nvPr/>
        </p:nvSpPr>
        <p:spPr>
          <a:xfrm>
            <a:off x="384048" y="6549136"/>
            <a:ext cx="5059680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Prospectus Summary (Public Benefit); Note 10 (Series G and H prices, 10:1 conversion); Consolidated Balance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Sheets; MD&amp;A. Multiples and range: Halden &amp; Rowe assumptions.</a:t>
            </a:r>
          </a:p>
        </p:txBody>
      </p:sp>
      <p:sp>
        <p:nvSpPr>
          <p:cNvPr id="11" name="sens_h"/>
          <p:cNvSpPr/>
          <p:nvPr/>
        </p:nvSpPr>
        <p:spPr>
          <a:xfrm>
            <a:off x="5626608" y="950976"/>
            <a:ext cx="404774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Value per share: revenue base against multiple</a:t>
            </a:r>
          </a:p>
        </p:txBody>
      </p:sp>
      <p:sp>
        <p:nvSpPr>
          <p:cNvPr id="12" name="sens_u"/>
          <p:cNvSpPr/>
          <p:nvPr/>
        </p:nvSpPr>
        <p:spPr>
          <a:xfrm>
            <a:off x="5626608" y="1115568"/>
            <a:ext cx="404774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$ per fully diluted share; EV / revenue multiple across; shaded: inside the illustrative range</a:t>
            </a:r>
          </a:p>
        </p:txBody>
      </p:sp>
      <p:graphicFrame>
        <p:nvGraphicFramePr>
          <p:cNvPr id="13" name="sens"/>
          <p:cNvGraphicFramePr>
            <a:graphicFrameLocks noGrp="1"/>
          </p:cNvGraphicFramePr>
          <p:nvPr/>
        </p:nvGraphicFramePr>
        <p:xfrm>
          <a:off x="5626608" y="1249680"/>
          <a:ext cx="4047744" cy="79222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740530"/>
                <a:gridCol w="461442"/>
                <a:gridCol w="461442"/>
                <a:gridCol w="461442"/>
                <a:gridCol w="461442"/>
                <a:gridCol w="461446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Revenue base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15.0x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17.5x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20.0x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22.5x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25.0x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Q2 2026 revenue x4 ($46.2bn)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48.71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55.53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F3E7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62.35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69.17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76.00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Same, less 6% usage-policy revenue ($43.4bn)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46.25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52.66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F3E7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59.08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solidFill>
                      <a:srgbClr val="F3E7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65.49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71.90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H1 2026 revenue x2 ($32.6bn)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36.62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41.43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46.24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51.04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solidFill>
                      <a:srgbClr val="F3E7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55.85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solidFill>
                      <a:srgbClr val="F3E7CC"/>
                    </a:solidFill>
                  </a:tcPr>
                </a:tc>
              </a:tr>
            </a:tbl>
          </a:graphicData>
        </a:graphic>
      </p:graphicFrame>
      <p:sp>
        <p:nvSpPr>
          <p:cNvPr id="14" name="sens_fn"/>
          <p:cNvSpPr/>
          <p:nvPr/>
        </p:nvSpPr>
        <p:spPr>
          <a:xfrm>
            <a:off x="5626608" y="2069338"/>
            <a:ext cx="4047744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The middle row removes 6%, the midpoint of the S-1's 5% to 7% estimate of nine-month 2026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revenue from customers breaching usage policy or terms, from the unrounded base: $46.22bn x 0.94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= $43.45bn. Applying a nine-month estimate to annualised Q2 2026 revenue changes its period: a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Halden &amp; Rowe assumption.</a:t>
            </a:r>
          </a:p>
        </p:txBody>
      </p:sp>
      <p:sp>
        <p:nvSpPr>
          <p:cNvPr id="15" name="in_h"/>
          <p:cNvSpPr/>
          <p:nvPr/>
        </p:nvSpPr>
        <p:spPr>
          <a:xfrm>
            <a:off x="5626608" y="2523490"/>
            <a:ext cx="404774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Inputs and their source</a:t>
            </a:r>
          </a:p>
        </p:txBody>
      </p:sp>
      <p:sp>
        <p:nvSpPr>
          <p:cNvPr id="16" name="in_u"/>
          <p:cNvSpPr/>
          <p:nvPr/>
        </p:nvSpPr>
        <p:spPr>
          <a:xfrm>
            <a:off x="5626608" y="2688082"/>
            <a:ext cx="404774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Ochre: Halden &amp; Rowe derivation or assumption</a:t>
            </a:r>
          </a:p>
        </p:txBody>
      </p:sp>
      <p:graphicFrame>
        <p:nvGraphicFramePr>
          <p:cNvPr id="17" name="in"/>
          <p:cNvGraphicFramePr>
            <a:graphicFrameLocks noGrp="1"/>
          </p:cNvGraphicFramePr>
          <p:nvPr/>
        </p:nvGraphicFramePr>
        <p:xfrm>
          <a:off x="5626608" y="2822194"/>
          <a:ext cx="4047744" cy="180873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700052"/>
                <a:gridCol w="1092891"/>
                <a:gridCol w="1254801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Input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Value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Source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Cash and short-term inv., Jun 2026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$131.651bn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S-1, balance sheet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Debt deducted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None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Assumption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Fully diluted shares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16.94bn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H&amp;R, from the S-1's 5%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Series H / Series G per common share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$58.90 / $25.91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H&amp;R, S-1 price / 10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Q2 2026 revenue x4 / H1 2026 x2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$46.2bn / $32.6bn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H&amp;R annualisation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Q2 2026 adj. op. income x4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$8.9bn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H&amp;R annualisation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EV / revenue multiples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15x to 30x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Assumption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EV / adj. op. income multiples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80x to 120x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Assumption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Illustrative equity value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$850bn to $1,050bn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Assumption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in_fn"/>
          <p:cNvSpPr/>
          <p:nvPr/>
        </p:nvSpPr>
        <p:spPr>
          <a:xfrm>
            <a:off x="5626608" y="4658360"/>
            <a:ext cx="4047744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No debt is deducted: the $6.2bn principal of Amazon notes ($108.6bn convertible notes at fair value)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is counted as converting in the fully diluted shares. Notes Amazon's 12% cap keeps from converting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would stay outstanding as debt; $443m of finance lease liabilities is also not deducted.</a:t>
            </a:r>
          </a:p>
        </p:txBody>
      </p:sp>
      <p:sp>
        <p:nvSpPr>
          <p:cNvPr id="19" name="im_h"/>
          <p:cNvSpPr/>
          <p:nvPr/>
        </p:nvSpPr>
        <p:spPr>
          <a:xfrm>
            <a:off x="5626608" y="5005832"/>
            <a:ext cx="404774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What the illustrative range implies</a:t>
            </a:r>
          </a:p>
        </p:txBody>
      </p:sp>
      <p:sp>
        <p:nvSpPr>
          <p:cNvPr id="20" name="im_u"/>
          <p:cNvSpPr/>
          <p:nvPr/>
        </p:nvSpPr>
        <p:spPr>
          <a:xfrm>
            <a:off x="5626608" y="5170424"/>
            <a:ext cx="404774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Enterprise value $718.3bn to $918.3bn against each base</a:t>
            </a:r>
          </a:p>
        </p:txBody>
      </p:sp>
      <p:graphicFrame>
        <p:nvGraphicFramePr>
          <p:cNvPr id="21" name="im"/>
          <p:cNvGraphicFramePr>
            <a:graphicFrameLocks noGrp="1"/>
          </p:cNvGraphicFramePr>
          <p:nvPr/>
        </p:nvGraphicFramePr>
        <p:xfrm>
          <a:off x="5626608" y="5304536"/>
          <a:ext cx="4047744" cy="101650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023872"/>
                <a:gridCol w="1011936"/>
                <a:gridCol w="1011936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Base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Low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High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EV / TTM revenue to Jun 2026 ($19.7bn)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36.4x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46.6x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EV / H1 2026 revenue x2 ($32.6bn)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22.1x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28.2x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EV / Q2 2026 revenue x4 ($46.2bn)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15.5x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19.9x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EV / Q2 2026 adj. op. income x4 ($8.9bn)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80.4x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102.7x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Equity value against the Series H mark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(14.8%)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+5.3%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take-fill"/>
          <p:cNvSpPr/>
          <p:nvPr/>
        </p:nvSpPr>
        <p:spPr>
          <a:xfrm>
            <a:off x="384048" y="6817360"/>
            <a:ext cx="9290304" cy="470408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ake_h"/>
          <p:cNvSpPr/>
          <p:nvPr/>
        </p:nvSpPr>
        <p:spPr>
          <a:xfrm>
            <a:off x="438912" y="6872224"/>
            <a:ext cx="1452799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Halden &amp; Rowe view</a:t>
            </a:r>
          </a:p>
        </p:txBody>
      </p:sp>
      <p:sp>
        <p:nvSpPr>
          <p:cNvPr id="24" name="take_t"/>
          <p:cNvSpPr/>
          <p:nvPr/>
        </p:nvSpPr>
        <p:spPr>
          <a:xfrm>
            <a:off x="1992295" y="6872224"/>
            <a:ext cx="7627193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The three revenue and income methods overlap between $846.9bn and $1,108.8bn; the illustrative range of $850bn to $1,050bn ($50.19 to $62.00 a share) holds the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Series H price on today's fully diluted count ($997.6bn), so pricing between that and $1,050bn would be an up-round for Series H investors without relying on the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highest multiples.</a:t>
            </a:r>
          </a:p>
        </p:txBody>
      </p:sp>
      <p:sp>
        <p:nvSpPr>
          <p:cNvPr id="25" name="refnote-box"/>
          <p:cNvSpPr/>
          <p:nvPr/>
        </p:nvSpPr>
        <p:spPr>
          <a:xfrm>
            <a:off x="3074681" y="1522654"/>
            <a:ext cx="1651690" cy="161544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fnote-label"/>
          <p:cNvSpPr/>
          <p:nvPr/>
        </p:nvSpPr>
        <p:spPr>
          <a:xfrm>
            <a:off x="3102113" y="1550086"/>
            <a:ext cx="1596826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946500"/>
                </a:solidFill>
                <a:latin typeface="Liberation Sans"/>
              </a:rPr>
              <a:t>Illustrative range $850bn to $1,050bn</a:t>
            </a:r>
          </a:p>
        </p:txBody>
      </p:sp>
      <p:cxnSp>
        <p:nvCxnSpPr>
          <p:cNvPr id="27" name="refnote-leader"/>
          <p:cNvCxnSpPr/>
          <p:nvPr/>
        </p:nvCxnSpPr>
        <p:spPr>
          <a:xfrm>
            <a:off x="3900526" y="1684198"/>
            <a:ext cx="0" cy="27432"/>
          </a:xfrm>
          <a:prstGeom prst="line">
            <a:avLst/>
          </a:prstGeom>
          <a:ln w="9525">
            <a:solidFill>
              <a:srgbClr val="C3CAD4"/>
            </a:solidFill>
          </a:ln>
        </p:spPr>
      </p:cxn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7" name="chrome-1"/>
          <p:cNvCxnSpPr/>
          <p:nvPr/>
        </p:nvCxnSpPr>
        <p:spPr>
          <a:xfrm>
            <a:off x="384048" y="900684"/>
            <a:ext cx="9290304" cy="0"/>
          </a:xfrm>
          <a:prstGeom prst="line">
            <a:avLst/>
          </a:prstGeom>
          <a:ln w="12700">
            <a:solidFill>
              <a:srgbClr val="1B2F55"/>
            </a:solidFill>
          </a:ln>
        </p:spPr>
      </p:cxnSp>
      <p:sp>
        <p:nvSpPr>
          <p:cNvPr id="38" name="chrome-2"/>
          <p:cNvSpPr txBox="1"/>
          <p:nvPr/>
        </p:nvSpPr>
        <p:spPr>
          <a:xfrm>
            <a:off x="6967728" y="109728"/>
            <a:ext cx="270662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1B2F55"/>
                </a:solidFill>
                <a:latin typeface="Liberation Sans"/>
              </a:rPr>
              <a:t>HALDEN &amp; ROWE | IPO discussion materials | October 2026</a:t>
            </a:r>
          </a:p>
        </p:txBody>
      </p:sp>
      <p:cxnSp>
        <p:nvCxnSpPr>
          <p:cNvPr id="39" name="chrome-3"/>
          <p:cNvCxnSpPr/>
          <p:nvPr/>
        </p:nvCxnSpPr>
        <p:spPr>
          <a:xfrm>
            <a:off x="384048" y="7317486"/>
            <a:ext cx="9290304" cy="0"/>
          </a:xfrm>
          <a:prstGeom prst="line">
            <a:avLst/>
          </a:prstGeom>
          <a:ln w="6350">
            <a:solidFill>
              <a:srgbClr val="C3CAD4"/>
            </a:solidFill>
          </a:ln>
        </p:spPr>
      </p:cxnSp>
      <p:sp>
        <p:nvSpPr>
          <p:cNvPr id="40" name="chrome-4"/>
          <p:cNvSpPr txBox="1"/>
          <p:nvPr/>
        </p:nvSpPr>
        <p:spPr>
          <a:xfrm>
            <a:off x="384048" y="7370064"/>
            <a:ext cx="877824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55D6B"/>
                </a:solidFill>
                <a:latin typeface="Liberation Sans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" name="kicker"/>
          <p:cNvSpPr/>
          <p:nvPr/>
        </p:nvSpPr>
        <p:spPr>
          <a:xfrm>
            <a:off x="384048" y="384048"/>
            <a:ext cx="92903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2F55"/>
                </a:solidFill>
                <a:latin typeface="Liberation Sans"/>
              </a:rPr>
              <a:t>10 | OFFERING STRUCTURE AND GOVERNANCE</a:t>
            </a:r>
          </a:p>
        </p:txBody>
      </p:sp>
      <p:sp>
        <p:nvSpPr>
          <p:cNvPr id="3" name="title"/>
          <p:cNvSpPr/>
          <p:nvPr/>
        </p:nvSpPr>
        <p:spPr>
          <a:xfrm>
            <a:off x="384048" y="525780"/>
            <a:ext cx="9290304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6181D"/>
                </a:solidFill>
                <a:latin typeface="Liberation Sans"/>
              </a:rPr>
              <a:t>Offering structure and governance</a:t>
            </a:r>
          </a:p>
        </p:txBody>
      </p:sp>
      <p:sp>
        <p:nvSpPr>
          <p:cNvPr id="4" name="sh_h"/>
          <p:cNvSpPr/>
          <p:nvPr/>
        </p:nvSpPr>
        <p:spPr>
          <a:xfrm>
            <a:off x="384048" y="950976"/>
            <a:ext cx="4871413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Share classes after the offering</a:t>
            </a:r>
          </a:p>
        </p:txBody>
      </p:sp>
      <p:sp>
        <p:nvSpPr>
          <p:cNvPr id="5" name="sh_u"/>
          <p:cNvSpPr/>
          <p:nvPr/>
        </p:nvSpPr>
        <p:spPr>
          <a:xfrm>
            <a:off x="384048" y="1115568"/>
            <a:ext cx="4871413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Rights of each class as described in the S-1; Class A is the class offered</a:t>
            </a:r>
          </a:p>
        </p:txBody>
      </p:sp>
      <p:graphicFrame>
        <p:nvGraphicFramePr>
          <p:cNvPr id="6" name="sh"/>
          <p:cNvGraphicFramePr>
            <a:graphicFrameLocks noGrp="1"/>
          </p:cNvGraphicFramePr>
          <p:nvPr/>
        </p:nvGraphicFramePr>
        <p:xfrm>
          <a:off x="384048" y="1249680"/>
          <a:ext cx="4871413" cy="141986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681998"/>
                <a:gridCol w="779426"/>
                <a:gridCol w="974283"/>
                <a:gridCol w="925568"/>
                <a:gridCol w="779426"/>
                <a:gridCol w="730712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Class A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Class 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Class 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Class F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Class 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398526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Votes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1 per share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None, unless law requires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Elects Class T directors, a board majority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50.1% of all votes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Limited matters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Economics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Pro rata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Pro rata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Par value only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Par value only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Par value only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Held by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IPO investors and holders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Strategic partners; Benefit Fund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LTBT, 1 share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Founder LLC, 1 share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None at IPO; for employees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398526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Transfer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Free; not convertible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To Class A on sale to an unaffiliated party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Needs Trust Amendment approval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Not transferable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Not transferable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sh_s"/>
          <p:cNvSpPr/>
          <p:nvPr/>
        </p:nvSpPr>
        <p:spPr>
          <a:xfrm>
            <a:off x="384048" y="2696972"/>
            <a:ext cx="4871413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Prospectus Summary, Our Capital Structure; Description of Capital Stock.</a:t>
            </a:r>
          </a:p>
        </p:txBody>
      </p:sp>
      <p:sp>
        <p:nvSpPr>
          <p:cNvPr id="8" name="ot_h"/>
          <p:cNvSpPr/>
          <p:nvPr/>
        </p:nvSpPr>
        <p:spPr>
          <a:xfrm>
            <a:off x="384048" y="2831084"/>
            <a:ext cx="4871413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Offering and governance terms that shape demand</a:t>
            </a:r>
          </a:p>
        </p:txBody>
      </p:sp>
      <p:sp>
        <p:nvSpPr>
          <p:cNvPr id="9" name="ot_u"/>
          <p:cNvSpPr/>
          <p:nvPr/>
        </p:nvSpPr>
        <p:spPr>
          <a:xfrm>
            <a:off x="384048" y="2995676"/>
            <a:ext cx="4871413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As stated in the S-1</a:t>
            </a:r>
          </a:p>
        </p:txBody>
      </p:sp>
      <p:graphicFrame>
        <p:nvGraphicFramePr>
          <p:cNvPr id="10" name="ot"/>
          <p:cNvGraphicFramePr>
            <a:graphicFrameLocks noGrp="1"/>
          </p:cNvGraphicFramePr>
          <p:nvPr/>
        </p:nvGraphicFramePr>
        <p:xfrm>
          <a:off x="384048" y="3129788"/>
          <a:ext cx="4871413" cy="181356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266567"/>
                <a:gridCol w="3604846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Term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Detail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Controlled company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LTBT can elect a board majority; Nasdaq exemption used only for the nominating committee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Public benefit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846,840,960 Class N (5% of FD) to the Public Benefit Fund; the board may issue up to 2% more per 50% price rise held 90 of 120 days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Concurrent placement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Google may buy up to $10.0bn of Class N at the IPO price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Amazon notes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$6.2bn convert to Class N at IPO, subject to a 12% ownership cap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Founders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Each co-founder has pledged 80% of personal equity to philanthropy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Company lock-up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No Class A or N issuance to Q1 2027 results or day 180 without consent, with exceptions: NPAs, donation matching, Google placement, equity plans, acquisitions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Listing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Nasdaq, "ANT"; also offered publicly in Australia, Canada, certain EEA states, Japan, Switzerland, UK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ot_s"/>
          <p:cNvSpPr/>
          <p:nvPr/>
        </p:nvSpPr>
        <p:spPr>
          <a:xfrm>
            <a:off x="384048" y="4970780"/>
            <a:ext cx="4871413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Prospectus Summary; Our Governance Structure and Its Goals; MD&amp;A, Convertible Notes; Underwriting.</a:t>
            </a:r>
          </a:p>
        </p:txBody>
      </p:sp>
      <p:sp>
        <p:nvSpPr>
          <p:cNvPr id="12" name="lg_h"/>
          <p:cNvSpPr/>
          <p:nvPr/>
        </p:nvSpPr>
        <p:spPr>
          <a:xfrm>
            <a:off x="384048" y="5104892"/>
            <a:ext cx="4871413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Who can sell when: the four lock-up groups</a:t>
            </a:r>
          </a:p>
        </p:txBody>
      </p:sp>
      <p:sp>
        <p:nvSpPr>
          <p:cNvPr id="13" name="lg_u"/>
          <p:cNvSpPr/>
          <p:nvPr/>
        </p:nvSpPr>
        <p:spPr>
          <a:xfrm>
            <a:off x="384048" y="5269484"/>
            <a:ext cx="4871413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% of each group's lock-up securities, as the S-1 states the releases</a:t>
            </a:r>
          </a:p>
        </p:txBody>
      </p:sp>
      <p:graphicFrame>
        <p:nvGraphicFramePr>
          <p:cNvPr id="14" name="lg"/>
          <p:cNvGraphicFramePr>
            <a:graphicFrameLocks noGrp="1"/>
          </p:cNvGraphicFramePr>
          <p:nvPr/>
        </p:nvGraphicFramePr>
        <p:xfrm>
          <a:off x="384048" y="5403596"/>
          <a:ext cx="4871413" cy="119075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315282"/>
                <a:gridCol w="2192136"/>
                <a:gridCol w="1363995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Group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Early releases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Lock-up ends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Officers, non-founder directors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10% from the first trading day; 35% more after FY2026 results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Q1 2027 results or day 180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Certain holders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6%, 6%, 7%, 7% on days 27 to 76; 12.5% after FY2026 results, then 9.5% five times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Q1 2027 results or day 180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Certain holders over 0.5%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1.8% to 7.0% steps from day 27 to Q2 2027 results, then 6.3% x5 to 83 days after: 90.9%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Q3 2027 results or day 365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Founders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29% at Q1 2027 results or day 180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Q3 2027 results or day 365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lk_h"/>
          <p:cNvSpPr/>
          <p:nvPr/>
        </p:nvSpPr>
        <p:spPr>
          <a:xfrm>
            <a:off x="5438341" y="950976"/>
            <a:ext cx="42360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Lock-up: share of each group's locked securities eligible for sale</a:t>
            </a:r>
          </a:p>
        </p:txBody>
      </p:sp>
      <p:sp>
        <p:nvSpPr>
          <p:cNvPr id="16" name="lk_u"/>
          <p:cNvSpPr/>
          <p:nvPr/>
        </p:nvSpPr>
        <p:spPr>
          <a:xfrm>
            <a:off x="5438341" y="1115568"/>
            <a:ext cx="4236011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Cumulative %, days after the prospectus date; release sizes from the S-1; results dates (ochre lines) are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Halden &amp; Rowe assumptions</a:t>
            </a:r>
          </a:p>
        </p:txBody>
      </p:sp>
      <p:graphicFrame>
        <p:nvGraphicFramePr>
          <p:cNvPr id="17" name="lk"/>
          <p:cNvGraphicFramePr>
            <a:graphicFrameLocks noGrp="1"/>
          </p:cNvGraphicFramePr>
          <p:nvPr/>
        </p:nvGraphicFramePr>
        <p:xfrm>
          <a:off x="5438341" y="1356360"/>
          <a:ext cx="4236011" cy="46045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lk_fn"/>
          <p:cNvSpPr/>
          <p:nvPr/>
        </p:nvSpPr>
        <p:spPr>
          <a:xfrm>
            <a:off x="5438341" y="5988304"/>
            <a:ext cx="4236011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Assumed results dates (ochre): FY2026 on day 77, Q1 2027 day 154, Q2 2027 day 245, Q3 2027 day 336;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releases follow on the second full trading day after, taken as two days. Outer limits: day 180 (Q1 2027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gate) and day 365 (Q3 2027 gate). Releases due on a non-trading day are plotted on the next trading day,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as the S-1 provides: days 27, 48, 62 and 76 fall on days 28, 49, 64, 77. Each line ends when its group is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fully released. The representatives may release shares early.</a:t>
            </a:r>
          </a:p>
        </p:txBody>
      </p:sp>
      <p:sp>
        <p:nvSpPr>
          <p:cNvPr id="19" name="lk_s"/>
          <p:cNvSpPr/>
          <p:nvPr/>
        </p:nvSpPr>
        <p:spPr>
          <a:xfrm>
            <a:off x="5438341" y="6549136"/>
            <a:ext cx="4236011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Underwriting, Lock-Up and Market Standoff Agreements; percentages per group as stated,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cumulated by Halden &amp; Rowe.</a:t>
            </a:r>
          </a:p>
        </p:txBody>
      </p:sp>
      <p:sp>
        <p:nvSpPr>
          <p:cNvPr id="20" name="take-fill"/>
          <p:cNvSpPr/>
          <p:nvPr/>
        </p:nvSpPr>
        <p:spPr>
          <a:xfrm>
            <a:off x="384048" y="6817360"/>
            <a:ext cx="9290304" cy="470408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_h"/>
          <p:cNvSpPr/>
          <p:nvPr/>
        </p:nvSpPr>
        <p:spPr>
          <a:xfrm>
            <a:off x="438912" y="6872224"/>
            <a:ext cx="1452799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6181D"/>
                </a:solidFill>
                <a:latin typeface="Liberation Sans"/>
              </a:rPr>
              <a:t>Halden &amp; Rowe view</a:t>
            </a:r>
          </a:p>
        </p:txBody>
      </p:sp>
      <p:sp>
        <p:nvSpPr>
          <p:cNvPr id="22" name="take_t"/>
          <p:cNvSpPr/>
          <p:nvPr/>
        </p:nvSpPr>
        <p:spPr>
          <a:xfrm>
            <a:off x="1992295" y="6872224"/>
            <a:ext cx="7627193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Governance is the second debate after compute: Class A carries economics but not control. We would lead with the structure and size the deal against each group's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unlocks: officers may sell 10% from the first trading day and certain holders reach 26% by day 77; holders over 0.5% reach 30.0% at the Q1 2027 gate and 90.9% by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day 329; only founders stay largely locked (71%) to Q3 2027 results or day 365.</a:t>
            </a:r>
          </a:p>
        </p:txBody>
      </p:sp>
      <p:sp>
        <p:nvSpPr>
          <p:cNvPr id="23" name="end1-box"/>
          <p:cNvSpPr/>
          <p:nvPr/>
        </p:nvSpPr>
        <p:spPr>
          <a:xfrm>
            <a:off x="7421620" y="2153952"/>
            <a:ext cx="806879" cy="481584"/>
          </a:xfrm>
          <a:prstGeom prst="rect">
            <a:avLst/>
          </a:prstGeom>
          <a:solidFill>
            <a:srgbClr val="FFFFFF"/>
          </a:solidFill>
          <a:ln w="6350">
            <a:solidFill>
              <a:srgbClr val="555D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end1-label"/>
          <p:cNvSpPr/>
          <p:nvPr/>
        </p:nvSpPr>
        <p:spPr>
          <a:xfrm>
            <a:off x="7449052" y="2181384"/>
            <a:ext cx="752015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Day 156: officers</a:t>
            </a:r>
            <a:br/>
            <a:r>
              <a:rPr sz="700" b="1" i="0">
                <a:solidFill>
                  <a:srgbClr val="16181D"/>
                </a:solidFill>
                <a:latin typeface="Liberation Sans"/>
              </a:rPr>
              <a:t>and certain</a:t>
            </a:r>
            <a:br/>
            <a:r>
              <a:rPr sz="700" b="1" i="0">
                <a:solidFill>
                  <a:srgbClr val="16181D"/>
                </a:solidFill>
                <a:latin typeface="Liberation Sans"/>
              </a:rPr>
              <a:t>holders fully</a:t>
            </a:r>
            <a:br/>
            <a:r>
              <a:rPr sz="700" b="1" i="0">
                <a:solidFill>
                  <a:srgbClr val="16181D"/>
                </a:solidFill>
                <a:latin typeface="Liberation Sans"/>
              </a:rPr>
              <a:t>released</a:t>
            </a:r>
          </a:p>
        </p:txBody>
      </p:sp>
      <p:cxnSp>
        <p:nvCxnSpPr>
          <p:cNvPr id="25" name="end1-leader"/>
          <p:cNvCxnSpPr/>
          <p:nvPr/>
        </p:nvCxnSpPr>
        <p:spPr>
          <a:xfrm flipH="1" flipV="1">
            <a:off x="7366756" y="2099088"/>
            <a:ext cx="54864" cy="54864"/>
          </a:xfrm>
          <a:prstGeom prst="line">
            <a:avLst/>
          </a:prstGeom>
          <a:ln w="6350">
            <a:solidFill>
              <a:srgbClr val="555D6B"/>
            </a:solidFill>
          </a:ln>
        </p:spPr>
      </p:cxnSp>
      <p:sp>
        <p:nvSpPr>
          <p:cNvPr id="26" name="end2-box"/>
          <p:cNvSpPr/>
          <p:nvPr/>
        </p:nvSpPr>
        <p:spPr>
          <a:xfrm>
            <a:off x="8289062" y="3445910"/>
            <a:ext cx="877287" cy="588264"/>
          </a:xfrm>
          <a:prstGeom prst="rect">
            <a:avLst/>
          </a:prstGeom>
          <a:solidFill>
            <a:srgbClr val="FFFFFF"/>
          </a:solidFill>
          <a:ln w="6350">
            <a:solidFill>
              <a:srgbClr val="555D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end2-label"/>
          <p:cNvSpPr/>
          <p:nvPr/>
        </p:nvSpPr>
        <p:spPr>
          <a:xfrm>
            <a:off x="8316494" y="3473342"/>
            <a:ext cx="822423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16181D"/>
                </a:solidFill>
                <a:latin typeface="Liberation Sans"/>
              </a:rPr>
              <a:t>Day 338:</a:t>
            </a:r>
            <a:br/>
            <a:r>
              <a:rPr sz="700" b="1" i="0">
                <a:solidFill>
                  <a:srgbClr val="16181D"/>
                </a:solidFill>
                <a:latin typeface="Liberation Sans"/>
              </a:rPr>
              <a:t>founders' last 71%</a:t>
            </a:r>
            <a:br/>
            <a:r>
              <a:rPr sz="700" b="1" i="0">
                <a:solidFill>
                  <a:srgbClr val="16181D"/>
                </a:solidFill>
                <a:latin typeface="Liberation Sans"/>
              </a:rPr>
              <a:t>and the over-0.5%</a:t>
            </a:r>
            <a:br/>
            <a:r>
              <a:rPr sz="700" b="1" i="0">
                <a:solidFill>
                  <a:srgbClr val="16181D"/>
                </a:solidFill>
                <a:latin typeface="Liberation Sans"/>
              </a:rPr>
              <a:t>holders' last 9.1%</a:t>
            </a:r>
            <a:br/>
            <a:r>
              <a:rPr sz="700" b="1" i="0">
                <a:solidFill>
                  <a:srgbClr val="16181D"/>
                </a:solidFill>
                <a:latin typeface="Liberation Sans"/>
              </a:rPr>
              <a:t>released</a:t>
            </a:r>
          </a:p>
        </p:txBody>
      </p:sp>
      <p:cxnSp>
        <p:nvCxnSpPr>
          <p:cNvPr id="28" name="end2-leader"/>
          <p:cNvCxnSpPr/>
          <p:nvPr/>
        </p:nvCxnSpPr>
        <p:spPr>
          <a:xfrm>
            <a:off x="9166349" y="4034174"/>
            <a:ext cx="54864" cy="54864"/>
          </a:xfrm>
          <a:prstGeom prst="line">
            <a:avLst/>
          </a:prstGeom>
          <a:ln w="6350">
            <a:solidFill>
              <a:srgbClr val="555D6B"/>
            </a:solidFill>
          </a:ln>
        </p:spPr>
      </p:cxnSp>
      <p:cxnSp>
        <p:nvCxnSpPr>
          <p:cNvPr id="29" name="cal0-line"/>
          <p:cNvCxnSpPr/>
          <p:nvPr/>
        </p:nvCxnSpPr>
        <p:spPr>
          <a:xfrm flipV="1">
            <a:off x="6561800" y="1678676"/>
            <a:ext cx="0" cy="3223158"/>
          </a:xfrm>
          <a:prstGeom prst="line">
            <a:avLst/>
          </a:prstGeom>
          <a:ln w="9525">
            <a:solidFill>
              <a:srgbClr val="946500"/>
            </a:solidFill>
            <a:prstDash val="dash"/>
          </a:ln>
        </p:spPr>
      </p:cxnSp>
      <p:sp>
        <p:nvSpPr>
          <p:cNvPr id="30" name="cal0-label"/>
          <p:cNvSpPr/>
          <p:nvPr/>
        </p:nvSpPr>
        <p:spPr>
          <a:xfrm>
            <a:off x="5992620" y="1678676"/>
            <a:ext cx="56918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946500"/>
                </a:solidFill>
                <a:latin typeface="Liberation Sans"/>
              </a:rPr>
              <a:t>FY26 results</a:t>
            </a:r>
          </a:p>
        </p:txBody>
      </p:sp>
      <p:cxnSp>
        <p:nvCxnSpPr>
          <p:cNvPr id="31" name="cal1-line"/>
          <p:cNvCxnSpPr/>
          <p:nvPr/>
        </p:nvCxnSpPr>
        <p:spPr>
          <a:xfrm flipV="1">
            <a:off x="7346378" y="1678676"/>
            <a:ext cx="0" cy="3223158"/>
          </a:xfrm>
          <a:prstGeom prst="line">
            <a:avLst/>
          </a:prstGeom>
          <a:ln w="9525">
            <a:solidFill>
              <a:srgbClr val="946500"/>
            </a:solidFill>
            <a:prstDash val="dash"/>
          </a:ln>
        </p:spPr>
      </p:cxnSp>
      <p:sp>
        <p:nvSpPr>
          <p:cNvPr id="32" name="cal1-label"/>
          <p:cNvSpPr/>
          <p:nvPr/>
        </p:nvSpPr>
        <p:spPr>
          <a:xfrm>
            <a:off x="6747507" y="1678676"/>
            <a:ext cx="598871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946500"/>
                </a:solidFill>
                <a:latin typeface="Liberation Sans"/>
              </a:rPr>
              <a:t>Q1 27 results</a:t>
            </a:r>
          </a:p>
        </p:txBody>
      </p:sp>
      <p:cxnSp>
        <p:nvCxnSpPr>
          <p:cNvPr id="33" name="cal2-line"/>
          <p:cNvCxnSpPr/>
          <p:nvPr/>
        </p:nvCxnSpPr>
        <p:spPr>
          <a:xfrm flipV="1">
            <a:off x="8273606" y="1678676"/>
            <a:ext cx="0" cy="3223158"/>
          </a:xfrm>
          <a:prstGeom prst="line">
            <a:avLst/>
          </a:prstGeom>
          <a:ln w="9525">
            <a:solidFill>
              <a:srgbClr val="946500"/>
            </a:solidFill>
            <a:prstDash val="dash"/>
          </a:ln>
        </p:spPr>
      </p:cxnSp>
      <p:sp>
        <p:nvSpPr>
          <p:cNvPr id="34" name="cal2-label"/>
          <p:cNvSpPr/>
          <p:nvPr/>
        </p:nvSpPr>
        <p:spPr>
          <a:xfrm>
            <a:off x="7674735" y="1678676"/>
            <a:ext cx="598871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946500"/>
                </a:solidFill>
                <a:latin typeface="Liberation Sans"/>
              </a:rPr>
              <a:t>Q2 27 results</a:t>
            </a:r>
          </a:p>
        </p:txBody>
      </p:sp>
      <p:cxnSp>
        <p:nvCxnSpPr>
          <p:cNvPr id="35" name="cal3-line"/>
          <p:cNvCxnSpPr/>
          <p:nvPr/>
        </p:nvCxnSpPr>
        <p:spPr>
          <a:xfrm flipV="1">
            <a:off x="9200835" y="1678676"/>
            <a:ext cx="0" cy="3223158"/>
          </a:xfrm>
          <a:prstGeom prst="line">
            <a:avLst/>
          </a:prstGeom>
          <a:ln w="9525">
            <a:solidFill>
              <a:srgbClr val="946500"/>
            </a:solidFill>
            <a:prstDash val="dash"/>
          </a:ln>
        </p:spPr>
      </p:cxnSp>
      <p:sp>
        <p:nvSpPr>
          <p:cNvPr id="36" name="cal3-label"/>
          <p:cNvSpPr/>
          <p:nvPr/>
        </p:nvSpPr>
        <p:spPr>
          <a:xfrm>
            <a:off x="8601964" y="1678676"/>
            <a:ext cx="598871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946500"/>
                </a:solidFill>
                <a:latin typeface="Liberation Sans"/>
              </a:rPr>
              <a:t>Q3 27 results</a:t>
            </a: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3" name="chrome-1"/>
          <p:cNvCxnSpPr/>
          <p:nvPr/>
        </p:nvCxnSpPr>
        <p:spPr>
          <a:xfrm>
            <a:off x="384048" y="900684"/>
            <a:ext cx="9290304" cy="0"/>
          </a:xfrm>
          <a:prstGeom prst="line">
            <a:avLst/>
          </a:prstGeom>
          <a:ln w="12700">
            <a:solidFill>
              <a:srgbClr val="1B2F55"/>
            </a:solidFill>
          </a:ln>
        </p:spPr>
      </p:cxnSp>
      <p:sp>
        <p:nvSpPr>
          <p:cNvPr id="24" name="chrome-2"/>
          <p:cNvSpPr txBox="1"/>
          <p:nvPr/>
        </p:nvSpPr>
        <p:spPr>
          <a:xfrm>
            <a:off x="6967728" y="109728"/>
            <a:ext cx="270662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1">
                <a:solidFill>
                  <a:srgbClr val="1B2F55"/>
                </a:solidFill>
                <a:latin typeface="Liberation Sans"/>
              </a:rPr>
              <a:t>HALDEN &amp; ROWE | IPO discussion materials | October 2026</a:t>
            </a:r>
          </a:p>
        </p:txBody>
      </p:sp>
      <p:cxnSp>
        <p:nvCxnSpPr>
          <p:cNvPr id="25" name="chrome-3"/>
          <p:cNvCxnSpPr/>
          <p:nvPr/>
        </p:nvCxnSpPr>
        <p:spPr>
          <a:xfrm>
            <a:off x="384048" y="7317486"/>
            <a:ext cx="9290304" cy="0"/>
          </a:xfrm>
          <a:prstGeom prst="line">
            <a:avLst/>
          </a:prstGeom>
          <a:ln w="6350">
            <a:solidFill>
              <a:srgbClr val="C3CAD4"/>
            </a:solidFill>
          </a:ln>
        </p:spPr>
      </p:cxnSp>
      <p:sp>
        <p:nvSpPr>
          <p:cNvPr id="26" name="chrome-4"/>
          <p:cNvSpPr txBox="1"/>
          <p:nvPr/>
        </p:nvSpPr>
        <p:spPr>
          <a:xfrm>
            <a:off x="384048" y="7370064"/>
            <a:ext cx="877824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55D6B"/>
                </a:solidFill>
                <a:latin typeface="Liberation Sans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" name="kicker"/>
          <p:cNvSpPr/>
          <p:nvPr/>
        </p:nvSpPr>
        <p:spPr>
          <a:xfrm>
            <a:off x="384048" y="384048"/>
            <a:ext cx="92903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B2F55"/>
                </a:solidFill>
                <a:latin typeface="Liberation Sans"/>
              </a:rPr>
              <a:t>11 | PROCESS TIMETABLE AND WHY HALDEN &amp; ROWE</a:t>
            </a:r>
          </a:p>
        </p:txBody>
      </p:sp>
      <p:sp>
        <p:nvSpPr>
          <p:cNvPr id="3" name="title"/>
          <p:cNvSpPr/>
          <p:nvPr/>
        </p:nvSpPr>
        <p:spPr>
          <a:xfrm>
            <a:off x="384048" y="525780"/>
            <a:ext cx="9290304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6181D"/>
                </a:solidFill>
                <a:latin typeface="Liberation Sans"/>
              </a:rPr>
              <a:t>Process timetable and why Halden &amp; Rowe</a:t>
            </a:r>
          </a:p>
        </p:txBody>
      </p:sp>
      <p:sp>
        <p:nvSpPr>
          <p:cNvPr id="4" name="g_h"/>
          <p:cNvSpPr/>
          <p:nvPr/>
        </p:nvSpPr>
        <p:spPr>
          <a:xfrm>
            <a:off x="384048" y="950976"/>
            <a:ext cx="4967686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Illustrative timetable from the public filing to first trading</a:t>
            </a:r>
          </a:p>
        </p:txBody>
      </p:sp>
      <p:sp>
        <p:nvSpPr>
          <p:cNvPr id="5" name="g_u"/>
          <p:cNvSpPr/>
          <p:nvPr/>
        </p:nvSpPr>
        <p:spPr>
          <a:xfrm>
            <a:off x="384048" y="1115568"/>
            <a:ext cx="4967686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Weeks from 26 October 2026; navy: S-1 fact; ochre: Halden &amp; Rowe assumption</a:t>
            </a:r>
          </a:p>
        </p:txBody>
      </p:sp>
      <p:graphicFrame>
        <p:nvGraphicFramePr>
          <p:cNvPr id="6" name="g"/>
          <p:cNvGraphicFramePr>
            <a:graphicFrameLocks noGrp="1"/>
          </p:cNvGraphicFramePr>
          <p:nvPr/>
        </p:nvGraphicFramePr>
        <p:xfrm>
          <a:off x="384048" y="1249680"/>
          <a:ext cx="4967686" cy="361365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g_fn"/>
          <p:cNvSpPr/>
          <p:nvPr/>
        </p:nvSpPr>
        <p:spPr>
          <a:xfrm>
            <a:off x="384048" y="4890770"/>
            <a:ext cx="4967686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Every span except the filing is an illustrative assumption, with pricing and the prospectus dated Monday 14 Dec 2026. Day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counts are the S-1's, counted from that date: trading opens on the first trading day after it (15 Dec); the 30-day over-allotment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option runs to 13 Jan; day 27 (10 Jan 2027) is a Sunday, so the S-1 moves that release to the next trading day, 11 Jan.</a:t>
            </a:r>
          </a:p>
        </p:txBody>
      </p:sp>
      <p:sp>
        <p:nvSpPr>
          <p:cNvPr id="8" name="why_h"/>
          <p:cNvSpPr/>
          <p:nvPr/>
        </p:nvSpPr>
        <p:spPr>
          <a:xfrm>
            <a:off x="5534614" y="950976"/>
            <a:ext cx="413973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Why Halden &amp; Rowe</a:t>
            </a:r>
          </a:p>
        </p:txBody>
      </p:sp>
      <p:sp>
        <p:nvSpPr>
          <p:cNvPr id="9" name="why_u"/>
          <p:cNvSpPr/>
          <p:nvPr/>
        </p:nvSpPr>
        <p:spPr>
          <a:xfrm>
            <a:off x="5534614" y="1115568"/>
            <a:ext cx="4139738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What we would commit to; credentials omitted: the bank is fictional and has no record to cite</a:t>
            </a:r>
          </a:p>
        </p:txBody>
      </p:sp>
      <p:sp>
        <p:nvSpPr>
          <p:cNvPr id="10" name="w1"/>
          <p:cNvSpPr/>
          <p:nvPr/>
        </p:nvSpPr>
        <p:spPr>
          <a:xfrm>
            <a:off x="5534614" y="1249680"/>
            <a:ext cx="4139738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One story for four tests: growth durability, compute, governance and revenue quality,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each answered from the S-1's own figures.</a:t>
            </a:r>
          </a:p>
        </p:txBody>
      </p:sp>
      <p:sp>
        <p:nvSpPr>
          <p:cNvPr id="11" name="w2"/>
          <p:cNvSpPr/>
          <p:nvPr/>
        </p:nvSpPr>
        <p:spPr>
          <a:xfrm>
            <a:off x="5534614" y="1526032"/>
            <a:ext cx="4139738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Investor education built on the compute ledger: minimums, lease rent, caps and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uncommitted capacity kept apart, and set against cash.</a:t>
            </a:r>
          </a:p>
        </p:txBody>
      </p:sp>
      <p:sp>
        <p:nvSpPr>
          <p:cNvPr id="12" name="w3"/>
          <p:cNvSpPr/>
          <p:nvPr/>
        </p:nvSpPr>
        <p:spPr>
          <a:xfrm>
            <a:off x="5534614" y="1802384"/>
            <a:ext cx="4139738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Book-building weighted to long-horizon holders who can own a PBC with an LTBT-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elected board.</a:t>
            </a:r>
          </a:p>
        </p:txBody>
      </p:sp>
      <p:sp>
        <p:nvSpPr>
          <p:cNvPr id="13" name="w4"/>
          <p:cNvSpPr/>
          <p:nvPr/>
        </p:nvSpPr>
        <p:spPr>
          <a:xfrm>
            <a:off x="5534614" y="2078736"/>
            <a:ext cx="4139738" cy="248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Aftermarket plan sized to each holder group's unlocks: 10% for officers from day 1,</a:t>
            </a:r>
            <a:br/>
            <a:r>
              <a:rPr sz="800" b="0" i="0">
                <a:solidFill>
                  <a:srgbClr val="16181D"/>
                </a:solidFill>
                <a:latin typeface="Liberation Sans"/>
              </a:rPr>
              <a:t>staged releases from day 27, founders to day 365.</a:t>
            </a:r>
          </a:p>
        </p:txBody>
      </p:sp>
      <p:sp>
        <p:nvSpPr>
          <p:cNvPr id="14" name="w5"/>
          <p:cNvSpPr/>
          <p:nvPr/>
        </p:nvSpPr>
        <p:spPr>
          <a:xfrm>
            <a:off x="5534614" y="2355088"/>
            <a:ext cx="413973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91440">
              <a:lnSpc>
                <a:spcPts val="880"/>
              </a:lnSpc>
              <a:spcBef>
                <a:spcPts val="0"/>
              </a:spcBef>
              <a:spcAft>
                <a:spcPts val="200"/>
              </a:spcAft>
              <a:buFont typeface="Liberation Sans"/>
              <a:buChar char="•"/>
            </a:pPr>
            <a:r>
              <a:rPr sz="800" b="0" i="0">
                <a:solidFill>
                  <a:srgbClr val="16181D"/>
                </a:solidFill>
                <a:latin typeface="Liberation Sans"/>
              </a:rPr>
              <a:t>Coordination with Google's concurrent placement and the Amazon note conversion.</a:t>
            </a:r>
          </a:p>
        </p:txBody>
      </p:sp>
      <p:sp>
        <p:nvSpPr>
          <p:cNvPr id="15" name="dt_h"/>
          <p:cNvSpPr/>
          <p:nvPr/>
        </p:nvSpPr>
        <p:spPr>
          <a:xfrm>
            <a:off x="5534614" y="2519680"/>
            <a:ext cx="4139738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Dates the S-1 fixes after pricing</a:t>
            </a:r>
          </a:p>
        </p:txBody>
      </p:sp>
      <p:sp>
        <p:nvSpPr>
          <p:cNvPr id="16" name="dt_u"/>
          <p:cNvSpPr/>
          <p:nvPr/>
        </p:nvSpPr>
        <p:spPr>
          <a:xfrm>
            <a:off x="5534614" y="2684272"/>
            <a:ext cx="4139738" cy="21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Days after the prospectus date, in date order; ochre: placed on the assumed calendar, rolled to trading</a:t>
            </a:r>
            <a:br/>
            <a:r>
              <a:rPr sz="700" b="0" i="0">
                <a:solidFill>
                  <a:srgbClr val="555D6B"/>
                </a:solidFill>
                <a:latin typeface="Liberation Sans"/>
              </a:rPr>
              <a:t>days</a:t>
            </a:r>
          </a:p>
        </p:txBody>
      </p:sp>
      <p:graphicFrame>
        <p:nvGraphicFramePr>
          <p:cNvPr id="17" name="dt"/>
          <p:cNvGraphicFramePr>
            <a:graphicFrameLocks noGrp="1"/>
          </p:cNvGraphicFramePr>
          <p:nvPr/>
        </p:nvGraphicFramePr>
        <p:xfrm>
          <a:off x="5534614" y="2925064"/>
          <a:ext cx="4139738" cy="169900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069869"/>
                <a:gridCol w="1159127"/>
                <a:gridCol w="910742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Event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S-1 timing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946500"/>
                          </a:solidFill>
                          <a:latin typeface="Liberation Sans"/>
                        </a:rPr>
                        <a:t>On our calendar</a:t>
                      </a:r>
                      <a:endParaRPr sz="750" b="1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Officers, directors: up to 10% sellable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Day 1, first trading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15 Dec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Dealer prospectus delivery ends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Day 25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8 Jan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Staged releases, certain holders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Days 27, 48, 62, 76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11 Jan, 1 Feb, 16 Feb, 1 Mar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Over-allotment option expires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Day 30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13 Jan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Further releases, incl. officers' 35%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After FY26 results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From day 79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Main lock-up ends; founders may sell 29%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Q1 27 results or day 180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Day 156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Founders, holders over 0.5%: lock-up ends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B2F55"/>
                          </a:solidFill>
                          <a:latin typeface="Liberation Sans"/>
                        </a:rPr>
                        <a:t>Q3 27 results or day 365</a:t>
                      </a:r>
                      <a:endParaRPr sz="750" b="1" i="0">
                        <a:solidFill>
                          <a:srgbClr val="1B2F55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946500"/>
                          </a:solidFill>
                          <a:latin typeface="Liberation Sans"/>
                        </a:rPr>
                        <a:t>Day 338</a:t>
                      </a:r>
                      <a:endParaRPr sz="750" b="0" i="0">
                        <a:solidFill>
                          <a:srgbClr val="946500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dt_s"/>
          <p:cNvSpPr/>
          <p:nvPr/>
        </p:nvSpPr>
        <p:spPr>
          <a:xfrm>
            <a:off x="5534614" y="4651502"/>
            <a:ext cx="4139738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Underwriting; prospectus cover and back page.</a:t>
            </a:r>
          </a:p>
        </p:txBody>
      </p:sp>
      <p:sp>
        <p:nvSpPr>
          <p:cNvPr id="19" name="qa_h"/>
          <p:cNvSpPr/>
          <p:nvPr/>
        </p:nvSpPr>
        <p:spPr>
          <a:xfrm>
            <a:off x="384048" y="5265674"/>
            <a:ext cx="929030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B2F55"/>
                </a:solidFill>
                <a:latin typeface="Liberation Sans"/>
              </a:rPr>
              <a:t>The five questions the book must answer</a:t>
            </a:r>
          </a:p>
        </p:txBody>
      </p:sp>
      <p:sp>
        <p:nvSpPr>
          <p:cNvPr id="20" name="qa_u"/>
          <p:cNvSpPr/>
          <p:nvPr/>
        </p:nvSpPr>
        <p:spPr>
          <a:xfrm>
            <a:off x="384048" y="5430266"/>
            <a:ext cx="929030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S-1 evidence and how Halden &amp; Rowe would position each</a:t>
            </a:r>
          </a:p>
        </p:txBody>
      </p:sp>
      <p:graphicFrame>
        <p:nvGraphicFramePr>
          <p:cNvPr id="21" name="qa"/>
          <p:cNvGraphicFramePr>
            <a:graphicFrameLocks noGrp="1"/>
          </p:cNvGraphicFramePr>
          <p:nvPr/>
        </p:nvGraphicFramePr>
        <p:xfrm>
          <a:off x="384048" y="5564378"/>
          <a:ext cx="9290304" cy="158927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765158"/>
                <a:gridCol w="4552249"/>
                <a:gridCol w="2972897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Investor question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S-1 evidence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Halden &amp; Rowe positioning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B2F55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Is the growth durable?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QoQ revenue growth 131.9% and 144.2% in 2026; versions released in the prior six months earned &gt;80% of Q3 revenue; the S-1 expects growth to slow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Lead with cohort breadth and NRR, not the peak quarter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B2F55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Can it carry its compute?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Eight named arrangements: $269.4bn of stated minimums and ~$161.2bn of lease rent, plus caps and estimates; the aggregate is blank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Separate firm from conditional amounts and show the 12 to 18 month lag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Who controls the company?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Class F 50.1% of votes; LTBT elects a board majority; controlled company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Present governance as designed, with the PBC duties and investor protections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How clean is the revenue?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An estimated 5% to 7% of nine-month 2026 revenue from customers in breach of terms; top five ~21% of Q3 revenue (H&amp;R, from the S-1's ~79% outside them)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Disclose the haircut case; show concentration falling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6350">
                      <a:solidFill>
                        <a:srgbClr val="C3CAD4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6181D"/>
                          </a:solidFill>
                          <a:latin typeface="Liberation Sans"/>
                        </a:rPr>
                        <a:t>Partners or competitors?</a:t>
                      </a:r>
                      <a:endParaRPr sz="750" b="1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Amazon and Google invest, supply, distribute and compete; Google has an option to buy up to $10.0bn at the IPO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6181D"/>
                          </a:solidFill>
                          <a:latin typeface="Liberation Sans"/>
                        </a:rPr>
                        <a:t>Frame the partners as anchor demand and diversified supply</a:t>
                      </a:r>
                      <a:endParaRPr sz="750" b="0" i="0">
                        <a:solidFill>
                          <a:srgbClr val="16181D"/>
                        </a:solidFill>
                        <a:latin typeface="Liberation Sans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4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qa_s"/>
          <p:cNvSpPr/>
          <p:nvPr/>
        </p:nvSpPr>
        <p:spPr>
          <a:xfrm>
            <a:off x="384048" y="7181088"/>
            <a:ext cx="9290304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55D6B"/>
                </a:solidFill>
                <a:latin typeface="Liberation Sans"/>
              </a:rPr>
              <a:t>Source: S-1, MD&amp;A (Quarterly Results, Contractual Obligations, Key Factors); Prospectus Summary; Our Governance Structure. Group sums: Halden &amp; Rowe.</a:t>
            </a: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pptx-skill" val="generated"/>
</p:tagLst>
</file>

<file path=ppt/tags/tag2.xml><?xml version="1.0" encoding="utf-8"?>
<p:tagLst xmlns:p="http://schemas.openxmlformats.org/presentationml/2006/main">
  <p:tag name="pptx-skill" val="generated"/>
</p:tagLst>
</file>

<file path=ppt/tags/tag3.xml><?xml version="1.0" encoding="utf-8"?>
<p:tagLst xmlns:p="http://schemas.openxmlformats.org/presentationml/2006/main">
  <p:tag name="pptx-skill" val="generated"/>
</p:tagLst>
</file>

<file path=ppt/tags/tag4.xml><?xml version="1.0" encoding="utf-8"?>
<p:tagLst xmlns:p="http://schemas.openxmlformats.org/presentationml/2006/main">
  <p:tag name="pptx-skill" val="generated"/>
</p:tagLst>
</file>

<file path=ppt/tags/tag5.xml><?xml version="1.0" encoding="utf-8"?>
<p:tagLst xmlns:p="http://schemas.openxmlformats.org/presentationml/2006/main">
  <p:tag name="pptx-skill" val="generated"/>
</p:tagLst>
</file>

<file path=ppt/tags/tag6.xml><?xml version="1.0" encoding="utf-8"?>
<p:tagLst xmlns:p="http://schemas.openxmlformats.org/presentationml/2006/main">
  <p:tag name="pptx-skill" val="generated"/>
</p:tagLst>
</file>

<file path=ppt/tags/tag7.xml><?xml version="1.0" encoding="utf-8"?>
<p:tagLst xmlns:p="http://schemas.openxmlformats.org/presentationml/2006/main">
  <p:tag name="pptx-skill" val="generated"/>
</p:tagLst>
</file>

<file path=ppt/tags/tag8.xml><?xml version="1.0" encoding="utf-8"?>
<p:tagLst xmlns:p="http://schemas.openxmlformats.org/presentationml/2006/main">
  <p:tag name="pptx-skill" val="generated"/>
</p:tagLst>
</file>

<file path=ppt/tags/tag9.xml><?xml version="1.0" encoding="utf-8"?>
<p:tagLst xmlns:p="http://schemas.openxmlformats.org/presentationml/2006/main">
  <p:tag name="pptx-skill" val="generated"/>
</p:tagLst>
</file>

<file path=ppt/tags/tag10.xml><?xml version="1.0" encoding="utf-8"?>
<p:tagLst xmlns:p="http://schemas.openxmlformats.org/presentationml/2006/main">
  <p:tag name="pptx-skill" val="generated"/>
</p:tagLst>
</file>

<file path=ppt/tags/tag11.xml><?xml version="1.0" encoding="utf-8"?>
<p:tagLst xmlns:p="http://schemas.openxmlformats.org/presentationml/2006/main">
  <p:tag name="pptx-skill" val="generate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2026-10-27T12:51:16Z</dcterms:created>
  <dcterms:modified xsi:type="dcterms:W3CDTF">2026-10-27T12:51:16Z</dcterms:modified>
  <cp:category/>
</cp:coreProperties>
</file>