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1"/>
          <c:h val="0.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D5C63"/>
            </a:solidFill>
            <a:ln>
              <a:noFill/>
            </a:ln>
          </c:spPr>
          <c:dPt>
            <c:idx val="7"/>
            <c:spPr>
              <a:solidFill>
                <a:srgbClr val="7A2E5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197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376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787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1,382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2,040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4,731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11,555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7A2E5E"/>
                        </a:solidFill>
                        <a:latin typeface="Arial"/>
                      </a:rPr>
                      <a:t>~16,900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7A2E5E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750" b="1" i="0">
                    <a:solidFill>
                      <a:srgbClr val="1B1F22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Q4'24</c:v>
                </c:pt>
                <c:pt idx="1">
                  <c:v>Q1'25</c:v>
                </c:pt>
                <c:pt idx="2">
                  <c:v>Q2'25</c:v>
                </c:pt>
                <c:pt idx="3">
                  <c:v>Q3'25</c:v>
                </c:pt>
                <c:pt idx="4">
                  <c:v>Q4'25</c:v>
                </c:pt>
                <c:pt idx="5">
                  <c:v>Q1'26</c:v>
                </c:pt>
                <c:pt idx="6">
                  <c:v>Q2'26</c:v>
                </c:pt>
                <c:pt idx="7">
                  <c:v>Q3'26 impl.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197</c:v>
                </c:pt>
                <c:pt idx="1">
                  <c:v>376</c:v>
                </c:pt>
                <c:pt idx="2">
                  <c:v>787</c:v>
                </c:pt>
                <c:pt idx="3">
                  <c:v>1382</c:v>
                </c:pt>
                <c:pt idx="4">
                  <c:v>2040</c:v>
                </c:pt>
                <c:pt idx="5">
                  <c:v>4731</c:v>
                </c:pt>
                <c:pt idx="6">
                  <c:v>11555</c:v>
                </c:pt>
                <c:pt idx="7">
                  <c:v>16942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9CDCF"/>
            </a:solidFill>
          </a:ln>
        </c:spPr>
        <c:txPr>
          <a:bodyPr rot="0" vert="horz"/>
          <a:lstStyle/>
          <a:p>
            <a:pPr>
              <a:defRPr sz="750" b="0" i="0">
                <a:solidFill>
                  <a:srgbClr val="5A616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A616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6"/>
          <c:w val="0.96"/>
          <c:h val="0.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1D5C63"/>
            </a:solidFill>
            <a:ln>
              <a:noFill/>
            </a:ln>
          </c:spPr>
          <c:dPt>
            <c:idx val="1"/>
            <c:spPr>
              <a:solidFill>
                <a:srgbClr val="A33A2A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A33A2A"/>
                        </a:solidFill>
                        <a:latin typeface="Arial"/>
                      </a:rPr>
                      <a:t>(94.8)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A33A2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750" b="1" i="0">
                    <a:solidFill>
                      <a:srgbClr val="1B1F22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1H25</c:v>
                </c:pt>
                <c:pt idx="4">
                  <c:v>1H26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36.6</c:v>
                </c:pt>
                <c:pt idx="1">
                  <c:v>-94.8</c:v>
                </c:pt>
                <c:pt idx="2">
                  <c:v>39.5</c:v>
                </c:pt>
                <c:pt idx="3">
                  <c:v>12.4</c:v>
                </c:pt>
                <c:pt idx="4">
                  <c:v>85.4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low"/>
        <c:spPr>
          <a:ln w="9525">
            <a:solidFill>
              <a:srgbClr val="C9CDCF"/>
            </a:solidFill>
          </a:ln>
        </c:spPr>
        <c:txPr>
          <a:bodyPr rot="0" vert="horz"/>
          <a:lstStyle/>
          <a:p>
            <a:pPr>
              <a:defRPr sz="750" b="0" i="0">
                <a:solidFill>
                  <a:srgbClr val="5A616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-11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A616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7"/>
          <c:y val="0.02"/>
          <c:w val="0.4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 value ($bn)</c:v>
                </c:pt>
              </c:strCache>
            </c:strRef>
          </c:tx>
          <c:spPr>
            <a:solidFill>
              <a:srgbClr val="1D5C63"/>
            </a:solidFill>
            <a:ln>
              <a:noFill/>
            </a:ln>
          </c:spPr>
          <c:dPt>
            <c:idx val="4"/>
            <c:spPr>
              <a:solidFill>
                <a:srgbClr val="B3B5B2"/>
              </a:solidFill>
            </c:spPr>
          </c:dPt>
          <c:dPt>
            <c:idx val="5"/>
            <c:spPr>
              <a:solidFill>
                <a:srgbClr val="B3B5B2"/>
              </a:solidFill>
            </c:spPr>
          </c:dPt>
          <c:dPt>
            <c:idx val="6"/>
            <c:spPr>
              <a:solidFill>
                <a:srgbClr val="B3B5B2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750" b="1" i="0">
                    <a:solidFill>
                      <a:srgbClr val="1B1F22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Broadcom leases (rent)</c:v>
                </c:pt>
                <c:pt idx="1">
                  <c:v>Google (at least)</c:v>
                </c:pt>
                <c:pt idx="2">
                  <c:v>Amazon (at least)</c:v>
                </c:pt>
                <c:pt idx="3">
                  <c:v>Microsoft (at least)</c:v>
                </c:pt>
                <c:pt idx="4">
                  <c:v>SpaceXAI (up to)</c:v>
                </c:pt>
                <c:pt idx="5">
                  <c:v>Nscale (up to)</c:v>
                </c:pt>
                <c:pt idx="6">
                  <c:v>Lambda</c:v>
                </c:pt>
              </c:strCache>
            </c:strRef>
          </c:cat>
          <c:val>
            <c:numRef>
              <c:f>Sheet1!$B$2:$B$8</c:f>
              <c:numCache>
                <c:formatCode>0.0</c:formatCode>
                <c:ptCount val="7"/>
                <c:pt idx="0">
                  <c:v>161.2</c:v>
                </c:pt>
                <c:pt idx="1">
                  <c:v>114.5</c:v>
                </c:pt>
                <c:pt idx="2">
                  <c:v>110.0</c:v>
                </c:pt>
                <c:pt idx="3">
                  <c:v>44.9</c:v>
                </c:pt>
                <c:pt idx="4">
                  <c:v>120.5</c:v>
                </c:pt>
                <c:pt idx="5">
                  <c:v>44.6</c:v>
                </c:pt>
                <c:pt idx="6">
                  <c:v>41.3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9CDCF"/>
            </a:solidFill>
          </a:ln>
        </c:spPr>
        <c:txPr>
          <a:bodyPr/>
          <a:lstStyle/>
          <a:p>
            <a:pPr>
              <a:defRPr sz="750" b="0" i="0">
                <a:solidFill>
                  <a:srgbClr val="1B1F22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A616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"/>
          <c:y val="0.04"/>
          <c:w val="0.78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Adjusted operating margin (%)</c:v>
                </c:pt>
              </c:strCache>
            </c:strRef>
          </c:tx>
          <c:spPr>
            <a:solidFill>
              <a:srgbClr val="A33A2A"/>
            </a:solidFill>
            <a:ln>
              <a:noFill/>
            </a:ln>
          </c:spPr>
          <c:dPt>
            <c:idx val="5"/>
            <c:spPr>
              <a:solidFill>
                <a:srgbClr val="1D5C63"/>
              </a:solidFill>
            </c:spPr>
          </c:dPt>
          <c:dLbls>
            <c:dLbl>
              <c:idx val="5"/>
              <c:numFmt formatCode="0;(0)" sourceLinked="0"/>
              <c:spPr/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;(0)" sourceLinked="0"/>
            <c:txPr>
              <a:bodyPr/>
              <a:lstStyle/>
              <a:p>
                <a:pPr>
                  <a:defRPr sz="750" b="1" i="0">
                    <a:solidFill>
                      <a:srgbClr val="A33A2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-221</c:v>
                </c:pt>
                <c:pt idx="1">
                  <c:v>-129</c:v>
                </c:pt>
                <c:pt idx="2">
                  <c:v>-93</c:v>
                </c:pt>
                <c:pt idx="3">
                  <c:v>-84</c:v>
                </c:pt>
                <c:pt idx="4">
                  <c:v>-13</c:v>
                </c:pt>
                <c:pt idx="5">
                  <c:v>19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low"/>
        <c:spPr>
          <a:ln w="9525">
            <a:solidFill>
              <a:srgbClr val="C9CDCF"/>
            </a:solidFill>
          </a:ln>
        </c:spPr>
        <c:txPr>
          <a:bodyPr rot="0" vert="horz"/>
          <a:lstStyle/>
          <a:p>
            <a:pPr>
              <a:defRPr sz="750" b="0" i="0">
                <a:solidFill>
                  <a:srgbClr val="5A616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-24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A616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4"/>
          <c:w val="0.96"/>
          <c:h val="0.8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above zero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Operating loss</c:v>
                </c:pt>
                <c:pt idx="1">
                  <c:v>Stock-based comp.</c:v>
                </c:pt>
                <c:pt idx="2">
                  <c:v>Non-cash charity</c:v>
                </c:pt>
                <c:pt idx="3">
                  <c:v>Adj. op. income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1492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above zero</c:v>
                </c:pt>
              </c:strCache>
            </c:strRef>
          </c:tx>
          <c:spPr>
            <a:solidFill>
              <a:srgbClr val="1D5C63"/>
            </a:solidFill>
            <a:ln>
              <a:noFill/>
            </a:ln>
          </c:spPr>
          <c:dPt>
            <c:idx val="1"/>
            <c:spPr>
              <a:solidFill>
                <a:srgbClr val="B3B5B2"/>
              </a:solidFill>
            </c:spPr>
          </c:dPt>
          <c:dPt>
            <c:idx val="2"/>
            <c:spPr>
              <a:solidFill>
                <a:srgbClr val="B3B5B2"/>
              </a:solidFill>
            </c:spPr>
          </c:dPt>
          <c:dLbls>
            <c:dLbl>
              <c:idx val="2"/>
              <c:delete val="1"/>
            </c:dLbl>
            <c:dLbl>
              <c:idx val="0"/>
              <c:delete val="1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+2,185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FFFFFF"/>
                        </a:solidFill>
                        <a:latin typeface="Arial"/>
                      </a:rPr>
                      <a:t>1,618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750" b="1" i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Operating loss</c:v>
                </c:pt>
                <c:pt idx="1">
                  <c:v>Stock-based comp.</c:v>
                </c:pt>
                <c:pt idx="2">
                  <c:v>Non-cash charity</c:v>
                </c:pt>
                <c:pt idx="3">
                  <c:v>Adj. op. income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0</c:v>
                </c:pt>
                <c:pt idx="1">
                  <c:v>1492</c:v>
                </c:pt>
                <c:pt idx="2">
                  <c:v>126</c:v>
                </c:pt>
                <c:pt idx="3">
                  <c:v>1618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Base below zero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Operating loss</c:v>
                </c:pt>
                <c:pt idx="1">
                  <c:v>Stock-based comp.</c:v>
                </c:pt>
                <c:pt idx="2">
                  <c:v>Non-cash charity</c:v>
                </c:pt>
                <c:pt idx="3">
                  <c:v>Adj. op. income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Step below zero</c:v>
                </c:pt>
              </c:strCache>
            </c:strRef>
          </c:tx>
          <c:spPr>
            <a:solidFill>
              <a:srgbClr val="A33A2A"/>
            </a:solidFill>
            <a:ln>
              <a:noFill/>
            </a:ln>
          </c:spPr>
          <c:dPt>
            <c:idx val="1"/>
            <c:spPr>
              <a:solidFill>
                <a:srgbClr val="B3B5B2"/>
              </a:solidFill>
            </c:spPr>
          </c:dPt>
          <c:dLbls>
            <c:dLbl>
              <c:idx val="3"/>
              <c:delete val="1"/>
            </c:dLbl>
            <c:dLbl>
              <c:idx val="2"/>
              <c:delete val="1"/>
            </c:dLbl>
            <c:dLbl>
              <c:idx val="1"/>
              <c:delete val="1"/>
            </c:dLbl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FFFFFF"/>
                        </a:solidFill>
                        <a:latin typeface="Arial"/>
                      </a:rPr>
                      <a:t>(693)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750" b="1" i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Operating loss</c:v>
                </c:pt>
                <c:pt idx="1">
                  <c:v>Stock-based comp.</c:v>
                </c:pt>
                <c:pt idx="2">
                  <c:v>Non-cash charity</c:v>
                </c:pt>
                <c:pt idx="3">
                  <c:v>Adj. op. income</c:v>
                </c:pt>
              </c:strCache>
            </c:strRef>
          </c:cat>
          <c:val>
            <c:numRef>
              <c:f>Sheet1!$E$2:$E$5</c:f>
              <c:numCache>
                <c:formatCode>#,##0</c:formatCode>
                <c:ptCount val="4"/>
                <c:pt idx="0">
                  <c:v>-693</c:v>
                </c:pt>
                <c:pt idx="1">
                  <c:v>-693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low"/>
        <c:spPr>
          <a:ln w="9525">
            <a:solidFill>
              <a:srgbClr val="C9CDCF"/>
            </a:solidFill>
          </a:ln>
        </c:spPr>
        <c:txPr>
          <a:bodyPr rot="0" vert="horz"/>
          <a:lstStyle/>
          <a:p>
            <a:pPr>
              <a:defRPr sz="750" b="0" i="0">
                <a:solidFill>
                  <a:srgbClr val="5A616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0.0"/>
          <c:min val="-90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A616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4"/>
          <c:w val="0.96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Q2'26 run-rate x4</c:v>
                </c:pt>
                <c:pt idx="1">
                  <c:v>SpaceXAI, full year</c:v>
                </c:pt>
                <c:pt idx="2">
                  <c:v>Microsoft, from Nov'26</c:v>
                </c:pt>
                <c:pt idx="3">
                  <c:v>Broadcom, half a level year</c:v>
                </c:pt>
                <c:pt idx="4">
                  <c:v>FY27E base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0</c:v>
                </c:pt>
                <c:pt idx="1">
                  <c:v>22.232</c:v>
                </c:pt>
                <c:pt idx="2">
                  <c:v>59.432</c:v>
                </c:pt>
                <c:pt idx="3">
                  <c:v>66.2523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8DB7BC"/>
            </a:solidFill>
            <a:ln>
              <a:noFill/>
            </a:ln>
          </c:spPr>
          <c:dPt>
            <c:idx val="0"/>
            <c:spPr>
              <a:solidFill>
                <a:srgbClr val="1D5C63"/>
              </a:solidFill>
            </c:spPr>
          </c:dPt>
          <c:cat>
            <c:strRef>
              <c:f>Sheet1!$A$2:$A$6</c:f>
              <c:strCache>
                <c:ptCount val="5"/>
                <c:pt idx="0">
                  <c:v>Q2'26 run-rate x4</c:v>
                </c:pt>
                <c:pt idx="1">
                  <c:v>SpaceXAI, full year</c:v>
                </c:pt>
                <c:pt idx="2">
                  <c:v>Microsoft, from Nov'26</c:v>
                </c:pt>
                <c:pt idx="3">
                  <c:v>Broadcom, half a level year</c:v>
                </c:pt>
                <c:pt idx="4">
                  <c:v>FY27E base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22.232</c:v>
                </c:pt>
                <c:pt idx="1">
                  <c:v>37.2</c:v>
                </c:pt>
                <c:pt idx="2">
                  <c:v>6.8203</c:v>
                </c:pt>
                <c:pt idx="3">
                  <c:v>16.12</c:v>
                </c:pt>
                <c:pt idx="4">
                  <c:v>82.3723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22.2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+37.2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+6.8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+16.1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82.4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750" b="1" i="0">
                    <a:solidFill>
                      <a:srgbClr val="1B1F22"/>
                    </a:solidFill>
                    <a:latin typeface="Arial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Q2'26 run-rate x4</c:v>
                </c:pt>
                <c:pt idx="1">
                  <c:v>SpaceXAI, full year</c:v>
                </c:pt>
                <c:pt idx="2">
                  <c:v>Microsoft, from Nov'26</c:v>
                </c:pt>
                <c:pt idx="3">
                  <c:v>Broadcom, half a level year</c:v>
                </c:pt>
                <c:pt idx="4">
                  <c:v>FY27E base</c:v>
                </c:pt>
              </c:strCache>
            </c:strRef>
          </c:cat>
          <c:val>
            <c:numRef>
              <c:f>Sheet1!$D$2:$D$6</c:f>
              <c:numCache>
                <c:formatCode>0.0</c:formatCode>
                <c:ptCount val="5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low"/>
        <c:spPr>
          <a:ln w="9525">
            <a:solidFill>
              <a:srgbClr val="C9CDCF"/>
            </a:solidFill>
          </a:ln>
        </c:spPr>
        <c:txPr>
          <a:bodyPr rot="0" vert="horz"/>
          <a:lstStyle/>
          <a:p>
            <a:pPr>
              <a:defRPr sz="750" b="0" i="0">
                <a:solidFill>
                  <a:srgbClr val="5A616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A616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3"/>
          <c:y val="0.1"/>
          <c:w val="0.65"/>
          <c:h val="0.8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noFill/>
            <a:ln>
              <a:noFill/>
            </a:ln>
          </c:spPr>
          <c:dLbls>
            <c:numFmt formatCode="$0" sourceLinked="0"/>
            <c:txPr>
              <a:bodyPr/>
              <a:lstStyle/>
              <a:p>
                <a:pPr>
                  <a:defRPr sz="750" b="1" i="0">
                    <a:solidFill>
                      <a:srgbClr val="1B1F22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Bear: 5x to 7x FY27E revenue, mid $41</c:v>
                </c:pt>
                <c:pt idx="1">
                  <c:v>Base: 8x to 10x FY27E revenue, mid $73</c:v>
                </c:pt>
                <c:pt idx="2">
                  <c:v>Bull: 11x to 13x FY27E revenue, mid $116</c:v>
                </c:pt>
                <c:pt idx="3">
                  <c:v>Base revenue at 6x to 12x, mid $73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35.7</c:v>
                </c:pt>
                <c:pt idx="1">
                  <c:v>66.1</c:v>
                </c:pt>
                <c:pt idx="2">
                  <c:v>106.7</c:v>
                </c:pt>
                <c:pt idx="3">
                  <c:v>51.5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to mid</c:v>
                </c:pt>
              </c:strCache>
            </c:strRef>
          </c:tx>
          <c:spPr>
            <a:solidFill>
              <a:srgbClr val="8DB7BC"/>
            </a:solidFill>
            <a:ln w="19050">
              <a:solidFill>
                <a:srgbClr val="FFFFFF"/>
              </a:solidFill>
            </a:ln>
          </c:spPr>
          <c:cat>
            <c:strRef>
              <c:f>Sheet1!$A$2:$A$5</c:f>
              <c:strCache>
                <c:ptCount val="4"/>
                <c:pt idx="0">
                  <c:v>Bear: 5x to 7x FY27E revenue, mid $41</c:v>
                </c:pt>
                <c:pt idx="1">
                  <c:v>Base: 8x to 10x FY27E revenue, mid $73</c:v>
                </c:pt>
                <c:pt idx="2">
                  <c:v>Bull: 11x to 13x FY27E revenue, mid $116</c:v>
                </c:pt>
                <c:pt idx="3">
                  <c:v>Base revenue at 6x to 12x, mid $73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5.6</c:v>
                </c:pt>
                <c:pt idx="1">
                  <c:v>7.3</c:v>
                </c:pt>
                <c:pt idx="2">
                  <c:v>9.0</c:v>
                </c:pt>
                <c:pt idx="3">
                  <c:v>21.9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Mid to high</c:v>
                </c:pt>
              </c:strCache>
            </c:strRef>
          </c:tx>
          <c:spPr>
            <a:solidFill>
              <a:srgbClr val="8DB7BC"/>
            </a:solidFill>
            <a:ln w="19050">
              <a:solidFill>
                <a:srgbClr val="FFFFFF"/>
              </a:solidFill>
            </a:ln>
          </c:spPr>
          <c:cat>
            <c:strRef>
              <c:f>Sheet1!$A$2:$A$5</c:f>
              <c:strCache>
                <c:ptCount val="4"/>
                <c:pt idx="0">
                  <c:v>Bear: 5x to 7x FY27E revenue, mid $41</c:v>
                </c:pt>
                <c:pt idx="1">
                  <c:v>Base: 8x to 10x FY27E revenue, mid $73</c:v>
                </c:pt>
                <c:pt idx="2">
                  <c:v>Bull: 11x to 13x FY27E revenue, mid $116</c:v>
                </c:pt>
                <c:pt idx="3">
                  <c:v>Base revenue at 6x to 12x, mid $73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5.6</c:v>
                </c:pt>
                <c:pt idx="1">
                  <c:v>7.3</c:v>
                </c:pt>
                <c:pt idx="2">
                  <c:v>9.0</c:v>
                </c:pt>
                <c:pt idx="3">
                  <c:v>21.9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High label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$47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$81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$125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B1F22"/>
                        </a:solidFill>
                        <a:latin typeface="Arial"/>
                      </a:rPr>
                      <a:t>$95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B1F22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$0" sourceLinked="0"/>
            <c:txPr>
              <a:bodyPr/>
              <a:lstStyle/>
              <a:p>
                <a:pPr>
                  <a:defRPr sz="750" b="1" i="0">
                    <a:solidFill>
                      <a:srgbClr val="1B1F22"/>
                    </a:solidFill>
                    <a:latin typeface="Arial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Bear: 5x to 7x FY27E revenue, mid $41</c:v>
                </c:pt>
                <c:pt idx="1">
                  <c:v>Base: 8x to 10x FY27E revenue, mid $73</c:v>
                </c:pt>
                <c:pt idx="2">
                  <c:v>Bull: 11x to 13x FY27E revenue, mid $116</c:v>
                </c:pt>
                <c:pt idx="3">
                  <c:v>Base revenue at 6x to 12x, mid $73</c:v>
                </c:pt>
              </c:strCache>
            </c:strRef>
          </c:cat>
          <c:val>
            <c:numRef>
              <c:f>Sheet1!$E$2:$E$5</c:f>
              <c:numCache>
                <c:formatCode>0</c:formatCode>
                <c:ptCount val="4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9CDCF"/>
            </a:solidFill>
          </a:ln>
        </c:spPr>
        <c:txPr>
          <a:bodyPr/>
          <a:lstStyle/>
          <a:p>
            <a:pPr>
              <a:defRPr sz="750" b="0" i="0">
                <a:solidFill>
                  <a:srgbClr val="1B1F22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20.0"/>
        </c:scaling>
        <c:delete val="0"/>
        <c:axPos val="b"/>
        <c:majorGridlines>
          <c:spPr>
            <a:ln w="6350">
              <a:solidFill>
                <a:srgbClr val="C9CDCF"/>
              </a:solidFill>
            </a:ln>
          </c:spPr>
        </c:majorGridlines>
        <c:numFmt formatCode="$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 b="0" i="0">
                <a:solidFill>
                  <a:srgbClr val="5A6166"/>
                </a:solidFill>
                <a:latin typeface="Arial"/>
              </a:defRPr>
            </a:pPr>
          </a:p>
        </c:txPr>
        <c:crossAx val="-2068027336"/>
        <c:crosses val="autoZero"/>
        <c:crossBetween val="between"/>
        <c:majorUnit val="20.0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A616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tags" Target="../tags/tag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tags" Target="../tags/tag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tags" Target="../tags/tag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tags" Target="../tags/tag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tags" Target="../tags/tag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6" name="chrome-1"/>
          <p:cNvCxnSpPr/>
          <p:nvPr/>
        </p:nvCxnSpPr>
        <p:spPr>
          <a:xfrm>
            <a:off x="411480" y="900684"/>
            <a:ext cx="11365992" cy="0"/>
          </a:xfrm>
          <a:prstGeom prst="line">
            <a:avLst/>
          </a:prstGeom>
          <a:ln w="12700">
            <a:solidFill>
              <a:srgbClr val="1D5C63"/>
            </a:solidFill>
          </a:ln>
        </p:spPr>
      </p:cxnSp>
      <p:sp>
        <p:nvSpPr>
          <p:cNvPr id="37" name="chrome-2"/>
          <p:cNvSpPr txBox="1"/>
          <p:nvPr/>
        </p:nvSpPr>
        <p:spPr>
          <a:xfrm>
            <a:off x="7205472" y="128016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1">
                <a:solidFill>
                  <a:srgbClr val="1D5C63"/>
                </a:solidFill>
                <a:latin typeface="Arial"/>
              </a:rPr>
              <a:t>KESWICK RESEARCH (FICTIONAL BROKER)  |  Initiation  |  27 October 2026</a:t>
            </a:r>
          </a:p>
        </p:txBody>
      </p:sp>
      <p:sp>
        <p:nvSpPr>
          <p:cNvPr id="38" name="chrome-3"/>
          <p:cNvSpPr txBox="1"/>
          <p:nvPr/>
        </p:nvSpPr>
        <p:spPr>
          <a:xfrm>
            <a:off x="411480" y="6547104"/>
            <a:ext cx="103327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A6166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39" name="chrome-4"/>
          <p:cNvSpPr txBox="1"/>
          <p:nvPr/>
        </p:nvSpPr>
        <p:spPr>
          <a:xfrm>
            <a:off x="11320272" y="654710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A6166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395021" y="395021"/>
            <a:ext cx="11401958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D5C63"/>
                </a:solidFill>
                <a:latin typeface="Arial"/>
              </a:rPr>
              <a:t>ANTHROPIC, PBC  |  PROPOSED TICKER ANT  |  INITIATION OF COVERAGE</a:t>
            </a:r>
          </a:p>
        </p:txBody>
      </p:sp>
      <p:sp>
        <p:nvSpPr>
          <p:cNvPr id="3" name="title"/>
          <p:cNvSpPr/>
          <p:nvPr/>
        </p:nvSpPr>
        <p:spPr>
          <a:xfrm>
            <a:off x="395021" y="535656"/>
            <a:ext cx="11401958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1B1F22"/>
                </a:solidFill>
                <a:latin typeface="Cambria"/>
              </a:rPr>
              <a:t>Initiating on Anthropic: 1H26 revenue up 1,300% to $16.3bn; FY27 turns on contracted compute</a:t>
            </a:r>
          </a:p>
        </p:txBody>
      </p:sp>
      <p:sp>
        <p:nvSpPr>
          <p:cNvPr id="4" name="kpi-figure0"/>
          <p:cNvSpPr/>
          <p:nvPr/>
        </p:nvSpPr>
        <p:spPr>
          <a:xfrm>
            <a:off x="395021" y="1001451"/>
            <a:ext cx="1275171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1B1F22"/>
                </a:solidFill>
                <a:latin typeface="Cambria"/>
              </a:rPr>
              <a:t>$16.3bn</a:t>
            </a:r>
          </a:p>
        </p:txBody>
      </p:sp>
      <p:sp>
        <p:nvSpPr>
          <p:cNvPr id="5" name="kpi-label0"/>
          <p:cNvSpPr/>
          <p:nvPr/>
        </p:nvSpPr>
        <p:spPr>
          <a:xfrm>
            <a:off x="395021" y="1250036"/>
            <a:ext cx="127517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1H26 revenue, +1,300% y/y</a:t>
            </a:r>
          </a:p>
        </p:txBody>
      </p:sp>
      <p:sp>
        <p:nvSpPr>
          <p:cNvPr id="6" name="kpi-figure1"/>
          <p:cNvSpPr/>
          <p:nvPr/>
        </p:nvSpPr>
        <p:spPr>
          <a:xfrm>
            <a:off x="1775531" y="1001451"/>
            <a:ext cx="127517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1B1F22"/>
                </a:solidFill>
                <a:latin typeface="Cambria"/>
              </a:rPr>
              <a:t>19%</a:t>
            </a:r>
          </a:p>
        </p:txBody>
      </p:sp>
      <p:sp>
        <p:nvSpPr>
          <p:cNvPr id="7" name="kpi-label1"/>
          <p:cNvSpPr/>
          <p:nvPr/>
        </p:nvSpPr>
        <p:spPr>
          <a:xfrm>
            <a:off x="1775531" y="1250036"/>
            <a:ext cx="127517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Q2'26 adjusted op. margin</a:t>
            </a:r>
          </a:p>
        </p:txBody>
      </p:sp>
      <p:sp>
        <p:nvSpPr>
          <p:cNvPr id="8" name="kpi-figure2"/>
          <p:cNvSpPr/>
          <p:nvPr/>
        </p:nvSpPr>
        <p:spPr>
          <a:xfrm>
            <a:off x="3156040" y="1001451"/>
            <a:ext cx="127517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1B1F22"/>
                </a:solidFill>
                <a:latin typeface="Cambria"/>
              </a:rPr>
              <a:t>&gt;11,900</a:t>
            </a:r>
          </a:p>
        </p:txBody>
      </p:sp>
      <p:sp>
        <p:nvSpPr>
          <p:cNvPr id="9" name="kpi-label2"/>
          <p:cNvSpPr/>
          <p:nvPr/>
        </p:nvSpPr>
        <p:spPr>
          <a:xfrm>
            <a:off x="3156040" y="1250036"/>
            <a:ext cx="127517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$100k+ TTM customers,</a:t>
            </a:r>
            <a:br/>
            <a:r>
              <a:rPr sz="750" b="0" i="0">
                <a:solidFill>
                  <a:srgbClr val="5A6166"/>
                </a:solidFill>
                <a:latin typeface="Arial"/>
              </a:rPr>
              <a:t>Sep'26</a:t>
            </a:r>
          </a:p>
        </p:txBody>
      </p:sp>
      <p:sp>
        <p:nvSpPr>
          <p:cNvPr id="10" name="kpi-figure3"/>
          <p:cNvSpPr/>
          <p:nvPr/>
        </p:nvSpPr>
        <p:spPr>
          <a:xfrm>
            <a:off x="4536549" y="1001451"/>
            <a:ext cx="127517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1B1F22"/>
                </a:solidFill>
                <a:latin typeface="Cambria"/>
              </a:rPr>
              <a:t>~900%</a:t>
            </a:r>
          </a:p>
        </p:txBody>
      </p:sp>
      <p:sp>
        <p:nvSpPr>
          <p:cNvPr id="11" name="kpi-label3"/>
          <p:cNvSpPr/>
          <p:nvPr/>
        </p:nvSpPr>
        <p:spPr>
          <a:xfrm>
            <a:off x="4536549" y="1250036"/>
            <a:ext cx="127517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Net revenue retention,</a:t>
            </a:r>
            <a:br/>
            <a:r>
              <a:rPr sz="750" b="0" i="0">
                <a:solidFill>
                  <a:srgbClr val="5A6166"/>
                </a:solidFill>
                <a:latin typeface="Arial"/>
              </a:rPr>
              <a:t>Sep'26</a:t>
            </a:r>
          </a:p>
        </p:txBody>
      </p:sp>
      <p:sp>
        <p:nvSpPr>
          <p:cNvPr id="12" name="kpi-figure4"/>
          <p:cNvSpPr/>
          <p:nvPr/>
        </p:nvSpPr>
        <p:spPr>
          <a:xfrm>
            <a:off x="5917058" y="1001451"/>
            <a:ext cx="127517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1B1F22"/>
                </a:solidFill>
                <a:latin typeface="Cambria"/>
              </a:rPr>
              <a:t>$131.7bn</a:t>
            </a:r>
          </a:p>
        </p:txBody>
      </p:sp>
      <p:sp>
        <p:nvSpPr>
          <p:cNvPr id="13" name="kpi-label4"/>
          <p:cNvSpPr/>
          <p:nvPr/>
        </p:nvSpPr>
        <p:spPr>
          <a:xfrm>
            <a:off x="5917058" y="1250036"/>
            <a:ext cx="127517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Cash and ST investments,</a:t>
            </a:r>
            <a:br/>
            <a:r>
              <a:rPr sz="750" b="0" i="0">
                <a:solidFill>
                  <a:srgbClr val="5A6166"/>
                </a:solidFill>
                <a:latin typeface="Arial"/>
              </a:rPr>
              <a:t>Jun'26</a:t>
            </a:r>
          </a:p>
        </p:txBody>
      </p:sp>
      <p:sp>
        <p:nvSpPr>
          <p:cNvPr id="14" name="th_h"/>
          <p:cNvSpPr/>
          <p:nvPr/>
        </p:nvSpPr>
        <p:spPr>
          <a:xfrm>
            <a:off x="395021" y="1758926"/>
            <a:ext cx="679720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Investment thesis</a:t>
            </a:r>
          </a:p>
        </p:txBody>
      </p:sp>
      <p:sp>
        <p:nvSpPr>
          <p:cNvPr id="15" name="t1"/>
          <p:cNvSpPr/>
          <p:nvPr/>
        </p:nvSpPr>
        <p:spPr>
          <a:xfrm>
            <a:off x="395021" y="1948755"/>
            <a:ext cx="6797207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None/>
            </a:pPr>
            <a:r>
              <a:rPr sz="850" b="1" i="0">
                <a:solidFill>
                  <a:srgbClr val="1B1F22"/>
                </a:solidFill>
                <a:latin typeface="Arial"/>
              </a:rPr>
              <a:t>Demand is not the question. </a:t>
            </a:r>
            <a:r>
              <a:rPr sz="850" b="0" i="0">
                <a:solidFill>
                  <a:srgbClr val="1B1F22"/>
                </a:solidFill>
                <a:latin typeface="Arial"/>
              </a:rPr>
              <a:t>Quarterly revenue rose from $376m in Q1'25 to $11.6bn in Q2'26, and the S-1's 86x multiple on Q4'24 implies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about $16.9bn for Q3'26. Customers paying $100k+ a year rose 12.5x in twelve months to more than 11,900.</a:t>
            </a:r>
          </a:p>
        </p:txBody>
      </p:sp>
      <p:sp>
        <p:nvSpPr>
          <p:cNvPr id="16" name="t2"/>
          <p:cNvSpPr/>
          <p:nvPr/>
        </p:nvSpPr>
        <p:spPr>
          <a:xfrm>
            <a:off x="395021" y="2279808"/>
            <a:ext cx="6797207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None/>
            </a:pPr>
            <a:r>
              <a:rPr sz="850" b="1" i="0">
                <a:solidFill>
                  <a:srgbClr val="1B1F22"/>
                </a:solidFill>
                <a:latin typeface="Arial"/>
              </a:rPr>
              <a:t>Unit economics turned in 1H26. </a:t>
            </a:r>
            <a:r>
              <a:rPr sz="850" b="0" i="0">
                <a:solidFill>
                  <a:srgbClr val="1B1F22"/>
                </a:solidFill>
                <a:latin typeface="Arial"/>
              </a:rPr>
              <a:t>On the S-1's functional view gross margin moved from -94.8% in FY24 to 85.4% in 1H26, and adjusted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operating margin reached 19% in Q2'26, as revenue outran compute bought 12 to 18 months ahead.</a:t>
            </a:r>
          </a:p>
        </p:txBody>
      </p:sp>
      <p:sp>
        <p:nvSpPr>
          <p:cNvPr id="17" name="t3"/>
          <p:cNvSpPr/>
          <p:nvPr/>
        </p:nvSpPr>
        <p:spPr>
          <a:xfrm>
            <a:off x="395021" y="2610861"/>
            <a:ext cx="6797207" cy="520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None/>
            </a:pPr>
            <a:r>
              <a:rPr sz="850" b="1" i="0">
                <a:solidFill>
                  <a:srgbClr val="1B1F22"/>
                </a:solidFill>
                <a:latin typeface="Arial"/>
              </a:rPr>
              <a:t>Compute is the swing factor. </a:t>
            </a:r>
            <a:r>
              <a:rPr sz="850" b="0" i="0">
                <a:solidFill>
                  <a:srgbClr val="1B1F22"/>
                </a:solidFill>
                <a:latin typeface="Arial"/>
              </a:rPr>
              <a:t>The S-1 puts fixed or minimum purchase commitments at ~$265.6bn at Jun'26, and ~$245bn more were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signed after it. From the contract terms we build FY27E compute of $82.4bn, 3.7x Q2'26's run-rate; $37.2bn (45%) of it is SpaceXAI, an 'up to'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amount that is cancellable after early 2027. The FY27E margin then rests on revenue per compute dollar: 2.08 in Q2'26, 1.50 in our base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case, 1.45 to break even.</a:t>
            </a:r>
          </a:p>
        </p:txBody>
      </p:sp>
      <p:sp>
        <p:nvSpPr>
          <p:cNvPr id="18" name="t4"/>
          <p:cNvSpPr/>
          <p:nvPr/>
        </p:nvSpPr>
        <p:spPr>
          <a:xfrm>
            <a:off x="395021" y="3183722"/>
            <a:ext cx="6797207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None/>
            </a:pPr>
            <a:r>
              <a:rPr sz="850" b="1" i="0">
                <a:solidFill>
                  <a:srgbClr val="1B1F22"/>
                </a:solidFill>
                <a:latin typeface="Arial"/>
              </a:rPr>
              <a:t>Governance caps the multiple. </a:t>
            </a:r>
            <a:r>
              <a:rPr sz="850" b="0" i="0">
                <a:solidFill>
                  <a:srgbClr val="1B1F22"/>
                </a:solidFill>
                <a:latin typeface="Arial"/>
              </a:rPr>
              <a:t>The Founder LLC's Class F share carries 50.1% of votes, the Long-Term Benefit Trust elects a board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majority, and public benefit issuances can add up to 2% of shares for each 50% gain in the share price.</a:t>
            </a:r>
          </a:p>
        </p:txBody>
      </p:sp>
      <p:sp>
        <p:nvSpPr>
          <p:cNvPr id="19" name="stance"/>
          <p:cNvSpPr/>
          <p:nvPr/>
        </p:nvSpPr>
        <p:spPr>
          <a:xfrm>
            <a:off x="395021" y="3742397"/>
            <a:ext cx="6797207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None/>
            </a:pPr>
            <a:r>
              <a:rPr sz="850" b="1" i="0">
                <a:solidFill>
                  <a:srgbClr val="1D5C63"/>
                </a:solidFill>
                <a:latin typeface="Arial"/>
              </a:rPr>
              <a:t>Illustrative stance: Overweight.</a:t>
            </a:r>
            <a:r>
              <a:rPr sz="850" b="0" i="0">
                <a:solidFill>
                  <a:srgbClr val="1B1F22"/>
                </a:solidFill>
                <a:latin typeface="Arial"/>
              </a:rPr>
              <a:t> Base-case value $73 per share (9x FY27E revenue plus net cash, a Keswick assumption), 25% above the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$58.90 Series H price per common share. Bear $41, bull $116.</a:t>
            </a:r>
          </a:p>
        </p:txBody>
      </p:sp>
      <p:sp>
        <p:nvSpPr>
          <p:cNvPr id="20" name="kf_h"/>
          <p:cNvSpPr/>
          <p:nvPr/>
        </p:nvSpPr>
        <p:spPr>
          <a:xfrm>
            <a:off x="395021" y="4301072"/>
            <a:ext cx="679720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1: Key forecasts, Keswick base case</a:t>
            </a:r>
          </a:p>
        </p:txBody>
      </p:sp>
      <p:sp>
        <p:nvSpPr>
          <p:cNvPr id="21" name="kf_u"/>
          <p:cNvSpPr/>
          <p:nvPr/>
        </p:nvSpPr>
        <p:spPr>
          <a:xfrm>
            <a:off x="395021" y="4464567"/>
            <a:ext cx="679720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A = S-1 reported; E = Keswick estimate (illustrative assumption) on the pale band</a:t>
            </a:r>
          </a:p>
        </p:txBody>
      </p:sp>
      <p:graphicFrame>
        <p:nvGraphicFramePr>
          <p:cNvPr id="22" name="kf"/>
          <p:cNvGraphicFramePr>
            <a:graphicFrameLocks noGrp="1"/>
          </p:cNvGraphicFramePr>
          <p:nvPr/>
        </p:nvGraphicFramePr>
        <p:xfrm>
          <a:off x="395021" y="4605202"/>
          <a:ext cx="6797207" cy="133779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3618856"/>
                <a:gridCol w="800281"/>
                <a:gridCol w="800281"/>
                <a:gridCol w="788893"/>
                <a:gridCol w="788896"/>
              </a:tblGrid>
              <a:tr h="167224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FY24A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FY25A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FY26E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FY27E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Revenue ($bn)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0.4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4.6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51.9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123.6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Growth (%)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841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1,088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1,031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138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Compute and infrastructure ($bn)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2.5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7.3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26.7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82.4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Revenue per $1 of compute ($)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0.15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0.63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1.94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B1F22"/>
                          </a:solidFill>
                          <a:latin typeface="Arial"/>
                        </a:rPr>
                        <a:t>1.50</a:t>
                      </a:r>
                      <a:endParaRPr sz="75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Adjusted operating income ($bn)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A33A2A"/>
                          </a:solidFill>
                          <a:latin typeface="Arial"/>
                        </a:rPr>
                        <a:t>(2.8)</a:t>
                      </a:r>
                      <a:endParaRPr sz="75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A33A2A"/>
                          </a:solidFill>
                          <a:latin typeface="Arial"/>
                        </a:rPr>
                        <a:t>(4.9)</a:t>
                      </a:r>
                      <a:endParaRPr sz="75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8.0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2.9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Adjusted operating margin (%)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A33A2A"/>
                          </a:solidFill>
                          <a:latin typeface="Arial"/>
                        </a:rPr>
                        <a:t>(722)</a:t>
                      </a:r>
                      <a:endParaRPr sz="75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A33A2A"/>
                          </a:solidFill>
                          <a:latin typeface="Arial"/>
                        </a:rPr>
                        <a:t>(106)</a:t>
                      </a:r>
                      <a:endParaRPr sz="75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15.5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2.3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EV / revenue at base EV $1,112bn (x)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21.4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9.0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23" name="kf_s"/>
          <p:cNvSpPr/>
          <p:nvPr/>
        </p:nvSpPr>
        <p:spPr>
          <a:xfrm>
            <a:off x="395021" y="5969329"/>
            <a:ext cx="679720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A6166"/>
                </a:solidFill>
                <a:latin typeface="Arial"/>
              </a:rPr>
              <a:t>Source: Anthropic, PBC S-1 (26 Oct 2026): Summary Consolidated Financial Data, Non-GAAP Financial Measures; estimates are Keswick Research assumptions (page 7).</a:t>
            </a:r>
          </a:p>
        </p:txBody>
      </p:sp>
      <p:sp>
        <p:nvSpPr>
          <p:cNvPr id="24" name="analyst"/>
          <p:cNvSpPr/>
          <p:nvPr/>
        </p:nvSpPr>
        <p:spPr>
          <a:xfrm>
            <a:off x="395021" y="6356299"/>
            <a:ext cx="679720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A6166"/>
                </a:solidFill>
                <a:latin typeface="Arial"/>
              </a:rPr>
              <a:t>Analyst: Ellen Thwaite, Keswick Research (fictional broker and author). Prices, forecasts and valuations are illustrative Keswick assumptions: the S-1 sets no price range.</a:t>
            </a:r>
          </a:p>
        </p:txBody>
      </p:sp>
      <p:sp>
        <p:nvSpPr>
          <p:cNvPr id="25" name="kd_h"/>
          <p:cNvSpPr/>
          <p:nvPr/>
        </p:nvSpPr>
        <p:spPr>
          <a:xfrm>
            <a:off x="7411684" y="1001451"/>
            <a:ext cx="438529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2: Key data</a:t>
            </a:r>
          </a:p>
        </p:txBody>
      </p:sp>
      <p:sp>
        <p:nvSpPr>
          <p:cNvPr id="26" name="kd_u"/>
          <p:cNvSpPr/>
          <p:nvPr/>
        </p:nvSpPr>
        <p:spPr>
          <a:xfrm>
            <a:off x="7411684" y="1164946"/>
            <a:ext cx="438529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As reported or derived from the S-1; $m unless stated</a:t>
            </a:r>
          </a:p>
        </p:txBody>
      </p:sp>
      <p:graphicFrame>
        <p:nvGraphicFramePr>
          <p:cNvPr id="27" name="kd"/>
          <p:cNvGraphicFramePr>
            <a:graphicFrameLocks noGrp="1"/>
          </p:cNvGraphicFramePr>
          <p:nvPr/>
        </p:nvGraphicFramePr>
        <p:xfrm>
          <a:off x="7411684" y="1305581"/>
          <a:ext cx="4385295" cy="200668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513746"/>
                <a:gridCol w="1871549"/>
              </a:tblGrid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Item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S-1 figure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Proposed listing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Nasdaq Global Select, "ANT"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IPO price range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not yet in the S-1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Revenue FY24 / FY25 ($m)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386 / 4,585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Revenue 1H25 / 1H26 ($m)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1,163 / 16,286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Operating loss 1H26 ($m)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A33A2A"/>
                          </a:solidFill>
                          <a:latin typeface="Arial"/>
                        </a:rPr>
                        <a:t>(693)</a:t>
                      </a:r>
                      <a:endParaRPr sz="75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Adj. operating income 1H26 ($m)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1,618 (10% margin)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Operating cash flow 1H26 ($m)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3,929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Cash and ST investments, Jun'26 ($m)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131,651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Fixed or minimum commitments, Jun'26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~$265.6bn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Fully diluted shares, Jun'26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16.94bn (implied)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Series H price per common share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$58.90 (implied)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kd_s"/>
          <p:cNvSpPr/>
          <p:nvPr/>
        </p:nvSpPr>
        <p:spPr>
          <a:xfrm>
            <a:off x="7411684" y="3338604"/>
            <a:ext cx="4385295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A6166"/>
                </a:solidFill>
                <a:latin typeface="Arial"/>
              </a:rPr>
              <a:t>Source: Anthropic, PBC S-1 (26 Oct 2026): Prospectus Summary, Summary Consolidated Financial Data,</a:t>
            </a:r>
            <a:br/>
            <a:r>
              <a:rPr sz="700" b="0" i="1">
                <a:solidFill>
                  <a:srgbClr val="5A6166"/>
                </a:solidFill>
                <a:latin typeface="Arial"/>
              </a:rPr>
              <a:t>MD&amp;A, Note 13; FD shares from the 5% Public Benefit Fund issuance; Series H $589.0095 at 10:1.</a:t>
            </a:r>
          </a:p>
        </p:txBody>
      </p:sp>
      <p:sp>
        <p:nvSpPr>
          <p:cNvPr id="29" name="sc_h"/>
          <p:cNvSpPr/>
          <p:nvPr/>
        </p:nvSpPr>
        <p:spPr>
          <a:xfrm>
            <a:off x="7411684" y="3727529"/>
            <a:ext cx="438529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3: Keswick scenarios (illustrative assumptions)</a:t>
            </a:r>
          </a:p>
        </p:txBody>
      </p:sp>
      <p:sp>
        <p:nvSpPr>
          <p:cNvPr id="30" name="sc_u"/>
          <p:cNvSpPr/>
          <p:nvPr/>
        </p:nvSpPr>
        <p:spPr>
          <a:xfrm>
            <a:off x="7411684" y="3891024"/>
            <a:ext cx="438529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Keswick base compute of $82.4bn held in every case; net cash $131.7bn; 16.94bn FD shares</a:t>
            </a:r>
          </a:p>
        </p:txBody>
      </p:sp>
      <p:graphicFrame>
        <p:nvGraphicFramePr>
          <p:cNvPr id="31" name="sc"/>
          <p:cNvGraphicFramePr>
            <a:graphicFrameLocks noGrp="1"/>
          </p:cNvGraphicFramePr>
          <p:nvPr/>
        </p:nvGraphicFramePr>
        <p:xfrm>
          <a:off x="7411684" y="4031659"/>
          <a:ext cx="4385295" cy="117056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824603"/>
                <a:gridCol w="531761"/>
                <a:gridCol w="514464"/>
                <a:gridCol w="514467"/>
              </a:tblGrid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Keswick scenario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Bear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Base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Bull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FY27E revenue ($bn)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94.7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123.6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152.4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Revenue per $1 of FY27E compute ($)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1.15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1.50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1.85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FY27E adjusted operating margin (%)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A33A2A"/>
                          </a:solidFill>
                          <a:latin typeface="Arial"/>
                        </a:rPr>
                        <a:t>(18.0)</a:t>
                      </a:r>
                      <a:endParaRPr sz="75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2.3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14.9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EV / FY27E revenue (x)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12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Value per share ($)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41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73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116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vs Series H $58.90 (%)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A33A2A"/>
                          </a:solidFill>
                          <a:latin typeface="Arial"/>
                        </a:rPr>
                        <a:t>(30)</a:t>
                      </a:r>
                      <a:endParaRPr sz="75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97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32" name="sc_s"/>
          <p:cNvSpPr/>
          <p:nvPr/>
        </p:nvSpPr>
        <p:spPr>
          <a:xfrm>
            <a:off x="7411684" y="5228562"/>
            <a:ext cx="438529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A6166"/>
                </a:solidFill>
                <a:latin typeface="Arial"/>
              </a:rPr>
              <a:t>Source: Keswick Research assumptions built on S-1 history and contract terms (pages 6 to 8).</a:t>
            </a:r>
          </a:p>
        </p:txBody>
      </p:sp>
      <p:sp>
        <p:nvSpPr>
          <p:cNvPr id="33" name="w_h"/>
          <p:cNvSpPr/>
          <p:nvPr/>
        </p:nvSpPr>
        <p:spPr>
          <a:xfrm>
            <a:off x="7411684" y="5510807"/>
            <a:ext cx="4385295" cy="129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1D5C63"/>
                </a:solidFill>
                <a:latin typeface="Arial"/>
              </a:rPr>
              <a:t>What would change our view</a:t>
            </a:r>
          </a:p>
        </p:txBody>
      </p:sp>
      <p:sp>
        <p:nvSpPr>
          <p:cNvPr id="34" name="w1"/>
          <p:cNvSpPr/>
          <p:nvPr/>
        </p:nvSpPr>
        <p:spPr>
          <a:xfrm>
            <a:off x="7411684" y="5666682"/>
            <a:ext cx="4385295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5339" indent="-97155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Up: Q3'26 reported above the ~$16.9bn the S-1 implies, or FY27E revenue per compute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dollar nearer Q2'26's 2.08 than our 1.50 base.</a:t>
            </a:r>
          </a:p>
        </p:txBody>
      </p:sp>
      <p:sp>
        <p:nvSpPr>
          <p:cNvPr id="35" name="w2"/>
          <p:cNvSpPr/>
          <p:nvPr/>
        </p:nvSpPr>
        <p:spPr>
          <a:xfrm>
            <a:off x="7411684" y="5971401"/>
            <a:ext cx="4385295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5339" indent="-97155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Down: FY27E revenue per compute dollar below 1.45 (base 1.50) takes the adjusted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margin below zero at our base compute (page 6).</a:t>
            </a: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0" name="chrome-1"/>
          <p:cNvCxnSpPr/>
          <p:nvPr/>
        </p:nvCxnSpPr>
        <p:spPr>
          <a:xfrm>
            <a:off x="411480" y="900684"/>
            <a:ext cx="11365992" cy="0"/>
          </a:xfrm>
          <a:prstGeom prst="line">
            <a:avLst/>
          </a:prstGeom>
          <a:ln w="12700">
            <a:solidFill>
              <a:srgbClr val="1D5C63"/>
            </a:solidFill>
          </a:ln>
        </p:spPr>
      </p:cxnSp>
      <p:sp>
        <p:nvSpPr>
          <p:cNvPr id="31" name="chrome-2"/>
          <p:cNvSpPr txBox="1"/>
          <p:nvPr/>
        </p:nvSpPr>
        <p:spPr>
          <a:xfrm>
            <a:off x="7205472" y="128016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1">
                <a:solidFill>
                  <a:srgbClr val="1D5C63"/>
                </a:solidFill>
                <a:latin typeface="Arial"/>
              </a:rPr>
              <a:t>KESWICK RESEARCH (FICTIONAL BROKER)  |  Initiation  |  27 October 2026</a:t>
            </a:r>
          </a:p>
        </p:txBody>
      </p:sp>
      <p:sp>
        <p:nvSpPr>
          <p:cNvPr id="32" name="chrome-3"/>
          <p:cNvSpPr txBox="1"/>
          <p:nvPr/>
        </p:nvSpPr>
        <p:spPr>
          <a:xfrm>
            <a:off x="411480" y="6547104"/>
            <a:ext cx="103327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A6166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33" name="chrome-4"/>
          <p:cNvSpPr txBox="1"/>
          <p:nvPr/>
        </p:nvSpPr>
        <p:spPr>
          <a:xfrm>
            <a:off x="11320272" y="654710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A6166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D5C63"/>
                </a:solidFill>
                <a:latin typeface="Arial"/>
              </a:rPr>
              <a:t>2  |  REVENUE DRIVERS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B1F22"/>
                </a:solidFill>
                <a:latin typeface="Cambria"/>
              </a:rPr>
              <a:t>Revenue rose from $376m in Q1'25 to $11.6bn in Q2'26; the S-1 implies ~$16.9bn for Q3'26</a:t>
            </a:r>
          </a:p>
        </p:txBody>
      </p:sp>
      <p:sp>
        <p:nvSpPr>
          <p:cNvPr id="4" name="rev_h"/>
          <p:cNvSpPr/>
          <p:nvPr/>
        </p:nvSpPr>
        <p:spPr>
          <a:xfrm>
            <a:off x="411480" y="1005840"/>
            <a:ext cx="5835469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4: Quarterly revenue</a:t>
            </a:r>
          </a:p>
        </p:txBody>
      </p:sp>
      <p:sp>
        <p:nvSpPr>
          <p:cNvPr id="5" name="rev_u"/>
          <p:cNvSpPr/>
          <p:nvPr/>
        </p:nvSpPr>
        <p:spPr>
          <a:xfrm>
            <a:off x="411480" y="1178052"/>
            <a:ext cx="5835469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$m, with q/q growth beneath; Q3'26 in plum is implied by the S-1 (86x Q4'24's $197m), not reported</a:t>
            </a:r>
          </a:p>
        </p:txBody>
      </p:sp>
      <p:graphicFrame>
        <p:nvGraphicFramePr>
          <p:cNvPr id="6" name="rev"/>
          <p:cNvGraphicFramePr>
            <a:graphicFrameLocks noGrp="1"/>
          </p:cNvGraphicFramePr>
          <p:nvPr/>
        </p:nvGraphicFramePr>
        <p:xfrm>
          <a:off x="411480" y="1327404"/>
          <a:ext cx="5835469" cy="48630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v_s"/>
          <p:cNvSpPr/>
          <p:nvPr/>
        </p:nvSpPr>
        <p:spPr>
          <a:xfrm>
            <a:off x="411480" y="6217920"/>
            <a:ext cx="583546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Quarterly Results of Operations; Risk Factors (Q4'24 revenue $197m); Business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(Q3'26 revenue 86x Q4'24). Keswick q/q computation.</a:t>
            </a:r>
          </a:p>
        </p:txBody>
      </p:sp>
      <p:sp>
        <p:nvSpPr>
          <p:cNvPr id="8" name="mix_h"/>
          <p:cNvSpPr/>
          <p:nvPr/>
        </p:nvSpPr>
        <p:spPr>
          <a:xfrm>
            <a:off x="6475549" y="1005840"/>
            <a:ext cx="5304971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5: Revenue by pricing model, geography and channel</a:t>
            </a:r>
          </a:p>
        </p:txBody>
      </p:sp>
      <p:sp>
        <p:nvSpPr>
          <p:cNvPr id="9" name="mix_u"/>
          <p:cNvSpPr/>
          <p:nvPr/>
        </p:nvSpPr>
        <p:spPr>
          <a:xfrm>
            <a:off x="6475549" y="1178052"/>
            <a:ext cx="5304971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$m unless stated</a:t>
            </a:r>
          </a:p>
        </p:txBody>
      </p:sp>
      <p:graphicFrame>
        <p:nvGraphicFramePr>
          <p:cNvPr id="10" name="mix"/>
          <p:cNvGraphicFramePr>
            <a:graphicFrameLocks noGrp="1"/>
          </p:cNvGraphicFramePr>
          <p:nvPr/>
        </p:nvGraphicFramePr>
        <p:xfrm>
          <a:off x="6475549" y="1327404"/>
          <a:ext cx="5304971" cy="212445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994395"/>
                <a:gridCol w="437162"/>
                <a:gridCol w="437162"/>
                <a:gridCol w="452852"/>
                <a:gridCol w="452852"/>
                <a:gridCol w="530548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$m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FY23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FY25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1H25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1H26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By pricing model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Consumption-based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288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3,796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983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13,064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Subscription-based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98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789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180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3,222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Consumption share (%)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95.1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74.6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82.8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84.5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80.2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By billing geography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United States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263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3,362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820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11,763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International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123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1,223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343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4,523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International share (%)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17.1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31.9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26.7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29.5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27.8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By channel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Via CSP marketplaces (% of revenue, approx.)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11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Total revenue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41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386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4,585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1,163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16,286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mix_s"/>
          <p:cNvSpPr/>
          <p:nvPr/>
        </p:nvSpPr>
        <p:spPr>
          <a:xfrm>
            <a:off x="6475549" y="3479292"/>
            <a:ext cx="530497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Notes to Financial Statements, Note 2 Revenue (including the CSP marketplace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shares); MD&amp;A.</a:t>
            </a:r>
          </a:p>
        </p:txBody>
      </p:sp>
      <p:sp>
        <p:nvSpPr>
          <p:cNvPr id="12" name="cust_h"/>
          <p:cNvSpPr/>
          <p:nvPr/>
        </p:nvSpPr>
        <p:spPr>
          <a:xfrm>
            <a:off x="6475549" y="3890772"/>
            <a:ext cx="5304971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6: Customers with $100k+ of TTM revenue</a:t>
            </a:r>
          </a:p>
        </p:txBody>
      </p:sp>
      <p:sp>
        <p:nvSpPr>
          <p:cNvPr id="13" name="cust_u"/>
          <p:cNvSpPr/>
          <p:nvPr/>
        </p:nvSpPr>
        <p:spPr>
          <a:xfrm>
            <a:off x="6475549" y="4062984"/>
            <a:ext cx="5304971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~ and &gt; as the S-1 words each figure (approximately, more than)</a:t>
            </a:r>
          </a:p>
        </p:txBody>
      </p:sp>
      <p:graphicFrame>
        <p:nvGraphicFramePr>
          <p:cNvPr id="14" name="cust"/>
          <p:cNvGraphicFramePr>
            <a:graphicFrameLocks noGrp="1"/>
          </p:cNvGraphicFramePr>
          <p:nvPr/>
        </p:nvGraphicFramePr>
        <p:xfrm>
          <a:off x="6475549" y="4212336"/>
          <a:ext cx="5304971" cy="106222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690110"/>
                <a:gridCol w="1449637"/>
                <a:gridCol w="911616"/>
                <a:gridCol w="1071494"/>
                <a:gridCol w="1182114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Count as of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Customers at $100k+ TTM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Revenue period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Their revenue ($m)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Share of revenue (%)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Dec'23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~20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FY23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~37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~90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Dec'24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~200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FY24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~220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~57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Dec'25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~1,500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FY25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~3,500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~76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Jun'26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&gt;6,000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1H26*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12,000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~74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Sep'26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&gt;11,900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5A6166"/>
                          </a:solidFill>
                          <a:latin typeface="Arial"/>
                        </a:rPr>
                        <a:t>not given</a:t>
                      </a:r>
                      <a:endParaRPr sz="800" b="1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5A6166"/>
                          </a:solidFill>
                          <a:latin typeface="Arial"/>
                        </a:rPr>
                        <a:t>not given</a:t>
                      </a:r>
                      <a:endParaRPr sz="800" b="1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cust_f"/>
          <p:cNvSpPr/>
          <p:nvPr/>
        </p:nvSpPr>
        <p:spPr>
          <a:xfrm>
            <a:off x="6475549" y="5301996"/>
            <a:ext cx="530497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* The S-1 pairs the Jun'26 TTM customer count with their 1H26 revenue; we show the pairing as given.</a:t>
            </a:r>
          </a:p>
        </p:txBody>
      </p:sp>
      <p:sp>
        <p:nvSpPr>
          <p:cNvPr id="16" name="cust_s"/>
          <p:cNvSpPr/>
          <p:nvPr/>
        </p:nvSpPr>
        <p:spPr>
          <a:xfrm>
            <a:off x="6475549" y="5443728"/>
            <a:ext cx="530497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Key Factors Affecting Our Performance; Results of Operations.</a:t>
            </a:r>
          </a:p>
        </p:txBody>
      </p:sp>
      <p:sp>
        <p:nvSpPr>
          <p:cNvPr id="17" name="n2a"/>
          <p:cNvSpPr/>
          <p:nvPr/>
        </p:nvSpPr>
        <p:spPr>
          <a:xfrm>
            <a:off x="6475549" y="5740908"/>
            <a:ext cx="5304971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One reportable segment: the S-1 splits revenue by pricing model, billing geography and channel, not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by product. Subscriptions grew faster in 1H26 (+1,690% against +1,229%); consumption is still 80%.</a:t>
            </a:r>
          </a:p>
        </p:txBody>
      </p:sp>
      <p:sp>
        <p:nvSpPr>
          <p:cNvPr id="18" name="n2c"/>
          <p:cNvSpPr/>
          <p:nvPr/>
        </p:nvSpPr>
        <p:spPr>
          <a:xfrm>
            <a:off x="6475549" y="6062472"/>
            <a:ext cx="5304971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Net revenue retention about 900% at Sep'26; about 79% of Q3'26 revenue came from outside the top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five customers, up from about 64% in Q1'26.</a:t>
            </a:r>
          </a:p>
        </p:txBody>
      </p:sp>
      <p:sp>
        <p:nvSpPr>
          <p:cNvPr id="19" name="qoq-0-text"/>
          <p:cNvSpPr/>
          <p:nvPr/>
        </p:nvSpPr>
        <p:spPr>
          <a:xfrm>
            <a:off x="1772974" y="5932780"/>
            <a:ext cx="202040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+91</a:t>
            </a:r>
          </a:p>
        </p:txBody>
      </p:sp>
      <p:sp>
        <p:nvSpPr>
          <p:cNvPr id="20" name="qoq-1-text"/>
          <p:cNvSpPr/>
          <p:nvPr/>
        </p:nvSpPr>
        <p:spPr>
          <a:xfrm>
            <a:off x="2410273" y="5932780"/>
            <a:ext cx="255013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+109</a:t>
            </a:r>
          </a:p>
        </p:txBody>
      </p:sp>
      <p:sp>
        <p:nvSpPr>
          <p:cNvPr id="21" name="qoq-2-text"/>
          <p:cNvSpPr/>
          <p:nvPr/>
        </p:nvSpPr>
        <p:spPr>
          <a:xfrm>
            <a:off x="3100544" y="5932780"/>
            <a:ext cx="202040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+76</a:t>
            </a:r>
          </a:p>
        </p:txBody>
      </p:sp>
      <p:sp>
        <p:nvSpPr>
          <p:cNvPr id="22" name="qoq-3-text"/>
          <p:cNvSpPr/>
          <p:nvPr/>
        </p:nvSpPr>
        <p:spPr>
          <a:xfrm>
            <a:off x="3764328" y="5932780"/>
            <a:ext cx="202040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+48</a:t>
            </a:r>
          </a:p>
        </p:txBody>
      </p:sp>
      <p:sp>
        <p:nvSpPr>
          <p:cNvPr id="23" name="qoq-4-text"/>
          <p:cNvSpPr/>
          <p:nvPr/>
        </p:nvSpPr>
        <p:spPr>
          <a:xfrm>
            <a:off x="4401626" y="5932780"/>
            <a:ext cx="255013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+132</a:t>
            </a:r>
          </a:p>
        </p:txBody>
      </p:sp>
      <p:sp>
        <p:nvSpPr>
          <p:cNvPr id="24" name="qoq-5-text"/>
          <p:cNvSpPr/>
          <p:nvPr/>
        </p:nvSpPr>
        <p:spPr>
          <a:xfrm>
            <a:off x="5065411" y="5932780"/>
            <a:ext cx="255013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+144</a:t>
            </a:r>
          </a:p>
        </p:txBody>
      </p:sp>
      <p:sp>
        <p:nvSpPr>
          <p:cNvPr id="25" name="qoq-6-text"/>
          <p:cNvSpPr/>
          <p:nvPr/>
        </p:nvSpPr>
        <p:spPr>
          <a:xfrm>
            <a:off x="5727870" y="5932780"/>
            <a:ext cx="257664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~+47</a:t>
            </a:r>
          </a:p>
        </p:txBody>
      </p:sp>
      <p:sp>
        <p:nvSpPr>
          <p:cNvPr id="26" name="qoq-label"/>
          <p:cNvSpPr/>
          <p:nvPr/>
        </p:nvSpPr>
        <p:spPr>
          <a:xfrm>
            <a:off x="594283" y="5932780"/>
            <a:ext cx="284035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q/q %</a:t>
            </a:r>
          </a:p>
        </p:txBody>
      </p:sp>
      <p:sp>
        <p:nvSpPr>
          <p:cNvPr id="27" name="step-box"/>
          <p:cNvSpPr/>
          <p:nvPr/>
        </p:nvSpPr>
        <p:spPr>
          <a:xfrm>
            <a:off x="2293600" y="2557206"/>
            <a:ext cx="2487546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D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step-label"/>
          <p:cNvSpPr/>
          <p:nvPr/>
        </p:nvSpPr>
        <p:spPr>
          <a:xfrm>
            <a:off x="2321032" y="2584638"/>
            <a:ext cx="243268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1B1F22"/>
                </a:solidFill>
                <a:latin typeface="Arial"/>
              </a:rPr>
              <a:t>Quarterly revenue rose $9.5bn in two quarters, from</a:t>
            </a:r>
            <a:br/>
            <a:r>
              <a:rPr sz="800" b="0" i="0">
                <a:solidFill>
                  <a:srgbClr val="1B1F22"/>
                </a:solidFill>
                <a:latin typeface="Arial"/>
              </a:rPr>
              <a:t>$2.0bn in Q4'25 to $11.6bn in Q2'26: more than twice</a:t>
            </a:r>
            <a:br/>
            <a:r>
              <a:rPr sz="800" b="0" i="0">
                <a:solidFill>
                  <a:srgbClr val="1B1F22"/>
                </a:solidFill>
                <a:latin typeface="Arial"/>
              </a:rPr>
              <a:t>all of FY25 ($4.6bn).</a:t>
            </a:r>
          </a:p>
        </p:txBody>
      </p:sp>
      <p:cxnSp>
        <p:nvCxnSpPr>
          <p:cNvPr id="29" name="step-leader"/>
          <p:cNvCxnSpPr/>
          <p:nvPr/>
        </p:nvCxnSpPr>
        <p:spPr>
          <a:xfrm>
            <a:off x="4781146" y="2977830"/>
            <a:ext cx="182880" cy="182880"/>
          </a:xfrm>
          <a:prstGeom prst="line">
            <a:avLst/>
          </a:prstGeom>
          <a:ln w="9525">
            <a:solidFill>
              <a:srgbClr val="C9CDCF"/>
            </a:solidFill>
          </a:ln>
        </p:spPr>
      </p:cxn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3" name="chrome-1"/>
          <p:cNvCxnSpPr/>
          <p:nvPr/>
        </p:nvCxnSpPr>
        <p:spPr>
          <a:xfrm>
            <a:off x="411480" y="900684"/>
            <a:ext cx="11365992" cy="0"/>
          </a:xfrm>
          <a:prstGeom prst="line">
            <a:avLst/>
          </a:prstGeom>
          <a:ln w="12700">
            <a:solidFill>
              <a:srgbClr val="1D5C63"/>
            </a:solidFill>
          </a:ln>
        </p:spPr>
      </p:cxnSp>
      <p:sp>
        <p:nvSpPr>
          <p:cNvPr id="24" name="chrome-2"/>
          <p:cNvSpPr txBox="1"/>
          <p:nvPr/>
        </p:nvSpPr>
        <p:spPr>
          <a:xfrm>
            <a:off x="7205472" y="128016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1">
                <a:solidFill>
                  <a:srgbClr val="1D5C63"/>
                </a:solidFill>
                <a:latin typeface="Arial"/>
              </a:rPr>
              <a:t>KESWICK RESEARCH (FICTIONAL BROKER)  |  Initiation  |  27 October 2026</a:t>
            </a:r>
          </a:p>
        </p:txBody>
      </p:sp>
      <p:sp>
        <p:nvSpPr>
          <p:cNvPr id="25" name="chrome-3"/>
          <p:cNvSpPr txBox="1"/>
          <p:nvPr/>
        </p:nvSpPr>
        <p:spPr>
          <a:xfrm>
            <a:off x="411480" y="6547104"/>
            <a:ext cx="103327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A6166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6" name="chrome-4"/>
          <p:cNvSpPr txBox="1"/>
          <p:nvPr/>
        </p:nvSpPr>
        <p:spPr>
          <a:xfrm>
            <a:off x="11320272" y="654710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A6166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395021" y="395021"/>
            <a:ext cx="11401958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D5C63"/>
                </a:solidFill>
                <a:latin typeface="Arial"/>
              </a:rPr>
              <a:t>3  |  UNIT ECONOMICS</a:t>
            </a:r>
          </a:p>
        </p:txBody>
      </p:sp>
      <p:sp>
        <p:nvSpPr>
          <p:cNvPr id="3" name="title"/>
          <p:cNvSpPr/>
          <p:nvPr/>
        </p:nvSpPr>
        <p:spPr>
          <a:xfrm>
            <a:off x="395021" y="535656"/>
            <a:ext cx="11401958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1B1F22"/>
                </a:solidFill>
                <a:latin typeface="Cambria"/>
              </a:rPr>
              <a:t>Gross margin swung from -94.8% in FY24 to 85.4% in 1H26 as revenue outran fixed compute</a:t>
            </a:r>
          </a:p>
        </p:txBody>
      </p:sp>
      <p:sp>
        <p:nvSpPr>
          <p:cNvPr id="4" name="gm_h"/>
          <p:cNvSpPr/>
          <p:nvPr/>
        </p:nvSpPr>
        <p:spPr>
          <a:xfrm>
            <a:off x="395021" y="1001451"/>
            <a:ext cx="486195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7: Gross margin by period</a:t>
            </a:r>
          </a:p>
        </p:txBody>
      </p:sp>
      <p:sp>
        <p:nvSpPr>
          <p:cNvPr id="5" name="gm_u"/>
          <p:cNvSpPr/>
          <p:nvPr/>
        </p:nvSpPr>
        <p:spPr>
          <a:xfrm>
            <a:off x="395021" y="1164946"/>
            <a:ext cx="486195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% of revenue; revenue less cost of revenue (Note 8, functional view); red is negative</a:t>
            </a:r>
          </a:p>
        </p:txBody>
      </p:sp>
      <p:graphicFrame>
        <p:nvGraphicFramePr>
          <p:cNvPr id="6" name="gm"/>
          <p:cNvGraphicFramePr>
            <a:graphicFrameLocks noGrp="1"/>
          </p:cNvGraphicFramePr>
          <p:nvPr/>
        </p:nvGraphicFramePr>
        <p:xfrm>
          <a:off x="395021" y="1305581"/>
          <a:ext cx="4861957" cy="33621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gm_s"/>
          <p:cNvSpPr/>
          <p:nvPr/>
        </p:nvSpPr>
        <p:spPr>
          <a:xfrm>
            <a:off x="395021" y="4694109"/>
            <a:ext cx="4861957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A6166"/>
                </a:solidFill>
                <a:latin typeface="Arial"/>
              </a:rPr>
              <a:t>Source: Anthropic, PBC S-1 (26 Oct 2026): Notes to Financial Statements, Note 8 Supplemental Operating Expense</a:t>
            </a:r>
            <a:br/>
            <a:r>
              <a:rPr sz="700" b="0" i="1">
                <a:solidFill>
                  <a:srgbClr val="5A6166"/>
                </a:solidFill>
                <a:latin typeface="Arial"/>
              </a:rPr>
              <a:t>Information. Keswick computation.</a:t>
            </a:r>
          </a:p>
        </p:txBody>
      </p:sp>
      <p:sp>
        <p:nvSpPr>
          <p:cNvPr id="8" name="eff_h"/>
          <p:cNvSpPr/>
          <p:nvPr/>
        </p:nvSpPr>
        <p:spPr>
          <a:xfrm>
            <a:off x="395021" y="5083034"/>
            <a:ext cx="486195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8: Efficiency measures the S-1 discloses</a:t>
            </a:r>
          </a:p>
        </p:txBody>
      </p:sp>
      <p:sp>
        <p:nvSpPr>
          <p:cNvPr id="9" name="eff_u"/>
          <p:cNvSpPr/>
          <p:nvPr/>
        </p:nvSpPr>
        <p:spPr>
          <a:xfrm>
            <a:off x="395021" y="5246529"/>
            <a:ext cx="486195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as stated in the S-1</a:t>
            </a:r>
          </a:p>
        </p:txBody>
      </p:sp>
      <p:graphicFrame>
        <p:nvGraphicFramePr>
          <p:cNvPr id="10" name="eff"/>
          <p:cNvGraphicFramePr>
            <a:graphicFrameLocks noGrp="1"/>
          </p:cNvGraphicFramePr>
          <p:nvPr/>
        </p:nvGraphicFramePr>
        <p:xfrm>
          <a:off x="395021" y="5387164"/>
          <a:ext cx="4861957" cy="83612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477798"/>
                <a:gridCol w="2384159"/>
              </a:tblGrid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Metric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As the S-1 states it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TTM revenue per employee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$1.4m (Sep'25) to &gt;$6.6m (Sep'26)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Q2'26 growth y/y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revenue +1,368% against compute +300%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Customer cost per task, Opus 5.5 vs Opus 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about 40% lower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Code contributions written by Claude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over 90% (Sep'26)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eff_s"/>
          <p:cNvSpPr/>
          <p:nvPr/>
        </p:nvSpPr>
        <p:spPr>
          <a:xfrm>
            <a:off x="395021" y="6249619"/>
            <a:ext cx="4861957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A6166"/>
                </a:solidFill>
                <a:latin typeface="Arial"/>
              </a:rPr>
              <a:t>Source: Anthropic, PBC S-1 (26 Oct 2026): Prospectus Summary, Strengths of Our Financial Model; MD&amp;A, Operating</a:t>
            </a:r>
            <a:br/>
            <a:r>
              <a:rPr sz="700" b="0" i="1">
                <a:solidFill>
                  <a:srgbClr val="5A6166"/>
                </a:solidFill>
                <a:latin typeface="Arial"/>
              </a:rPr>
              <a:t>Efficiency and Our Customers.</a:t>
            </a:r>
          </a:p>
        </p:txBody>
      </p:sp>
      <p:sp>
        <p:nvSpPr>
          <p:cNvPr id="12" name="fn_h"/>
          <p:cNvSpPr/>
          <p:nvPr/>
        </p:nvSpPr>
        <p:spPr>
          <a:xfrm>
            <a:off x="5476434" y="1001451"/>
            <a:ext cx="632054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9: Operating expenses by function</a:t>
            </a:r>
          </a:p>
        </p:txBody>
      </p:sp>
      <p:sp>
        <p:nvSpPr>
          <p:cNvPr id="13" name="fn_u"/>
          <p:cNvSpPr/>
          <p:nvPr/>
        </p:nvSpPr>
        <p:spPr>
          <a:xfrm>
            <a:off x="5476434" y="1164946"/>
            <a:ext cx="632054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$m and % of revenue; the S-1's Note 8 presentation, which carries cost of revenue</a:t>
            </a:r>
          </a:p>
        </p:txBody>
      </p:sp>
      <p:graphicFrame>
        <p:nvGraphicFramePr>
          <p:cNvPr id="14" name="fn"/>
          <p:cNvGraphicFramePr>
            <a:graphicFrameLocks noGrp="1"/>
          </p:cNvGraphicFramePr>
          <p:nvPr/>
        </p:nvGraphicFramePr>
        <p:xfrm>
          <a:off x="5476434" y="1305581"/>
          <a:ext cx="6320545" cy="267558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460043"/>
                <a:gridCol w="902559"/>
                <a:gridCol w="744684"/>
                <a:gridCol w="744684"/>
                <a:gridCol w="744684"/>
                <a:gridCol w="723891"/>
              </a:tblGrid>
              <a:tr h="167224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FY23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FY24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FY25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1H25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1H26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$m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Revenue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41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386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4,585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1,163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16,286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Cost of revenue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752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2,773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1,019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2,380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Gross profit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15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(366)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1,812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144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13,906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Research and development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422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2,275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6,338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1,850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9,741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Sales and marketing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76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163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911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239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3,808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General and administrative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68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176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1,123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190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1,050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Bartz settlement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1,500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Operating loss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(551)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(2,980)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(8,060)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(2,135)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(693)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% of revenue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Gross margin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36.6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(94.8)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39.5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12.4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85.4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Research and development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1,029.3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589.4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138.2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159.1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59.8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Sales and marketing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185.4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42.2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19.9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20.6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23.4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General and administrative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165.9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45.6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24.5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16.3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6.4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Operating margin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(1,343.9)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(772.0)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(175.8)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(183.6)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A33A2A"/>
                          </a:solidFill>
                          <a:latin typeface="Arial"/>
                        </a:rPr>
                        <a:t>(4.3)</a:t>
                      </a:r>
                      <a:endParaRPr sz="75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fn_s"/>
          <p:cNvSpPr/>
          <p:nvPr/>
        </p:nvSpPr>
        <p:spPr>
          <a:xfrm>
            <a:off x="5476434" y="4007500"/>
            <a:ext cx="632054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A6166"/>
                </a:solidFill>
                <a:latin typeface="Arial"/>
              </a:rPr>
              <a:t>Source: Anthropic, PBC S-1 (26 Oct 2026): Notes to Financial Statements, Note 8; Results of Operations. Keswick computation of percentages.</a:t>
            </a:r>
          </a:p>
        </p:txBody>
      </p:sp>
      <p:sp>
        <p:nvSpPr>
          <p:cNvPr id="16" name="rpc_h"/>
          <p:cNvSpPr/>
          <p:nvPr/>
        </p:nvSpPr>
        <p:spPr>
          <a:xfrm>
            <a:off x="5476434" y="4289745"/>
            <a:ext cx="632054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10: Revenue per dollar of compute, by quarter</a:t>
            </a:r>
          </a:p>
        </p:txBody>
      </p:sp>
      <p:sp>
        <p:nvSpPr>
          <p:cNvPr id="17" name="rpc_u"/>
          <p:cNvSpPr/>
          <p:nvPr/>
        </p:nvSpPr>
        <p:spPr>
          <a:xfrm>
            <a:off x="5476434" y="4453240"/>
            <a:ext cx="632054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all compute and infrastructure, every workload; computed by Keswick</a:t>
            </a:r>
          </a:p>
        </p:txBody>
      </p:sp>
      <p:graphicFrame>
        <p:nvGraphicFramePr>
          <p:cNvPr id="18" name="rpc"/>
          <p:cNvGraphicFramePr>
            <a:graphicFrameLocks noGrp="1"/>
          </p:cNvGraphicFramePr>
          <p:nvPr/>
        </p:nvGraphicFramePr>
        <p:xfrm>
          <a:off x="5476434" y="4593875"/>
          <a:ext cx="6320545" cy="66889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666703"/>
                <a:gridCol w="600264"/>
                <a:gridCol w="600264"/>
                <a:gridCol w="600264"/>
                <a:gridCol w="600264"/>
                <a:gridCol w="600264"/>
                <a:gridCol w="652522"/>
              </a:tblGrid>
              <a:tr h="167224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Q1'25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Q2'25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Q3'25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Q4'25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Q1'26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Q2'26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Revenue ($m)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376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787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1,382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2,040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4,731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11,555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Compute and infrastructure ($m)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944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1,390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2,047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2,945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3,387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B1F22"/>
                          </a:solidFill>
                          <a:latin typeface="Arial"/>
                        </a:rPr>
                        <a:t>5,558</a:t>
                      </a:r>
                      <a:endParaRPr sz="75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6722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Revenue per $1 of compute ($)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0.40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0.57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0.68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0.69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1.40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1F22"/>
                          </a:solidFill>
                          <a:latin typeface="Arial"/>
                        </a:rPr>
                        <a:t>2.08</a:t>
                      </a:r>
                      <a:endParaRPr sz="75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335" marR="26335" marT="26335" marB="26335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pc_s"/>
          <p:cNvSpPr/>
          <p:nvPr/>
        </p:nvSpPr>
        <p:spPr>
          <a:xfrm>
            <a:off x="5476434" y="5289106"/>
            <a:ext cx="632054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>
                <a:solidFill>
                  <a:srgbClr val="5A6166"/>
                </a:solidFill>
                <a:latin typeface="Arial"/>
              </a:rPr>
              <a:t>Source: Anthropic, PBC S-1 (26 Oct 2026): MD&amp;A, Quarterly Results of Operations; Compute Efficiency. Keswick computation.</a:t>
            </a:r>
          </a:p>
        </p:txBody>
      </p:sp>
      <p:sp>
        <p:nvSpPr>
          <p:cNvPr id="20" name="n3a"/>
          <p:cNvSpPr/>
          <p:nvPr/>
        </p:nvSpPr>
        <p:spPr>
          <a:xfrm>
            <a:off x="5476434" y="5571351"/>
            <a:ext cx="6320545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5339" indent="-97155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Cost of revenue was 14.6% of 1H26 revenue ($2.4bn) against $8.9bn of compute and infrastructure. Cost of revenue also holds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personnel and overhead, so at least $6.6bn of compute served research, model development, internal use and free access.</a:t>
            </a:r>
          </a:p>
        </p:txBody>
      </p:sp>
      <p:sp>
        <p:nvSpPr>
          <p:cNvPr id="21" name="n3b"/>
          <p:cNvSpPr/>
          <p:nvPr/>
        </p:nvSpPr>
        <p:spPr>
          <a:xfrm>
            <a:off x="5476434" y="5876070"/>
            <a:ext cx="6320545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5339" indent="-97155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R&amp;D was 59.8% of 1H26 revenue; the S-1 lists compute for model development, research and internal use, personnel, software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and overhead, and gives no split. Margin can fall when compute lands ahead of revenue: FY23's 36.6% became -94.8% in FY24.</a:t>
            </a:r>
          </a:p>
        </p:txBody>
      </p:sp>
      <p:sp>
        <p:nvSpPr>
          <p:cNvPr id="22" name="n3c"/>
          <p:cNvSpPr/>
          <p:nvPr/>
        </p:nvSpPr>
        <p:spPr>
          <a:xfrm>
            <a:off x="5476434" y="6180789"/>
            <a:ext cx="6320545" cy="278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5339" indent="-97155">
              <a:lnSpc>
                <a:spcPts val="952"/>
              </a:lnSpc>
              <a:spcBef>
                <a:spcPts val="0"/>
              </a:spcBef>
              <a:spcAft>
                <a:spcPts val="288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Two S&amp;M ratios, two definitions: Note 8's functional sales and marketing (23.4% of 1H26 revenue, $3,808m) includes personnel;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the by-nature 'sales, marketing and partnerships' line ($3,168m, 19.5%) excludes them.</a:t>
            </a: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6" name="chrome-1"/>
          <p:cNvCxnSpPr/>
          <p:nvPr/>
        </p:nvCxnSpPr>
        <p:spPr>
          <a:xfrm>
            <a:off x="411480" y="900684"/>
            <a:ext cx="11365992" cy="0"/>
          </a:xfrm>
          <a:prstGeom prst="line">
            <a:avLst/>
          </a:prstGeom>
          <a:ln w="12700">
            <a:solidFill>
              <a:srgbClr val="1D5C63"/>
            </a:solidFill>
          </a:ln>
        </p:spPr>
      </p:cxnSp>
      <p:sp>
        <p:nvSpPr>
          <p:cNvPr id="27" name="chrome-2"/>
          <p:cNvSpPr txBox="1"/>
          <p:nvPr/>
        </p:nvSpPr>
        <p:spPr>
          <a:xfrm>
            <a:off x="7205472" y="128016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1">
                <a:solidFill>
                  <a:srgbClr val="1D5C63"/>
                </a:solidFill>
                <a:latin typeface="Arial"/>
              </a:rPr>
              <a:t>KESWICK RESEARCH (FICTIONAL BROKER)  |  Initiation  |  27 October 2026</a:t>
            </a:r>
          </a:p>
        </p:txBody>
      </p:sp>
      <p:sp>
        <p:nvSpPr>
          <p:cNvPr id="28" name="chrome-3"/>
          <p:cNvSpPr txBox="1"/>
          <p:nvPr/>
        </p:nvSpPr>
        <p:spPr>
          <a:xfrm>
            <a:off x="411480" y="6547104"/>
            <a:ext cx="103327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A6166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9" name="chrome-4"/>
          <p:cNvSpPr txBox="1"/>
          <p:nvPr/>
        </p:nvSpPr>
        <p:spPr>
          <a:xfrm>
            <a:off x="11320272" y="654710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A6166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D5C63"/>
                </a:solidFill>
                <a:latin typeface="Arial"/>
              </a:rPr>
              <a:t>4  |  COMPUTE COSTS AND COMMITMENTS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B1F22"/>
                </a:solidFill>
                <a:latin typeface="Cambria"/>
              </a:rPr>
              <a:t>The S-1 puts fixed compute commitments at ~$265.6bn at Jun'26, with ~$245bn more signed since</a:t>
            </a:r>
          </a:p>
        </p:txBody>
      </p:sp>
      <p:sp>
        <p:nvSpPr>
          <p:cNvPr id="4" name="cc_h"/>
          <p:cNvSpPr/>
          <p:nvPr/>
        </p:nvSpPr>
        <p:spPr>
          <a:xfrm>
            <a:off x="411480" y="1005840"/>
            <a:ext cx="4951307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11: Named compute contracts, floors and ceilings</a:t>
            </a:r>
          </a:p>
        </p:txBody>
      </p:sp>
      <p:sp>
        <p:nvSpPr>
          <p:cNvPr id="5" name="cc_u"/>
          <p:cNvSpPr/>
          <p:nvPr/>
        </p:nvSpPr>
        <p:spPr>
          <a:xfrm>
            <a:off x="411480" y="1178052"/>
            <a:ext cx="495130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$bn over each contract's term as disclosed; teal = floor, grey = ceiling or conditional; the two do not add</a:t>
            </a:r>
          </a:p>
        </p:txBody>
      </p:sp>
      <p:graphicFrame>
        <p:nvGraphicFramePr>
          <p:cNvPr id="6" name="cc"/>
          <p:cNvGraphicFramePr>
            <a:graphicFrameLocks noGrp="1"/>
          </p:cNvGraphicFramePr>
          <p:nvPr/>
        </p:nvGraphicFramePr>
        <p:xfrm>
          <a:off x="411480" y="1327404"/>
          <a:ext cx="4951307" cy="28633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c_s"/>
          <p:cNvSpPr/>
          <p:nvPr/>
        </p:nvSpPr>
        <p:spPr>
          <a:xfrm>
            <a:off x="411480" y="4218178"/>
            <a:ext cx="495130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Contractual Obligations (Infrastructure Service Arrangements;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Infrastructure Equipment Leases). Keswick subtotal.</a:t>
            </a:r>
          </a:p>
        </p:txBody>
      </p:sp>
      <p:sp>
        <p:nvSpPr>
          <p:cNvPr id="8" name="agg_h"/>
          <p:cNvSpPr/>
          <p:nvPr/>
        </p:nvSpPr>
        <p:spPr>
          <a:xfrm>
            <a:off x="411480" y="4629658"/>
            <a:ext cx="4951307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12: The S-1's own aggregates</a:t>
            </a:r>
          </a:p>
        </p:txBody>
      </p:sp>
      <p:sp>
        <p:nvSpPr>
          <p:cNvPr id="9" name="agg_u"/>
          <p:cNvSpPr/>
          <p:nvPr/>
        </p:nvSpPr>
        <p:spPr>
          <a:xfrm>
            <a:off x="411480" y="4801870"/>
            <a:ext cx="495130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$bn; different dates and bases, so the rows overlap and are not additive</a:t>
            </a:r>
          </a:p>
        </p:txBody>
      </p:sp>
      <p:graphicFrame>
        <p:nvGraphicFramePr>
          <p:cNvPr id="10" name="agg"/>
          <p:cNvGraphicFramePr>
            <a:graphicFrameLocks noGrp="1"/>
          </p:cNvGraphicFramePr>
          <p:nvPr/>
        </p:nvGraphicFramePr>
        <p:xfrm>
          <a:off x="411480" y="4951222"/>
          <a:ext cx="4951307" cy="123926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3515428"/>
                <a:gridCol w="841722"/>
                <a:gridCol w="594157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What the S-1 aggregates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As of / signed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$bn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Non-cancellable purchase commitments over one year (Note 13)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Dec'25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54.6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Fixed or minimum purchase commitments (Note 13)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5A6166"/>
                          </a:solidFill>
                          <a:latin typeface="Arial"/>
                        </a:rPr>
                        <a:t>Jun'26</a:t>
                      </a:r>
                      <a:endParaRPr sz="800" b="1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~265.6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Minimum obligations signed after Jun'26, some conditional (Note 17)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Jul'26 to filing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~245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Short-term minimums signed after Jun'26 (Note 17)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Jul'26 to filing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~21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Further TPU capacity for 2028 to 2031, estimated (MD&amp;A)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not in the above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125 to 150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AMD systems if the initial tranche is fully procured (MD&amp;A)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not in the above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&gt;20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gg_s"/>
          <p:cNvSpPr/>
          <p:nvPr/>
        </p:nvSpPr>
        <p:spPr>
          <a:xfrm>
            <a:off x="411480" y="6217920"/>
            <a:ext cx="495130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Notes 13 and 17 to the Financial Statements; MD&amp;A, Contractual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Obligations (the obligations table itself is left blank).</a:t>
            </a:r>
          </a:p>
        </p:txBody>
      </p:sp>
      <p:sp>
        <p:nvSpPr>
          <p:cNvPr id="12" name="terms_h"/>
          <p:cNvSpPr/>
          <p:nvPr/>
        </p:nvSpPr>
        <p:spPr>
          <a:xfrm>
            <a:off x="5591387" y="1005840"/>
            <a:ext cx="6189133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13: Terms of each named contract</a:t>
            </a:r>
          </a:p>
        </p:txBody>
      </p:sp>
      <p:sp>
        <p:nvSpPr>
          <p:cNvPr id="13" name="terms_u"/>
          <p:cNvSpPr/>
          <p:nvPr/>
        </p:nvSpPr>
        <p:spPr>
          <a:xfrm>
            <a:off x="5591387" y="1178052"/>
            <a:ext cx="6189133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as described in the S-1; ceilings and conditional contracts in grey</a:t>
            </a:r>
          </a:p>
        </p:txBody>
      </p:sp>
      <p:graphicFrame>
        <p:nvGraphicFramePr>
          <p:cNvPr id="14" name="terms"/>
          <p:cNvGraphicFramePr>
            <a:graphicFrameLocks noGrp="1"/>
          </p:cNvGraphicFramePr>
          <p:nvPr/>
        </p:nvGraphicFramePr>
        <p:xfrm>
          <a:off x="5591387" y="1327404"/>
          <a:ext cx="6189133" cy="153847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12976"/>
                <a:gridCol w="853718"/>
                <a:gridCol w="4622439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Counterparty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Term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Floor or ceiling, cancellation and payment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Broadcom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5-yr leases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rent ~$32.2bn a year if level; owed once equipment is ready; non-cancellable except default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Google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Apr'26 to Jul'33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at least; regardless of usage; true-up on shortfall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Amazon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May'26 to Apr'36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at least; regardless of usage; true-up on shortfall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Microsoft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Nov'26 to May'33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at least; regardless of usage; per-tranche exit if undelivered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SpaceXAI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into 2029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up to; ~$3.1bn a month once fully delivered (expected Dec'26; ramp fees differ); cancellable on 90 days' notice after Jan/Mar'27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Nscale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into 2033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up to; fees accrue only on delivery; financing condition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Lambda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into 2034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fees accrue on delivery; $34.9bn terminable if the facility lease is not secured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rms_s"/>
          <p:cNvSpPr/>
          <p:nvPr/>
        </p:nvSpPr>
        <p:spPr>
          <a:xfrm>
            <a:off x="5591387" y="2893314"/>
            <a:ext cx="618913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Contractual Obligations.</a:t>
            </a:r>
          </a:p>
        </p:txBody>
      </p:sp>
      <p:sp>
        <p:nvSpPr>
          <p:cNvPr id="16" name="fund_h"/>
          <p:cNvSpPr/>
          <p:nvPr/>
        </p:nvSpPr>
        <p:spPr>
          <a:xfrm>
            <a:off x="5591387" y="3190494"/>
            <a:ext cx="6189133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14: Funding identified against the commitments</a:t>
            </a:r>
          </a:p>
        </p:txBody>
      </p:sp>
      <p:sp>
        <p:nvSpPr>
          <p:cNvPr id="17" name="fund_u"/>
          <p:cNvSpPr/>
          <p:nvPr/>
        </p:nvSpPr>
        <p:spPr>
          <a:xfrm>
            <a:off x="5591387" y="3362706"/>
            <a:ext cx="6189133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$bn; most partner facilities settle in shares, so drawing them dilutes</a:t>
            </a:r>
          </a:p>
        </p:txBody>
      </p:sp>
      <p:graphicFrame>
        <p:nvGraphicFramePr>
          <p:cNvPr id="18" name="fund"/>
          <p:cNvGraphicFramePr>
            <a:graphicFrameLocks noGrp="1"/>
          </p:cNvGraphicFramePr>
          <p:nvPr/>
        </p:nvGraphicFramePr>
        <p:xfrm>
          <a:off x="5591387" y="3512058"/>
          <a:ext cx="6189133" cy="141630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947203"/>
                <a:gridCol w="773022"/>
                <a:gridCol w="758953"/>
                <a:gridCol w="2709955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Source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When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$bn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Condition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Cash and short-term investments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Jun'26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131.7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on balance sheet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Credit Facility, undrawn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Jun'26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3.2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$3.25bn; no borrowings, $78m letters of credit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Google 2026 note purchase agreement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draw to Dec'30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10.0 to 20.0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cut by up to $10.0bn if Google buys IPO shares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Amazon 2026 note purchase agreement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30 months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15.0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in $5.0bn steps on compute milestones; settles in shares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Broadcom note purchase agreement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5 years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42.0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only for lease rent; 9% PIK, converts at 90% of VWAP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AMD Class N share purchase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from 2027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5.0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up to; if GPU delivery conditions are achieved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Total identified (Keswick sum)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206.9 to 216.9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fund_s"/>
          <p:cNvSpPr/>
          <p:nvPr/>
        </p:nvSpPr>
        <p:spPr>
          <a:xfrm>
            <a:off x="5591387" y="4955794"/>
            <a:ext cx="61891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Liquidity and Capital Resources (Revolving Credit Agreement; Convertible Notes; AMD).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Keswick total.</a:t>
            </a:r>
          </a:p>
        </p:txBody>
      </p:sp>
      <p:sp>
        <p:nvSpPr>
          <p:cNvPr id="20" name="n4a"/>
          <p:cNvSpPr/>
          <p:nvPr/>
        </p:nvSpPr>
        <p:spPr>
          <a:xfrm>
            <a:off x="5591387" y="5367274"/>
            <a:ext cx="6189133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The Sep'26 A&amp;R Credit Facility raises the revolver to $15bn; the S-1 leaves its availability blank, so we leave it out of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the total.</a:t>
            </a:r>
          </a:p>
        </p:txBody>
      </p:sp>
      <p:sp>
        <p:nvSpPr>
          <p:cNvPr id="21" name="n4b"/>
          <p:cNvSpPr/>
          <p:nvPr/>
        </p:nvSpPr>
        <p:spPr>
          <a:xfrm>
            <a:off x="5591387" y="5688838"/>
            <a:ext cx="6189133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The S-1 says it procures compute 12 to 18 months before it is available, so in our reading much of the FY27 cost step is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already signed; SpaceXAI is cancellable and Nscale and Lambda are paid on delivery. Our FY27E build is on page 7.</a:t>
            </a:r>
          </a:p>
        </p:txBody>
      </p:sp>
      <p:sp>
        <p:nvSpPr>
          <p:cNvPr id="22" name="firm-bracket"/>
          <p:cNvSpPr/>
          <p:nvPr/>
        </p:nvSpPr>
        <p:spPr>
          <a:xfrm>
            <a:off x="3846997" y="1445605"/>
            <a:ext cx="27432" cy="1448879"/>
          </a:xfrm>
          <a:prstGeom prst="rightBracket">
            <a:avLst/>
          </a:prstGeom>
          <a:noFill/>
          <a:ln w="12700">
            <a:solidFill>
              <a:srgbClr val="1D5C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irm-label"/>
          <p:cNvSpPr/>
          <p:nvPr/>
        </p:nvSpPr>
        <p:spPr>
          <a:xfrm>
            <a:off x="4148749" y="1743325"/>
            <a:ext cx="961069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1D5C63"/>
                </a:solidFill>
                <a:latin typeface="Arial"/>
              </a:rPr>
              <a:t>Floors: $430.6bn</a:t>
            </a:r>
            <a:br/>
            <a:r>
              <a:rPr sz="800" b="0" i="0">
                <a:solidFill>
                  <a:srgbClr val="1D5C63"/>
                </a:solidFill>
                <a:latin typeface="Arial"/>
              </a:rPr>
              <a:t>(Keswick sum).</a:t>
            </a:r>
            <a:br/>
            <a:r>
              <a:rPr sz="800" b="0" i="0">
                <a:solidFill>
                  <a:srgbClr val="1D5C63"/>
                </a:solidFill>
                <a:latin typeface="Arial"/>
              </a:rPr>
              <a:t>Google, Amazon,</a:t>
            </a:r>
            <a:br/>
            <a:r>
              <a:rPr sz="800" b="0" i="0">
                <a:solidFill>
                  <a:srgbClr val="1D5C63"/>
                </a:solidFill>
                <a:latin typeface="Arial"/>
              </a:rPr>
              <a:t>Microsoft owed</a:t>
            </a:r>
            <a:br/>
            <a:r>
              <a:rPr sz="800" b="0" i="0">
                <a:solidFill>
                  <a:srgbClr val="1D5C63"/>
                </a:solidFill>
                <a:latin typeface="Arial"/>
              </a:rPr>
              <a:t>regardless of usage;</a:t>
            </a:r>
            <a:br/>
            <a:r>
              <a:rPr sz="800" b="0" i="0">
                <a:solidFill>
                  <a:srgbClr val="1D5C63"/>
                </a:solidFill>
                <a:latin typeface="Arial"/>
              </a:rPr>
              <a:t>Broadcom rent once</a:t>
            </a:r>
            <a:br/>
            <a:r>
              <a:rPr sz="800" b="0" i="0">
                <a:solidFill>
                  <a:srgbClr val="1D5C63"/>
                </a:solidFill>
                <a:latin typeface="Arial"/>
              </a:rPr>
              <a:t>equipment is ready</a:t>
            </a:r>
          </a:p>
        </p:txBody>
      </p:sp>
      <p:sp>
        <p:nvSpPr>
          <p:cNvPr id="24" name="cond-bracket"/>
          <p:cNvSpPr/>
          <p:nvPr/>
        </p:nvSpPr>
        <p:spPr>
          <a:xfrm>
            <a:off x="3386384" y="3016353"/>
            <a:ext cx="27432" cy="1056192"/>
          </a:xfrm>
          <a:prstGeom prst="rightBracket">
            <a:avLst/>
          </a:prstGeom>
          <a:noFill/>
          <a:ln w="12700">
            <a:solidFill>
              <a:srgbClr val="5A61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ond-label"/>
          <p:cNvSpPr/>
          <p:nvPr/>
        </p:nvSpPr>
        <p:spPr>
          <a:xfrm>
            <a:off x="3688136" y="3361569"/>
            <a:ext cx="106266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Ceilings or conditional:</a:t>
            </a:r>
            <a:br/>
            <a:r>
              <a:rPr sz="800" b="0" i="0">
                <a:solidFill>
                  <a:srgbClr val="5A6166"/>
                </a:solidFill>
                <a:latin typeface="Arial"/>
              </a:rPr>
              <a:t>cancellable, or paid</a:t>
            </a:r>
            <a:br/>
            <a:r>
              <a:rPr sz="800" b="0" i="0">
                <a:solidFill>
                  <a:srgbClr val="5A6166"/>
                </a:solidFill>
                <a:latin typeface="Arial"/>
              </a:rPr>
              <a:t>only on delivery</a:t>
            </a: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8" name="chrome-1"/>
          <p:cNvCxnSpPr/>
          <p:nvPr/>
        </p:nvCxnSpPr>
        <p:spPr>
          <a:xfrm>
            <a:off x="411480" y="900684"/>
            <a:ext cx="11365992" cy="0"/>
          </a:xfrm>
          <a:prstGeom prst="line">
            <a:avLst/>
          </a:prstGeom>
          <a:ln w="12700">
            <a:solidFill>
              <a:srgbClr val="1D5C63"/>
            </a:solidFill>
          </a:ln>
        </p:spPr>
      </p:cxnSp>
      <p:sp>
        <p:nvSpPr>
          <p:cNvPr id="39" name="chrome-2"/>
          <p:cNvSpPr txBox="1"/>
          <p:nvPr/>
        </p:nvSpPr>
        <p:spPr>
          <a:xfrm>
            <a:off x="7205472" y="128016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1">
                <a:solidFill>
                  <a:srgbClr val="1D5C63"/>
                </a:solidFill>
                <a:latin typeface="Arial"/>
              </a:rPr>
              <a:t>KESWICK RESEARCH (FICTIONAL BROKER)  |  Initiation  |  27 October 2026</a:t>
            </a:r>
          </a:p>
        </p:txBody>
      </p:sp>
      <p:sp>
        <p:nvSpPr>
          <p:cNvPr id="40" name="chrome-3"/>
          <p:cNvSpPr txBox="1"/>
          <p:nvPr/>
        </p:nvSpPr>
        <p:spPr>
          <a:xfrm>
            <a:off x="411480" y="6547104"/>
            <a:ext cx="103327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A6166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41" name="chrome-4"/>
          <p:cNvSpPr txBox="1"/>
          <p:nvPr/>
        </p:nvSpPr>
        <p:spPr>
          <a:xfrm>
            <a:off x="11320272" y="654710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A6166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D5C63"/>
                </a:solidFill>
                <a:latin typeface="Arial"/>
              </a:rPr>
              <a:t>5  |  PATH TO PROFITABILITY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B1F22"/>
                </a:solidFill>
                <a:latin typeface="Cambria"/>
              </a:rPr>
              <a:t>Adjusted margin reached 19% in Q2'26; the S-1 warns new compute may compress it</a:t>
            </a:r>
          </a:p>
        </p:txBody>
      </p:sp>
      <p:sp>
        <p:nvSpPr>
          <p:cNvPr id="4" name="mg_h"/>
          <p:cNvSpPr/>
          <p:nvPr/>
        </p:nvSpPr>
        <p:spPr>
          <a:xfrm>
            <a:off x="411480" y="1005840"/>
            <a:ext cx="6076604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15: Quarterly adjusted operating margin</a:t>
            </a:r>
          </a:p>
        </p:txBody>
      </p:sp>
      <p:sp>
        <p:nvSpPr>
          <p:cNvPr id="5" name="mg_u"/>
          <p:cNvSpPr/>
          <p:nvPr/>
        </p:nvSpPr>
        <p:spPr>
          <a:xfrm>
            <a:off x="411480" y="1178052"/>
            <a:ext cx="6076604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% of revenue; red is negative; adjusted excludes SBC, non-cash charity and the Bartz settlement</a:t>
            </a:r>
          </a:p>
        </p:txBody>
      </p:sp>
      <p:graphicFrame>
        <p:nvGraphicFramePr>
          <p:cNvPr id="6" name="mg"/>
          <p:cNvGraphicFramePr>
            <a:graphicFrameLocks noGrp="1"/>
          </p:cNvGraphicFramePr>
          <p:nvPr/>
        </p:nvGraphicFramePr>
        <p:xfrm>
          <a:off x="411480" y="1327404"/>
          <a:ext cx="6076604" cy="37292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mg_s"/>
          <p:cNvSpPr/>
          <p:nvPr/>
        </p:nvSpPr>
        <p:spPr>
          <a:xfrm>
            <a:off x="411480" y="5084064"/>
            <a:ext cx="60766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Quarterly Results of Operations; Quarterly Adjusted Operating Income (Loss).</a:t>
            </a:r>
          </a:p>
        </p:txBody>
      </p:sp>
      <p:sp>
        <p:nvSpPr>
          <p:cNvPr id="8" name="n5a"/>
          <p:cNvSpPr/>
          <p:nvPr/>
        </p:nvSpPr>
        <p:spPr>
          <a:xfrm>
            <a:off x="411480" y="5381244"/>
            <a:ext cx="6076604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Compute and infrastructure fell from 251% of revenue in Q1'25 to 48% in Q2'26 against a base committed in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advance; the margin is operating leverage on fixed compute.</a:t>
            </a:r>
          </a:p>
        </p:txBody>
      </p:sp>
      <p:sp>
        <p:nvSpPr>
          <p:cNvPr id="9" name="n5b"/>
          <p:cNvSpPr/>
          <p:nvPr/>
        </p:nvSpPr>
        <p:spPr>
          <a:xfrm>
            <a:off x="411480" y="5702808"/>
            <a:ext cx="6076604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The S-1 says operating and adjusted margins may compress as new compute comes online, and expects short-term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compute, at a higher unit cost, to rise in the near term and compress them.</a:t>
            </a:r>
          </a:p>
        </p:txBody>
      </p:sp>
      <p:sp>
        <p:nvSpPr>
          <p:cNvPr id="10" name="n5c"/>
          <p:cNvSpPr/>
          <p:nvPr/>
        </p:nvSpPr>
        <p:spPr>
          <a:xfrm>
            <a:off x="411480" y="6024372"/>
            <a:ext cx="6076604" cy="4221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Of $26.6bn of unrecognised RSU expense at Jun'26, $2.9bn relates to RSUs whose service condition was satisfied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or partially satisfied: the S-1's catch-up had the IPO closed on 30 Jun'26 (the actual figure is left blank). Keswick view: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GAAP losses widen even as adjusted income grows.</a:t>
            </a:r>
          </a:p>
        </p:txBody>
      </p:sp>
      <p:sp>
        <p:nvSpPr>
          <p:cNvPr id="11" name="br_h"/>
          <p:cNvSpPr/>
          <p:nvPr/>
        </p:nvSpPr>
        <p:spPr>
          <a:xfrm>
            <a:off x="6716684" y="1005840"/>
            <a:ext cx="5063836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16: 1H26 operating loss to adjusted operating income</a:t>
            </a:r>
          </a:p>
        </p:txBody>
      </p:sp>
      <p:sp>
        <p:nvSpPr>
          <p:cNvPr id="12" name="br_u"/>
          <p:cNvSpPr/>
          <p:nvPr/>
        </p:nvSpPr>
        <p:spPr>
          <a:xfrm>
            <a:off x="6716684" y="1178052"/>
            <a:ext cx="5063836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$m; grey marks the non-GAAP add-backs, red the GAAP loss</a:t>
            </a:r>
          </a:p>
        </p:txBody>
      </p:sp>
      <p:graphicFrame>
        <p:nvGraphicFramePr>
          <p:cNvPr id="13" name="br"/>
          <p:cNvGraphicFramePr>
            <a:graphicFrameLocks noGrp="1"/>
          </p:cNvGraphicFramePr>
          <p:nvPr/>
        </p:nvGraphicFramePr>
        <p:xfrm>
          <a:off x="6716684" y="1327404"/>
          <a:ext cx="5063836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br_s"/>
          <p:cNvSpPr/>
          <p:nvPr/>
        </p:nvSpPr>
        <p:spPr>
          <a:xfrm>
            <a:off x="6716684" y="4509516"/>
            <a:ext cx="506383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Non-GAAP Financial Measures (reconciliation).</a:t>
            </a:r>
          </a:p>
        </p:txBody>
      </p:sp>
      <p:sp>
        <p:nvSpPr>
          <p:cNvPr id="15" name="cf_h"/>
          <p:cNvSpPr/>
          <p:nvPr/>
        </p:nvSpPr>
        <p:spPr>
          <a:xfrm>
            <a:off x="6716684" y="4806696"/>
            <a:ext cx="5063836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17: Cash flow, stock-based compensation and compute intensity</a:t>
            </a:r>
          </a:p>
        </p:txBody>
      </p:sp>
      <p:sp>
        <p:nvSpPr>
          <p:cNvPr id="16" name="cf_u"/>
          <p:cNvSpPr/>
          <p:nvPr/>
        </p:nvSpPr>
        <p:spPr>
          <a:xfrm>
            <a:off x="6716684" y="4978908"/>
            <a:ext cx="5063836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$m unless stated; red is negative</a:t>
            </a:r>
          </a:p>
        </p:txBody>
      </p:sp>
      <p:graphicFrame>
        <p:nvGraphicFramePr>
          <p:cNvPr id="17" name="cf"/>
          <p:cNvGraphicFramePr>
            <a:graphicFrameLocks noGrp="1"/>
          </p:cNvGraphicFramePr>
          <p:nvPr/>
        </p:nvGraphicFramePr>
        <p:xfrm>
          <a:off x="6716684" y="5128260"/>
          <a:ext cx="5063836" cy="106222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229217"/>
                <a:gridCol w="551232"/>
                <a:gridCol w="551232"/>
                <a:gridCol w="551232"/>
                <a:gridCol w="551232"/>
                <a:gridCol w="629691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$m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FY23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FY25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1H25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1H26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Operating cash flow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A2A"/>
                          </a:solidFill>
                          <a:latin typeface="Arial"/>
                        </a:rPr>
                        <a:t>(1,627)</a:t>
                      </a:r>
                      <a:endParaRPr sz="80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A2A"/>
                          </a:solidFill>
                          <a:latin typeface="Arial"/>
                        </a:rPr>
                        <a:t>(5,692)</a:t>
                      </a:r>
                      <a:endParaRPr sz="80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A2A"/>
                          </a:solidFill>
                          <a:latin typeface="Arial"/>
                        </a:rPr>
                        <a:t>(2,637)</a:t>
                      </a:r>
                      <a:endParaRPr sz="80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A2A"/>
                          </a:solidFill>
                          <a:latin typeface="Arial"/>
                        </a:rPr>
                        <a:t>(1,513)</a:t>
                      </a:r>
                      <a:endParaRPr sz="80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3,929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Investing cash flow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(2)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(22)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(3,077)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(49)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(17,181)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Financing cash flow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2,320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7,248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19,960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4,749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110,774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Stock-based compensation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192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1,165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286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2,185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Compute and infra (% of revenue)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1,056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653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160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201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55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cf_s"/>
          <p:cNvSpPr/>
          <p:nvPr/>
        </p:nvSpPr>
        <p:spPr>
          <a:xfrm>
            <a:off x="6716684" y="6217920"/>
            <a:ext cx="506383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Liquidity and Capital Resources (Cash Flows); Results of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Operations.</a:t>
            </a:r>
          </a:p>
        </p:txBody>
      </p:sp>
      <p:sp>
        <p:nvSpPr>
          <p:cNvPr id="19" name="gaap-0-text"/>
          <p:cNvSpPr/>
          <p:nvPr/>
        </p:nvSpPr>
        <p:spPr>
          <a:xfrm>
            <a:off x="1890367" y="4688556"/>
            <a:ext cx="262827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A33A2A"/>
                </a:solidFill>
                <a:latin typeface="Arial"/>
              </a:rPr>
              <a:t>(249)</a:t>
            </a:r>
          </a:p>
        </p:txBody>
      </p:sp>
      <p:sp>
        <p:nvSpPr>
          <p:cNvPr id="20" name="gaap-1-text"/>
          <p:cNvSpPr/>
          <p:nvPr/>
        </p:nvSpPr>
        <p:spPr>
          <a:xfrm>
            <a:off x="2680325" y="4688556"/>
            <a:ext cx="262827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A33A2A"/>
                </a:solidFill>
                <a:latin typeface="Arial"/>
              </a:rPr>
              <a:t>(152)</a:t>
            </a:r>
          </a:p>
        </p:txBody>
      </p:sp>
      <p:sp>
        <p:nvSpPr>
          <p:cNvPr id="21" name="gaap-2-text"/>
          <p:cNvSpPr/>
          <p:nvPr/>
        </p:nvSpPr>
        <p:spPr>
          <a:xfrm>
            <a:off x="3470284" y="4688556"/>
            <a:ext cx="262827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A33A2A"/>
                </a:solidFill>
                <a:latin typeface="Arial"/>
              </a:rPr>
              <a:t>(224)</a:t>
            </a:r>
          </a:p>
        </p:txBody>
      </p:sp>
      <p:sp>
        <p:nvSpPr>
          <p:cNvPr id="22" name="gaap-3-text"/>
          <p:cNvSpPr/>
          <p:nvPr/>
        </p:nvSpPr>
        <p:spPr>
          <a:xfrm>
            <a:off x="4260242" y="4688556"/>
            <a:ext cx="262827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A33A2A"/>
                </a:solidFill>
                <a:latin typeface="Arial"/>
              </a:rPr>
              <a:t>(139)</a:t>
            </a:r>
          </a:p>
        </p:txBody>
      </p:sp>
      <p:sp>
        <p:nvSpPr>
          <p:cNvPr id="23" name="gaap-4-text"/>
          <p:cNvSpPr/>
          <p:nvPr/>
        </p:nvSpPr>
        <p:spPr>
          <a:xfrm>
            <a:off x="5076688" y="4688556"/>
            <a:ext cx="209853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A33A2A"/>
                </a:solidFill>
                <a:latin typeface="Arial"/>
              </a:rPr>
              <a:t>(35)</a:t>
            </a:r>
          </a:p>
        </p:txBody>
      </p:sp>
      <p:sp>
        <p:nvSpPr>
          <p:cNvPr id="24" name="gaap-5-text"/>
          <p:cNvSpPr/>
          <p:nvPr/>
        </p:nvSpPr>
        <p:spPr>
          <a:xfrm>
            <a:off x="5924852" y="4688556"/>
            <a:ext cx="93442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A33A2A"/>
                </a:solidFill>
                <a:latin typeface="Arial"/>
              </a:rPr>
              <a:t>8</a:t>
            </a:r>
          </a:p>
        </p:txBody>
      </p:sp>
      <p:sp>
        <p:nvSpPr>
          <p:cNvPr id="25" name="gaap-label"/>
          <p:cNvSpPr/>
          <p:nvPr/>
        </p:nvSpPr>
        <p:spPr>
          <a:xfrm>
            <a:off x="672296" y="4688556"/>
            <a:ext cx="954505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1B1F22"/>
                </a:solidFill>
                <a:latin typeface="Arial"/>
              </a:rPr>
              <a:t>GAAP op. margin (%)</a:t>
            </a:r>
          </a:p>
        </p:txBody>
      </p:sp>
      <p:sp>
        <p:nvSpPr>
          <p:cNvPr id="26" name="cint-0-text"/>
          <p:cNvSpPr/>
          <p:nvPr/>
        </p:nvSpPr>
        <p:spPr>
          <a:xfrm>
            <a:off x="1922086" y="4830288"/>
            <a:ext cx="199389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251</a:t>
            </a:r>
          </a:p>
        </p:txBody>
      </p:sp>
      <p:sp>
        <p:nvSpPr>
          <p:cNvPr id="27" name="cint-1-text"/>
          <p:cNvSpPr/>
          <p:nvPr/>
        </p:nvSpPr>
        <p:spPr>
          <a:xfrm>
            <a:off x="2712044" y="4830288"/>
            <a:ext cx="199389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177</a:t>
            </a:r>
          </a:p>
        </p:txBody>
      </p:sp>
      <p:sp>
        <p:nvSpPr>
          <p:cNvPr id="28" name="cint-2-text"/>
          <p:cNvSpPr/>
          <p:nvPr/>
        </p:nvSpPr>
        <p:spPr>
          <a:xfrm>
            <a:off x="3502003" y="4830288"/>
            <a:ext cx="199389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148</a:t>
            </a:r>
          </a:p>
        </p:txBody>
      </p:sp>
      <p:sp>
        <p:nvSpPr>
          <p:cNvPr id="29" name="cint-3-text"/>
          <p:cNvSpPr/>
          <p:nvPr/>
        </p:nvSpPr>
        <p:spPr>
          <a:xfrm>
            <a:off x="4291961" y="4830288"/>
            <a:ext cx="199389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144</a:t>
            </a:r>
          </a:p>
        </p:txBody>
      </p:sp>
      <p:sp>
        <p:nvSpPr>
          <p:cNvPr id="30" name="cint-4-text"/>
          <p:cNvSpPr/>
          <p:nvPr/>
        </p:nvSpPr>
        <p:spPr>
          <a:xfrm>
            <a:off x="5108407" y="4830288"/>
            <a:ext cx="146415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72</a:t>
            </a:r>
          </a:p>
        </p:txBody>
      </p:sp>
      <p:sp>
        <p:nvSpPr>
          <p:cNvPr id="31" name="cint-5-text"/>
          <p:cNvSpPr/>
          <p:nvPr/>
        </p:nvSpPr>
        <p:spPr>
          <a:xfrm>
            <a:off x="5898365" y="4830288"/>
            <a:ext cx="146415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48</a:t>
            </a:r>
          </a:p>
        </p:txBody>
      </p:sp>
      <p:sp>
        <p:nvSpPr>
          <p:cNvPr id="32" name="cint-label"/>
          <p:cNvSpPr/>
          <p:nvPr/>
        </p:nvSpPr>
        <p:spPr>
          <a:xfrm>
            <a:off x="741175" y="4830288"/>
            <a:ext cx="885626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1B1F22"/>
                </a:solidFill>
                <a:latin typeface="Arial"/>
              </a:rPr>
              <a:t>Compute (% of rev.)</a:t>
            </a:r>
          </a:p>
        </p:txBody>
      </p:sp>
      <p:sp>
        <p:nvSpPr>
          <p:cNvPr id="33" name="charity-label"/>
          <p:cNvSpPr/>
          <p:nvPr/>
        </p:nvSpPr>
        <p:spPr>
          <a:xfrm>
            <a:off x="9728756" y="1490095"/>
            <a:ext cx="25501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+126</a:t>
            </a:r>
          </a:p>
        </p:txBody>
      </p:sp>
      <p:cxnSp>
        <p:nvCxnSpPr>
          <p:cNvPr id="34" name="charity-leader"/>
          <p:cNvCxnSpPr/>
          <p:nvPr/>
        </p:nvCxnSpPr>
        <p:spPr>
          <a:xfrm>
            <a:off x="9856262" y="1604395"/>
            <a:ext cx="0" cy="109728"/>
          </a:xfrm>
          <a:prstGeom prst="line">
            <a:avLst/>
          </a:prstGeom>
          <a:ln w="9525">
            <a:solidFill>
              <a:srgbClr val="5A6166"/>
            </a:solidFill>
            <a:tailEnd type="triangle"/>
          </a:ln>
        </p:spPr>
      </p:cxnSp>
      <p:cxnSp>
        <p:nvCxnSpPr>
          <p:cNvPr id="35" name="conn0-line"/>
          <p:cNvCxnSpPr/>
          <p:nvPr/>
        </p:nvCxnSpPr>
        <p:spPr>
          <a:xfrm>
            <a:off x="7887443" y="3849188"/>
            <a:ext cx="291677" cy="0"/>
          </a:xfrm>
          <a:prstGeom prst="line">
            <a:avLst/>
          </a:prstGeom>
          <a:ln w="9525">
            <a:solidFill>
              <a:srgbClr val="5A6166"/>
            </a:solidFill>
            <a:prstDash val="dash"/>
          </a:ln>
        </p:spPr>
      </p:cxnSp>
      <p:cxnSp>
        <p:nvCxnSpPr>
          <p:cNvPr id="36" name="conn1-line"/>
          <p:cNvCxnSpPr/>
          <p:nvPr/>
        </p:nvCxnSpPr>
        <p:spPr>
          <a:xfrm>
            <a:off x="9102764" y="1830530"/>
            <a:ext cx="291676" cy="0"/>
          </a:xfrm>
          <a:prstGeom prst="line">
            <a:avLst/>
          </a:prstGeom>
          <a:ln w="9525">
            <a:solidFill>
              <a:srgbClr val="5A6166"/>
            </a:solidFill>
            <a:prstDash val="dash"/>
          </a:ln>
        </p:spPr>
      </p:cxnSp>
      <p:cxnSp>
        <p:nvCxnSpPr>
          <p:cNvPr id="37" name="conn2-line"/>
          <p:cNvCxnSpPr/>
          <p:nvPr/>
        </p:nvCxnSpPr>
        <p:spPr>
          <a:xfrm>
            <a:off x="10318084" y="1714123"/>
            <a:ext cx="291677" cy="0"/>
          </a:xfrm>
          <a:prstGeom prst="line">
            <a:avLst/>
          </a:prstGeom>
          <a:ln w="9525">
            <a:solidFill>
              <a:srgbClr val="5A6166"/>
            </a:solidFill>
            <a:prstDash val="dash"/>
          </a:ln>
        </p:spPr>
      </p:cxn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8" name="chrome-1"/>
          <p:cNvCxnSpPr/>
          <p:nvPr/>
        </p:nvCxnSpPr>
        <p:spPr>
          <a:xfrm>
            <a:off x="411480" y="900684"/>
            <a:ext cx="11365992" cy="0"/>
          </a:xfrm>
          <a:prstGeom prst="line">
            <a:avLst/>
          </a:prstGeom>
          <a:ln w="12700">
            <a:solidFill>
              <a:srgbClr val="1D5C63"/>
            </a:solidFill>
          </a:ln>
        </p:spPr>
      </p:cxnSp>
      <p:sp>
        <p:nvSpPr>
          <p:cNvPr id="19" name="chrome-2"/>
          <p:cNvSpPr txBox="1"/>
          <p:nvPr/>
        </p:nvSpPr>
        <p:spPr>
          <a:xfrm>
            <a:off x="7205472" y="128016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1">
                <a:solidFill>
                  <a:srgbClr val="1D5C63"/>
                </a:solidFill>
                <a:latin typeface="Arial"/>
              </a:rPr>
              <a:t>KESWICK RESEARCH (FICTIONAL BROKER)  |  Initiation  |  27 October 2026</a:t>
            </a:r>
          </a:p>
        </p:txBody>
      </p:sp>
      <p:sp>
        <p:nvSpPr>
          <p:cNvPr id="20" name="chrome-3"/>
          <p:cNvSpPr txBox="1"/>
          <p:nvPr/>
        </p:nvSpPr>
        <p:spPr>
          <a:xfrm>
            <a:off x="411480" y="6547104"/>
            <a:ext cx="103327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A6166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1" name="chrome-4"/>
          <p:cNvSpPr txBox="1"/>
          <p:nvPr/>
        </p:nvSpPr>
        <p:spPr>
          <a:xfrm>
            <a:off x="11320272" y="654710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A6166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D5C63"/>
                </a:solidFill>
                <a:latin typeface="Arial"/>
              </a:rPr>
              <a:t>6  |  KEY RISKS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B1F22"/>
                </a:solidFill>
                <a:latin typeface="Cambria"/>
              </a:rPr>
              <a:t>Eight risks from the S-1 we would underwrite first, ranked by what they could cost the equity</a:t>
            </a:r>
          </a:p>
        </p:txBody>
      </p:sp>
      <p:sp>
        <p:nvSpPr>
          <p:cNvPr id="4" name="risks_h"/>
          <p:cNvSpPr/>
          <p:nvPr/>
        </p:nvSpPr>
        <p:spPr>
          <a:xfrm>
            <a:off x="411480" y="1005840"/>
            <a:ext cx="11369040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18: Key risks, ranked by Keswick by potential impact on equity value</a:t>
            </a:r>
          </a:p>
        </p:txBody>
      </p:sp>
      <p:sp>
        <p:nvSpPr>
          <p:cNvPr id="5" name="risks_u"/>
          <p:cNvSpPr/>
          <p:nvPr/>
        </p:nvSpPr>
        <p:spPr>
          <a:xfrm>
            <a:off x="411480" y="1178052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S-1 disclosures quoted or paraphrased; the Keswick view on the pale band is the analyst's judgement</a:t>
            </a:r>
          </a:p>
        </p:txBody>
      </p:sp>
      <p:graphicFrame>
        <p:nvGraphicFramePr>
          <p:cNvPr id="6" name="risks"/>
          <p:cNvGraphicFramePr>
            <a:graphicFrameLocks noGrp="1"/>
          </p:cNvGraphicFramePr>
          <p:nvPr/>
        </p:nvGraphicFramePr>
        <p:xfrm>
          <a:off x="411480" y="1327404"/>
          <a:ext cx="11369040" cy="281508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31603"/>
                <a:gridCol w="2440672"/>
                <a:gridCol w="4398383"/>
                <a:gridCol w="4398382"/>
              </a:tblGrid>
              <a:tr h="177038"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#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Risk (S-1 Risk Factors)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What the S-1 discloses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Keswick view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421386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Compute commitments are fixed; revenue is not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Commitments 'generally must be satisfied regardless of our revenue or utilization'; Google and Amazon floors ($224.5bn) carry true-ups; Microsoft ($44.9bn) is non-cancellable bar undelivered tranches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Highest impact: our FY27E base margin is 2.3%; revenue per compute dollar 3.4% below base (1.45) erases it. Our bear case, 23% below (1.15), gives -18.0%.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Staying at the frontier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Success depends on developing the most capable models; versions released in the prior six months were over 80% of Q3'26 revenue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Revenue turns over with each release: a missed generation is a revenue event, not a slow fade.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Customer and channel concentration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Top five customers about 25% of 9M26 revenue; CSP marketplaces 48% of 1H26 revenue and 58% of receivables; many top customers lack long-term contracts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Easing (79% of Q3'26 revenue outside the top five), but the CSPs are also suppliers, investors and competitors.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Revenue from policy-violating customers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About 5% to 7% of 9M26 revenue came from customers later found in breach of usage policy or terms; enforcement stepped up in Aug and Sep 2026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 known headwind to the run-rate; one reason our Q4'26E is only +10% q/q.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Growth decay and seasonality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The S-1 expects the growth rate to decline, possibly significantly; spend fell about 20% in the two weeks to 2 Jan 2026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Our base FY27E growth of 138% is set by compute, not by trend; quarterly results will be noisier as growth slows.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Safety-led release limits, regulation and litigation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Mythos first released through Project Glasswing; Fable 5 released with safety restrictions; $1.5bn Bartz settlement charged in 2025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Safety is part of the enterprise case, but it can delay revenue from a new model; legal costs are lumpy.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Governance and control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Class F carries 50.1% of votes; the LTBT elects a board majority; controlled-company exemptions; PBC directors balance stakeholders against returns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Class A holders cannot influence control: we ascribe no takeover value.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421386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Dilution and stock-based compensation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$26.6bn unrecognised RSU expense (Jun'26); Amazon notes convert into 1.84bn Class N shares at the fixed price, more at a lower IPO price, subject to Amazon's ownership cap; up to 2% public benefit issuance per 50% price gain; Broadcom notes convert at 90% of VWAP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Per-share values use 16.94bn fully diluted shares (Amazon notes at the fixed price) and exclude future issuances.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7" name="risks_s"/>
          <p:cNvSpPr/>
          <p:nvPr/>
        </p:nvSpPr>
        <p:spPr>
          <a:xfrm>
            <a:off x="411480" y="4169918"/>
            <a:ext cx="113690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Risk Factors; Risk Factors Summary; MD&amp;A (Key Factors Affecting Our Performance; Revenue; Contractual Obligations; Critical Accounting Estimates); Prospectus Summary.</a:t>
            </a:r>
          </a:p>
        </p:txBody>
      </p:sp>
      <p:sp>
        <p:nvSpPr>
          <p:cNvPr id="8" name="grid_h"/>
          <p:cNvSpPr/>
          <p:nvPr/>
        </p:nvSpPr>
        <p:spPr>
          <a:xfrm>
            <a:off x="411480" y="4467098"/>
            <a:ext cx="6593322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19: Risk 1 in numbers: FY27E adjusted operating margin by revenue and compute</a:t>
            </a:r>
          </a:p>
        </p:txBody>
      </p:sp>
      <p:sp>
        <p:nvSpPr>
          <p:cNvPr id="9" name="grid_u"/>
          <p:cNvSpPr/>
          <p:nvPr/>
        </p:nvSpPr>
        <p:spPr>
          <a:xfrm>
            <a:off x="411480" y="4639310"/>
            <a:ext cx="6593322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Keswick sensitivity (illustrative assumptions); % of revenue; columns are FY27E compute and infrastructure</a:t>
            </a:r>
          </a:p>
        </p:txBody>
      </p:sp>
      <p:graphicFrame>
        <p:nvGraphicFramePr>
          <p:cNvPr id="10" name="grid"/>
          <p:cNvGraphicFramePr>
            <a:graphicFrameLocks noGrp="1"/>
          </p:cNvGraphicFramePr>
          <p:nvPr/>
        </p:nvGraphicFramePr>
        <p:xfrm>
          <a:off x="411480" y="4788662"/>
          <a:ext cx="6593322" cy="8851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439529"/>
                <a:gridCol w="1384598"/>
                <a:gridCol w="1384598"/>
                <a:gridCol w="1384597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FY27E revenue; margin %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Floor $57.6bn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Base $82.4bn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Full $98.5bn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Bear: $94.7bn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8.2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(18.0)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(35.0)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Base: $123.6bn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22.4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2.3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(10.7)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Bull: $152.4bn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31.2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14.9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4.4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Break-even FY27E revenue ($bn)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83.4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119.4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142.7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11" name="grid_f"/>
          <p:cNvSpPr/>
          <p:nvPr/>
        </p:nvSpPr>
        <p:spPr>
          <a:xfrm>
            <a:off x="411480" y="5701284"/>
            <a:ext cx="659332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Revenue is held constant across the columns, even with SpaceXAI cancelled, so 1.15, 1.50 and 1.85 per compute dollar hold only at base; the same</a:t>
            </a:r>
            <a:br/>
            <a:r>
              <a:rPr sz="750" b="0" i="0">
                <a:solidFill>
                  <a:srgbClr val="5A6166"/>
                </a:solidFill>
                <a:latin typeface="Arial"/>
              </a:rPr>
              <a:t>revenue gives 1.65, 2.15, 2.65 at the floor and 0.96, 1.25, 1.55 at full. The floor is the low end of $57.6bn to $63.8bn (right).</a:t>
            </a:r>
          </a:p>
        </p:txBody>
      </p:sp>
      <p:sp>
        <p:nvSpPr>
          <p:cNvPr id="12" name="grid_s"/>
          <p:cNvSpPr/>
          <p:nvPr/>
        </p:nvSpPr>
        <p:spPr>
          <a:xfrm>
            <a:off x="411480" y="5957316"/>
            <a:ext cx="659332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Keswick Research assumptions on S-1 contract terms (MD&amp;A, Contractual Obligations: commitments generally owed regardless of revenue or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utilisation).</a:t>
            </a:r>
          </a:p>
        </p:txBody>
      </p:sp>
      <p:sp>
        <p:nvSpPr>
          <p:cNvPr id="13" name="r6h"/>
          <p:cNvSpPr/>
          <p:nvPr/>
        </p:nvSpPr>
        <p:spPr>
          <a:xfrm>
            <a:off x="7233402" y="4467098"/>
            <a:ext cx="454711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D5C63"/>
                </a:solidFill>
                <a:latin typeface="Arial"/>
              </a:rPr>
              <a:t>Reading the grid</a:t>
            </a:r>
          </a:p>
        </p:txBody>
      </p:sp>
      <p:sp>
        <p:nvSpPr>
          <p:cNvPr id="14" name="r6a"/>
          <p:cNvSpPr/>
          <p:nvPr/>
        </p:nvSpPr>
        <p:spPr>
          <a:xfrm>
            <a:off x="7233402" y="4631690"/>
            <a:ext cx="4547118" cy="4221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Columns are FY27E compute cases from the S-1 contract terms (page 7): floor,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SpaceXAI exited at the earliest date; base; full, a full year of Broadcom rent. Rows are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our revenue cases. Non-compute adjusted opex is 31% of revenue throughout.</a:t>
            </a:r>
          </a:p>
        </p:txBody>
      </p:sp>
      <p:sp>
        <p:nvSpPr>
          <p:cNvPr id="15" name="r6b"/>
          <p:cNvSpPr/>
          <p:nvPr/>
        </p:nvSpPr>
        <p:spPr>
          <a:xfrm>
            <a:off x="7233402" y="5081270"/>
            <a:ext cx="4547118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At base compute, revenue has to reach $119.4bn, or $1.45 per compute dollar, to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break even: 3.4% below our base. Q2'26 ran at $2.08 and FY25 at $0.63.</a:t>
            </a:r>
          </a:p>
        </p:txBody>
      </p:sp>
      <p:sp>
        <p:nvSpPr>
          <p:cNvPr id="16" name="r6d"/>
          <p:cNvSpPr/>
          <p:nvPr/>
        </p:nvSpPr>
        <p:spPr>
          <a:xfrm>
            <a:off x="7233402" y="5402834"/>
            <a:ext cx="4547118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Our bear case, 1.15 per compute dollar, sits between FY25 (0.63) and Q1'26 (1.40):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roughly where the ratio would land if the new capacity filled a year late.</a:t>
            </a:r>
          </a:p>
        </p:txBody>
      </p:sp>
      <p:sp>
        <p:nvSpPr>
          <p:cNvPr id="17" name="r6c"/>
          <p:cNvSpPr/>
          <p:nvPr/>
        </p:nvSpPr>
        <p:spPr>
          <a:xfrm>
            <a:off x="7233402" y="5724398"/>
            <a:ext cx="4547118" cy="678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Cancelling SpaceXAI is the one large lever the contracts leave the company; the floors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are owed either way. The S-1 does not split its $3.1bn a month between the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agreements ending their initial periods in Jan'27 and Mar'27: an exit after Jan'27 costs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about four months of 2027 ($12.4bn), after Mar'27 about six ($18.6bn), so the floor is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$57.6bn to $63.8bn; the grid shows the lower end.</a:t>
            </a: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0" name="chrome-1"/>
          <p:cNvCxnSpPr/>
          <p:nvPr/>
        </p:nvCxnSpPr>
        <p:spPr>
          <a:xfrm>
            <a:off x="411480" y="900684"/>
            <a:ext cx="11365992" cy="0"/>
          </a:xfrm>
          <a:prstGeom prst="line">
            <a:avLst/>
          </a:prstGeom>
          <a:ln w="12700">
            <a:solidFill>
              <a:srgbClr val="1D5C63"/>
            </a:solidFill>
          </a:ln>
        </p:spPr>
      </p:cxnSp>
      <p:sp>
        <p:nvSpPr>
          <p:cNvPr id="31" name="chrome-2"/>
          <p:cNvSpPr txBox="1"/>
          <p:nvPr/>
        </p:nvSpPr>
        <p:spPr>
          <a:xfrm>
            <a:off x="7205472" y="128016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1">
                <a:solidFill>
                  <a:srgbClr val="1D5C63"/>
                </a:solidFill>
                <a:latin typeface="Arial"/>
              </a:rPr>
              <a:t>KESWICK RESEARCH (FICTIONAL BROKER)  |  Initiation  |  27 October 2026</a:t>
            </a:r>
          </a:p>
        </p:txBody>
      </p:sp>
      <p:sp>
        <p:nvSpPr>
          <p:cNvPr id="32" name="chrome-3"/>
          <p:cNvSpPr txBox="1"/>
          <p:nvPr/>
        </p:nvSpPr>
        <p:spPr>
          <a:xfrm>
            <a:off x="411480" y="6547104"/>
            <a:ext cx="103327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A6166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33" name="chrome-4"/>
          <p:cNvSpPr txBox="1"/>
          <p:nvPr/>
        </p:nvSpPr>
        <p:spPr>
          <a:xfrm>
            <a:off x="11320272" y="654710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A6166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399136" y="399136"/>
            <a:ext cx="11393728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D5C63"/>
                </a:solidFill>
                <a:latin typeface="Arial"/>
              </a:rPr>
              <a:t>7  |  KESWICK FORECAST: ANALYST ASSUMPTIONS</a:t>
            </a:r>
          </a:p>
        </p:txBody>
      </p:sp>
      <p:sp>
        <p:nvSpPr>
          <p:cNvPr id="3" name="title"/>
          <p:cNvSpPr/>
          <p:nvPr/>
        </p:nvSpPr>
        <p:spPr>
          <a:xfrm>
            <a:off x="399136" y="547665"/>
            <a:ext cx="11393728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1B1F22"/>
                </a:solidFill>
                <a:latin typeface="Cambria"/>
              </a:rPr>
              <a:t>Keswick base case: FY27E revenue of $123.6bn on $82.4bn of compute built from contract terms; margin 2.3%</a:t>
            </a:r>
          </a:p>
        </p:txBody>
      </p:sp>
      <p:sp>
        <p:nvSpPr>
          <p:cNvPr id="4" name="fc_h"/>
          <p:cNvSpPr/>
          <p:nvPr/>
        </p:nvSpPr>
        <p:spPr>
          <a:xfrm>
            <a:off x="399136" y="1002548"/>
            <a:ext cx="641794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20: Keswick forecast (analyst assumptions on S-1 history and contract terms)</a:t>
            </a:r>
          </a:p>
        </p:txBody>
      </p:sp>
      <p:sp>
        <p:nvSpPr>
          <p:cNvPr id="5" name="fc_u"/>
          <p:cNvSpPr/>
          <p:nvPr/>
        </p:nvSpPr>
        <p:spPr>
          <a:xfrm>
            <a:off x="399136" y="1166317"/>
            <a:ext cx="6417949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$bn unless stated; A = S-1 reported, E = Keswick estimate on the pale band</a:t>
            </a:r>
          </a:p>
        </p:txBody>
      </p:sp>
      <p:graphicFrame>
        <p:nvGraphicFramePr>
          <p:cNvPr id="6" name="fc"/>
          <p:cNvGraphicFramePr>
            <a:graphicFrameLocks noGrp="1"/>
          </p:cNvGraphicFramePr>
          <p:nvPr/>
        </p:nvGraphicFramePr>
        <p:xfrm>
          <a:off x="399136" y="1314846"/>
          <a:ext cx="6417949" cy="175392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272708"/>
                <a:gridCol w="533612"/>
                <a:gridCol w="533612"/>
                <a:gridCol w="525935"/>
                <a:gridCol w="858483"/>
                <a:gridCol w="881716"/>
                <a:gridCol w="811883"/>
              </a:tblGrid>
              <a:tr h="175392"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FY24A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FY25A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FY26E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FY27E bear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FY27E base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FY27E bull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Revenue ($bn)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0.4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4.6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51.9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94.7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123.6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152.4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Growth (%)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841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1,088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1,031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83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138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194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Compute and infrastructure ($bn)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2.5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7.3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26.7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82.4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82.4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82.4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% of revenue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653.4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159.8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51.5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87.0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66.7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54.1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Revenue per $1 of compute ($)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0.15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0.63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1.94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1.15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1.50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1.85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Non-compute adjusted opex ($bn)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0.7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2.1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17.1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29.4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38.3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47.2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% of revenue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168.9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46.1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33.0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31.0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31.0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B1F22"/>
                          </a:solidFill>
                          <a:latin typeface="Arial"/>
                        </a:rPr>
                        <a:t>31.0</a:t>
                      </a:r>
                      <a:endParaRPr sz="800" b="0" i="1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Adjusted operating income ($bn)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A2A"/>
                          </a:solidFill>
                          <a:latin typeface="Arial"/>
                        </a:rPr>
                        <a:t>(2.8)</a:t>
                      </a:r>
                      <a:endParaRPr sz="80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A2A"/>
                          </a:solidFill>
                          <a:latin typeface="Arial"/>
                        </a:rPr>
                        <a:t>(4.9)</a:t>
                      </a:r>
                      <a:endParaRPr sz="80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8.0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A2A"/>
                          </a:solidFill>
                          <a:latin typeface="Arial"/>
                        </a:rPr>
                        <a:t>(17.0)</a:t>
                      </a:r>
                      <a:endParaRPr sz="800" b="1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2.9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22.8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Adjusted operating margin (%)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(722)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(106)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15.5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(18.0)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2.3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14.9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7" name="fc_f"/>
          <p:cNvSpPr/>
          <p:nvPr/>
        </p:nvSpPr>
        <p:spPr>
          <a:xfrm>
            <a:off x="399136" y="3095375"/>
            <a:ext cx="641794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Non-compute adjusted opex = cash personnel, sales, marketing and partnerships, and other operating costs, excluding stock-based compensation,</a:t>
            </a:r>
            <a:br/>
            <a:r>
              <a:rPr sz="750" b="0" i="0">
                <a:solidFill>
                  <a:srgbClr val="5A6166"/>
                </a:solidFill>
                <a:latin typeface="Arial"/>
              </a:rPr>
              <a:t>non-cash charity and the Bartz settlement; in 1H26 it was $5,723m, 35.1% of revenue. FY26E includes Q1 and Q2 reported.</a:t>
            </a:r>
          </a:p>
        </p:txBody>
      </p:sp>
      <p:sp>
        <p:nvSpPr>
          <p:cNvPr id="8" name="fc_s"/>
          <p:cNvSpPr/>
          <p:nvPr/>
        </p:nvSpPr>
        <p:spPr>
          <a:xfrm>
            <a:off x="399136" y="3350584"/>
            <a:ext cx="6417949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Summary Consolidated Financial Data; MD&amp;A, Non-GAAP reconciliation. Estimates: Keswick.</a:t>
            </a:r>
          </a:p>
        </p:txBody>
      </p:sp>
      <p:sp>
        <p:nvSpPr>
          <p:cNvPr id="9" name="cb_h"/>
          <p:cNvSpPr/>
          <p:nvPr/>
        </p:nvSpPr>
        <p:spPr>
          <a:xfrm>
            <a:off x="399136" y="3642278"/>
            <a:ext cx="641794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21: Keswick FY27E compute build from the S-1's contract terms</a:t>
            </a:r>
          </a:p>
        </p:txBody>
      </p:sp>
      <p:sp>
        <p:nvSpPr>
          <p:cNvPr id="10" name="cb_u"/>
          <p:cNvSpPr/>
          <p:nvPr/>
        </p:nvSpPr>
        <p:spPr>
          <a:xfrm>
            <a:off x="399136" y="3806047"/>
            <a:ext cx="6417949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$bn; teal = Q2'26 reported run-rate; pale teal = Keswick additions and the Keswick total; labels rounded</a:t>
            </a:r>
          </a:p>
        </p:txBody>
      </p:sp>
      <p:graphicFrame>
        <p:nvGraphicFramePr>
          <p:cNvPr id="11" name="cb"/>
          <p:cNvGraphicFramePr>
            <a:graphicFrameLocks noGrp="1"/>
          </p:cNvGraphicFramePr>
          <p:nvPr/>
        </p:nvGraphicFramePr>
        <p:xfrm>
          <a:off x="399136" y="3954576"/>
          <a:ext cx="6417949" cy="224907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cb_s"/>
          <p:cNvSpPr/>
          <p:nvPr/>
        </p:nvSpPr>
        <p:spPr>
          <a:xfrm>
            <a:off x="399136" y="6230264"/>
            <a:ext cx="641794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Quarterly Results of Operations; Contractual Obligations (SpaceXAI $3.1bn a month once fully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delivered, expected Dec'26; Microsoft $44.9bn over Nov'26 to May'33; Broadcom $161.2bn over 5 years). Keswick assumptions.</a:t>
            </a:r>
          </a:p>
        </p:txBody>
      </p:sp>
      <p:sp>
        <p:nvSpPr>
          <p:cNvPr id="13" name="as_h"/>
          <p:cNvSpPr/>
          <p:nvPr/>
        </p:nvSpPr>
        <p:spPr>
          <a:xfrm>
            <a:off x="7038827" y="1002548"/>
            <a:ext cx="4754037" cy="129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1D5C63"/>
                </a:solidFill>
                <a:latin typeface="Arial"/>
              </a:rPr>
              <a:t>Assumptions (Keswick, illustrative)</a:t>
            </a:r>
          </a:p>
        </p:txBody>
      </p:sp>
      <p:sp>
        <p:nvSpPr>
          <p:cNvPr id="14" name="as1"/>
          <p:cNvSpPr/>
          <p:nvPr/>
        </p:nvSpPr>
        <p:spPr>
          <a:xfrm>
            <a:off x="7038827" y="1158697"/>
            <a:ext cx="4754037" cy="399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6436" indent="-97155">
              <a:lnSpc>
                <a:spcPts val="952"/>
              </a:lnSpc>
              <a:spcBef>
                <a:spcPts val="0"/>
              </a:spcBef>
              <a:spcAft>
                <a:spcPts val="291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FY26E: Q3'26 at the S-1-implied ~$16.9bn; Q4'26E +10% q/q; 2H26 compute at 50% of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revenue, in line with Q2'26's run-rate plus SpaceXAI's ramp and Microsoft from Nov'26; non-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compute adjusted opex 33% of revenue ($17.1bn).</a:t>
            </a:r>
          </a:p>
        </p:txBody>
      </p:sp>
      <p:sp>
        <p:nvSpPr>
          <p:cNvPr id="15" name="as2"/>
          <p:cNvSpPr/>
          <p:nvPr/>
        </p:nvSpPr>
        <p:spPr>
          <a:xfrm>
            <a:off x="7038827" y="1584975"/>
            <a:ext cx="4754037" cy="5205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6436" indent="-97155">
              <a:lnSpc>
                <a:spcPts val="952"/>
              </a:lnSpc>
              <a:spcBef>
                <a:spcPts val="0"/>
              </a:spcBef>
              <a:spcAft>
                <a:spcPts val="291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FY27E compute is built from the contract terms, not from a % of revenue, and held at $82.4bn in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all three revenue cases. It is not fixed: $37.2bn (45%) is SpaceXAI at full capacity for a full year,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an 'up to' amount either party can cancel on 90 days' notice after Jan/Mar'27 (floor and full cases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in Exhibit 22).</a:t>
            </a:r>
          </a:p>
        </p:txBody>
      </p:sp>
      <p:sp>
        <p:nvSpPr>
          <p:cNvPr id="16" name="as3"/>
          <p:cNvSpPr/>
          <p:nvPr/>
        </p:nvSpPr>
        <p:spPr>
          <a:xfrm>
            <a:off x="7038827" y="2132157"/>
            <a:ext cx="4754037" cy="399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6436" indent="-97155">
              <a:lnSpc>
                <a:spcPts val="952"/>
              </a:lnSpc>
              <a:spcBef>
                <a:spcPts val="0"/>
              </a:spcBef>
              <a:spcAft>
                <a:spcPts val="291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FY27E revenue = compute x revenue per compute dollar: 1.15 bear, 1.50 base, 1.85 bull,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against 1.94 for FY26E and 2.08 in Q2'26, since new capacity lands ahead of the revenue it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serves.</a:t>
            </a:r>
          </a:p>
        </p:txBody>
      </p:sp>
      <p:sp>
        <p:nvSpPr>
          <p:cNvPr id="17" name="as4"/>
          <p:cNvSpPr/>
          <p:nvPr/>
        </p:nvSpPr>
        <p:spPr>
          <a:xfrm>
            <a:off x="7038827" y="2558435"/>
            <a:ext cx="4754037" cy="399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6436" indent="-97155">
              <a:lnSpc>
                <a:spcPts val="952"/>
              </a:lnSpc>
              <a:spcBef>
                <a:spcPts val="0"/>
              </a:spcBef>
              <a:spcAft>
                <a:spcPts val="291"/>
              </a:spcAft>
              <a:buFont typeface="Arial"/>
              <a:buChar char="▪"/>
            </a:pPr>
            <a:r>
              <a:rPr sz="850" b="0" i="0">
                <a:solidFill>
                  <a:srgbClr val="1B1F22"/>
                </a:solidFill>
                <a:latin typeface="Arial"/>
              </a:rPr>
              <a:t>Non-compute adjusted opex falls from 35.1% of revenue in 1H26 to 33% in FY26E and 31% in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FY27E. We stop at FY27E: FY28 depends on $125bn to $150bn of TPU capacity whose</a:t>
            </a:r>
            <a:br/>
            <a:r>
              <a:rPr sz="850" b="0" i="0">
                <a:solidFill>
                  <a:srgbClr val="1B1F22"/>
                </a:solidFill>
                <a:latin typeface="Arial"/>
              </a:rPr>
              <a:t>payments the S-1 calls not yet determinable.</a:t>
            </a:r>
          </a:p>
        </p:txBody>
      </p:sp>
      <p:sp>
        <p:nvSpPr>
          <p:cNvPr id="18" name="cases_h"/>
          <p:cNvSpPr/>
          <p:nvPr/>
        </p:nvSpPr>
        <p:spPr>
          <a:xfrm>
            <a:off x="7038827" y="3135498"/>
            <a:ext cx="475403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22: FY27E compute cases and what none of them includes</a:t>
            </a:r>
          </a:p>
        </p:txBody>
      </p:sp>
      <p:sp>
        <p:nvSpPr>
          <p:cNvPr id="19" name="cases_u"/>
          <p:cNvSpPr/>
          <p:nvPr/>
        </p:nvSpPr>
        <p:spPr>
          <a:xfrm>
            <a:off x="7038827" y="3299267"/>
            <a:ext cx="475403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$bn; Keswick readings of the S-1 terms on the pale band</a:t>
            </a:r>
          </a:p>
        </p:txBody>
      </p:sp>
      <p:graphicFrame>
        <p:nvGraphicFramePr>
          <p:cNvPr id="20" name="cases"/>
          <p:cNvGraphicFramePr>
            <a:graphicFrameLocks noGrp="1"/>
          </p:cNvGraphicFramePr>
          <p:nvPr/>
        </p:nvGraphicFramePr>
        <p:xfrm>
          <a:off x="7038827" y="3447796"/>
          <a:ext cx="4754037" cy="70156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3803230"/>
                <a:gridCol w="950807"/>
              </a:tblGrid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FY27E compute case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$bn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Floor: SpaceXAI exited at the earliest date (4 to 6 months; split not given)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57.6 to 63.8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Base: as built above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82.4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Full: Broadcom rent for a full level year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98.5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21" name="cases_f"/>
          <p:cNvSpPr/>
          <p:nvPr/>
        </p:nvSpPr>
        <p:spPr>
          <a:xfrm>
            <a:off x="7038827" y="4175973"/>
            <a:ext cx="475403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A6166"/>
                </a:solidFill>
                <a:latin typeface="Arial"/>
              </a:rPr>
              <a:t>Not in any case: Google and Amazon above the Q2'26 run-rate ($26.6bn a year if straight-lined); Lambda,</a:t>
            </a:r>
            <a:br/>
            <a:r>
              <a:rPr sz="750" b="0" i="0">
                <a:solidFill>
                  <a:srgbClr val="5A6166"/>
                </a:solidFill>
                <a:latin typeface="Arial"/>
              </a:rPr>
              <a:t>Nscale and AMD, paid on delivery.</a:t>
            </a:r>
          </a:p>
        </p:txBody>
      </p:sp>
      <p:sp>
        <p:nvSpPr>
          <p:cNvPr id="22" name="cases_s"/>
          <p:cNvSpPr/>
          <p:nvPr/>
        </p:nvSpPr>
        <p:spPr>
          <a:xfrm>
            <a:off x="7038827" y="4431182"/>
            <a:ext cx="475403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Contractual Obligations. Keswick assumptions.</a:t>
            </a:r>
          </a:p>
        </p:txBody>
      </p:sp>
      <p:sp>
        <p:nvSpPr>
          <p:cNvPr id="23" name="qp_h"/>
          <p:cNvSpPr/>
          <p:nvPr/>
        </p:nvSpPr>
        <p:spPr>
          <a:xfrm>
            <a:off x="7038827" y="4722876"/>
            <a:ext cx="475403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1F22"/>
                </a:solidFill>
                <a:latin typeface="Arial"/>
              </a:rPr>
              <a:t>Exhibit 23: How FY26E revenue is built</a:t>
            </a:r>
          </a:p>
        </p:txBody>
      </p:sp>
      <p:sp>
        <p:nvSpPr>
          <p:cNvPr id="24" name="qp_u"/>
          <p:cNvSpPr/>
          <p:nvPr/>
        </p:nvSpPr>
        <p:spPr>
          <a:xfrm>
            <a:off x="7038827" y="4886645"/>
            <a:ext cx="475403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$bn; plum = implied from two S-1 statements; Keswick estimate on the pale band</a:t>
            </a:r>
          </a:p>
        </p:txBody>
      </p:sp>
      <p:graphicFrame>
        <p:nvGraphicFramePr>
          <p:cNvPr id="25" name="qp"/>
          <p:cNvGraphicFramePr>
            <a:graphicFrameLocks noGrp="1"/>
          </p:cNvGraphicFramePr>
          <p:nvPr/>
        </p:nvGraphicFramePr>
        <p:xfrm>
          <a:off x="7038827" y="5035174"/>
          <a:ext cx="4754037" cy="105235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905684"/>
                <a:gridCol w="1590458"/>
                <a:gridCol w="2257895"/>
              </a:tblGrid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Quarter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Revenue ($bn)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Basis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Q1'26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4.7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S-1 reported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Q2'26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11.6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S-1 reported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Q3'26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7A2E5E"/>
                          </a:solidFill>
                          <a:latin typeface="Arial"/>
                        </a:rPr>
                        <a:t>~16.9</a:t>
                      </a:r>
                      <a:endParaRPr sz="800" b="0" i="0">
                        <a:solidFill>
                          <a:srgbClr val="7A2E5E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S-1 implied: 86x Q4'24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Q4'26E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18.6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6166"/>
                          </a:solidFill>
                          <a:latin typeface="Arial"/>
                        </a:rPr>
                        <a:t>Keswick: +10% q/q</a:t>
                      </a:r>
                      <a:endParaRPr sz="800" b="0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539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FY26E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51.9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5A6166"/>
                          </a:solidFill>
                          <a:latin typeface="Arial"/>
                        </a:rPr>
                        <a:t>sum</a:t>
                      </a:r>
                      <a:endParaRPr sz="800" b="1" i="0">
                        <a:solidFill>
                          <a:srgbClr val="5A6166"/>
                        </a:solidFill>
                        <a:latin typeface="Arial"/>
                      </a:endParaRPr>
                    </a:p>
                  </a:txBody>
                  <a:tcPr marL="26609" marR="26609" marT="26609" marB="26609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26" name="qp_s"/>
          <p:cNvSpPr/>
          <p:nvPr/>
        </p:nvSpPr>
        <p:spPr>
          <a:xfrm>
            <a:off x="7038827" y="6114135"/>
            <a:ext cx="475403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Anthropic, PBC S-1 (26 Oct 2026): MD&amp;A, Quarterly Results of Operations; Business; Risk Factors.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Q4'26E is a Keswick assumption.</a:t>
            </a:r>
          </a:p>
        </p:txBody>
      </p:sp>
      <p:sp>
        <p:nvSpPr>
          <p:cNvPr id="27" name="dbl-box"/>
          <p:cNvSpPr/>
          <p:nvPr/>
        </p:nvSpPr>
        <p:spPr>
          <a:xfrm>
            <a:off x="402095" y="4365912"/>
            <a:ext cx="1483046" cy="784738"/>
          </a:xfrm>
          <a:prstGeom prst="rect">
            <a:avLst/>
          </a:prstGeom>
          <a:solidFill>
            <a:srgbClr val="FFFFFF"/>
          </a:solidFill>
          <a:ln w="9525">
            <a:solidFill>
              <a:srgbClr val="C9CD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dbl-label"/>
          <p:cNvSpPr/>
          <p:nvPr/>
        </p:nvSpPr>
        <p:spPr>
          <a:xfrm>
            <a:off x="428704" y="4392521"/>
            <a:ext cx="14298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1B1F22"/>
                </a:solidFill>
                <a:latin typeface="Arial"/>
              </a:rPr>
              <a:t>Keswick assumption: Q2'26</a:t>
            </a:r>
            <a:br/>
            <a:r>
              <a:rPr sz="800" b="0" i="0">
                <a:solidFill>
                  <a:srgbClr val="1B1F22"/>
                </a:solidFill>
                <a:latin typeface="Arial"/>
              </a:rPr>
              <a:t>may already hold SpaceXAI</a:t>
            </a:r>
            <a:br/>
            <a:r>
              <a:rPr sz="800" b="0" i="0">
                <a:solidFill>
                  <a:srgbClr val="1B1F22"/>
                </a:solidFill>
                <a:latin typeface="Arial"/>
              </a:rPr>
              <a:t>ramp fees and early Broadcom</a:t>
            </a:r>
            <a:br/>
            <a:r>
              <a:rPr sz="800" b="0" i="0">
                <a:solidFill>
                  <a:srgbClr val="1B1F22"/>
                </a:solidFill>
                <a:latin typeface="Arial"/>
              </a:rPr>
              <a:t>capacity (online from 2026), so</a:t>
            </a:r>
            <a:br/>
            <a:r>
              <a:rPr sz="800" b="0" i="0">
                <a:solidFill>
                  <a:srgbClr val="1B1F22"/>
                </a:solidFill>
                <a:latin typeface="Arial"/>
              </a:rPr>
              <a:t>the additions may count part of</a:t>
            </a:r>
            <a:br/>
            <a:r>
              <a:rPr sz="800" b="0" i="0">
                <a:solidFill>
                  <a:srgbClr val="1B1F22"/>
                </a:solidFill>
                <a:latin typeface="Arial"/>
              </a:rPr>
              <a:t>it twice.</a:t>
            </a:r>
          </a:p>
        </p:txBody>
      </p:sp>
      <p:cxnSp>
        <p:nvCxnSpPr>
          <p:cNvPr id="29" name="dbl-leader"/>
          <p:cNvCxnSpPr/>
          <p:nvPr/>
        </p:nvCxnSpPr>
        <p:spPr>
          <a:xfrm>
            <a:off x="1143618" y="5150650"/>
            <a:ext cx="0" cy="106436"/>
          </a:xfrm>
          <a:prstGeom prst="line">
            <a:avLst/>
          </a:prstGeom>
          <a:ln w="9525">
            <a:solidFill>
              <a:srgbClr val="C9CDCF"/>
            </a:solidFill>
          </a:ln>
        </p:spPr>
      </p:cxn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4" name="chrome-1"/>
          <p:cNvCxnSpPr/>
          <p:nvPr/>
        </p:nvCxnSpPr>
        <p:spPr>
          <a:xfrm>
            <a:off x="411480" y="900684"/>
            <a:ext cx="11365992" cy="0"/>
          </a:xfrm>
          <a:prstGeom prst="line">
            <a:avLst/>
          </a:prstGeom>
          <a:ln w="12700">
            <a:solidFill>
              <a:srgbClr val="1D5C63"/>
            </a:solidFill>
          </a:ln>
        </p:spPr>
      </p:cxnSp>
      <p:sp>
        <p:nvSpPr>
          <p:cNvPr id="25" name="chrome-2"/>
          <p:cNvSpPr txBox="1"/>
          <p:nvPr/>
        </p:nvSpPr>
        <p:spPr>
          <a:xfrm>
            <a:off x="7205472" y="128016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1">
                <a:solidFill>
                  <a:srgbClr val="1D5C63"/>
                </a:solidFill>
                <a:latin typeface="Arial"/>
              </a:rPr>
              <a:t>KESWICK RESEARCH (FICTIONAL BROKER)  |  Initiation  |  27 October 2026</a:t>
            </a:r>
          </a:p>
        </p:txBody>
      </p:sp>
      <p:sp>
        <p:nvSpPr>
          <p:cNvPr id="26" name="chrome-3"/>
          <p:cNvSpPr txBox="1"/>
          <p:nvPr/>
        </p:nvSpPr>
        <p:spPr>
          <a:xfrm>
            <a:off x="411480" y="6547104"/>
            <a:ext cx="103327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A6166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7" name="chrome-4"/>
          <p:cNvSpPr txBox="1"/>
          <p:nvPr/>
        </p:nvSpPr>
        <p:spPr>
          <a:xfrm>
            <a:off x="11320272" y="654710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A6166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D5C63"/>
                </a:solidFill>
                <a:latin typeface="Arial"/>
              </a:rPr>
              <a:t>8  |  VALUATION AND SCENARIOS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B1F22"/>
                </a:solidFill>
                <a:latin typeface="Cambria"/>
              </a:rPr>
              <a:t>Base case $73 per share on 9x FY27E revenue, 25% above the Series H price; bear $41, bull $116</a:t>
            </a:r>
          </a:p>
        </p:txBody>
      </p:sp>
      <p:sp>
        <p:nvSpPr>
          <p:cNvPr id="4" name="ff_h"/>
          <p:cNvSpPr/>
          <p:nvPr/>
        </p:nvSpPr>
        <p:spPr>
          <a:xfrm>
            <a:off x="411480" y="1005840"/>
            <a:ext cx="6399827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24: Value per share by scenario (illustrative assumptions)</a:t>
            </a:r>
          </a:p>
        </p:txBody>
      </p:sp>
      <p:sp>
        <p:nvSpPr>
          <p:cNvPr id="5" name="ff_u"/>
          <p:cNvSpPr/>
          <p:nvPr/>
        </p:nvSpPr>
        <p:spPr>
          <a:xfrm>
            <a:off x="411480" y="1178052"/>
            <a:ext cx="639982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 per fully diluted share; pale bars are Keswick ranges, the white notch the mid-point (in each label); the dashed line is the Series H price</a:t>
            </a:r>
          </a:p>
        </p:txBody>
      </p:sp>
      <p:graphicFrame>
        <p:nvGraphicFramePr>
          <p:cNvPr id="6" name="ff"/>
          <p:cNvGraphicFramePr>
            <a:graphicFrameLocks noGrp="1"/>
          </p:cNvGraphicFramePr>
          <p:nvPr/>
        </p:nvGraphicFramePr>
        <p:xfrm>
          <a:off x="411480" y="1327404"/>
          <a:ext cx="6399827" cy="321741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f_s"/>
          <p:cNvSpPr/>
          <p:nvPr/>
        </p:nvSpPr>
        <p:spPr>
          <a:xfrm>
            <a:off x="411480" y="4572254"/>
            <a:ext cx="639982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Keswick Research assumptions; S-1 Certain Relationships and Related Person Transactions (Series H price), Note 10 (10:1 conversion),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Prospectus Summary (FD shares), Summary Consolidated Financial Data (net cash).</a:t>
            </a:r>
          </a:p>
        </p:txBody>
      </p:sp>
      <p:sp>
        <p:nvSpPr>
          <p:cNvPr id="8" name="im_h"/>
          <p:cNvSpPr/>
          <p:nvPr/>
        </p:nvSpPr>
        <p:spPr>
          <a:xfrm>
            <a:off x="411480" y="4983734"/>
            <a:ext cx="6399827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25: Multiples implied by each value, on reported and FY26E revenue</a:t>
            </a:r>
          </a:p>
        </p:txBody>
      </p:sp>
      <p:sp>
        <p:nvSpPr>
          <p:cNvPr id="9" name="im_u"/>
          <p:cNvSpPr/>
          <p:nvPr/>
        </p:nvSpPr>
        <p:spPr>
          <a:xfrm>
            <a:off x="411480" y="5155946"/>
            <a:ext cx="639982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EV = equity less $131.7bn net cash; Q2'26 annualised revenue $46.2bn; FY26E is Keswick's; FY27E multiples in Exhibit 26</a:t>
            </a:r>
          </a:p>
        </p:txBody>
      </p:sp>
      <p:graphicFrame>
        <p:nvGraphicFramePr>
          <p:cNvPr id="10" name="im"/>
          <p:cNvGraphicFramePr>
            <a:graphicFrameLocks noGrp="1"/>
          </p:cNvGraphicFramePr>
          <p:nvPr/>
        </p:nvGraphicFramePr>
        <p:xfrm>
          <a:off x="411480" y="5305298"/>
          <a:ext cx="6399827" cy="8851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791952"/>
                <a:gridCol w="959974"/>
                <a:gridCol w="959974"/>
                <a:gridCol w="1407962"/>
                <a:gridCol w="1279965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Equity ($bn)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EV ($bn)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EV / Q2'26 ann. rev. (x)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EV / FY26E rev. (x)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Series H price, $58.90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998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866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18.7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16.7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Bear value, $41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700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568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12.3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11.0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Base value, $73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1,244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1,112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24.1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21.4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Bull value, $116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1,960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1,829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39.6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35.3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11" name="im_s"/>
          <p:cNvSpPr/>
          <p:nvPr/>
        </p:nvSpPr>
        <p:spPr>
          <a:xfrm>
            <a:off x="411480" y="6217920"/>
            <a:ext cx="639982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Keswick computation from S-1 Quarterly Results of Operations, Summary Consolidated Financial Data and the Series H price; estimates are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Keswick assumptions.</a:t>
            </a:r>
          </a:p>
        </p:txBody>
      </p:sp>
      <p:sp>
        <p:nvSpPr>
          <p:cNvPr id="12" name="vt_h"/>
          <p:cNvSpPr/>
          <p:nvPr/>
        </p:nvSpPr>
        <p:spPr>
          <a:xfrm>
            <a:off x="7039907" y="1005840"/>
            <a:ext cx="4740613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B1F22"/>
                </a:solidFill>
                <a:latin typeface="Arial"/>
              </a:rPr>
              <a:t>Exhibit 26: Scenario valuation</a:t>
            </a:r>
          </a:p>
        </p:txBody>
      </p:sp>
      <p:sp>
        <p:nvSpPr>
          <p:cNvPr id="13" name="vt_u"/>
          <p:cNvSpPr/>
          <p:nvPr/>
        </p:nvSpPr>
        <p:spPr>
          <a:xfrm>
            <a:off x="7039907" y="1178052"/>
            <a:ext cx="4740613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A6166"/>
                </a:solidFill>
                <a:latin typeface="Arial"/>
              </a:rPr>
              <a:t>$bn unless stated; Keswick assumptions on the pale band</a:t>
            </a:r>
          </a:p>
        </p:txBody>
      </p:sp>
      <p:graphicFrame>
        <p:nvGraphicFramePr>
          <p:cNvPr id="14" name="vt"/>
          <p:cNvGraphicFramePr>
            <a:graphicFrameLocks noGrp="1"/>
          </p:cNvGraphicFramePr>
          <p:nvPr/>
        </p:nvGraphicFramePr>
        <p:xfrm>
          <a:off x="7039907" y="1327404"/>
          <a:ext cx="4740613" cy="194741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3033132"/>
                <a:gridCol w="581876"/>
                <a:gridCol w="562801"/>
                <a:gridCol w="562804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Scenario (Keswick assumptions)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Bear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Base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Bull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FY27E revenue ($bn)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94.7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123.6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152.4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1F22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FY27E growth (%)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83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138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194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FY27E adjusted operating margin (%)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(18.0)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2.3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14.9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EV / FY27E revenue (x), mid of range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6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Enterprise value ($bn)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568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1,112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1,829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Net cash, Jun'26 ($bn)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131.7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131.7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131.7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Equity value ($bn)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700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1,244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1,960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Fully diluted shares (bn)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16.94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16.94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16.94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Value per share ($)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41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73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B1F22"/>
                          </a:solidFill>
                          <a:latin typeface="Arial"/>
                        </a:rPr>
                        <a:t>116</a:t>
                      </a:r>
                      <a:endParaRPr sz="800" b="1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6350">
                      <a:solidFill>
                        <a:srgbClr val="C9CDCF"/>
                      </a:solidFill>
                    </a:lnB>
                    <a:solidFill>
                      <a:srgbClr val="EAF0F0"/>
                    </a:solidFill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vs Series H $58.90 (%)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A33A2A"/>
                          </a:solidFill>
                          <a:latin typeface="Arial"/>
                        </a:rPr>
                        <a:t>(30)</a:t>
                      </a:r>
                      <a:endParaRPr sz="800" b="0" i="0">
                        <a:solidFill>
                          <a:srgbClr val="A33A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25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B1F22"/>
                          </a:solidFill>
                          <a:latin typeface="Arial"/>
                        </a:rPr>
                        <a:t>97</a:t>
                      </a:r>
                      <a:endParaRPr sz="800" b="0" i="0">
                        <a:solidFill>
                          <a:srgbClr val="1B1F22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DCF"/>
                      </a:solidFill>
                    </a:lnT>
                    <a:lnB w="12700">
                      <a:solidFill>
                        <a:srgbClr val="1B1F22"/>
                      </a:solidFill>
                    </a:lnB>
                    <a:solidFill>
                      <a:srgbClr val="EAF0F0"/>
                    </a:solidFill>
                  </a:tcPr>
                </a:tc>
              </a:tr>
            </a:tbl>
          </a:graphicData>
        </a:graphic>
      </p:graphicFrame>
      <p:sp>
        <p:nvSpPr>
          <p:cNvPr id="15" name="vt_s"/>
          <p:cNvSpPr/>
          <p:nvPr/>
        </p:nvSpPr>
        <p:spPr>
          <a:xfrm>
            <a:off x="7039907" y="3302254"/>
            <a:ext cx="4740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A6166"/>
                </a:solidFill>
                <a:latin typeface="Arial"/>
              </a:rPr>
              <a:t>Source: Keswick Research assumptions; S-1 Summary Consolidated Financial Data (cash $131,651m),</a:t>
            </a:r>
            <a:br/>
            <a:r>
              <a:rPr sz="750" b="0" i="1">
                <a:solidFill>
                  <a:srgbClr val="5A6166"/>
                </a:solidFill>
                <a:latin typeface="Arial"/>
              </a:rPr>
              <a:t>Prospectus Summary (FD shares); Risk Factors and MD&amp;A, Convertible Notes (indebtedness).</a:t>
            </a:r>
          </a:p>
        </p:txBody>
      </p:sp>
      <p:sp>
        <p:nvSpPr>
          <p:cNvPr id="16" name="n8a"/>
          <p:cNvSpPr/>
          <p:nvPr/>
        </p:nvSpPr>
        <p:spPr>
          <a:xfrm>
            <a:off x="7039907" y="3713734"/>
            <a:ext cx="4740613" cy="4221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Why revenue: adjusted profit only turned positive in 1H26 and our base FY27E margin is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2.3%, so an earnings multiple says nothing yet (the base EV is 386x FY27E adjusted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operating income).</a:t>
            </a:r>
          </a:p>
        </p:txBody>
      </p:sp>
      <p:sp>
        <p:nvSpPr>
          <p:cNvPr id="17" name="n8b"/>
          <p:cNvSpPr/>
          <p:nvPr/>
        </p:nvSpPr>
        <p:spPr>
          <a:xfrm>
            <a:off x="7039907" y="4163314"/>
            <a:ext cx="4740613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No peer multiples are used: the S-1 gives none and we import none. Multiples are Keswick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assumptions, kept modest because the base FY27E margin is only 2.3%.</a:t>
            </a:r>
          </a:p>
        </p:txBody>
      </p:sp>
      <p:sp>
        <p:nvSpPr>
          <p:cNvPr id="18" name="n8c"/>
          <p:cNvSpPr/>
          <p:nvPr/>
        </p:nvSpPr>
        <p:spPr>
          <a:xfrm>
            <a:off x="7039907" y="4484878"/>
            <a:ext cx="4740613" cy="4221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Reference point: the Series H price ($589.0095 a preferred share, $58.90 per common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share at 10:1) on 16.94bn shares implies about $998bn of equity and 7.0x FY27E base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revenue net of cash.</a:t>
            </a:r>
          </a:p>
        </p:txBody>
      </p:sp>
      <p:sp>
        <p:nvSpPr>
          <p:cNvPr id="19" name="n8d"/>
          <p:cNvSpPr/>
          <p:nvPr/>
        </p:nvSpPr>
        <p:spPr>
          <a:xfrm>
            <a:off x="7039907" y="4934458"/>
            <a:ext cx="4740613" cy="4221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Net cash is Jun'26 cash and short-term investments. The $6.2bn of indebtedness in the S-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1's Risk Factors is the Amazon Notes, which the fully diluted count already treats as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converted; $0.4bn of finance lease liabilities is ignored.</a:t>
            </a:r>
          </a:p>
        </p:txBody>
      </p:sp>
      <p:sp>
        <p:nvSpPr>
          <p:cNvPr id="20" name="n8f"/>
          <p:cNvSpPr/>
          <p:nvPr/>
        </p:nvSpPr>
        <p:spPr>
          <a:xfrm>
            <a:off x="7039907" y="5384038"/>
            <a:ext cx="4740613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What moves the base value: each 1x of FY27E revenue multiple is worth about $7.30 a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share; each 0.10 of revenue per compute dollar about $4.40 at 9x.</a:t>
            </a:r>
          </a:p>
        </p:txBody>
      </p:sp>
      <p:sp>
        <p:nvSpPr>
          <p:cNvPr id="21" name="n8e"/>
          <p:cNvSpPr/>
          <p:nvPr/>
        </p:nvSpPr>
        <p:spPr>
          <a:xfrm>
            <a:off x="7039907" y="5705602"/>
            <a:ext cx="4740613" cy="294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2870">
              <a:lnSpc>
                <a:spcPts val="1008"/>
              </a:lnSpc>
              <a:spcBef>
                <a:spcPts val="0"/>
              </a:spcBef>
              <a:spcAft>
                <a:spcPts val="300"/>
              </a:spcAft>
              <a:buFont typeface="Arial"/>
              <a:buChar char="▪"/>
            </a:pPr>
            <a:r>
              <a:rPr sz="900" b="0" i="0">
                <a:solidFill>
                  <a:srgbClr val="1B1F22"/>
                </a:solidFill>
                <a:latin typeface="Arial"/>
              </a:rPr>
              <a:t>Excluded: IPO proceeds, Q3'26 cash flow, Google's option to buy shares alongside the</a:t>
            </a:r>
            <a:br/>
            <a:r>
              <a:rPr sz="900" b="0" i="0">
                <a:solidFill>
                  <a:srgbClr val="1B1F22"/>
                </a:solidFill>
                <a:latin typeface="Arial"/>
              </a:rPr>
              <a:t>IPO, RSU tax withholding and future public benefit issuances.</a:t>
            </a:r>
          </a:p>
        </p:txBody>
      </p:sp>
      <p:cxnSp>
        <p:nvCxnSpPr>
          <p:cNvPr id="22" name="serh-line"/>
          <p:cNvCxnSpPr/>
          <p:nvPr/>
        </p:nvCxnSpPr>
        <p:spPr>
          <a:xfrm flipV="1">
            <a:off x="3871920" y="1649146"/>
            <a:ext cx="0" cy="2766979"/>
          </a:xfrm>
          <a:prstGeom prst="line">
            <a:avLst/>
          </a:prstGeom>
          <a:ln w="15875">
            <a:solidFill>
              <a:srgbClr val="1B1F22"/>
            </a:solidFill>
            <a:prstDash val="dash"/>
          </a:ln>
        </p:spPr>
      </p:cxnSp>
      <p:sp>
        <p:nvSpPr>
          <p:cNvPr id="23" name="serh-label"/>
          <p:cNvSpPr/>
          <p:nvPr/>
        </p:nvSpPr>
        <p:spPr>
          <a:xfrm>
            <a:off x="3899352" y="4301825"/>
            <a:ext cx="73949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1F22"/>
                </a:solidFill>
                <a:latin typeface="Arial"/>
              </a:rPr>
              <a:t>Series H $58.90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pptx-skill" val="generated"/>
</p:tagLst>
</file>

<file path=ppt/tags/tag2.xml><?xml version="1.0" encoding="utf-8"?>
<p:tagLst xmlns:p="http://schemas.openxmlformats.org/presentationml/2006/main">
  <p:tag name="pptx-skill" val="generated"/>
</p:tagLst>
</file>

<file path=ppt/tags/tag3.xml><?xml version="1.0" encoding="utf-8"?>
<p:tagLst xmlns:p="http://schemas.openxmlformats.org/presentationml/2006/main">
  <p:tag name="pptx-skill" val="generated"/>
</p:tagLst>
</file>

<file path=ppt/tags/tag4.xml><?xml version="1.0" encoding="utf-8"?>
<p:tagLst xmlns:p="http://schemas.openxmlformats.org/presentationml/2006/main">
  <p:tag name="pptx-skill" val="generated"/>
</p:tagLst>
</file>

<file path=ppt/tags/tag5.xml><?xml version="1.0" encoding="utf-8"?>
<p:tagLst xmlns:p="http://schemas.openxmlformats.org/presentationml/2006/main">
  <p:tag name="pptx-skill" val="generated"/>
</p:tagLst>
</file>

<file path=ppt/tags/tag6.xml><?xml version="1.0" encoding="utf-8"?>
<p:tagLst xmlns:p="http://schemas.openxmlformats.org/presentationml/2006/main">
  <p:tag name="pptx-skill" val="generated"/>
</p:tagLst>
</file>

<file path=ppt/tags/tag7.xml><?xml version="1.0" encoding="utf-8"?>
<p:tagLst xmlns:p="http://schemas.openxmlformats.org/presentationml/2006/main">
  <p:tag name="pptx-skill" val="generated"/>
</p:tagLst>
</file>

<file path=ppt/tags/tag8.xml><?xml version="1.0" encoding="utf-8"?>
<p:tagLst xmlns:p="http://schemas.openxmlformats.org/presentationml/2006/main">
  <p:tag name="pptx-skill" val="generate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2026-10-27T12:50:20Z</dcterms:created>
  <dcterms:modified xsi:type="dcterms:W3CDTF">2026-10-27T12:50:20Z</dcterms:modified>
  <cp:category/>
</cp:coreProperties>
</file>