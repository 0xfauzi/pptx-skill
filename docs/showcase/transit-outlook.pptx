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8"/>
          <c:y val="0.11"/>
          <c:w val="0.74"/>
          <c:h val="0.78"/>
        </c:manualLayout>
      </c:layout>
      <c:scatterChart>
        <c:scatterStyle val="lineMarker"/>
        <c:varyColors val="0"/>
        <c:ser>
          <c:idx val="0"/>
          <c:order val="0"/>
          <c:tx>
            <c:strRef>
              <c:f>Sheet1!$B$1</c:f>
              <c:strCache>
                <c:ptCount val="1"/>
                <c:pt idx="0">
                  <c:v>Baseline</c:v>
                </c:pt>
              </c:strCache>
            </c:strRef>
          </c:tx>
          <c:spPr>
            <a:ln w="22225">
              <a:solidFill>
                <a:srgbClr val="000000"/>
              </a:solidFill>
              <a:prstDash val="dash"/>
            </a:ln>
          </c:spPr>
          <c:marker>
            <c:symbol val="none"/>
          </c:marker>
          <c:dLbls>
            <c:dLbl>
              <c:idx val="10"/>
              <c:tx>
                <c:rich>
                  <a:bodyPr/>
                  <a:lstStyle/>
                  <a:p>
                    <a:r>
                      <a:rPr sz="900" b="1" i="0">
                        <a:solidFill>
                          <a:srgbClr val="000000"/>
                        </a:solidFill>
                        <a:latin typeface="Arial"/>
                      </a:rPr>
                      <a:t>baseline 114.9</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Sheet1!$B$2:$B$12</c:f>
              <c:numCache>
                <c:formatCode>0</c:formatCode>
                <c:ptCount val="11"/>
                <c:pt idx="0">
                  <c:v>88.0</c:v>
                </c:pt>
                <c:pt idx="1">
                  <c:v>90.4</c:v>
                </c:pt>
                <c:pt idx="2">
                  <c:v>92.9</c:v>
                </c:pt>
                <c:pt idx="3">
                  <c:v>96.8</c:v>
                </c:pt>
                <c:pt idx="4">
                  <c:v>100.5</c:v>
                </c:pt>
                <c:pt idx="5">
                  <c:v>104.6</c:v>
                </c:pt>
                <c:pt idx="6">
                  <c:v>109.3</c:v>
                </c:pt>
                <c:pt idx="7">
                  <c:v>111.4</c:v>
                </c:pt>
                <c:pt idx="8">
                  <c:v>112.6</c:v>
                </c:pt>
                <c:pt idx="9">
                  <c:v>113.7</c:v>
                </c:pt>
                <c:pt idx="10">
                  <c:v>114.9</c:v>
                </c:pt>
              </c:numCache>
            </c:numRef>
          </c:yVal>
          <c:smooth val="0"/>
        </c:ser>
        <c:ser>
          <c:idx val="1"/>
          <c:order val="1"/>
          <c:tx>
            <c:strRef>
              <c:f>Sheet1!$B$14</c:f>
              <c:strCache>
                <c:ptCount val="1"/>
                <c:pt idx="0">
                  <c:v>High case</c:v>
                </c:pt>
              </c:strCache>
            </c:strRef>
          </c:tx>
          <c:spPr>
            <a:ln w="15875">
              <a:solidFill>
                <a:srgbClr val="7F7F7F"/>
              </a:solidFill>
            </a:ln>
          </c:spPr>
          <c:marker>
            <c:symbol val="none"/>
          </c:marker>
          <c:dLbls>
            <c:dLbl>
              <c:idx val="10"/>
              <c:tx>
                <c:rich>
                  <a:bodyPr/>
                  <a:lstStyle/>
                  <a:p>
                    <a:r>
                      <a:rPr sz="900" b="1" i="0">
                        <a:solidFill>
                          <a:srgbClr val="7F7F7F"/>
                        </a:solidFill>
                        <a:latin typeface="Arial"/>
                      </a:rPr>
                      <a:t>high 126.4</a:t>
                    </a:r>
                  </a:p>
                </c:rich>
              </c:tx>
              <c:txPr>
                <a:bodyPr/>
                <a:lstStyle/>
                <a:p>
                  <a:pPr>
                    <a:defRPr sz="900" b="1" i="0">
                      <a:solidFill>
                        <a:srgbClr val="7F7F7F"/>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Sheet1!$A$15:$A$25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Sheet1!$B$15:$B$25</c:f>
              <c:numCache>
                <c:formatCode>0</c:formatCode>
                <c:ptCount val="11"/>
                <c:pt idx="0">
                  <c:v>88.0</c:v>
                </c:pt>
                <c:pt idx="1">
                  <c:v>91.3</c:v>
                </c:pt>
                <c:pt idx="2">
                  <c:v>94.8</c:v>
                </c:pt>
                <c:pt idx="3">
                  <c:v>99.7</c:v>
                </c:pt>
                <c:pt idx="4">
                  <c:v>104.5</c:v>
                </c:pt>
                <c:pt idx="5">
                  <c:v>109.8</c:v>
                </c:pt>
                <c:pt idx="6">
                  <c:v>115.9</c:v>
                </c:pt>
                <c:pt idx="7">
                  <c:v>119.2</c:v>
                </c:pt>
                <c:pt idx="8">
                  <c:v>121.6</c:v>
                </c:pt>
                <c:pt idx="9">
                  <c:v>123.9</c:v>
                </c:pt>
                <c:pt idx="10">
                  <c:v>126.4</c:v>
                </c:pt>
              </c:numCache>
            </c:numRef>
          </c:yVal>
          <c:smooth val="0"/>
        </c:ser>
        <c:ser>
          <c:idx val="2"/>
          <c:order val="2"/>
          <c:tx>
            <c:strRef>
              <c:f>Sheet1!$B$27</c:f>
              <c:strCache>
                <c:ptCount val="1"/>
                <c:pt idx="0">
                  <c:v>Low case</c:v>
                </c:pt>
              </c:strCache>
            </c:strRef>
          </c:tx>
          <c:spPr>
            <a:ln w="15875">
              <a:solidFill>
                <a:srgbClr val="7F7F7F"/>
              </a:solidFill>
            </a:ln>
          </c:spPr>
          <c:marker>
            <c:symbol val="none"/>
          </c:marker>
          <c:dLbls>
            <c:dLbl>
              <c:idx val="10"/>
              <c:tx>
                <c:rich>
                  <a:bodyPr/>
                  <a:lstStyle/>
                  <a:p>
                    <a:r>
                      <a:rPr sz="900" b="1" i="0">
                        <a:solidFill>
                          <a:srgbClr val="7F7F7F"/>
                        </a:solidFill>
                        <a:latin typeface="Arial"/>
                      </a:rPr>
                      <a:t>low 101.1</a:t>
                    </a:r>
                  </a:p>
                </c:rich>
              </c:tx>
              <c:txPr>
                <a:bodyPr/>
                <a:lstStyle/>
                <a:p>
                  <a:pPr>
                    <a:defRPr sz="900" b="1" i="0">
                      <a:solidFill>
                        <a:srgbClr val="7F7F7F"/>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Sheet1!$A$28:$A$38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Sheet1!$B$28:$B$38</c:f>
              <c:numCache>
                <c:formatCode>0</c:formatCode>
                <c:ptCount val="11"/>
                <c:pt idx="0">
                  <c:v>88.0</c:v>
                </c:pt>
                <c:pt idx="1">
                  <c:v>89.3</c:v>
                </c:pt>
                <c:pt idx="2">
                  <c:v>90.7</c:v>
                </c:pt>
                <c:pt idx="3">
                  <c:v>93.3</c:v>
                </c:pt>
                <c:pt idx="4">
                  <c:v>95.7</c:v>
                </c:pt>
                <c:pt idx="5">
                  <c:v>98.3</c:v>
                </c:pt>
                <c:pt idx="6">
                  <c:v>101.4</c:v>
                </c:pt>
                <c:pt idx="7">
                  <c:v>102.0</c:v>
                </c:pt>
                <c:pt idx="8">
                  <c:v>101.8</c:v>
                </c:pt>
                <c:pt idx="9">
                  <c:v>101.4</c:v>
                </c:pt>
                <c:pt idx="10">
                  <c:v>101.1</c:v>
                </c:pt>
              </c:numCache>
            </c:numRef>
          </c:yVal>
          <c:smooth val="0"/>
        </c:ser>
        <c:ser>
          <c:idx val="3"/>
          <c:order val="3"/>
          <c:tx>
            <c:strRef>
              <c:f>Sheet1!$B$40</c:f>
              <c:strCache>
                <c:ptCount val="1"/>
                <c:pt idx="0">
                  <c:v>history</c:v>
                </c:pt>
              </c:strCache>
            </c:strRef>
          </c:tx>
          <c:spPr>
            <a:ln w="22225">
              <a:solidFill>
                <a:srgbClr val="000000"/>
              </a:solidFill>
            </a:ln>
          </c:spPr>
          <c:marker>
            <c:symbol val="none"/>
          </c:marker>
          <c:xVal>
            <c:numRef>
              <c:f>Sheet1!$A$41:$A$51</c:f>
              <c:numCache>
                <c:formatCode>0</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xVal>
          <c:yVal>
            <c:numRef>
              <c:f>Sheet1!$B$41:$B$51</c:f>
              <c:numCache>
                <c:formatCode>0</c:formatCode>
                <c:ptCount val="11"/>
                <c:pt idx="0">
                  <c:v>91.6</c:v>
                </c:pt>
                <c:pt idx="1">
                  <c:v>93.7</c:v>
                </c:pt>
                <c:pt idx="2">
                  <c:v>95.4</c:v>
                </c:pt>
                <c:pt idx="3">
                  <c:v>96.7</c:v>
                </c:pt>
                <c:pt idx="4">
                  <c:v>96.9</c:v>
                </c:pt>
                <c:pt idx="5">
                  <c:v>56.1</c:v>
                </c:pt>
                <c:pt idx="6">
                  <c:v>60.9</c:v>
                </c:pt>
                <c:pt idx="7">
                  <c:v>72.4</c:v>
                </c:pt>
                <c:pt idx="8">
                  <c:v>79.3</c:v>
                </c:pt>
                <c:pt idx="9">
                  <c:v>84.6</c:v>
                </c:pt>
                <c:pt idx="10">
                  <c:v>88.0</c:v>
                </c:pt>
              </c:numCache>
            </c:numRef>
          </c:yVal>
          <c:smooth val="0"/>
        </c:ser>
        <c:ser>
          <c:idx val="4"/>
          <c:order val="4"/>
          <c:tx>
            <c:strRef>
              <c:f>Sheet1!$B$53</c:f>
              <c:strCache>
                <c:ptCount val="1"/>
                <c:pt idx="0">
                  <c:v>range</c:v>
                </c:pt>
              </c:strCache>
            </c:strRef>
          </c:tx>
          <c:spPr>
            <a:ln w="34925">
              <a:solidFill>
                <a:srgbClr val="CCD7DC"/>
              </a:solidFill>
            </a:ln>
          </c:spPr>
          <c:marker>
            <c:symbol val="none"/>
          </c:marker>
          <c:xVal>
            <c:numRef>
              <c:f>Sheet1!$A$54:$A$64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Sheet1!$B$54:$B$64</c:f>
              <c:numCache>
                <c:formatCode>0</c:formatCode>
                <c:ptCount val="11"/>
                <c:pt idx="0">
                  <c:v>88.0</c:v>
                </c:pt>
                <c:pt idx="1">
                  <c:v>89.3</c:v>
                </c:pt>
                <c:pt idx="2">
                  <c:v>90.7</c:v>
                </c:pt>
                <c:pt idx="3">
                  <c:v>93.3</c:v>
                </c:pt>
                <c:pt idx="4">
                  <c:v>95.7</c:v>
                </c:pt>
                <c:pt idx="5">
                  <c:v>98.3</c:v>
                </c:pt>
                <c:pt idx="6">
                  <c:v>101.4</c:v>
                </c:pt>
                <c:pt idx="7">
                  <c:v>102.0</c:v>
                </c:pt>
                <c:pt idx="8">
                  <c:v>101.8</c:v>
                </c:pt>
                <c:pt idx="9">
                  <c:v>101.4</c:v>
                </c:pt>
                <c:pt idx="10">
                  <c:v>101.1</c:v>
                </c:pt>
              </c:numCache>
            </c:numRef>
          </c:yVal>
          <c:smooth val="0"/>
        </c:ser>
        <c:ser>
          <c:idx val="5"/>
          <c:order val="5"/>
          <c:tx>
            <c:strRef>
              <c:f>Sheet1!$B$66</c:f>
              <c:strCache>
                <c:ptCount val="1"/>
                <c:pt idx="0">
                  <c:v>range</c:v>
                </c:pt>
              </c:strCache>
            </c:strRef>
          </c:tx>
          <c:spPr>
            <a:ln w="34925">
              <a:solidFill>
                <a:srgbClr val="CCD7DC"/>
              </a:solidFill>
            </a:ln>
          </c:spPr>
          <c:marker>
            <c:symbol val="none"/>
          </c:marker>
          <c:xVal>
            <c:numRef>
              <c:f>Sheet1!$A$67:$A$77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Sheet1!$B$67:$B$77</c:f>
              <c:numCache>
                <c:formatCode>0</c:formatCode>
                <c:ptCount val="11"/>
                <c:pt idx="0">
                  <c:v>88.0</c:v>
                </c:pt>
                <c:pt idx="1">
                  <c:v>89.39090909090909</c:v>
                </c:pt>
                <c:pt idx="2">
                  <c:v>90.88636363636364</c:v>
                </c:pt>
                <c:pt idx="3">
                  <c:v>93.5909090909091</c:v>
                </c:pt>
                <c:pt idx="4">
                  <c:v>96.10000000000001</c:v>
                </c:pt>
                <c:pt idx="5">
                  <c:v>98.82272727272726</c:v>
                </c:pt>
                <c:pt idx="6">
                  <c:v>102.05909090909091</c:v>
                </c:pt>
                <c:pt idx="7">
                  <c:v>102.78181818181818</c:v>
                </c:pt>
                <c:pt idx="8">
                  <c:v>102.7</c:v>
                </c:pt>
                <c:pt idx="9">
                  <c:v>102.42272727272727</c:v>
                </c:pt>
                <c:pt idx="10">
                  <c:v>102.25</c:v>
                </c:pt>
              </c:numCache>
            </c:numRef>
          </c:yVal>
          <c:smooth val="0"/>
        </c:ser>
        <c:ser>
          <c:idx val="6"/>
          <c:order val="6"/>
          <c:tx>
            <c:strRef>
              <c:f>Sheet1!$B$79</c:f>
              <c:strCache>
                <c:ptCount val="1"/>
                <c:pt idx="0">
                  <c:v>range</c:v>
                </c:pt>
              </c:strCache>
            </c:strRef>
          </c:tx>
          <c:spPr>
            <a:ln w="34925">
              <a:solidFill>
                <a:srgbClr val="CCD7DC"/>
              </a:solidFill>
            </a:ln>
          </c:spPr>
          <c:marker>
            <c:symbol val="none"/>
          </c:marker>
          <c:xVal>
            <c:numRef>
              <c:f>Sheet1!$A$80:$A$90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Sheet1!$B$80:$B$90</c:f>
              <c:numCache>
                <c:formatCode>0</c:formatCode>
                <c:ptCount val="11"/>
                <c:pt idx="0">
                  <c:v>88.0</c:v>
                </c:pt>
                <c:pt idx="1">
                  <c:v>89.48181818181818</c:v>
                </c:pt>
                <c:pt idx="2">
                  <c:v>91.07272727272728</c:v>
                </c:pt>
                <c:pt idx="3">
                  <c:v>93.88181818181818</c:v>
                </c:pt>
                <c:pt idx="4">
                  <c:v>96.5</c:v>
                </c:pt>
                <c:pt idx="5">
                  <c:v>99.34545454545454</c:v>
                </c:pt>
                <c:pt idx="6">
                  <c:v>102.71818181818182</c:v>
                </c:pt>
                <c:pt idx="7">
                  <c:v>103.56363636363636</c:v>
                </c:pt>
                <c:pt idx="8">
                  <c:v>103.6</c:v>
                </c:pt>
                <c:pt idx="9">
                  <c:v>103.44545454545455</c:v>
                </c:pt>
                <c:pt idx="10">
                  <c:v>103.39999999999999</c:v>
                </c:pt>
              </c:numCache>
            </c:numRef>
          </c:yVal>
          <c:smooth val="0"/>
        </c:ser>
        <c:ser>
          <c:idx val="7"/>
          <c:order val="7"/>
          <c:tx>
            <c:strRef>
              <c:f>Sheet1!$B$92</c:f>
              <c:strCache>
                <c:ptCount val="1"/>
                <c:pt idx="0">
                  <c:v>range</c:v>
                </c:pt>
              </c:strCache>
            </c:strRef>
          </c:tx>
          <c:spPr>
            <a:ln w="34925">
              <a:solidFill>
                <a:srgbClr val="CCD7DC"/>
              </a:solidFill>
            </a:ln>
          </c:spPr>
          <c:marker>
            <c:symbol val="none"/>
          </c:marker>
          <c:xVal>
            <c:numRef>
              <c:f>Sheet1!$A$93:$A$103</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Sheet1!$B$93:$B$103</c:f>
              <c:numCache>
                <c:formatCode>0</c:formatCode>
                <c:ptCount val="11"/>
                <c:pt idx="0">
                  <c:v>88.0</c:v>
                </c:pt>
                <c:pt idx="1">
                  <c:v>89.57272727272726</c:v>
                </c:pt>
                <c:pt idx="2">
                  <c:v>91.25909090909092</c:v>
                </c:pt>
                <c:pt idx="3">
                  <c:v>94.17272727272727</c:v>
                </c:pt>
                <c:pt idx="4">
                  <c:v>96.9</c:v>
                </c:pt>
                <c:pt idx="5">
                  <c:v>99.86818181818181</c:v>
                </c:pt>
                <c:pt idx="6">
                  <c:v>103.37727272727274</c:v>
                </c:pt>
                <c:pt idx="7">
                  <c:v>104.34545454545454</c:v>
                </c:pt>
                <c:pt idx="8">
                  <c:v>104.5</c:v>
                </c:pt>
                <c:pt idx="9">
                  <c:v>104.46818181818182</c:v>
                </c:pt>
                <c:pt idx="10">
                  <c:v>104.55</c:v>
                </c:pt>
              </c:numCache>
            </c:numRef>
          </c:yVal>
          <c:smooth val="0"/>
        </c:ser>
        <c:ser>
          <c:idx val="8"/>
          <c:order val="8"/>
          <c:tx>
            <c:strRef>
              <c:f>Sheet1!$B$105</c:f>
              <c:strCache>
                <c:ptCount val="1"/>
                <c:pt idx="0">
                  <c:v>range</c:v>
                </c:pt>
              </c:strCache>
            </c:strRef>
          </c:tx>
          <c:spPr>
            <a:ln w="34925">
              <a:solidFill>
                <a:srgbClr val="CCD7DC"/>
              </a:solidFill>
            </a:ln>
          </c:spPr>
          <c:marker>
            <c:symbol val="none"/>
          </c:marker>
          <c:xVal>
            <c:numRef>
              <c:f>Sheet1!$A$106:$A$116</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Sheet1!$B$106:$B$116</c:f>
              <c:numCache>
                <c:formatCode>0</c:formatCode>
                <c:ptCount val="11"/>
                <c:pt idx="0">
                  <c:v>88.0</c:v>
                </c:pt>
                <c:pt idx="1">
                  <c:v>89.66363636363636</c:v>
                </c:pt>
                <c:pt idx="2">
                  <c:v>91.44545454545455</c:v>
                </c:pt>
                <c:pt idx="3">
                  <c:v>94.46363636363637</c:v>
                </c:pt>
                <c:pt idx="4">
                  <c:v>97.3</c:v>
                </c:pt>
                <c:pt idx="5">
                  <c:v>100.39090909090909</c:v>
                </c:pt>
                <c:pt idx="6">
                  <c:v>104.03636363636365</c:v>
                </c:pt>
                <c:pt idx="7">
                  <c:v>105.12727272727273</c:v>
                </c:pt>
                <c:pt idx="8">
                  <c:v>105.39999999999999</c:v>
                </c:pt>
                <c:pt idx="9">
                  <c:v>105.4909090909091</c:v>
                </c:pt>
                <c:pt idx="10">
                  <c:v>105.7</c:v>
                </c:pt>
              </c:numCache>
            </c:numRef>
          </c:yVal>
          <c:smooth val="0"/>
        </c:ser>
        <c:ser>
          <c:idx val="9"/>
          <c:order val="9"/>
          <c:tx>
            <c:strRef>
              <c:f>Sheet1!$B$118</c:f>
              <c:strCache>
                <c:ptCount val="1"/>
                <c:pt idx="0">
                  <c:v>range</c:v>
                </c:pt>
              </c:strCache>
            </c:strRef>
          </c:tx>
          <c:spPr>
            <a:ln w="34925">
              <a:solidFill>
                <a:srgbClr val="CCD7DC"/>
              </a:solidFill>
            </a:ln>
          </c:spPr>
          <c:marker>
            <c:symbol val="none"/>
          </c:marker>
          <c:xVal>
            <c:numRef>
              <c:f>Sheet1!$A$119:$A$129</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Sheet1!$B$119:$B$129</c:f>
              <c:numCache>
                <c:formatCode>0</c:formatCode>
                <c:ptCount val="11"/>
                <c:pt idx="0">
                  <c:v>88.0</c:v>
                </c:pt>
                <c:pt idx="1">
                  <c:v>89.75454545454545</c:v>
                </c:pt>
                <c:pt idx="2">
                  <c:v>91.63181818181819</c:v>
                </c:pt>
                <c:pt idx="3">
                  <c:v>94.75454545454545</c:v>
                </c:pt>
                <c:pt idx="4">
                  <c:v>97.7</c:v>
                </c:pt>
                <c:pt idx="5">
                  <c:v>100.91363636363636</c:v>
                </c:pt>
                <c:pt idx="6">
                  <c:v>104.69545454545455</c:v>
                </c:pt>
                <c:pt idx="7">
                  <c:v>105.9090909090909</c:v>
                </c:pt>
                <c:pt idx="8">
                  <c:v>106.3</c:v>
                </c:pt>
                <c:pt idx="9">
                  <c:v>106.51363636363637</c:v>
                </c:pt>
                <c:pt idx="10">
                  <c:v>106.85</c:v>
                </c:pt>
              </c:numCache>
            </c:numRef>
          </c:yVal>
          <c:smooth val="0"/>
        </c:ser>
        <c:ser>
          <c:idx val="10"/>
          <c:order val="10"/>
          <c:tx>
            <c:strRef>
              <c:f>Sheet1!$B$131</c:f>
              <c:strCache>
                <c:ptCount val="1"/>
                <c:pt idx="0">
                  <c:v>range</c:v>
                </c:pt>
              </c:strCache>
            </c:strRef>
          </c:tx>
          <c:spPr>
            <a:ln w="34925">
              <a:solidFill>
                <a:srgbClr val="CCD7DC"/>
              </a:solidFill>
            </a:ln>
          </c:spPr>
          <c:marker>
            <c:symbol val="none"/>
          </c:marker>
          <c:xVal>
            <c:numRef>
              <c:f>Sheet1!$A$132:$A$142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Sheet1!$B$132:$B$142</c:f>
              <c:numCache>
                <c:formatCode>0</c:formatCode>
                <c:ptCount val="11"/>
                <c:pt idx="0">
                  <c:v>88.0</c:v>
                </c:pt>
                <c:pt idx="1">
                  <c:v>89.84545454545454</c:v>
                </c:pt>
                <c:pt idx="2">
                  <c:v>91.81818181818181</c:v>
                </c:pt>
                <c:pt idx="3">
                  <c:v>95.04545454545455</c:v>
                </c:pt>
                <c:pt idx="4">
                  <c:v>98.10000000000001</c:v>
                </c:pt>
                <c:pt idx="5">
                  <c:v>101.43636363636364</c:v>
                </c:pt>
                <c:pt idx="6">
                  <c:v>105.35454545454546</c:v>
                </c:pt>
                <c:pt idx="7">
                  <c:v>106.69090909090909</c:v>
                </c:pt>
                <c:pt idx="8">
                  <c:v>107.19999999999999</c:v>
                </c:pt>
                <c:pt idx="9">
                  <c:v>107.53636363636365</c:v>
                </c:pt>
                <c:pt idx="10">
                  <c:v>108.0</c:v>
                </c:pt>
              </c:numCache>
            </c:numRef>
          </c:yVal>
          <c:smooth val="0"/>
        </c:ser>
        <c:ser>
          <c:idx val="11"/>
          <c:order val="11"/>
          <c:tx>
            <c:strRef>
              <c:f>Sheet1!$B$144</c:f>
              <c:strCache>
                <c:ptCount val="1"/>
                <c:pt idx="0">
                  <c:v>range</c:v>
                </c:pt>
              </c:strCache>
            </c:strRef>
          </c:tx>
          <c:spPr>
            <a:ln w="34925">
              <a:solidFill>
                <a:srgbClr val="CCD7DC"/>
              </a:solidFill>
            </a:ln>
          </c:spPr>
          <c:marker>
            <c:symbol val="none"/>
          </c:marker>
          <c:xVal>
            <c:numRef>
              <c:f>Sheet1!$A$145:$A$155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Sheet1!$B$145:$B$155</c:f>
              <c:numCache>
                <c:formatCode>0</c:formatCode>
                <c:ptCount val="11"/>
                <c:pt idx="0">
                  <c:v>88.0</c:v>
                </c:pt>
                <c:pt idx="1">
                  <c:v>89.93636363636364</c:v>
                </c:pt>
                <c:pt idx="2">
                  <c:v>92.00454545454545</c:v>
                </c:pt>
                <c:pt idx="3">
                  <c:v>95.33636363636363</c:v>
                </c:pt>
                <c:pt idx="4">
                  <c:v>98.5</c:v>
                </c:pt>
                <c:pt idx="5">
                  <c:v>101.9590909090909</c:v>
                </c:pt>
                <c:pt idx="6">
                  <c:v>106.01363636363637</c:v>
                </c:pt>
                <c:pt idx="7">
                  <c:v>107.47272727272727</c:v>
                </c:pt>
                <c:pt idx="8">
                  <c:v>108.1</c:v>
                </c:pt>
                <c:pt idx="9">
                  <c:v>108.55909090909091</c:v>
                </c:pt>
                <c:pt idx="10">
                  <c:v>109.15</c:v>
                </c:pt>
              </c:numCache>
            </c:numRef>
          </c:yVal>
          <c:smooth val="0"/>
        </c:ser>
        <c:ser>
          <c:idx val="12"/>
          <c:order val="12"/>
          <c:tx>
            <c:strRef>
              <c:f>Sheet1!$B$157</c:f>
              <c:strCache>
                <c:ptCount val="1"/>
                <c:pt idx="0">
                  <c:v>range</c:v>
                </c:pt>
              </c:strCache>
            </c:strRef>
          </c:tx>
          <c:spPr>
            <a:ln w="34925">
              <a:solidFill>
                <a:srgbClr val="CCD7DC"/>
              </a:solidFill>
            </a:ln>
          </c:spPr>
          <c:marker>
            <c:symbol val="none"/>
          </c:marker>
          <c:xVal>
            <c:numRef>
              <c:f>Sheet1!$A$158:$A$168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Sheet1!$B$158:$B$168</c:f>
              <c:numCache>
                <c:formatCode>0</c:formatCode>
                <c:ptCount val="11"/>
                <c:pt idx="0">
                  <c:v>88.0</c:v>
                </c:pt>
                <c:pt idx="1">
                  <c:v>90.02727272727273</c:v>
                </c:pt>
                <c:pt idx="2">
                  <c:v>92.19090909090909</c:v>
                </c:pt>
                <c:pt idx="3">
                  <c:v>95.62727272727273</c:v>
                </c:pt>
                <c:pt idx="4">
                  <c:v>98.9</c:v>
                </c:pt>
                <c:pt idx="5">
                  <c:v>102.48181818181818</c:v>
                </c:pt>
                <c:pt idx="6">
                  <c:v>106.67272727272727</c:v>
                </c:pt>
                <c:pt idx="7">
                  <c:v>108.25454545454545</c:v>
                </c:pt>
                <c:pt idx="8">
                  <c:v>109.0</c:v>
                </c:pt>
                <c:pt idx="9">
                  <c:v>109.58181818181819</c:v>
                </c:pt>
                <c:pt idx="10">
                  <c:v>110.3</c:v>
                </c:pt>
              </c:numCache>
            </c:numRef>
          </c:yVal>
          <c:smooth val="0"/>
        </c:ser>
        <c:ser>
          <c:idx val="13"/>
          <c:order val="13"/>
          <c:tx>
            <c:strRef>
              <c:f>Sheet1!$B$170</c:f>
              <c:strCache>
                <c:ptCount val="1"/>
                <c:pt idx="0">
                  <c:v>range</c:v>
                </c:pt>
              </c:strCache>
            </c:strRef>
          </c:tx>
          <c:spPr>
            <a:ln w="34925">
              <a:solidFill>
                <a:srgbClr val="CCD7DC"/>
              </a:solidFill>
            </a:ln>
          </c:spPr>
          <c:marker>
            <c:symbol val="none"/>
          </c:marker>
          <c:xVal>
            <c:numRef>
              <c:f>Sheet1!$A$171:$A$181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Sheet1!$B$171:$B$181</c:f>
              <c:numCache>
                <c:formatCode>0</c:formatCode>
                <c:ptCount val="11"/>
                <c:pt idx="0">
                  <c:v>88.0</c:v>
                </c:pt>
                <c:pt idx="1">
                  <c:v>90.11818181818181</c:v>
                </c:pt>
                <c:pt idx="2">
                  <c:v>92.37727272727273</c:v>
                </c:pt>
                <c:pt idx="3">
                  <c:v>95.91818181818182</c:v>
                </c:pt>
                <c:pt idx="4">
                  <c:v>99.3</c:v>
                </c:pt>
                <c:pt idx="5">
                  <c:v>103.00454545454545</c:v>
                </c:pt>
                <c:pt idx="6">
                  <c:v>107.33181818181819</c:v>
                </c:pt>
                <c:pt idx="7">
                  <c:v>109.03636363636363</c:v>
                </c:pt>
                <c:pt idx="8">
                  <c:v>109.89999999999999</c:v>
                </c:pt>
                <c:pt idx="9">
                  <c:v>110.60454545454546</c:v>
                </c:pt>
                <c:pt idx="10">
                  <c:v>111.45</c:v>
                </c:pt>
              </c:numCache>
            </c:numRef>
          </c:yVal>
          <c:smooth val="0"/>
        </c:ser>
        <c:ser>
          <c:idx val="14"/>
          <c:order val="14"/>
          <c:tx>
            <c:strRef>
              <c:f>Sheet1!$B$183</c:f>
              <c:strCache>
                <c:ptCount val="1"/>
                <c:pt idx="0">
                  <c:v>range</c:v>
                </c:pt>
              </c:strCache>
            </c:strRef>
          </c:tx>
          <c:spPr>
            <a:ln w="34925">
              <a:solidFill>
                <a:srgbClr val="CCD7DC"/>
              </a:solidFill>
            </a:ln>
          </c:spPr>
          <c:marker>
            <c:symbol val="none"/>
          </c:marker>
          <c:xVal>
            <c:numRef>
              <c:f>Sheet1!$A$184:$A$194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Sheet1!$B$184:$B$194</c:f>
              <c:numCache>
                <c:formatCode>0</c:formatCode>
                <c:ptCount val="11"/>
                <c:pt idx="0">
                  <c:v>88.0</c:v>
                </c:pt>
                <c:pt idx="1">
                  <c:v>90.2090909090909</c:v>
                </c:pt>
                <c:pt idx="2">
                  <c:v>92.56363636363636</c:v>
                </c:pt>
                <c:pt idx="3">
                  <c:v>96.2090909090909</c:v>
                </c:pt>
                <c:pt idx="4">
                  <c:v>99.7</c:v>
                </c:pt>
                <c:pt idx="5">
                  <c:v>103.52727272727273</c:v>
                </c:pt>
                <c:pt idx="6">
                  <c:v>107.9909090909091</c:v>
                </c:pt>
                <c:pt idx="7">
                  <c:v>109.81818181818181</c:v>
                </c:pt>
                <c:pt idx="8">
                  <c:v>110.8</c:v>
                </c:pt>
                <c:pt idx="9">
                  <c:v>111.62727272727273</c:v>
                </c:pt>
                <c:pt idx="10">
                  <c:v>112.6</c:v>
                </c:pt>
              </c:numCache>
            </c:numRef>
          </c:yVal>
          <c:smooth val="0"/>
        </c:ser>
        <c:ser>
          <c:idx val="15"/>
          <c:order val="15"/>
          <c:tx>
            <c:strRef>
              <c:f>Sheet1!$B$196</c:f>
              <c:strCache>
                <c:ptCount val="1"/>
                <c:pt idx="0">
                  <c:v>range</c:v>
                </c:pt>
              </c:strCache>
            </c:strRef>
          </c:tx>
          <c:spPr>
            <a:ln w="34925">
              <a:solidFill>
                <a:srgbClr val="CCD7DC"/>
              </a:solidFill>
            </a:ln>
          </c:spPr>
          <c:marker>
            <c:symbol val="none"/>
          </c:marker>
          <c:xVal>
            <c:numRef>
              <c:f>Sheet1!$A$197:$A$207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Sheet1!$B$197:$B$207</c:f>
              <c:numCache>
                <c:formatCode>0</c:formatCode>
                <c:ptCount val="11"/>
                <c:pt idx="0">
                  <c:v>88.0</c:v>
                </c:pt>
                <c:pt idx="1">
                  <c:v>90.3</c:v>
                </c:pt>
                <c:pt idx="2">
                  <c:v>92.75</c:v>
                </c:pt>
                <c:pt idx="3">
                  <c:v>96.5</c:v>
                </c:pt>
                <c:pt idx="4">
                  <c:v>100.1</c:v>
                </c:pt>
                <c:pt idx="5">
                  <c:v>104.05</c:v>
                </c:pt>
                <c:pt idx="6">
                  <c:v>108.65</c:v>
                </c:pt>
                <c:pt idx="7">
                  <c:v>110.6</c:v>
                </c:pt>
                <c:pt idx="8">
                  <c:v>111.69999999999999</c:v>
                </c:pt>
                <c:pt idx="9">
                  <c:v>112.65</c:v>
                </c:pt>
                <c:pt idx="10">
                  <c:v>113.75</c:v>
                </c:pt>
              </c:numCache>
            </c:numRef>
          </c:yVal>
          <c:smooth val="0"/>
        </c:ser>
        <c:ser>
          <c:idx val="16"/>
          <c:order val="16"/>
          <c:tx>
            <c:strRef>
              <c:f>Sheet1!$B$209</c:f>
              <c:strCache>
                <c:ptCount val="1"/>
                <c:pt idx="0">
                  <c:v>range</c:v>
                </c:pt>
              </c:strCache>
            </c:strRef>
          </c:tx>
          <c:spPr>
            <a:ln w="34925">
              <a:solidFill>
                <a:srgbClr val="CCD7DC"/>
              </a:solidFill>
            </a:ln>
          </c:spPr>
          <c:marker>
            <c:symbol val="none"/>
          </c:marker>
          <c:xVal>
            <c:numRef>
              <c:f>Sheet1!$A$210:$A$220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Sheet1!$B$210:$B$220</c:f>
              <c:numCache>
                <c:formatCode>0</c:formatCode>
                <c:ptCount val="11"/>
                <c:pt idx="0">
                  <c:v>88.0</c:v>
                </c:pt>
                <c:pt idx="1">
                  <c:v>90.39090909090909</c:v>
                </c:pt>
                <c:pt idx="2">
                  <c:v>92.93636363636364</c:v>
                </c:pt>
                <c:pt idx="3">
                  <c:v>96.7909090909091</c:v>
                </c:pt>
                <c:pt idx="4">
                  <c:v>100.5</c:v>
                </c:pt>
                <c:pt idx="5">
                  <c:v>104.57272727272726</c:v>
                </c:pt>
                <c:pt idx="6">
                  <c:v>109.30909090909091</c:v>
                </c:pt>
                <c:pt idx="7">
                  <c:v>111.38181818181818</c:v>
                </c:pt>
                <c:pt idx="8">
                  <c:v>112.6</c:v>
                </c:pt>
                <c:pt idx="9">
                  <c:v>113.67272727272727</c:v>
                </c:pt>
                <c:pt idx="10">
                  <c:v>114.9</c:v>
                </c:pt>
              </c:numCache>
            </c:numRef>
          </c:yVal>
          <c:smooth val="0"/>
        </c:ser>
        <c:ser>
          <c:idx val="17"/>
          <c:order val="17"/>
          <c:tx>
            <c:strRef>
              <c:f>Sheet1!$B$222</c:f>
              <c:strCache>
                <c:ptCount val="1"/>
                <c:pt idx="0">
                  <c:v>range</c:v>
                </c:pt>
              </c:strCache>
            </c:strRef>
          </c:tx>
          <c:spPr>
            <a:ln w="34925">
              <a:solidFill>
                <a:srgbClr val="CCD7DC"/>
              </a:solidFill>
            </a:ln>
          </c:spPr>
          <c:marker>
            <c:symbol val="none"/>
          </c:marker>
          <c:xVal>
            <c:numRef>
              <c:f>Sheet1!$A$223:$A$233</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Sheet1!$B$223:$B$233</c:f>
              <c:numCache>
                <c:formatCode>0</c:formatCode>
                <c:ptCount val="11"/>
                <c:pt idx="0">
                  <c:v>88.0</c:v>
                </c:pt>
                <c:pt idx="1">
                  <c:v>90.48181818181818</c:v>
                </c:pt>
                <c:pt idx="2">
                  <c:v>93.12272727272727</c:v>
                </c:pt>
                <c:pt idx="3">
                  <c:v>97.08181818181818</c:v>
                </c:pt>
                <c:pt idx="4">
                  <c:v>100.9</c:v>
                </c:pt>
                <c:pt idx="5">
                  <c:v>105.09545454545454</c:v>
                </c:pt>
                <c:pt idx="6">
                  <c:v>109.96818181818182</c:v>
                </c:pt>
                <c:pt idx="7">
                  <c:v>112.16363636363637</c:v>
                </c:pt>
                <c:pt idx="8">
                  <c:v>113.5</c:v>
                </c:pt>
                <c:pt idx="9">
                  <c:v>114.69545454545455</c:v>
                </c:pt>
                <c:pt idx="10">
                  <c:v>116.05</c:v>
                </c:pt>
              </c:numCache>
            </c:numRef>
          </c:yVal>
          <c:smooth val="0"/>
        </c:ser>
        <c:ser>
          <c:idx val="18"/>
          <c:order val="18"/>
          <c:tx>
            <c:strRef>
              <c:f>Sheet1!$B$235</c:f>
              <c:strCache>
                <c:ptCount val="1"/>
                <c:pt idx="0">
                  <c:v>range</c:v>
                </c:pt>
              </c:strCache>
            </c:strRef>
          </c:tx>
          <c:spPr>
            <a:ln w="34925">
              <a:solidFill>
                <a:srgbClr val="CCD7DC"/>
              </a:solidFill>
            </a:ln>
          </c:spPr>
          <c:marker>
            <c:symbol val="none"/>
          </c:marker>
          <c:xVal>
            <c:numRef>
              <c:f>Sheet1!$A$236:$A$246</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Sheet1!$B$236:$B$246</c:f>
              <c:numCache>
                <c:formatCode>0</c:formatCode>
                <c:ptCount val="11"/>
                <c:pt idx="0">
                  <c:v>88.0</c:v>
                </c:pt>
                <c:pt idx="1">
                  <c:v>90.57272727272726</c:v>
                </c:pt>
                <c:pt idx="2">
                  <c:v>93.30909090909091</c:v>
                </c:pt>
                <c:pt idx="3">
                  <c:v>97.37272727272727</c:v>
                </c:pt>
                <c:pt idx="4">
                  <c:v>101.3</c:v>
                </c:pt>
                <c:pt idx="5">
                  <c:v>105.61818181818181</c:v>
                </c:pt>
                <c:pt idx="6">
                  <c:v>110.62727272727273</c:v>
                </c:pt>
                <c:pt idx="7">
                  <c:v>112.94545454545455</c:v>
                </c:pt>
                <c:pt idx="8">
                  <c:v>114.39999999999999</c:v>
                </c:pt>
                <c:pt idx="9">
                  <c:v>115.71818181818182</c:v>
                </c:pt>
                <c:pt idx="10">
                  <c:v>117.2</c:v>
                </c:pt>
              </c:numCache>
            </c:numRef>
          </c:yVal>
          <c:smooth val="0"/>
        </c:ser>
        <c:ser>
          <c:idx val="19"/>
          <c:order val="19"/>
          <c:tx>
            <c:strRef>
              <c:f>Sheet1!$B$248</c:f>
              <c:strCache>
                <c:ptCount val="1"/>
                <c:pt idx="0">
                  <c:v>range</c:v>
                </c:pt>
              </c:strCache>
            </c:strRef>
          </c:tx>
          <c:spPr>
            <a:ln w="34925">
              <a:solidFill>
                <a:srgbClr val="CCD7DC"/>
              </a:solidFill>
            </a:ln>
          </c:spPr>
          <c:marker>
            <c:symbol val="none"/>
          </c:marker>
          <c:xVal>
            <c:numRef>
              <c:f>Sheet1!$A$249:$A$259</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Sheet1!$B$249:$B$259</c:f>
              <c:numCache>
                <c:formatCode>0</c:formatCode>
                <c:ptCount val="11"/>
                <c:pt idx="0">
                  <c:v>88.0</c:v>
                </c:pt>
                <c:pt idx="1">
                  <c:v>90.66363636363636</c:v>
                </c:pt>
                <c:pt idx="2">
                  <c:v>93.49545454545455</c:v>
                </c:pt>
                <c:pt idx="3">
                  <c:v>97.66363636363636</c:v>
                </c:pt>
                <c:pt idx="4">
                  <c:v>101.7</c:v>
                </c:pt>
                <c:pt idx="5">
                  <c:v>106.14090909090909</c:v>
                </c:pt>
                <c:pt idx="6">
                  <c:v>111.28636363636365</c:v>
                </c:pt>
                <c:pt idx="7">
                  <c:v>113.72727272727273</c:v>
                </c:pt>
                <c:pt idx="8">
                  <c:v>115.3</c:v>
                </c:pt>
                <c:pt idx="9">
                  <c:v>116.7409090909091</c:v>
                </c:pt>
                <c:pt idx="10">
                  <c:v>118.35</c:v>
                </c:pt>
              </c:numCache>
            </c:numRef>
          </c:yVal>
          <c:smooth val="0"/>
        </c:ser>
        <c:ser>
          <c:idx val="20"/>
          <c:order val="20"/>
          <c:tx>
            <c:strRef>
              <c:f>Sheet1!$B$261</c:f>
              <c:strCache>
                <c:ptCount val="1"/>
                <c:pt idx="0">
                  <c:v>range</c:v>
                </c:pt>
              </c:strCache>
            </c:strRef>
          </c:tx>
          <c:spPr>
            <a:ln w="34925">
              <a:solidFill>
                <a:srgbClr val="CCD7DC"/>
              </a:solidFill>
            </a:ln>
          </c:spPr>
          <c:marker>
            <c:symbol val="none"/>
          </c:marker>
          <c:xVal>
            <c:numRef>
              <c:f>Sheet1!$A$262:$A$272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Sheet1!$B$262:$B$272</c:f>
              <c:numCache>
                <c:formatCode>0</c:formatCode>
                <c:ptCount val="11"/>
                <c:pt idx="0">
                  <c:v>88.0</c:v>
                </c:pt>
                <c:pt idx="1">
                  <c:v>90.75454545454545</c:v>
                </c:pt>
                <c:pt idx="2">
                  <c:v>93.68181818181819</c:v>
                </c:pt>
                <c:pt idx="3">
                  <c:v>97.95454545454545</c:v>
                </c:pt>
                <c:pt idx="4">
                  <c:v>102.1</c:v>
                </c:pt>
                <c:pt idx="5">
                  <c:v>106.66363636363636</c:v>
                </c:pt>
                <c:pt idx="6">
                  <c:v>111.94545454545455</c:v>
                </c:pt>
                <c:pt idx="7">
                  <c:v>114.50909090909092</c:v>
                </c:pt>
                <c:pt idx="8">
                  <c:v>116.19999999999999</c:v>
                </c:pt>
                <c:pt idx="9">
                  <c:v>117.76363636363637</c:v>
                </c:pt>
                <c:pt idx="10">
                  <c:v>119.5</c:v>
                </c:pt>
              </c:numCache>
            </c:numRef>
          </c:yVal>
          <c:smooth val="0"/>
        </c:ser>
        <c:ser>
          <c:idx val="21"/>
          <c:order val="21"/>
          <c:tx>
            <c:strRef>
              <c:f>Sheet1!$B$274</c:f>
              <c:strCache>
                <c:ptCount val="1"/>
                <c:pt idx="0">
                  <c:v>range</c:v>
                </c:pt>
              </c:strCache>
            </c:strRef>
          </c:tx>
          <c:spPr>
            <a:ln w="34925">
              <a:solidFill>
                <a:srgbClr val="CCD7DC"/>
              </a:solidFill>
            </a:ln>
          </c:spPr>
          <c:marker>
            <c:symbol val="none"/>
          </c:marker>
          <c:xVal>
            <c:numRef>
              <c:f>Sheet1!$A$275:$A$285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Sheet1!$B$275:$B$285</c:f>
              <c:numCache>
                <c:formatCode>0</c:formatCode>
                <c:ptCount val="11"/>
                <c:pt idx="0">
                  <c:v>88.0</c:v>
                </c:pt>
                <c:pt idx="1">
                  <c:v>90.84545454545454</c:v>
                </c:pt>
                <c:pt idx="2">
                  <c:v>93.86818181818181</c:v>
                </c:pt>
                <c:pt idx="3">
                  <c:v>98.24545454545455</c:v>
                </c:pt>
                <c:pt idx="4">
                  <c:v>102.5</c:v>
                </c:pt>
                <c:pt idx="5">
                  <c:v>107.18636363636364</c:v>
                </c:pt>
                <c:pt idx="6">
                  <c:v>112.60454545454546</c:v>
                </c:pt>
                <c:pt idx="7">
                  <c:v>115.2909090909091</c:v>
                </c:pt>
                <c:pt idx="8">
                  <c:v>117.1</c:v>
                </c:pt>
                <c:pt idx="9">
                  <c:v>118.78636363636365</c:v>
                </c:pt>
                <c:pt idx="10">
                  <c:v>120.65</c:v>
                </c:pt>
              </c:numCache>
            </c:numRef>
          </c:yVal>
          <c:smooth val="0"/>
        </c:ser>
        <c:ser>
          <c:idx val="22"/>
          <c:order val="22"/>
          <c:tx>
            <c:strRef>
              <c:f>Sheet1!$B$287</c:f>
              <c:strCache>
                <c:ptCount val="1"/>
                <c:pt idx="0">
                  <c:v>range</c:v>
                </c:pt>
              </c:strCache>
            </c:strRef>
          </c:tx>
          <c:spPr>
            <a:ln w="34925">
              <a:solidFill>
                <a:srgbClr val="CCD7DC"/>
              </a:solidFill>
            </a:ln>
          </c:spPr>
          <c:marker>
            <c:symbol val="none"/>
          </c:marker>
          <c:xVal>
            <c:numRef>
              <c:f>Sheet1!$A$288:$A$298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Sheet1!$B$288:$B$298</c:f>
              <c:numCache>
                <c:formatCode>0</c:formatCode>
                <c:ptCount val="11"/>
                <c:pt idx="0">
                  <c:v>88.0</c:v>
                </c:pt>
                <c:pt idx="1">
                  <c:v>90.93636363636364</c:v>
                </c:pt>
                <c:pt idx="2">
                  <c:v>94.05454545454545</c:v>
                </c:pt>
                <c:pt idx="3">
                  <c:v>98.53636363636363</c:v>
                </c:pt>
                <c:pt idx="4">
                  <c:v>102.9</c:v>
                </c:pt>
                <c:pt idx="5">
                  <c:v>107.7090909090909</c:v>
                </c:pt>
                <c:pt idx="6">
                  <c:v>113.26363636363637</c:v>
                </c:pt>
                <c:pt idx="7">
                  <c:v>116.07272727272728</c:v>
                </c:pt>
                <c:pt idx="8">
                  <c:v>118.0</c:v>
                </c:pt>
                <c:pt idx="9">
                  <c:v>119.80909090909091</c:v>
                </c:pt>
                <c:pt idx="10">
                  <c:v>121.80000000000001</c:v>
                </c:pt>
              </c:numCache>
            </c:numRef>
          </c:yVal>
          <c:smooth val="0"/>
        </c:ser>
        <c:ser>
          <c:idx val="23"/>
          <c:order val="23"/>
          <c:tx>
            <c:strRef>
              <c:f>Sheet1!$B$300</c:f>
              <c:strCache>
                <c:ptCount val="1"/>
                <c:pt idx="0">
                  <c:v>range</c:v>
                </c:pt>
              </c:strCache>
            </c:strRef>
          </c:tx>
          <c:spPr>
            <a:ln w="34925">
              <a:solidFill>
                <a:srgbClr val="CCD7DC"/>
              </a:solidFill>
            </a:ln>
          </c:spPr>
          <c:marker>
            <c:symbol val="none"/>
          </c:marker>
          <c:xVal>
            <c:numRef>
              <c:f>Sheet1!$A$301:$A$311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Sheet1!$B$301:$B$311</c:f>
              <c:numCache>
                <c:formatCode>0</c:formatCode>
                <c:ptCount val="11"/>
                <c:pt idx="0">
                  <c:v>88.0</c:v>
                </c:pt>
                <c:pt idx="1">
                  <c:v>91.02727272727273</c:v>
                </c:pt>
                <c:pt idx="2">
                  <c:v>94.24090909090908</c:v>
                </c:pt>
                <c:pt idx="3">
                  <c:v>98.82727272727273</c:v>
                </c:pt>
                <c:pt idx="4">
                  <c:v>103.3</c:v>
                </c:pt>
                <c:pt idx="5">
                  <c:v>108.23181818181818</c:v>
                </c:pt>
                <c:pt idx="6">
                  <c:v>113.92272727272729</c:v>
                </c:pt>
                <c:pt idx="7">
                  <c:v>116.85454545454546</c:v>
                </c:pt>
                <c:pt idx="8">
                  <c:v>118.89999999999999</c:v>
                </c:pt>
                <c:pt idx="9">
                  <c:v>120.83181818181819</c:v>
                </c:pt>
                <c:pt idx="10">
                  <c:v>122.95</c:v>
                </c:pt>
              </c:numCache>
            </c:numRef>
          </c:yVal>
          <c:smooth val="0"/>
        </c:ser>
        <c:ser>
          <c:idx val="24"/>
          <c:order val="24"/>
          <c:tx>
            <c:strRef>
              <c:f>Sheet1!$B$313</c:f>
              <c:strCache>
                <c:ptCount val="1"/>
                <c:pt idx="0">
                  <c:v>range</c:v>
                </c:pt>
              </c:strCache>
            </c:strRef>
          </c:tx>
          <c:spPr>
            <a:ln w="34925">
              <a:solidFill>
                <a:srgbClr val="CCD7DC"/>
              </a:solidFill>
            </a:ln>
          </c:spPr>
          <c:marker>
            <c:symbol val="none"/>
          </c:marker>
          <c:xVal>
            <c:numRef>
              <c:f>Sheet1!$A$314:$A$324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Sheet1!$B$314:$B$324</c:f>
              <c:numCache>
                <c:formatCode>0</c:formatCode>
                <c:ptCount val="11"/>
                <c:pt idx="0">
                  <c:v>88.0</c:v>
                </c:pt>
                <c:pt idx="1">
                  <c:v>91.11818181818181</c:v>
                </c:pt>
                <c:pt idx="2">
                  <c:v>94.42727272727272</c:v>
                </c:pt>
                <c:pt idx="3">
                  <c:v>99.11818181818182</c:v>
                </c:pt>
                <c:pt idx="4">
                  <c:v>103.7</c:v>
                </c:pt>
                <c:pt idx="5">
                  <c:v>108.75454545454545</c:v>
                </c:pt>
                <c:pt idx="6">
                  <c:v>114.58181818181819</c:v>
                </c:pt>
                <c:pt idx="7">
                  <c:v>117.63636363636364</c:v>
                </c:pt>
                <c:pt idx="8">
                  <c:v>119.8</c:v>
                </c:pt>
                <c:pt idx="9">
                  <c:v>121.85454545454546</c:v>
                </c:pt>
                <c:pt idx="10">
                  <c:v>124.10000000000001</c:v>
                </c:pt>
              </c:numCache>
            </c:numRef>
          </c:yVal>
          <c:smooth val="0"/>
        </c:ser>
        <c:ser>
          <c:idx val="25"/>
          <c:order val="25"/>
          <c:tx>
            <c:strRef>
              <c:f>Sheet1!$B$326</c:f>
              <c:strCache>
                <c:ptCount val="1"/>
                <c:pt idx="0">
                  <c:v>range</c:v>
                </c:pt>
              </c:strCache>
            </c:strRef>
          </c:tx>
          <c:spPr>
            <a:ln w="34925">
              <a:solidFill>
                <a:srgbClr val="CCD7DC"/>
              </a:solidFill>
            </a:ln>
          </c:spPr>
          <c:marker>
            <c:symbol val="none"/>
          </c:marker>
          <c:xVal>
            <c:numRef>
              <c:f>Sheet1!$A$327:$A$337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Sheet1!$B$327:$B$337</c:f>
              <c:numCache>
                <c:formatCode>0</c:formatCode>
                <c:ptCount val="11"/>
                <c:pt idx="0">
                  <c:v>88.0</c:v>
                </c:pt>
                <c:pt idx="1">
                  <c:v>91.2090909090909</c:v>
                </c:pt>
                <c:pt idx="2">
                  <c:v>94.61363636363636</c:v>
                </c:pt>
                <c:pt idx="3">
                  <c:v>99.4090909090909</c:v>
                </c:pt>
                <c:pt idx="4">
                  <c:v>104.1</c:v>
                </c:pt>
                <c:pt idx="5">
                  <c:v>109.27727272727273</c:v>
                </c:pt>
                <c:pt idx="6">
                  <c:v>115.2409090909091</c:v>
                </c:pt>
                <c:pt idx="7">
                  <c:v>118.41818181818182</c:v>
                </c:pt>
                <c:pt idx="8">
                  <c:v>120.69999999999999</c:v>
                </c:pt>
                <c:pt idx="9">
                  <c:v>122.87727272727273</c:v>
                </c:pt>
                <c:pt idx="10">
                  <c:v>125.25</c:v>
                </c:pt>
              </c:numCache>
            </c:numRef>
          </c:yVal>
          <c:smooth val="0"/>
        </c:ser>
        <c:ser>
          <c:idx val="26"/>
          <c:order val="26"/>
          <c:tx>
            <c:strRef>
              <c:f>Sheet1!$B$339</c:f>
              <c:strCache>
                <c:ptCount val="1"/>
                <c:pt idx="0">
                  <c:v>range</c:v>
                </c:pt>
              </c:strCache>
            </c:strRef>
          </c:tx>
          <c:spPr>
            <a:ln w="34925">
              <a:solidFill>
                <a:srgbClr val="CCD7DC"/>
              </a:solidFill>
            </a:ln>
          </c:spPr>
          <c:marker>
            <c:symbol val="none"/>
          </c:marker>
          <c:xVal>
            <c:numRef>
              <c:f>Sheet1!$A$340:$A$350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Sheet1!$B$340:$B$350</c:f>
              <c:numCache>
                <c:formatCode>0</c:formatCode>
                <c:ptCount val="11"/>
                <c:pt idx="0">
                  <c:v>88.0</c:v>
                </c:pt>
                <c:pt idx="1">
                  <c:v>91.3</c:v>
                </c:pt>
                <c:pt idx="2">
                  <c:v>94.8</c:v>
                </c:pt>
                <c:pt idx="3">
                  <c:v>99.7</c:v>
                </c:pt>
                <c:pt idx="4">
                  <c:v>104.5</c:v>
                </c:pt>
                <c:pt idx="5">
                  <c:v>109.8</c:v>
                </c:pt>
                <c:pt idx="6">
                  <c:v>115.9</c:v>
                </c:pt>
                <c:pt idx="7">
                  <c:v>119.2</c:v>
                </c:pt>
                <c:pt idx="8">
                  <c:v>121.6</c:v>
                </c:pt>
                <c:pt idx="9">
                  <c:v>123.9</c:v>
                </c:pt>
                <c:pt idx="10">
                  <c:v>126.4</c:v>
                </c:pt>
              </c:numCache>
            </c:numRef>
          </c:yVal>
          <c:smooth val="0"/>
        </c:ser>
        <c:axId val="-2128940872"/>
        <c:axId val="-2129643912"/>
      </c:scatterChart>
      <c:valAx>
        <c:axId val="-2128940872"/>
        <c:scaling>
          <c:max val="2035.0"/>
          <c:min val="2015.0"/>
        </c:scaling>
        <c:delete val="0"/>
        <c:axPos val="b"/>
        <c:numFmt formatCode="0" sourceLinked="0"/>
        <c:majorTickMark val="out"/>
        <c:minorTickMark val="none"/>
        <c:tickLblPos val="nextTo"/>
        <c:spPr>
          <a:ln w="9525">
            <a:solidFill>
              <a:srgbClr val="404040"/>
            </a:solidFill>
          </a:ln>
        </c:spPr>
        <c:txPr>
          <a:bodyPr/>
          <a:lstStyle/>
          <a:p>
            <a:pPr>
              <a:defRPr sz="900" b="0" i="0">
                <a:solidFill>
                  <a:srgbClr val="404040"/>
                </a:solidFill>
                <a:latin typeface="Arial"/>
              </a:defRPr>
            </a:pPr>
          </a:p>
        </c:txPr>
        <c:crossAx val="-2129643912"/>
        <c:crosses val="min"/>
        <c:crossBetween val="midCat"/>
        <c:majorUnit val="5.0"/>
      </c:valAx>
      <c:valAx>
        <c:axId val="-2129643912"/>
        <c:scaling>
          <c:max val="140.0"/>
          <c:min val="40.0"/>
        </c:scaling>
        <c:delete val="0"/>
        <c:axPos val="l"/>
        <c:majorGridlines>
          <c:spPr>
            <a:ln w="9525">
              <a:solidFill>
                <a:srgbClr val="D9D9D9"/>
              </a:solidFill>
            </a:ln>
          </c:spPr>
        </c:majorGridlines>
        <c:numFmt formatCode="0" sourceLinked="0"/>
        <c:majorTickMark val="none"/>
        <c:minorTickMark val="none"/>
        <c:tickLblPos val="nextTo"/>
        <c:spPr>
          <a:ln>
            <a:noFill/>
          </a:ln>
        </c:spPr>
        <c:txPr>
          <a:bodyPr/>
          <a:lstStyle/>
          <a:p>
            <a:pPr>
              <a:defRPr sz="900" b="0" i="0">
                <a:solidFill>
                  <a:srgbClr val="404040"/>
                </a:solidFill>
                <a:latin typeface="Arial"/>
              </a:defRPr>
            </a:pPr>
          </a:p>
        </c:txPr>
        <c:crossAx val="-2128940872"/>
        <c:crosses val="min"/>
        <c:crossBetween val="midCat"/>
        <c:majorUnit val="20.0"/>
      </c:valAx>
      <c:spPr>
        <a:noFill/>
      </c:spPr>
    </c:plotArea>
    <c:plotVisOnly val="1"/>
    <c:dispBlanksAs val="gap"/>
    <c:showDLblsOverMax val="0"/>
  </c:chart>
  <c:txPr>
    <a:bodyPr/>
    <a:lstStyle/>
    <a:p>
      <a:pPr>
        <a:defRPr sz="900" b="0" i="0">
          <a:solidFill>
            <a:srgbClr val="40404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28"/>
          <c:y val="0.09"/>
          <c:w val="0.46"/>
          <c:h val="0.91"/>
        </c:manualLayout>
      </c:layout>
      <c:barChart>
        <c:barDir val="bar"/>
        <c:grouping val="clustered"/>
        <c:varyColors val="0"/>
        <c:ser>
          <c:idx val="0"/>
          <c:order val="0"/>
          <c:tx>
            <c:strRef>
              <c:f>Sheet1!$B$1</c:f>
              <c:strCache>
                <c:ptCount val="1"/>
                <c:pt idx="0">
                  <c:v>Growth</c:v>
                </c:pt>
              </c:strCache>
            </c:strRef>
          </c:tx>
          <c:spPr>
            <a:solidFill>
              <a:srgbClr val="7F7F7F"/>
            </a:solidFill>
            <a:ln>
              <a:noFill/>
            </a:ln>
          </c:spPr>
          <c:dPt>
            <c:idx val="0"/>
            <c:spPr>
              <a:solidFill>
                <a:srgbClr val="7A2630"/>
              </a:solidFill>
            </c:spPr>
          </c:dPt>
          <c:dPt>
            <c:idx val="4"/>
            <c:spPr>
              <a:solidFill>
                <a:srgbClr val="000000"/>
              </a:solidFill>
            </c:spPr>
          </c:dPt>
          <c:dLbls>
            <c:dLbl>
              <c:idx val="0"/>
              <c:tx>
                <c:rich>
                  <a:bodyPr/>
                  <a:lstStyle/>
                  <a:p>
                    <a:r>
                      <a:rPr sz="900" b="1" i="0">
                        <a:solidFill>
                          <a:srgbClr val="000000"/>
                        </a:solidFill>
                        <a:latin typeface="Arial"/>
                      </a:rPr>
                      <a:t>+45%</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dLbl>
              <c:idx val="1"/>
              <c:tx>
                <c:rich>
                  <a:bodyPr/>
                  <a:lstStyle/>
                  <a:p>
                    <a:r>
                      <a:rPr sz="900" b="1" i="0">
                        <a:solidFill>
                          <a:srgbClr val="000000"/>
                        </a:solidFill>
                        <a:latin typeface="Arial"/>
                      </a:rPr>
                      <a:t>+36%</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dLbl>
              <c:idx val="2"/>
              <c:tx>
                <c:rich>
                  <a:bodyPr/>
                  <a:lstStyle/>
                  <a:p>
                    <a:r>
                      <a:rPr sz="900" b="1" i="0">
                        <a:solidFill>
                          <a:srgbClr val="000000"/>
                        </a:solidFill>
                        <a:latin typeface="Arial"/>
                      </a:rPr>
                      <a:t>+25%</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dLbl>
              <c:idx val="3"/>
              <c:tx>
                <c:rich>
                  <a:bodyPr/>
                  <a:lstStyle/>
                  <a:p>
                    <a:r>
                      <a:rPr sz="900" b="1" i="0">
                        <a:solidFill>
                          <a:srgbClr val="000000"/>
                        </a:solidFill>
                        <a:latin typeface="Arial"/>
                      </a:rPr>
                      <a:t>+25%</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dLbl>
              <c:idx val="4"/>
              <c:tx>
                <c:rich>
                  <a:bodyPr/>
                  <a:lstStyle/>
                  <a:p>
                    <a:r>
                      <a:rPr sz="900" b="1" i="0">
                        <a:solidFill>
                          <a:srgbClr val="000000"/>
                        </a:solidFill>
                        <a:latin typeface="Arial"/>
                      </a:rPr>
                      <a:t>+31%</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txPr>
              <a:bodyPr/>
              <a:lstStyle/>
              <a:p>
                <a:pPr>
                  <a:defRPr sz="900" b="1" i="0">
                    <a:solidFill>
                      <a:srgbClr val="000000"/>
                    </a:solidFill>
                    <a:latin typeface="Arial"/>
                  </a:defRPr>
                </a:pPr>
              </a:p>
            </c:txPr>
            <c:dLblPos val="outEnd"/>
            <c:showLegendKey val="0"/>
            <c:showVal val="1"/>
            <c:showCatName val="0"/>
            <c:showSerName val="0"/>
            <c:showPercent val="0"/>
            <c:showBubbleSize val="0"/>
            <c:showLeaderLines val="1"/>
          </c:dLbls>
          <c:cat>
            <c:strRef>
              <c:f>Sheet1!$A$2:$A$6</c:f>
              <c:strCache>
                <c:ptCount val="5"/>
                <c:pt idx="0">
                  <c:v>light rail</c:v>
                </c:pt>
                <c:pt idx="1">
                  <c:v>demand response</c:v>
                </c:pt>
                <c:pt idx="2">
                  <c:v>bus</c:v>
                </c:pt>
                <c:pt idx="3">
                  <c:v>commuter rail</c:v>
                </c:pt>
                <c:pt idx="4">
                  <c:v>all modes</c:v>
                </c:pt>
              </c:strCache>
            </c:strRef>
          </c:cat>
          <c:val>
            <c:numRef>
              <c:f>Sheet1!$B$2:$B$6</c:f>
              <c:numCache>
                <c:formatCode>0</c:formatCode>
                <c:ptCount val="5"/>
                <c:pt idx="0">
                  <c:v>44.8</c:v>
                </c:pt>
                <c:pt idx="1">
                  <c:v>35.7</c:v>
                </c:pt>
                <c:pt idx="2">
                  <c:v>25.4</c:v>
                </c:pt>
                <c:pt idx="3">
                  <c:v>25.0</c:v>
                </c:pt>
                <c:pt idx="4">
                  <c:v>30.6</c:v>
                </c:pt>
              </c:numCache>
            </c:numRef>
          </c:val>
        </c:ser>
        <c:gapWidth val="45"/>
        <c:axId val="-2068027336"/>
        <c:axId val="-2113994440"/>
      </c:barChart>
      <c:catAx>
        <c:axId val="-2068027336"/>
        <c:scaling>
          <c:orientation val="maxMin"/>
        </c:scaling>
        <c:delete val="0"/>
        <c:axPos val="l"/>
        <c:majorTickMark val="none"/>
        <c:minorTickMark val="none"/>
        <c:tickLblPos val="nextTo"/>
        <c:spPr>
          <a:ln w="9525">
            <a:solidFill>
              <a:srgbClr val="404040"/>
            </a:solidFill>
          </a:ln>
        </c:spPr>
        <c:txPr>
          <a:bodyPr rot="0" vert="horz"/>
          <a:lstStyle/>
          <a:p>
            <a:pPr>
              <a:defRPr sz="900" b="0" i="0">
                <a:solidFill>
                  <a:srgbClr val="404040"/>
                </a:solidFill>
                <a:latin typeface="Arial"/>
              </a:defRPr>
            </a:pPr>
          </a:p>
        </c:txPr>
        <c:crossAx val="-2113994440"/>
        <c:crosses val="autoZero"/>
        <c:auto val="1"/>
        <c:lblAlgn val="ctr"/>
        <c:lblOffset val="100"/>
        <c:noMultiLvlLbl val="0"/>
      </c:catAx>
      <c:valAx>
        <c:axId val="-2113994440"/>
        <c:scaling>
          <c:max val="58.0"/>
          <c:min val="0.0"/>
        </c:scaling>
        <c:delete/>
        <c:axPos val="b"/>
        <c:majorTickMark val="out"/>
        <c:minorTickMark val="none"/>
        <c:tickLblPos val="nextTo"/>
        <c:crossAx val="-2068027336"/>
        <c:crosses val="autoZero"/>
        <c:crossBetween val="between"/>
        <c:majorUnit val="20.0"/>
      </c:valAx>
      <c:spPr>
        <a:noFill/>
      </c:spPr>
    </c:plotArea>
    <c:dispBlanksAs val="gap"/>
  </c:chart>
  <c:txPr>
    <a:bodyPr/>
    <a:lstStyle/>
    <a:p>
      <a:pPr>
        <a:defRPr sz="900" b="0" i="0">
          <a:solidFill>
            <a:srgbClr val="40404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5"/>
          <c:y val="0.11"/>
          <c:w val="0.58"/>
          <c:h val="0.78"/>
        </c:manualLayout>
      </c:layout>
      <c:scatterChart>
        <c:scatterStyle val="lineMarker"/>
        <c:varyColors val="0"/>
        <c:ser>
          <c:idx val="0"/>
          <c:order val="0"/>
          <c:tx>
            <c:strRef>
              <c:f>Sheet1!$B$1</c:f>
              <c:strCache>
                <c:ptCount val="1"/>
                <c:pt idx="0">
                  <c:v>Baseline</c:v>
                </c:pt>
              </c:strCache>
            </c:strRef>
          </c:tx>
          <c:spPr>
            <a:ln w="22225">
              <a:solidFill>
                <a:srgbClr val="000000"/>
              </a:solidFill>
              <a:prstDash val="dash"/>
            </a:ln>
          </c:spPr>
          <c:marker>
            <c:symbol val="none"/>
          </c:marker>
          <c:dLbls>
            <c:dLbl>
              <c:idx val="10"/>
              <c:tx>
                <c:rich>
                  <a:bodyPr/>
                  <a:lstStyle/>
                  <a:p>
                    <a:r>
                      <a:rPr sz="900" b="1" i="0">
                        <a:solidFill>
                          <a:srgbClr val="000000"/>
                        </a:solidFill>
                        <a:latin typeface="Arial"/>
                      </a:rPr>
                      <a:t>$180</a:t>
                    </a:r>
                  </a:p>
                  <a:p>
                    <a:r>
                      <a:rPr sz="900" b="1" i="0">
                        <a:solidFill>
                          <a:srgbClr val="000000"/>
                        </a:solidFill>
                        <a:latin typeface="Arial"/>
                      </a:rPr>
                      <a:t>($159-198)</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Sheet1!$B$2:$B$12</c:f>
              <c:numCache>
                <c:formatCode>#,##0</c:formatCode>
                <c:ptCount val="11"/>
                <c:pt idx="0">
                  <c:v>119.7</c:v>
                </c:pt>
                <c:pt idx="1">
                  <c:v>123.1</c:v>
                </c:pt>
                <c:pt idx="2">
                  <c:v>133.1</c:v>
                </c:pt>
                <c:pt idx="3">
                  <c:v>138.3</c:v>
                </c:pt>
                <c:pt idx="4">
                  <c:v>143.5</c:v>
                </c:pt>
                <c:pt idx="5">
                  <c:v>149.2</c:v>
                </c:pt>
                <c:pt idx="6">
                  <c:v>163.0</c:v>
                </c:pt>
                <c:pt idx="7">
                  <c:v>166.1</c:v>
                </c:pt>
                <c:pt idx="8">
                  <c:v>168.0</c:v>
                </c:pt>
                <c:pt idx="9">
                  <c:v>178.4</c:v>
                </c:pt>
                <c:pt idx="10">
                  <c:v>180.3</c:v>
                </c:pt>
              </c:numCache>
            </c:numRef>
          </c:yVal>
          <c:smooth val="0"/>
        </c:ser>
        <c:ser>
          <c:idx val="1"/>
          <c:order val="1"/>
          <c:tx>
            <c:strRef>
              <c:f>Sheet1!$B$14</c:f>
              <c:strCache>
                <c:ptCount val="1"/>
                <c:pt idx="0">
                  <c:v>High case</c:v>
                </c:pt>
              </c:strCache>
            </c:strRef>
          </c:tx>
          <c:spPr>
            <a:ln w="15875">
              <a:solidFill>
                <a:srgbClr val="7F7F7F"/>
              </a:solidFill>
            </a:ln>
          </c:spPr>
          <c:marker>
            <c:symbol val="none"/>
          </c:marker>
          <c:xVal>
            <c:numRef>
              <c:f>Sheet1!$A$15:$A$25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Sheet1!$B$15:$B$25</c:f>
              <c:numCache>
                <c:formatCode>#,##0</c:formatCode>
                <c:ptCount val="11"/>
                <c:pt idx="0">
                  <c:v>119.7</c:v>
                </c:pt>
                <c:pt idx="1">
                  <c:v>124.3</c:v>
                </c:pt>
                <c:pt idx="2">
                  <c:v>135.8</c:v>
                </c:pt>
                <c:pt idx="3">
                  <c:v>142.4</c:v>
                </c:pt>
                <c:pt idx="4">
                  <c:v>149.2</c:v>
                </c:pt>
                <c:pt idx="5">
                  <c:v>156.6</c:v>
                </c:pt>
                <c:pt idx="6">
                  <c:v>172.8</c:v>
                </c:pt>
                <c:pt idx="7">
                  <c:v>177.7</c:v>
                </c:pt>
                <c:pt idx="8">
                  <c:v>181.4</c:v>
                </c:pt>
                <c:pt idx="9">
                  <c:v>194.4</c:v>
                </c:pt>
                <c:pt idx="10">
                  <c:v>198.3</c:v>
                </c:pt>
              </c:numCache>
            </c:numRef>
          </c:yVal>
          <c:smooth val="0"/>
        </c:ser>
        <c:ser>
          <c:idx val="2"/>
          <c:order val="2"/>
          <c:tx>
            <c:strRef>
              <c:f>Sheet1!$B$27</c:f>
              <c:strCache>
                <c:ptCount val="1"/>
                <c:pt idx="0">
                  <c:v>Low case</c:v>
                </c:pt>
              </c:strCache>
            </c:strRef>
          </c:tx>
          <c:spPr>
            <a:ln w="15875">
              <a:solidFill>
                <a:srgbClr val="7F7F7F"/>
              </a:solidFill>
            </a:ln>
          </c:spPr>
          <c:marker>
            <c:symbol val="none"/>
          </c:marker>
          <c:xVal>
            <c:numRef>
              <c:f>Sheet1!$A$28:$A$38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Sheet1!$B$28:$B$38</c:f>
              <c:numCache>
                <c:formatCode>#,##0</c:formatCode>
                <c:ptCount val="11"/>
                <c:pt idx="0">
                  <c:v>119.7</c:v>
                </c:pt>
                <c:pt idx="1">
                  <c:v>121.6</c:v>
                </c:pt>
                <c:pt idx="2">
                  <c:v>129.9</c:v>
                </c:pt>
                <c:pt idx="3">
                  <c:v>133.3</c:v>
                </c:pt>
                <c:pt idx="4">
                  <c:v>136.6</c:v>
                </c:pt>
                <c:pt idx="5">
                  <c:v>140.2</c:v>
                </c:pt>
                <c:pt idx="6">
                  <c:v>151.2</c:v>
                </c:pt>
                <c:pt idx="7">
                  <c:v>152.1</c:v>
                </c:pt>
                <c:pt idx="8">
                  <c:v>151.9</c:v>
                </c:pt>
                <c:pt idx="9">
                  <c:v>159.1</c:v>
                </c:pt>
                <c:pt idx="10">
                  <c:v>158.6</c:v>
                </c:pt>
              </c:numCache>
            </c:numRef>
          </c:yVal>
          <c:smooth val="0"/>
        </c:ser>
        <c:ser>
          <c:idx val="3"/>
          <c:order val="3"/>
          <c:tx>
            <c:strRef>
              <c:f>Sheet1!$B$40</c:f>
              <c:strCache>
                <c:ptCount val="1"/>
                <c:pt idx="0">
                  <c:v>history</c:v>
                </c:pt>
              </c:strCache>
            </c:strRef>
          </c:tx>
          <c:spPr>
            <a:ln w="22225">
              <a:solidFill>
                <a:srgbClr val="000000"/>
              </a:solidFill>
            </a:ln>
          </c:spPr>
          <c:marker>
            <c:symbol val="none"/>
          </c:marker>
          <c:xVal>
            <c:numRef>
              <c:f>Sheet1!$A$41:$A$51</c:f>
              <c:numCache>
                <c:formatCode>#,##0</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xVal>
          <c:yVal>
            <c:numRef>
              <c:f>Sheet1!$B$41:$B$51</c:f>
              <c:numCache>
                <c:formatCode>#,##0</c:formatCode>
                <c:ptCount val="11"/>
                <c:pt idx="0">
                  <c:v>141.0</c:v>
                </c:pt>
                <c:pt idx="1">
                  <c:v>144.2</c:v>
                </c:pt>
                <c:pt idx="2">
                  <c:v>147.5</c:v>
                </c:pt>
                <c:pt idx="3">
                  <c:v>149.8</c:v>
                </c:pt>
                <c:pt idx="4">
                  <c:v>151.5</c:v>
                </c:pt>
                <c:pt idx="5">
                  <c:v>82.0</c:v>
                </c:pt>
                <c:pt idx="6">
                  <c:v>88.5</c:v>
                </c:pt>
                <c:pt idx="7">
                  <c:v>101.3</c:v>
                </c:pt>
                <c:pt idx="8">
                  <c:v>108.6</c:v>
                </c:pt>
                <c:pt idx="9">
                  <c:v>114.9</c:v>
                </c:pt>
                <c:pt idx="10">
                  <c:v>119.7</c:v>
                </c:pt>
              </c:numCache>
            </c:numRef>
          </c:yVal>
          <c:smooth val="0"/>
        </c:ser>
        <c:ser>
          <c:idx val="4"/>
          <c:order val="4"/>
          <c:tx>
            <c:strRef>
              <c:f>Sheet1!$B$53</c:f>
              <c:strCache>
                <c:ptCount val="1"/>
                <c:pt idx="0">
                  <c:v>range</c:v>
                </c:pt>
              </c:strCache>
            </c:strRef>
          </c:tx>
          <c:spPr>
            <a:ln w="34925">
              <a:solidFill>
                <a:srgbClr val="CCD7DC"/>
              </a:solidFill>
            </a:ln>
          </c:spPr>
          <c:marker>
            <c:symbol val="none"/>
          </c:marker>
          <c:xVal>
            <c:numRef>
              <c:f>Sheet1!$A$54:$A$64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Sheet1!$B$54:$B$64</c:f>
              <c:numCache>
                <c:formatCode>#,##0</c:formatCode>
                <c:ptCount val="11"/>
                <c:pt idx="0">
                  <c:v>119.7</c:v>
                </c:pt>
                <c:pt idx="1">
                  <c:v>121.6</c:v>
                </c:pt>
                <c:pt idx="2">
                  <c:v>129.9</c:v>
                </c:pt>
                <c:pt idx="3">
                  <c:v>133.3</c:v>
                </c:pt>
                <c:pt idx="4">
                  <c:v>136.6</c:v>
                </c:pt>
                <c:pt idx="5">
                  <c:v>140.2</c:v>
                </c:pt>
                <c:pt idx="6">
                  <c:v>151.2</c:v>
                </c:pt>
                <c:pt idx="7">
                  <c:v>152.1</c:v>
                </c:pt>
                <c:pt idx="8">
                  <c:v>151.9</c:v>
                </c:pt>
                <c:pt idx="9">
                  <c:v>159.1</c:v>
                </c:pt>
                <c:pt idx="10">
                  <c:v>158.6</c:v>
                </c:pt>
              </c:numCache>
            </c:numRef>
          </c:yVal>
          <c:smooth val="0"/>
        </c:ser>
        <c:ser>
          <c:idx val="5"/>
          <c:order val="5"/>
          <c:tx>
            <c:strRef>
              <c:f>Sheet1!$B$66</c:f>
              <c:strCache>
                <c:ptCount val="1"/>
                <c:pt idx="0">
                  <c:v>range</c:v>
                </c:pt>
              </c:strCache>
            </c:strRef>
          </c:tx>
          <c:spPr>
            <a:ln w="34925">
              <a:solidFill>
                <a:srgbClr val="CCD7DC"/>
              </a:solidFill>
            </a:ln>
          </c:spPr>
          <c:marker>
            <c:symbol val="none"/>
          </c:marker>
          <c:xVal>
            <c:numRef>
              <c:f>Sheet1!$A$67:$A$77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Sheet1!$B$67:$B$77</c:f>
              <c:numCache>
                <c:formatCode>#,##0</c:formatCode>
                <c:ptCount val="11"/>
                <c:pt idx="0">
                  <c:v>119.7</c:v>
                </c:pt>
                <c:pt idx="1">
                  <c:v>121.72272727272727</c:v>
                </c:pt>
                <c:pt idx="2">
                  <c:v>130.16818181818184</c:v>
                </c:pt>
                <c:pt idx="3">
                  <c:v>133.71363636363637</c:v>
                </c:pt>
                <c:pt idx="4">
                  <c:v>137.17272727272726</c:v>
                </c:pt>
                <c:pt idx="5">
                  <c:v>140.94545454545454</c:v>
                </c:pt>
                <c:pt idx="6">
                  <c:v>152.18181818181816</c:v>
                </c:pt>
                <c:pt idx="7">
                  <c:v>153.26363636363635</c:v>
                </c:pt>
                <c:pt idx="8">
                  <c:v>153.2409090909091</c:v>
                </c:pt>
                <c:pt idx="9">
                  <c:v>160.70454545454544</c:v>
                </c:pt>
                <c:pt idx="10">
                  <c:v>160.40454545454546</c:v>
                </c:pt>
              </c:numCache>
            </c:numRef>
          </c:yVal>
          <c:smooth val="0"/>
        </c:ser>
        <c:ser>
          <c:idx val="6"/>
          <c:order val="6"/>
          <c:tx>
            <c:strRef>
              <c:f>Sheet1!$B$79</c:f>
              <c:strCache>
                <c:ptCount val="1"/>
                <c:pt idx="0">
                  <c:v>range</c:v>
                </c:pt>
              </c:strCache>
            </c:strRef>
          </c:tx>
          <c:spPr>
            <a:ln w="34925">
              <a:solidFill>
                <a:srgbClr val="CCD7DC"/>
              </a:solidFill>
            </a:ln>
          </c:spPr>
          <c:marker>
            <c:symbol val="none"/>
          </c:marker>
          <c:xVal>
            <c:numRef>
              <c:f>Sheet1!$A$80:$A$90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Sheet1!$B$80:$B$90</c:f>
              <c:numCache>
                <c:formatCode>#,##0</c:formatCode>
                <c:ptCount val="11"/>
                <c:pt idx="0">
                  <c:v>119.7</c:v>
                </c:pt>
                <c:pt idx="1">
                  <c:v>121.84545454545454</c:v>
                </c:pt>
                <c:pt idx="2">
                  <c:v>130.43636363636364</c:v>
                </c:pt>
                <c:pt idx="3">
                  <c:v>134.12727272727273</c:v>
                </c:pt>
                <c:pt idx="4">
                  <c:v>137.74545454545455</c:v>
                </c:pt>
                <c:pt idx="5">
                  <c:v>141.6909090909091</c:v>
                </c:pt>
                <c:pt idx="6">
                  <c:v>153.16363636363636</c:v>
                </c:pt>
                <c:pt idx="7">
                  <c:v>154.4272727272727</c:v>
                </c:pt>
                <c:pt idx="8">
                  <c:v>154.5818181818182</c:v>
                </c:pt>
                <c:pt idx="9">
                  <c:v>162.3090909090909</c:v>
                </c:pt>
                <c:pt idx="10">
                  <c:v>162.20909090909092</c:v>
                </c:pt>
              </c:numCache>
            </c:numRef>
          </c:yVal>
          <c:smooth val="0"/>
        </c:ser>
        <c:ser>
          <c:idx val="7"/>
          <c:order val="7"/>
          <c:tx>
            <c:strRef>
              <c:f>Sheet1!$B$92</c:f>
              <c:strCache>
                <c:ptCount val="1"/>
                <c:pt idx="0">
                  <c:v>range</c:v>
                </c:pt>
              </c:strCache>
            </c:strRef>
          </c:tx>
          <c:spPr>
            <a:ln w="34925">
              <a:solidFill>
                <a:srgbClr val="CCD7DC"/>
              </a:solidFill>
            </a:ln>
          </c:spPr>
          <c:marker>
            <c:symbol val="none"/>
          </c:marker>
          <c:xVal>
            <c:numRef>
              <c:f>Sheet1!$A$93:$A$103</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Sheet1!$B$93:$B$103</c:f>
              <c:numCache>
                <c:formatCode>#,##0</c:formatCode>
                <c:ptCount val="11"/>
                <c:pt idx="0">
                  <c:v>119.7</c:v>
                </c:pt>
                <c:pt idx="1">
                  <c:v>121.96818181818182</c:v>
                </c:pt>
                <c:pt idx="2">
                  <c:v>130.70454545454547</c:v>
                </c:pt>
                <c:pt idx="3">
                  <c:v>134.5409090909091</c:v>
                </c:pt>
                <c:pt idx="4">
                  <c:v>138.3181818181818</c:v>
                </c:pt>
                <c:pt idx="5">
                  <c:v>142.43636363636364</c:v>
                </c:pt>
                <c:pt idx="6">
                  <c:v>154.14545454545453</c:v>
                </c:pt>
                <c:pt idx="7">
                  <c:v>155.5909090909091</c:v>
                </c:pt>
                <c:pt idx="8">
                  <c:v>155.9227272727273</c:v>
                </c:pt>
                <c:pt idx="9">
                  <c:v>163.91363636363636</c:v>
                </c:pt>
                <c:pt idx="10">
                  <c:v>164.01363636363635</c:v>
                </c:pt>
              </c:numCache>
            </c:numRef>
          </c:yVal>
          <c:smooth val="0"/>
        </c:ser>
        <c:ser>
          <c:idx val="8"/>
          <c:order val="8"/>
          <c:tx>
            <c:strRef>
              <c:f>Sheet1!$B$105</c:f>
              <c:strCache>
                <c:ptCount val="1"/>
                <c:pt idx="0">
                  <c:v>range</c:v>
                </c:pt>
              </c:strCache>
            </c:strRef>
          </c:tx>
          <c:spPr>
            <a:ln w="34925">
              <a:solidFill>
                <a:srgbClr val="CCD7DC"/>
              </a:solidFill>
            </a:ln>
          </c:spPr>
          <c:marker>
            <c:symbol val="none"/>
          </c:marker>
          <c:xVal>
            <c:numRef>
              <c:f>Sheet1!$A$106:$A$116</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Sheet1!$B$106:$B$116</c:f>
              <c:numCache>
                <c:formatCode>#,##0</c:formatCode>
                <c:ptCount val="11"/>
                <c:pt idx="0">
                  <c:v>119.7</c:v>
                </c:pt>
                <c:pt idx="1">
                  <c:v>122.09090909090908</c:v>
                </c:pt>
                <c:pt idx="2">
                  <c:v>130.97272727272727</c:v>
                </c:pt>
                <c:pt idx="3">
                  <c:v>134.95454545454547</c:v>
                </c:pt>
                <c:pt idx="4">
                  <c:v>138.89090909090908</c:v>
                </c:pt>
                <c:pt idx="5">
                  <c:v>143.18181818181816</c:v>
                </c:pt>
                <c:pt idx="6">
                  <c:v>155.12727272727273</c:v>
                </c:pt>
                <c:pt idx="7">
                  <c:v>156.75454545454545</c:v>
                </c:pt>
                <c:pt idx="8">
                  <c:v>157.26363636363638</c:v>
                </c:pt>
                <c:pt idx="9">
                  <c:v>165.5181818181818</c:v>
                </c:pt>
                <c:pt idx="10">
                  <c:v>165.8181818181818</c:v>
                </c:pt>
              </c:numCache>
            </c:numRef>
          </c:yVal>
          <c:smooth val="0"/>
        </c:ser>
        <c:ser>
          <c:idx val="9"/>
          <c:order val="9"/>
          <c:tx>
            <c:strRef>
              <c:f>Sheet1!$B$118</c:f>
              <c:strCache>
                <c:ptCount val="1"/>
                <c:pt idx="0">
                  <c:v>range</c:v>
                </c:pt>
              </c:strCache>
            </c:strRef>
          </c:tx>
          <c:spPr>
            <a:ln w="34925">
              <a:solidFill>
                <a:srgbClr val="CCD7DC"/>
              </a:solidFill>
            </a:ln>
          </c:spPr>
          <c:marker>
            <c:symbol val="none"/>
          </c:marker>
          <c:xVal>
            <c:numRef>
              <c:f>Sheet1!$A$119:$A$129</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Sheet1!$B$119:$B$129</c:f>
              <c:numCache>
                <c:formatCode>#,##0</c:formatCode>
                <c:ptCount val="11"/>
                <c:pt idx="0">
                  <c:v>119.7</c:v>
                </c:pt>
                <c:pt idx="1">
                  <c:v>122.21363636363635</c:v>
                </c:pt>
                <c:pt idx="2">
                  <c:v>131.2409090909091</c:v>
                </c:pt>
                <c:pt idx="3">
                  <c:v>135.36818181818182</c:v>
                </c:pt>
                <c:pt idx="4">
                  <c:v>139.46363636363637</c:v>
                </c:pt>
                <c:pt idx="5">
                  <c:v>143.9272727272727</c:v>
                </c:pt>
                <c:pt idx="6">
                  <c:v>156.1090909090909</c:v>
                </c:pt>
                <c:pt idx="7">
                  <c:v>157.9181818181818</c:v>
                </c:pt>
                <c:pt idx="8">
                  <c:v>158.60454545454547</c:v>
                </c:pt>
                <c:pt idx="9">
                  <c:v>167.12272727272727</c:v>
                </c:pt>
                <c:pt idx="10">
                  <c:v>167.62272727272727</c:v>
                </c:pt>
              </c:numCache>
            </c:numRef>
          </c:yVal>
          <c:smooth val="0"/>
        </c:ser>
        <c:ser>
          <c:idx val="10"/>
          <c:order val="10"/>
          <c:tx>
            <c:strRef>
              <c:f>Sheet1!$B$131</c:f>
              <c:strCache>
                <c:ptCount val="1"/>
                <c:pt idx="0">
                  <c:v>range</c:v>
                </c:pt>
              </c:strCache>
            </c:strRef>
          </c:tx>
          <c:spPr>
            <a:ln w="34925">
              <a:solidFill>
                <a:srgbClr val="CCD7DC"/>
              </a:solidFill>
            </a:ln>
          </c:spPr>
          <c:marker>
            <c:symbol val="none"/>
          </c:marker>
          <c:xVal>
            <c:numRef>
              <c:f>Sheet1!$A$132:$A$142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Sheet1!$B$132:$B$142</c:f>
              <c:numCache>
                <c:formatCode>#,##0</c:formatCode>
                <c:ptCount val="11"/>
                <c:pt idx="0">
                  <c:v>119.7</c:v>
                </c:pt>
                <c:pt idx="1">
                  <c:v>122.33636363636363</c:v>
                </c:pt>
                <c:pt idx="2">
                  <c:v>131.50909090909093</c:v>
                </c:pt>
                <c:pt idx="3">
                  <c:v>135.78181818181818</c:v>
                </c:pt>
                <c:pt idx="4">
                  <c:v>140.03636363636363</c:v>
                </c:pt>
                <c:pt idx="5">
                  <c:v>144.67272727272726</c:v>
                </c:pt>
                <c:pt idx="6">
                  <c:v>157.0909090909091</c:v>
                </c:pt>
                <c:pt idx="7">
                  <c:v>159.08181818181816</c:v>
                </c:pt>
                <c:pt idx="8">
                  <c:v>159.94545454545454</c:v>
                </c:pt>
                <c:pt idx="9">
                  <c:v>168.72727272727272</c:v>
                </c:pt>
                <c:pt idx="10">
                  <c:v>169.42727272727274</c:v>
                </c:pt>
              </c:numCache>
            </c:numRef>
          </c:yVal>
          <c:smooth val="0"/>
        </c:ser>
        <c:ser>
          <c:idx val="11"/>
          <c:order val="11"/>
          <c:tx>
            <c:strRef>
              <c:f>Sheet1!$B$144</c:f>
              <c:strCache>
                <c:ptCount val="1"/>
                <c:pt idx="0">
                  <c:v>range</c:v>
                </c:pt>
              </c:strCache>
            </c:strRef>
          </c:tx>
          <c:spPr>
            <a:ln w="34925">
              <a:solidFill>
                <a:srgbClr val="CCD7DC"/>
              </a:solidFill>
            </a:ln>
          </c:spPr>
          <c:marker>
            <c:symbol val="none"/>
          </c:marker>
          <c:xVal>
            <c:numRef>
              <c:f>Sheet1!$A$145:$A$155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Sheet1!$B$145:$B$155</c:f>
              <c:numCache>
                <c:formatCode>#,##0</c:formatCode>
                <c:ptCount val="11"/>
                <c:pt idx="0">
                  <c:v>119.7</c:v>
                </c:pt>
                <c:pt idx="1">
                  <c:v>122.4590909090909</c:v>
                </c:pt>
                <c:pt idx="2">
                  <c:v>131.77727272727273</c:v>
                </c:pt>
                <c:pt idx="3">
                  <c:v>136.19545454545457</c:v>
                </c:pt>
                <c:pt idx="4">
                  <c:v>140.6090909090909</c:v>
                </c:pt>
                <c:pt idx="5">
                  <c:v>145.4181818181818</c:v>
                </c:pt>
                <c:pt idx="6">
                  <c:v>158.07272727272726</c:v>
                </c:pt>
                <c:pt idx="7">
                  <c:v>160.24545454545455</c:v>
                </c:pt>
                <c:pt idx="8">
                  <c:v>161.28636363636363</c:v>
                </c:pt>
                <c:pt idx="9">
                  <c:v>170.3318181818182</c:v>
                </c:pt>
                <c:pt idx="10">
                  <c:v>171.23181818181817</c:v>
                </c:pt>
              </c:numCache>
            </c:numRef>
          </c:yVal>
          <c:smooth val="0"/>
        </c:ser>
        <c:ser>
          <c:idx val="12"/>
          <c:order val="12"/>
          <c:tx>
            <c:strRef>
              <c:f>Sheet1!$B$157</c:f>
              <c:strCache>
                <c:ptCount val="1"/>
                <c:pt idx="0">
                  <c:v>range</c:v>
                </c:pt>
              </c:strCache>
            </c:strRef>
          </c:tx>
          <c:spPr>
            <a:ln w="34925">
              <a:solidFill>
                <a:srgbClr val="CCD7DC"/>
              </a:solidFill>
            </a:ln>
          </c:spPr>
          <c:marker>
            <c:symbol val="none"/>
          </c:marker>
          <c:xVal>
            <c:numRef>
              <c:f>Sheet1!$A$158:$A$168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Sheet1!$B$158:$B$168</c:f>
              <c:numCache>
                <c:formatCode>#,##0</c:formatCode>
                <c:ptCount val="11"/>
                <c:pt idx="0">
                  <c:v>119.7</c:v>
                </c:pt>
                <c:pt idx="1">
                  <c:v>122.58181818181818</c:v>
                </c:pt>
                <c:pt idx="2">
                  <c:v>132.04545454545456</c:v>
                </c:pt>
                <c:pt idx="3">
                  <c:v>136.60909090909092</c:v>
                </c:pt>
                <c:pt idx="4">
                  <c:v>141.1818181818182</c:v>
                </c:pt>
                <c:pt idx="5">
                  <c:v>146.16363636363636</c:v>
                </c:pt>
                <c:pt idx="6">
                  <c:v>159.05454545454546</c:v>
                </c:pt>
                <c:pt idx="7">
                  <c:v>161.4090909090909</c:v>
                </c:pt>
                <c:pt idx="8">
                  <c:v>162.62727272727273</c:v>
                </c:pt>
                <c:pt idx="9">
                  <c:v>171.93636363636364</c:v>
                </c:pt>
                <c:pt idx="10">
                  <c:v>173.03636363636363</c:v>
                </c:pt>
              </c:numCache>
            </c:numRef>
          </c:yVal>
          <c:smooth val="0"/>
        </c:ser>
        <c:ser>
          <c:idx val="13"/>
          <c:order val="13"/>
          <c:tx>
            <c:strRef>
              <c:f>Sheet1!$B$170</c:f>
              <c:strCache>
                <c:ptCount val="1"/>
                <c:pt idx="0">
                  <c:v>range</c:v>
                </c:pt>
              </c:strCache>
            </c:strRef>
          </c:tx>
          <c:spPr>
            <a:ln w="34925">
              <a:solidFill>
                <a:srgbClr val="CCD7DC"/>
              </a:solidFill>
            </a:ln>
          </c:spPr>
          <c:marker>
            <c:symbol val="none"/>
          </c:marker>
          <c:xVal>
            <c:numRef>
              <c:f>Sheet1!$A$171:$A$181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Sheet1!$B$171:$B$181</c:f>
              <c:numCache>
                <c:formatCode>#,##0</c:formatCode>
                <c:ptCount val="11"/>
                <c:pt idx="0">
                  <c:v>119.7</c:v>
                </c:pt>
                <c:pt idx="1">
                  <c:v>122.70454545454545</c:v>
                </c:pt>
                <c:pt idx="2">
                  <c:v>132.31363636363636</c:v>
                </c:pt>
                <c:pt idx="3">
                  <c:v>137.02272727272728</c:v>
                </c:pt>
                <c:pt idx="4">
                  <c:v>141.75454545454545</c:v>
                </c:pt>
                <c:pt idx="5">
                  <c:v>146.9090909090909</c:v>
                </c:pt>
                <c:pt idx="6">
                  <c:v>160.03636363636363</c:v>
                </c:pt>
                <c:pt idx="7">
                  <c:v>162.57272727272726</c:v>
                </c:pt>
                <c:pt idx="8">
                  <c:v>163.96818181818182</c:v>
                </c:pt>
                <c:pt idx="9">
                  <c:v>173.54090909090908</c:v>
                </c:pt>
                <c:pt idx="10">
                  <c:v>174.8409090909091</c:v>
                </c:pt>
              </c:numCache>
            </c:numRef>
          </c:yVal>
          <c:smooth val="0"/>
        </c:ser>
        <c:ser>
          <c:idx val="14"/>
          <c:order val="14"/>
          <c:tx>
            <c:strRef>
              <c:f>Sheet1!$B$183</c:f>
              <c:strCache>
                <c:ptCount val="1"/>
                <c:pt idx="0">
                  <c:v>range</c:v>
                </c:pt>
              </c:strCache>
            </c:strRef>
          </c:tx>
          <c:spPr>
            <a:ln w="34925">
              <a:solidFill>
                <a:srgbClr val="CCD7DC"/>
              </a:solidFill>
            </a:ln>
          </c:spPr>
          <c:marker>
            <c:symbol val="none"/>
          </c:marker>
          <c:xVal>
            <c:numRef>
              <c:f>Sheet1!$A$184:$A$194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Sheet1!$B$184:$B$194</c:f>
              <c:numCache>
                <c:formatCode>#,##0</c:formatCode>
                <c:ptCount val="11"/>
                <c:pt idx="0">
                  <c:v>119.7</c:v>
                </c:pt>
                <c:pt idx="1">
                  <c:v>122.82727272727273</c:v>
                </c:pt>
                <c:pt idx="2">
                  <c:v>132.5818181818182</c:v>
                </c:pt>
                <c:pt idx="3">
                  <c:v>137.43636363636364</c:v>
                </c:pt>
                <c:pt idx="4">
                  <c:v>142.3272727272727</c:v>
                </c:pt>
                <c:pt idx="5">
                  <c:v>147.65454545454546</c:v>
                </c:pt>
                <c:pt idx="6">
                  <c:v>161.01818181818183</c:v>
                </c:pt>
                <c:pt idx="7">
                  <c:v>163.73636363636362</c:v>
                </c:pt>
                <c:pt idx="8">
                  <c:v>165.3090909090909</c:v>
                </c:pt>
                <c:pt idx="9">
                  <c:v>175.14545454545456</c:v>
                </c:pt>
                <c:pt idx="10">
                  <c:v>176.64545454545456</c:v>
                </c:pt>
              </c:numCache>
            </c:numRef>
          </c:yVal>
          <c:smooth val="0"/>
        </c:ser>
        <c:ser>
          <c:idx val="15"/>
          <c:order val="15"/>
          <c:tx>
            <c:strRef>
              <c:f>Sheet1!$B$196</c:f>
              <c:strCache>
                <c:ptCount val="1"/>
                <c:pt idx="0">
                  <c:v>range</c:v>
                </c:pt>
              </c:strCache>
            </c:strRef>
          </c:tx>
          <c:spPr>
            <a:ln w="34925">
              <a:solidFill>
                <a:srgbClr val="CCD7DC"/>
              </a:solidFill>
            </a:ln>
          </c:spPr>
          <c:marker>
            <c:symbol val="none"/>
          </c:marker>
          <c:xVal>
            <c:numRef>
              <c:f>Sheet1!$A$197:$A$207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Sheet1!$B$197:$B$207</c:f>
              <c:numCache>
                <c:formatCode>#,##0</c:formatCode>
                <c:ptCount val="11"/>
                <c:pt idx="0">
                  <c:v>119.7</c:v>
                </c:pt>
                <c:pt idx="1">
                  <c:v>122.94999999999999</c:v>
                </c:pt>
                <c:pt idx="2">
                  <c:v>132.85000000000002</c:v>
                </c:pt>
                <c:pt idx="3">
                  <c:v>137.85000000000002</c:v>
                </c:pt>
                <c:pt idx="4">
                  <c:v>142.89999999999998</c:v>
                </c:pt>
                <c:pt idx="5">
                  <c:v>148.39999999999998</c:v>
                </c:pt>
                <c:pt idx="6">
                  <c:v>162.0</c:v>
                </c:pt>
                <c:pt idx="7">
                  <c:v>164.89999999999998</c:v>
                </c:pt>
                <c:pt idx="8">
                  <c:v>166.65</c:v>
                </c:pt>
                <c:pt idx="9">
                  <c:v>176.75</c:v>
                </c:pt>
                <c:pt idx="10">
                  <c:v>178.45</c:v>
                </c:pt>
              </c:numCache>
            </c:numRef>
          </c:yVal>
          <c:smooth val="0"/>
        </c:ser>
        <c:ser>
          <c:idx val="16"/>
          <c:order val="16"/>
          <c:tx>
            <c:strRef>
              <c:f>Sheet1!$B$209</c:f>
              <c:strCache>
                <c:ptCount val="1"/>
                <c:pt idx="0">
                  <c:v>range</c:v>
                </c:pt>
              </c:strCache>
            </c:strRef>
          </c:tx>
          <c:spPr>
            <a:ln w="34925">
              <a:solidFill>
                <a:srgbClr val="CCD7DC"/>
              </a:solidFill>
            </a:ln>
          </c:spPr>
          <c:marker>
            <c:symbol val="none"/>
          </c:marker>
          <c:xVal>
            <c:numRef>
              <c:f>Sheet1!$A$210:$A$220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Sheet1!$B$210:$B$220</c:f>
              <c:numCache>
                <c:formatCode>#,##0</c:formatCode>
                <c:ptCount val="11"/>
                <c:pt idx="0">
                  <c:v>119.7</c:v>
                </c:pt>
                <c:pt idx="1">
                  <c:v>123.07272727272726</c:v>
                </c:pt>
                <c:pt idx="2">
                  <c:v>133.11818181818182</c:v>
                </c:pt>
                <c:pt idx="3">
                  <c:v>138.26363636363638</c:v>
                </c:pt>
                <c:pt idx="4">
                  <c:v>143.47272727272727</c:v>
                </c:pt>
                <c:pt idx="5">
                  <c:v>149.14545454545453</c:v>
                </c:pt>
                <c:pt idx="6">
                  <c:v>162.98181818181817</c:v>
                </c:pt>
                <c:pt idx="7">
                  <c:v>166.06363636363636</c:v>
                </c:pt>
                <c:pt idx="8">
                  <c:v>167.9909090909091</c:v>
                </c:pt>
                <c:pt idx="9">
                  <c:v>178.35454545454544</c:v>
                </c:pt>
                <c:pt idx="10">
                  <c:v>180.25454545454545</c:v>
                </c:pt>
              </c:numCache>
            </c:numRef>
          </c:yVal>
          <c:smooth val="0"/>
        </c:ser>
        <c:ser>
          <c:idx val="17"/>
          <c:order val="17"/>
          <c:tx>
            <c:strRef>
              <c:f>Sheet1!$B$222</c:f>
              <c:strCache>
                <c:ptCount val="1"/>
                <c:pt idx="0">
                  <c:v>range</c:v>
                </c:pt>
              </c:strCache>
            </c:strRef>
          </c:tx>
          <c:spPr>
            <a:ln w="34925">
              <a:solidFill>
                <a:srgbClr val="CCD7DC"/>
              </a:solidFill>
            </a:ln>
          </c:spPr>
          <c:marker>
            <c:symbol val="none"/>
          </c:marker>
          <c:xVal>
            <c:numRef>
              <c:f>Sheet1!$A$223:$A$233</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Sheet1!$B$223:$B$233</c:f>
              <c:numCache>
                <c:formatCode>#,##0</c:formatCode>
                <c:ptCount val="11"/>
                <c:pt idx="0">
                  <c:v>119.7</c:v>
                </c:pt>
                <c:pt idx="1">
                  <c:v>123.19545454545454</c:v>
                </c:pt>
                <c:pt idx="2">
                  <c:v>133.38636363636365</c:v>
                </c:pt>
                <c:pt idx="3">
                  <c:v>138.67727272727274</c:v>
                </c:pt>
                <c:pt idx="4">
                  <c:v>144.04545454545453</c:v>
                </c:pt>
                <c:pt idx="5">
                  <c:v>149.89090909090908</c:v>
                </c:pt>
                <c:pt idx="6">
                  <c:v>163.96363636363637</c:v>
                </c:pt>
                <c:pt idx="7">
                  <c:v>167.22727272727272</c:v>
                </c:pt>
                <c:pt idx="8">
                  <c:v>169.3318181818182</c:v>
                </c:pt>
                <c:pt idx="9">
                  <c:v>179.95909090909092</c:v>
                </c:pt>
                <c:pt idx="10">
                  <c:v>182.0590909090909</c:v>
                </c:pt>
              </c:numCache>
            </c:numRef>
          </c:yVal>
          <c:smooth val="0"/>
        </c:ser>
        <c:ser>
          <c:idx val="18"/>
          <c:order val="18"/>
          <c:tx>
            <c:strRef>
              <c:f>Sheet1!$B$235</c:f>
              <c:strCache>
                <c:ptCount val="1"/>
                <c:pt idx="0">
                  <c:v>range</c:v>
                </c:pt>
              </c:strCache>
            </c:strRef>
          </c:tx>
          <c:spPr>
            <a:ln w="34925">
              <a:solidFill>
                <a:srgbClr val="CCD7DC"/>
              </a:solidFill>
            </a:ln>
          </c:spPr>
          <c:marker>
            <c:symbol val="none"/>
          </c:marker>
          <c:xVal>
            <c:numRef>
              <c:f>Sheet1!$A$236:$A$246</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Sheet1!$B$236:$B$246</c:f>
              <c:numCache>
                <c:formatCode>#,##0</c:formatCode>
                <c:ptCount val="11"/>
                <c:pt idx="0">
                  <c:v>119.7</c:v>
                </c:pt>
                <c:pt idx="1">
                  <c:v>123.31818181818181</c:v>
                </c:pt>
                <c:pt idx="2">
                  <c:v>133.65454545454546</c:v>
                </c:pt>
                <c:pt idx="3">
                  <c:v>139.0909090909091</c:v>
                </c:pt>
                <c:pt idx="4">
                  <c:v>144.6181818181818</c:v>
                </c:pt>
                <c:pt idx="5">
                  <c:v>150.63636363636363</c:v>
                </c:pt>
                <c:pt idx="6">
                  <c:v>164.94545454545454</c:v>
                </c:pt>
                <c:pt idx="7">
                  <c:v>168.39090909090908</c:v>
                </c:pt>
                <c:pt idx="8">
                  <c:v>170.6727272727273</c:v>
                </c:pt>
                <c:pt idx="9">
                  <c:v>181.56363636363636</c:v>
                </c:pt>
                <c:pt idx="10">
                  <c:v>183.86363636363637</c:v>
                </c:pt>
              </c:numCache>
            </c:numRef>
          </c:yVal>
          <c:smooth val="0"/>
        </c:ser>
        <c:ser>
          <c:idx val="19"/>
          <c:order val="19"/>
          <c:tx>
            <c:strRef>
              <c:f>Sheet1!$B$248</c:f>
              <c:strCache>
                <c:ptCount val="1"/>
                <c:pt idx="0">
                  <c:v>range</c:v>
                </c:pt>
              </c:strCache>
            </c:strRef>
          </c:tx>
          <c:spPr>
            <a:ln w="34925">
              <a:solidFill>
                <a:srgbClr val="CCD7DC"/>
              </a:solidFill>
            </a:ln>
          </c:spPr>
          <c:marker>
            <c:symbol val="none"/>
          </c:marker>
          <c:xVal>
            <c:numRef>
              <c:f>Sheet1!$A$249:$A$259</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Sheet1!$B$249:$B$259</c:f>
              <c:numCache>
                <c:formatCode>#,##0</c:formatCode>
                <c:ptCount val="11"/>
                <c:pt idx="0">
                  <c:v>119.7</c:v>
                </c:pt>
                <c:pt idx="1">
                  <c:v>123.44090909090909</c:v>
                </c:pt>
                <c:pt idx="2">
                  <c:v>133.9227272727273</c:v>
                </c:pt>
                <c:pt idx="3">
                  <c:v>139.50454545454545</c:v>
                </c:pt>
                <c:pt idx="4">
                  <c:v>145.1909090909091</c:v>
                </c:pt>
                <c:pt idx="5">
                  <c:v>151.38181818181818</c:v>
                </c:pt>
                <c:pt idx="6">
                  <c:v>165.92727272727274</c:v>
                </c:pt>
                <c:pt idx="7">
                  <c:v>169.55454545454543</c:v>
                </c:pt>
                <c:pt idx="8">
                  <c:v>172.01363636363638</c:v>
                </c:pt>
                <c:pt idx="9">
                  <c:v>183.1681818181818</c:v>
                </c:pt>
                <c:pt idx="10">
                  <c:v>185.66818181818184</c:v>
                </c:pt>
              </c:numCache>
            </c:numRef>
          </c:yVal>
          <c:smooth val="0"/>
        </c:ser>
        <c:ser>
          <c:idx val="20"/>
          <c:order val="20"/>
          <c:tx>
            <c:strRef>
              <c:f>Sheet1!$B$261</c:f>
              <c:strCache>
                <c:ptCount val="1"/>
                <c:pt idx="0">
                  <c:v>range</c:v>
                </c:pt>
              </c:strCache>
            </c:strRef>
          </c:tx>
          <c:spPr>
            <a:ln w="34925">
              <a:solidFill>
                <a:srgbClr val="CCD7DC"/>
              </a:solidFill>
            </a:ln>
          </c:spPr>
          <c:marker>
            <c:symbol val="none"/>
          </c:marker>
          <c:xVal>
            <c:numRef>
              <c:f>Sheet1!$A$262:$A$272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Sheet1!$B$262:$B$272</c:f>
              <c:numCache>
                <c:formatCode>#,##0</c:formatCode>
                <c:ptCount val="11"/>
                <c:pt idx="0">
                  <c:v>119.7</c:v>
                </c:pt>
                <c:pt idx="1">
                  <c:v>123.56363636363636</c:v>
                </c:pt>
                <c:pt idx="2">
                  <c:v>134.1909090909091</c:v>
                </c:pt>
                <c:pt idx="3">
                  <c:v>139.91818181818184</c:v>
                </c:pt>
                <c:pt idx="4">
                  <c:v>145.76363636363635</c:v>
                </c:pt>
                <c:pt idx="5">
                  <c:v>152.12727272727273</c:v>
                </c:pt>
                <c:pt idx="6">
                  <c:v>166.9090909090909</c:v>
                </c:pt>
                <c:pt idx="7">
                  <c:v>170.71818181818182</c:v>
                </c:pt>
                <c:pt idx="8">
                  <c:v>173.35454545454547</c:v>
                </c:pt>
                <c:pt idx="9">
                  <c:v>184.77272727272728</c:v>
                </c:pt>
                <c:pt idx="10">
                  <c:v>187.47272727272727</c:v>
                </c:pt>
              </c:numCache>
            </c:numRef>
          </c:yVal>
          <c:smooth val="0"/>
        </c:ser>
        <c:ser>
          <c:idx val="21"/>
          <c:order val="21"/>
          <c:tx>
            <c:strRef>
              <c:f>Sheet1!$B$274</c:f>
              <c:strCache>
                <c:ptCount val="1"/>
                <c:pt idx="0">
                  <c:v>range</c:v>
                </c:pt>
              </c:strCache>
            </c:strRef>
          </c:tx>
          <c:spPr>
            <a:ln w="34925">
              <a:solidFill>
                <a:srgbClr val="CCD7DC"/>
              </a:solidFill>
            </a:ln>
          </c:spPr>
          <c:marker>
            <c:symbol val="none"/>
          </c:marker>
          <c:xVal>
            <c:numRef>
              <c:f>Sheet1!$A$275:$A$285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Sheet1!$B$275:$B$285</c:f>
              <c:numCache>
                <c:formatCode>#,##0</c:formatCode>
                <c:ptCount val="11"/>
                <c:pt idx="0">
                  <c:v>119.7</c:v>
                </c:pt>
                <c:pt idx="1">
                  <c:v>123.68636363636364</c:v>
                </c:pt>
                <c:pt idx="2">
                  <c:v>134.45909090909092</c:v>
                </c:pt>
                <c:pt idx="3">
                  <c:v>140.3318181818182</c:v>
                </c:pt>
                <c:pt idx="4">
                  <c:v>146.33636363636361</c:v>
                </c:pt>
                <c:pt idx="5">
                  <c:v>152.87272727272727</c:v>
                </c:pt>
                <c:pt idx="6">
                  <c:v>167.8909090909091</c:v>
                </c:pt>
                <c:pt idx="7">
                  <c:v>171.88181818181818</c:v>
                </c:pt>
                <c:pt idx="8">
                  <c:v>174.69545454545454</c:v>
                </c:pt>
                <c:pt idx="9">
                  <c:v>186.37727272727273</c:v>
                </c:pt>
                <c:pt idx="10">
                  <c:v>189.27727272727273</c:v>
                </c:pt>
              </c:numCache>
            </c:numRef>
          </c:yVal>
          <c:smooth val="0"/>
        </c:ser>
        <c:ser>
          <c:idx val="22"/>
          <c:order val="22"/>
          <c:tx>
            <c:strRef>
              <c:f>Sheet1!$B$287</c:f>
              <c:strCache>
                <c:ptCount val="1"/>
                <c:pt idx="0">
                  <c:v>range</c:v>
                </c:pt>
              </c:strCache>
            </c:strRef>
          </c:tx>
          <c:spPr>
            <a:ln w="34925">
              <a:solidFill>
                <a:srgbClr val="CCD7DC"/>
              </a:solidFill>
            </a:ln>
          </c:spPr>
          <c:marker>
            <c:symbol val="none"/>
          </c:marker>
          <c:xVal>
            <c:numRef>
              <c:f>Sheet1!$A$288:$A$298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Sheet1!$B$288:$B$298</c:f>
              <c:numCache>
                <c:formatCode>#,##0</c:formatCode>
                <c:ptCount val="11"/>
                <c:pt idx="0">
                  <c:v>119.7</c:v>
                </c:pt>
                <c:pt idx="1">
                  <c:v>123.80909090909091</c:v>
                </c:pt>
                <c:pt idx="2">
                  <c:v>134.72727272727275</c:v>
                </c:pt>
                <c:pt idx="3">
                  <c:v>140.74545454545455</c:v>
                </c:pt>
                <c:pt idx="4">
                  <c:v>146.9090909090909</c:v>
                </c:pt>
                <c:pt idx="5">
                  <c:v>153.61818181818182</c:v>
                </c:pt>
                <c:pt idx="6">
                  <c:v>168.87272727272727</c:v>
                </c:pt>
                <c:pt idx="7">
                  <c:v>173.04545454545453</c:v>
                </c:pt>
                <c:pt idx="8">
                  <c:v>176.03636363636363</c:v>
                </c:pt>
                <c:pt idx="9">
                  <c:v>187.9818181818182</c:v>
                </c:pt>
                <c:pt idx="10">
                  <c:v>191.0818181818182</c:v>
                </c:pt>
              </c:numCache>
            </c:numRef>
          </c:yVal>
          <c:smooth val="0"/>
        </c:ser>
        <c:ser>
          <c:idx val="23"/>
          <c:order val="23"/>
          <c:tx>
            <c:strRef>
              <c:f>Sheet1!$B$300</c:f>
              <c:strCache>
                <c:ptCount val="1"/>
                <c:pt idx="0">
                  <c:v>range</c:v>
                </c:pt>
              </c:strCache>
            </c:strRef>
          </c:tx>
          <c:spPr>
            <a:ln w="34925">
              <a:solidFill>
                <a:srgbClr val="CCD7DC"/>
              </a:solidFill>
            </a:ln>
          </c:spPr>
          <c:marker>
            <c:symbol val="none"/>
          </c:marker>
          <c:xVal>
            <c:numRef>
              <c:f>Sheet1!$A$301:$A$311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Sheet1!$B$301:$B$311</c:f>
              <c:numCache>
                <c:formatCode>#,##0</c:formatCode>
                <c:ptCount val="11"/>
                <c:pt idx="0">
                  <c:v>119.7</c:v>
                </c:pt>
                <c:pt idx="1">
                  <c:v>123.93181818181817</c:v>
                </c:pt>
                <c:pt idx="2">
                  <c:v>134.99545454545455</c:v>
                </c:pt>
                <c:pt idx="3">
                  <c:v>141.1590909090909</c:v>
                </c:pt>
                <c:pt idx="4">
                  <c:v>147.48181818181817</c:v>
                </c:pt>
                <c:pt idx="5">
                  <c:v>154.36363636363635</c:v>
                </c:pt>
                <c:pt idx="6">
                  <c:v>169.85454545454547</c:v>
                </c:pt>
                <c:pt idx="7">
                  <c:v>174.2090909090909</c:v>
                </c:pt>
                <c:pt idx="8">
                  <c:v>177.37727272727273</c:v>
                </c:pt>
                <c:pt idx="9">
                  <c:v>189.58636363636364</c:v>
                </c:pt>
                <c:pt idx="10">
                  <c:v>192.88636363636365</c:v>
                </c:pt>
              </c:numCache>
            </c:numRef>
          </c:yVal>
          <c:smooth val="0"/>
        </c:ser>
        <c:ser>
          <c:idx val="24"/>
          <c:order val="24"/>
          <c:tx>
            <c:strRef>
              <c:f>Sheet1!$B$313</c:f>
              <c:strCache>
                <c:ptCount val="1"/>
                <c:pt idx="0">
                  <c:v>range</c:v>
                </c:pt>
              </c:strCache>
            </c:strRef>
          </c:tx>
          <c:spPr>
            <a:ln w="34925">
              <a:solidFill>
                <a:srgbClr val="CCD7DC"/>
              </a:solidFill>
            </a:ln>
          </c:spPr>
          <c:marker>
            <c:symbol val="none"/>
          </c:marker>
          <c:xVal>
            <c:numRef>
              <c:f>Sheet1!$A$314:$A$324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Sheet1!$B$314:$B$324</c:f>
              <c:numCache>
                <c:formatCode>#,##0</c:formatCode>
                <c:ptCount val="11"/>
                <c:pt idx="0">
                  <c:v>119.7</c:v>
                </c:pt>
                <c:pt idx="1">
                  <c:v>124.05454545454545</c:v>
                </c:pt>
                <c:pt idx="2">
                  <c:v>135.26363636363638</c:v>
                </c:pt>
                <c:pt idx="3">
                  <c:v>141.5727272727273</c:v>
                </c:pt>
                <c:pt idx="4">
                  <c:v>148.05454545454543</c:v>
                </c:pt>
                <c:pt idx="5">
                  <c:v>155.1090909090909</c:v>
                </c:pt>
                <c:pt idx="6">
                  <c:v>170.83636363636364</c:v>
                </c:pt>
                <c:pt idx="7">
                  <c:v>175.37272727272727</c:v>
                </c:pt>
                <c:pt idx="8">
                  <c:v>178.71818181818182</c:v>
                </c:pt>
                <c:pt idx="9">
                  <c:v>191.1909090909091</c:v>
                </c:pt>
                <c:pt idx="10">
                  <c:v>194.6909090909091</c:v>
                </c:pt>
              </c:numCache>
            </c:numRef>
          </c:yVal>
          <c:smooth val="0"/>
        </c:ser>
        <c:ser>
          <c:idx val="25"/>
          <c:order val="25"/>
          <c:tx>
            <c:strRef>
              <c:f>Sheet1!$B$326</c:f>
              <c:strCache>
                <c:ptCount val="1"/>
                <c:pt idx="0">
                  <c:v>range</c:v>
                </c:pt>
              </c:strCache>
            </c:strRef>
          </c:tx>
          <c:spPr>
            <a:ln w="34925">
              <a:solidFill>
                <a:srgbClr val="CCD7DC"/>
              </a:solidFill>
            </a:ln>
          </c:spPr>
          <c:marker>
            <c:symbol val="none"/>
          </c:marker>
          <c:xVal>
            <c:numRef>
              <c:f>Sheet1!$A$327:$A$337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Sheet1!$B$327:$B$337</c:f>
              <c:numCache>
                <c:formatCode>#,##0</c:formatCode>
                <c:ptCount val="11"/>
                <c:pt idx="0">
                  <c:v>119.7</c:v>
                </c:pt>
                <c:pt idx="1">
                  <c:v>124.17727272727272</c:v>
                </c:pt>
                <c:pt idx="2">
                  <c:v>135.53181818181818</c:v>
                </c:pt>
                <c:pt idx="3">
                  <c:v>141.98636363636365</c:v>
                </c:pt>
                <c:pt idx="4">
                  <c:v>148.62727272727273</c:v>
                </c:pt>
                <c:pt idx="5">
                  <c:v>155.85454545454544</c:v>
                </c:pt>
                <c:pt idx="6">
                  <c:v>171.81818181818184</c:v>
                </c:pt>
                <c:pt idx="7">
                  <c:v>176.53636363636363</c:v>
                </c:pt>
                <c:pt idx="8">
                  <c:v>180.0590909090909</c:v>
                </c:pt>
                <c:pt idx="9">
                  <c:v>192.79545454545456</c:v>
                </c:pt>
                <c:pt idx="10">
                  <c:v>196.49545454545455</c:v>
                </c:pt>
              </c:numCache>
            </c:numRef>
          </c:yVal>
          <c:smooth val="0"/>
        </c:ser>
        <c:ser>
          <c:idx val="26"/>
          <c:order val="26"/>
          <c:tx>
            <c:strRef>
              <c:f>Sheet1!$B$339</c:f>
              <c:strCache>
                <c:ptCount val="1"/>
                <c:pt idx="0">
                  <c:v>range</c:v>
                </c:pt>
              </c:strCache>
            </c:strRef>
          </c:tx>
          <c:spPr>
            <a:ln w="34925">
              <a:solidFill>
                <a:srgbClr val="CCD7DC"/>
              </a:solidFill>
            </a:ln>
          </c:spPr>
          <c:marker>
            <c:symbol val="none"/>
          </c:marker>
          <c:xVal>
            <c:numRef>
              <c:f>Sheet1!$A$340:$A$350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Sheet1!$B$340:$B$350</c:f>
              <c:numCache>
                <c:formatCode>#,##0</c:formatCode>
                <c:ptCount val="11"/>
                <c:pt idx="0">
                  <c:v>119.7</c:v>
                </c:pt>
                <c:pt idx="1">
                  <c:v>124.3</c:v>
                </c:pt>
                <c:pt idx="2">
                  <c:v>135.8</c:v>
                </c:pt>
                <c:pt idx="3">
                  <c:v>142.4</c:v>
                </c:pt>
                <c:pt idx="4">
                  <c:v>149.2</c:v>
                </c:pt>
                <c:pt idx="5">
                  <c:v>156.6</c:v>
                </c:pt>
                <c:pt idx="6">
                  <c:v>172.8</c:v>
                </c:pt>
                <c:pt idx="7">
                  <c:v>177.7</c:v>
                </c:pt>
                <c:pt idx="8">
                  <c:v>181.4</c:v>
                </c:pt>
                <c:pt idx="9">
                  <c:v>194.4</c:v>
                </c:pt>
                <c:pt idx="10">
                  <c:v>198.3</c:v>
                </c:pt>
              </c:numCache>
            </c:numRef>
          </c:yVal>
          <c:smooth val="0"/>
        </c:ser>
        <c:axId val="-2128940872"/>
        <c:axId val="-2129643912"/>
      </c:scatterChart>
      <c:valAx>
        <c:axId val="-2128940872"/>
        <c:scaling>
          <c:max val="2035.0"/>
          <c:min val="2015.0"/>
        </c:scaling>
        <c:delete val="0"/>
        <c:axPos val="b"/>
        <c:numFmt formatCode="0" sourceLinked="0"/>
        <c:majorTickMark val="out"/>
        <c:minorTickMark val="none"/>
        <c:tickLblPos val="nextTo"/>
        <c:spPr>
          <a:ln w="9525">
            <a:solidFill>
              <a:srgbClr val="404040"/>
            </a:solidFill>
          </a:ln>
        </c:spPr>
        <c:txPr>
          <a:bodyPr/>
          <a:lstStyle/>
          <a:p>
            <a:pPr>
              <a:defRPr sz="900" b="0" i="0">
                <a:solidFill>
                  <a:srgbClr val="404040"/>
                </a:solidFill>
                <a:latin typeface="Arial"/>
              </a:defRPr>
            </a:pPr>
          </a:p>
        </c:txPr>
        <c:crossAx val="-2129643912"/>
        <c:crosses val="min"/>
        <c:crossBetween val="midCat"/>
        <c:majorUnit val="10.0"/>
      </c:valAx>
      <c:valAx>
        <c:axId val="-2129643912"/>
        <c:scaling>
          <c:max val="250.0"/>
          <c:min val="0.0"/>
        </c:scaling>
        <c:delete val="0"/>
        <c:axPos val="l"/>
        <c:majorGridlines>
          <c:spPr>
            <a:ln w="9525">
              <a:solidFill>
                <a:srgbClr val="D9D9D9"/>
              </a:solidFill>
            </a:ln>
          </c:spPr>
        </c:majorGridlines>
        <c:numFmt formatCode="#,##0" sourceLinked="0"/>
        <c:majorTickMark val="none"/>
        <c:minorTickMark val="none"/>
        <c:tickLblPos val="nextTo"/>
        <c:spPr>
          <a:ln>
            <a:noFill/>
          </a:ln>
        </c:spPr>
        <c:txPr>
          <a:bodyPr/>
          <a:lstStyle/>
          <a:p>
            <a:pPr>
              <a:defRPr sz="900" b="0" i="0">
                <a:solidFill>
                  <a:srgbClr val="404040"/>
                </a:solidFill>
                <a:latin typeface="Arial"/>
              </a:defRPr>
            </a:pPr>
          </a:p>
        </c:txPr>
        <c:crossAx val="-2128940872"/>
        <c:crosses val="min"/>
        <c:crossBetween val="midCat"/>
        <c:majorUnit val="50.0"/>
      </c:valAx>
      <c:spPr>
        <a:noFill/>
      </c:spPr>
    </c:plotArea>
    <c:plotVisOnly val="1"/>
    <c:dispBlanksAs val="gap"/>
    <c:showDLblsOverMax val="0"/>
  </c:chart>
  <c:txPr>
    <a:bodyPr/>
    <a:lstStyle/>
    <a:p>
      <a:pPr>
        <a:defRPr sz="900" b="0" i="0">
          <a:solidFill>
            <a:srgbClr val="404040"/>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5"/>
          <c:y val="0.11"/>
          <c:w val="0.58"/>
          <c:h val="0.78"/>
        </c:manualLayout>
      </c:layout>
      <c:scatterChart>
        <c:scatterStyle val="lineMarker"/>
        <c:varyColors val="0"/>
        <c:ser>
          <c:idx val="0"/>
          <c:order val="0"/>
          <c:tx>
            <c:strRef>
              <c:f>Sheet1!$B$1</c:f>
              <c:strCache>
                <c:ptCount val="1"/>
                <c:pt idx="0">
                  <c:v>Baseline</c:v>
                </c:pt>
              </c:strCache>
            </c:strRef>
          </c:tx>
          <c:spPr>
            <a:ln w="22225">
              <a:solidFill>
                <a:srgbClr val="000000"/>
              </a:solidFill>
              <a:prstDash val="dash"/>
            </a:ln>
          </c:spPr>
          <c:marker>
            <c:symbol val="none"/>
          </c:marker>
          <c:dLbls>
            <c:dLbl>
              <c:idx val="10"/>
              <c:tx>
                <c:rich>
                  <a:bodyPr/>
                  <a:lstStyle/>
                  <a:p>
                    <a:r>
                      <a:rPr sz="900" b="1" i="0">
                        <a:solidFill>
                          <a:srgbClr val="000000"/>
                        </a:solidFill>
                        <a:latin typeface="Arial"/>
                      </a:rPr>
                      <a:t>all cases $1,507</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Sheet1!$B$2:$B$12</c:f>
              <c:numCache>
                <c:formatCode>#,##0</c:formatCode>
                <c:ptCount val="11"/>
                <c:pt idx="0">
                  <c:v>1062</c:v>
                </c:pt>
                <c:pt idx="1">
                  <c:v>1093.9</c:v>
                </c:pt>
                <c:pt idx="2">
                  <c:v>1126.7</c:v>
                </c:pt>
                <c:pt idx="3">
                  <c:v>1178.5</c:v>
                </c:pt>
                <c:pt idx="4">
                  <c:v>1213.3</c:v>
                </c:pt>
                <c:pt idx="5">
                  <c:v>1291.1</c:v>
                </c:pt>
                <c:pt idx="6">
                  <c:v>1348.1</c:v>
                </c:pt>
                <c:pt idx="7">
                  <c:v>1386.1</c:v>
                </c:pt>
                <c:pt idx="8">
                  <c:v>1425.3</c:v>
                </c:pt>
                <c:pt idx="9">
                  <c:v>1465.7</c:v>
                </c:pt>
                <c:pt idx="10">
                  <c:v>1507.2</c:v>
                </c:pt>
              </c:numCache>
            </c:numRef>
          </c:yVal>
          <c:smooth val="0"/>
        </c:ser>
        <c:ser>
          <c:idx val="1"/>
          <c:order val="1"/>
          <c:tx>
            <c:strRef>
              <c:f>Sheet1!$B$14</c:f>
              <c:strCache>
                <c:ptCount val="1"/>
                <c:pt idx="0">
                  <c:v>history</c:v>
                </c:pt>
              </c:strCache>
            </c:strRef>
          </c:tx>
          <c:spPr>
            <a:ln w="22225">
              <a:solidFill>
                <a:srgbClr val="000000"/>
              </a:solidFill>
            </a:ln>
          </c:spPr>
          <c:marker>
            <c:symbol val="none"/>
          </c:marker>
          <c:xVal>
            <c:numRef>
              <c:f>Sheet1!$A$15:$A$25</c:f>
              <c:numCache>
                <c:formatCode>#,##0</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xVal>
          <c:yVal>
            <c:numRef>
              <c:f>Sheet1!$B$15:$B$25</c:f>
              <c:numCache>
                <c:formatCode>#,##0</c:formatCode>
                <c:ptCount val="11"/>
                <c:pt idx="0">
                  <c:v>812.0</c:v>
                </c:pt>
                <c:pt idx="1">
                  <c:v>835.0</c:v>
                </c:pt>
                <c:pt idx="2">
                  <c:v>857.0</c:v>
                </c:pt>
                <c:pt idx="3">
                  <c:v>878.0</c:v>
                </c:pt>
                <c:pt idx="4">
                  <c:v>900</c:v>
                </c:pt>
                <c:pt idx="5">
                  <c:v>918.0</c:v>
                </c:pt>
                <c:pt idx="6">
                  <c:v>941.0</c:v>
                </c:pt>
                <c:pt idx="7">
                  <c:v>982.0</c:v>
                </c:pt>
                <c:pt idx="8">
                  <c:v>1015.0</c:v>
                </c:pt>
                <c:pt idx="9">
                  <c:v>1040.0</c:v>
                </c:pt>
                <c:pt idx="10">
                  <c:v>1062</c:v>
                </c:pt>
              </c:numCache>
            </c:numRef>
          </c:yVal>
          <c:smooth val="0"/>
        </c:ser>
        <c:axId val="-2128940872"/>
        <c:axId val="-2129643912"/>
      </c:scatterChart>
      <c:valAx>
        <c:axId val="-2128940872"/>
        <c:scaling>
          <c:max val="2035.0"/>
          <c:min val="2015.0"/>
        </c:scaling>
        <c:delete val="0"/>
        <c:axPos val="b"/>
        <c:numFmt formatCode="0" sourceLinked="0"/>
        <c:majorTickMark val="out"/>
        <c:minorTickMark val="none"/>
        <c:tickLblPos val="nextTo"/>
        <c:spPr>
          <a:ln w="9525">
            <a:solidFill>
              <a:srgbClr val="404040"/>
            </a:solidFill>
          </a:ln>
        </c:spPr>
        <c:txPr>
          <a:bodyPr/>
          <a:lstStyle/>
          <a:p>
            <a:pPr>
              <a:defRPr sz="900" b="0" i="0">
                <a:solidFill>
                  <a:srgbClr val="404040"/>
                </a:solidFill>
                <a:latin typeface="Arial"/>
              </a:defRPr>
            </a:pPr>
          </a:p>
        </c:txPr>
        <c:crossAx val="-2129643912"/>
        <c:crosses val="min"/>
        <c:crossBetween val="midCat"/>
        <c:majorUnit val="10.0"/>
      </c:valAx>
      <c:valAx>
        <c:axId val="-2129643912"/>
        <c:scaling>
          <c:max val="1600.0"/>
          <c:min val="0.0"/>
        </c:scaling>
        <c:delete val="0"/>
        <c:axPos val="l"/>
        <c:majorGridlines>
          <c:spPr>
            <a:ln w="9525">
              <a:solidFill>
                <a:srgbClr val="D9D9D9"/>
              </a:solidFill>
            </a:ln>
          </c:spPr>
        </c:majorGridlines>
        <c:numFmt formatCode="#,##0" sourceLinked="0"/>
        <c:majorTickMark val="none"/>
        <c:minorTickMark val="none"/>
        <c:tickLblPos val="nextTo"/>
        <c:spPr>
          <a:ln>
            <a:noFill/>
          </a:ln>
        </c:spPr>
        <c:txPr>
          <a:bodyPr/>
          <a:lstStyle/>
          <a:p>
            <a:pPr>
              <a:defRPr sz="900" b="0" i="0">
                <a:solidFill>
                  <a:srgbClr val="404040"/>
                </a:solidFill>
                <a:latin typeface="Arial"/>
              </a:defRPr>
            </a:pPr>
          </a:p>
        </c:txPr>
        <c:crossAx val="-2128940872"/>
        <c:crosses val="min"/>
        <c:crossBetween val="midCat"/>
        <c:majorUnit val="400.0"/>
      </c:valAx>
      <c:spPr>
        <a:noFill/>
      </c:spPr>
    </c:plotArea>
    <c:plotVisOnly val="1"/>
    <c:dispBlanksAs val="gap"/>
    <c:showDLblsOverMax val="0"/>
  </c:chart>
  <c:txPr>
    <a:bodyPr/>
    <a:lstStyle/>
    <a:p>
      <a:pPr>
        <a:defRPr sz="900" b="0" i="0">
          <a:solidFill>
            <a:srgbClr val="404040"/>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15"/>
          <c:y val="0.11"/>
          <c:w val="0.58"/>
          <c:h val="0.78"/>
        </c:manualLayout>
      </c:layout>
      <c:scatterChart>
        <c:scatterStyle val="lineMarker"/>
        <c:varyColors val="0"/>
        <c:ser>
          <c:idx val="0"/>
          <c:order val="0"/>
          <c:tx>
            <c:strRef>
              <c:f>Sheet1!$B$1</c:f>
              <c:strCache>
                <c:ptCount val="1"/>
                <c:pt idx="0">
                  <c:v>Baseline</c:v>
                </c:pt>
              </c:strCache>
            </c:strRef>
          </c:tx>
          <c:spPr>
            <a:ln w="22225">
              <a:solidFill>
                <a:srgbClr val="000000"/>
              </a:solidFill>
              <a:prstDash val="dash"/>
            </a:ln>
          </c:spPr>
          <c:marker>
            <c:symbol val="none"/>
          </c:marker>
          <c:dLbls>
            <c:dLbl>
              <c:idx val="10"/>
              <c:tx>
                <c:rich>
                  <a:bodyPr/>
                  <a:lstStyle/>
                  <a:p>
                    <a:r>
                      <a:rPr sz="900" b="1" i="0">
                        <a:solidFill>
                          <a:srgbClr val="000000"/>
                        </a:solidFill>
                        <a:latin typeface="Arial"/>
                      </a:rPr>
                      <a:t>12.0%</a:t>
                    </a:r>
                  </a:p>
                  <a:p>
                    <a:r>
                      <a:rPr sz="900" b="1" i="0">
                        <a:solidFill>
                          <a:srgbClr val="000000"/>
                        </a:solidFill>
                        <a:latin typeface="Arial"/>
                      </a:rPr>
                      <a:t>(10.5-13.2%)</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Sheet1!$B$2:$B$12</c:f>
              <c:numCache>
                <c:formatCode>0"%"</c:formatCode>
                <c:ptCount val="11"/>
                <c:pt idx="0">
                  <c:v>11.3</c:v>
                </c:pt>
                <c:pt idx="1">
                  <c:v>11.3</c:v>
                </c:pt>
                <c:pt idx="2">
                  <c:v>11.8</c:v>
                </c:pt>
                <c:pt idx="3">
                  <c:v>11.7</c:v>
                </c:pt>
                <c:pt idx="4">
                  <c:v>11.8</c:v>
                </c:pt>
                <c:pt idx="5">
                  <c:v>11.6</c:v>
                </c:pt>
                <c:pt idx="6">
                  <c:v>12.1</c:v>
                </c:pt>
                <c:pt idx="7">
                  <c:v>12.0</c:v>
                </c:pt>
                <c:pt idx="8">
                  <c:v>11.8</c:v>
                </c:pt>
                <c:pt idx="9">
                  <c:v>12.2</c:v>
                </c:pt>
                <c:pt idx="10">
                  <c:v>12.0</c:v>
                </c:pt>
              </c:numCache>
            </c:numRef>
          </c:yVal>
          <c:smooth val="0"/>
        </c:ser>
        <c:ser>
          <c:idx val="1"/>
          <c:order val="1"/>
          <c:tx>
            <c:strRef>
              <c:f>Sheet1!$B$14</c:f>
              <c:strCache>
                <c:ptCount val="1"/>
                <c:pt idx="0">
                  <c:v>High case</c:v>
                </c:pt>
              </c:strCache>
            </c:strRef>
          </c:tx>
          <c:spPr>
            <a:ln w="15875">
              <a:solidFill>
                <a:srgbClr val="7F7F7F"/>
              </a:solidFill>
            </a:ln>
          </c:spPr>
          <c:marker>
            <c:symbol val="none"/>
          </c:marker>
          <c:xVal>
            <c:numRef>
              <c:f>Sheet1!$A$15:$A$25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Sheet1!$B$15:$B$25</c:f>
              <c:numCache>
                <c:formatCode>0"%"</c:formatCode>
                <c:ptCount val="11"/>
                <c:pt idx="0">
                  <c:v>11.3</c:v>
                </c:pt>
                <c:pt idx="1">
                  <c:v>11.4</c:v>
                </c:pt>
                <c:pt idx="2">
                  <c:v>12.1</c:v>
                </c:pt>
                <c:pt idx="3">
                  <c:v>12.1</c:v>
                </c:pt>
                <c:pt idx="4">
                  <c:v>12.3</c:v>
                </c:pt>
                <c:pt idx="5">
                  <c:v>12.1</c:v>
                </c:pt>
                <c:pt idx="6">
                  <c:v>12.8</c:v>
                </c:pt>
                <c:pt idx="7">
                  <c:v>12.8</c:v>
                </c:pt>
                <c:pt idx="8">
                  <c:v>12.7</c:v>
                </c:pt>
                <c:pt idx="9">
                  <c:v>13.3</c:v>
                </c:pt>
                <c:pt idx="10">
                  <c:v>13.2</c:v>
                </c:pt>
              </c:numCache>
            </c:numRef>
          </c:yVal>
          <c:smooth val="0"/>
        </c:ser>
        <c:ser>
          <c:idx val="2"/>
          <c:order val="2"/>
          <c:tx>
            <c:strRef>
              <c:f>Sheet1!$B$27</c:f>
              <c:strCache>
                <c:ptCount val="1"/>
                <c:pt idx="0">
                  <c:v>Low case</c:v>
                </c:pt>
              </c:strCache>
            </c:strRef>
          </c:tx>
          <c:spPr>
            <a:ln w="15875">
              <a:solidFill>
                <a:srgbClr val="7F7F7F"/>
              </a:solidFill>
            </a:ln>
          </c:spPr>
          <c:marker>
            <c:symbol val="none"/>
          </c:marker>
          <c:xVal>
            <c:numRef>
              <c:f>Sheet1!$A$28:$A$38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Sheet1!$B$28:$B$38</c:f>
              <c:numCache>
                <c:formatCode>0"%"</c:formatCode>
                <c:ptCount val="11"/>
                <c:pt idx="0">
                  <c:v>11.3</c:v>
                </c:pt>
                <c:pt idx="1">
                  <c:v>11.1</c:v>
                </c:pt>
                <c:pt idx="2">
                  <c:v>11.5</c:v>
                </c:pt>
                <c:pt idx="3">
                  <c:v>11.3</c:v>
                </c:pt>
                <c:pt idx="4">
                  <c:v>11.3</c:v>
                </c:pt>
                <c:pt idx="5">
                  <c:v>10.9</c:v>
                </c:pt>
                <c:pt idx="6">
                  <c:v>11.2</c:v>
                </c:pt>
                <c:pt idx="7">
                  <c:v>11.0</c:v>
                </c:pt>
                <c:pt idx="8">
                  <c:v>10.7</c:v>
                </c:pt>
                <c:pt idx="9">
                  <c:v>10.9</c:v>
                </c:pt>
                <c:pt idx="10">
                  <c:v>10.5</c:v>
                </c:pt>
              </c:numCache>
            </c:numRef>
          </c:yVal>
          <c:smooth val="0"/>
        </c:ser>
        <c:ser>
          <c:idx val="3"/>
          <c:order val="3"/>
          <c:tx>
            <c:strRef>
              <c:f>Sheet1!$B$40</c:f>
              <c:strCache>
                <c:ptCount val="1"/>
                <c:pt idx="0">
                  <c:v>history</c:v>
                </c:pt>
              </c:strCache>
            </c:strRef>
          </c:tx>
          <c:spPr>
            <a:ln w="22225">
              <a:solidFill>
                <a:srgbClr val="000000"/>
              </a:solidFill>
            </a:ln>
          </c:spPr>
          <c:marker>
            <c:symbol val="none"/>
          </c:marker>
          <c:xVal>
            <c:numRef>
              <c:f>Sheet1!$A$41:$A$51</c:f>
              <c:numCache>
                <c:formatCode>0"%"</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xVal>
          <c:yVal>
            <c:numRef>
              <c:f>Sheet1!$B$41:$B$51</c:f>
              <c:numCache>
                <c:formatCode>0"%"</c:formatCode>
                <c:ptCount val="11"/>
                <c:pt idx="0">
                  <c:v>17.4</c:v>
                </c:pt>
                <c:pt idx="1">
                  <c:v>17.3</c:v>
                </c:pt>
                <c:pt idx="2">
                  <c:v>17.2</c:v>
                </c:pt>
                <c:pt idx="3">
                  <c:v>17.1</c:v>
                </c:pt>
                <c:pt idx="4">
                  <c:v>16.8</c:v>
                </c:pt>
                <c:pt idx="5">
                  <c:v>8.9</c:v>
                </c:pt>
                <c:pt idx="6">
                  <c:v>9.4</c:v>
                </c:pt>
                <c:pt idx="7">
                  <c:v>10.3</c:v>
                </c:pt>
                <c:pt idx="8">
                  <c:v>10.7</c:v>
                </c:pt>
                <c:pt idx="9">
                  <c:v>11.0</c:v>
                </c:pt>
                <c:pt idx="10">
                  <c:v>11.3</c:v>
                </c:pt>
              </c:numCache>
            </c:numRef>
          </c:yVal>
          <c:smooth val="0"/>
        </c:ser>
        <c:ser>
          <c:idx val="4"/>
          <c:order val="4"/>
          <c:tx>
            <c:strRef>
              <c:f>Sheet1!$B$53</c:f>
              <c:strCache>
                <c:ptCount val="1"/>
                <c:pt idx="0">
                  <c:v>2019 level</c:v>
                </c:pt>
              </c:strCache>
            </c:strRef>
          </c:tx>
          <c:spPr>
            <a:ln w="12700">
              <a:solidFill>
                <a:srgbClr val="404040"/>
              </a:solidFill>
              <a:prstDash val="sysDot"/>
            </a:ln>
          </c:spPr>
          <c:marker>
            <c:symbol val="none"/>
          </c:marker>
          <c:dLbls>
            <c:dLbl>
              <c:idx val="1"/>
              <c:tx>
                <c:rich>
                  <a:bodyPr/>
                  <a:lstStyle/>
                  <a:p>
                    <a:r>
                      <a:rPr sz="900" b="1" i="0">
                        <a:solidFill>
                          <a:srgbClr val="404040"/>
                        </a:solidFill>
                        <a:latin typeface="Arial"/>
                      </a:rPr>
                      <a:t>2019 level</a:t>
                    </a:r>
                  </a:p>
                  <a:p>
                    <a:r>
                      <a:rPr sz="900" b="1" i="0">
                        <a:solidFill>
                          <a:srgbClr val="404040"/>
                        </a:solidFill>
                        <a:latin typeface="Arial"/>
                      </a:rPr>
                      <a:t>16.8%</a:t>
                    </a:r>
                  </a:p>
                </c:rich>
              </c:tx>
              <c:txPr>
                <a:bodyPr/>
                <a:lstStyle/>
                <a:p>
                  <a:pPr>
                    <a:defRPr sz="900" b="1" i="0">
                      <a:solidFill>
                        <a:srgbClr val="404040"/>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Sheet1!$A$54:$A$55</c:f>
              <c:numCache>
                <c:formatCode>0"%"</c:formatCode>
                <c:ptCount val="11"/>
                <c:pt idx="0">
                  <c:v>2015</c:v>
                </c:pt>
                <c:pt idx="1">
                  <c:v>2035</c:v>
                </c:pt>
              </c:numCache>
            </c:numRef>
          </c:xVal>
          <c:yVal>
            <c:numRef>
              <c:f>Sheet1!$B$54:$B$55</c:f>
              <c:numCache>
                <c:formatCode>0"%"</c:formatCode>
                <c:ptCount val="11"/>
                <c:pt idx="0">
                  <c:v>16.8</c:v>
                </c:pt>
                <c:pt idx="1">
                  <c:v>16.8</c:v>
                </c:pt>
              </c:numCache>
            </c:numRef>
          </c:yVal>
          <c:smooth val="0"/>
        </c:ser>
        <c:ser>
          <c:idx val="5"/>
          <c:order val="5"/>
          <c:tx>
            <c:strRef>
              <c:f>Sheet1!$B$57</c:f>
              <c:strCache>
                <c:ptCount val="1"/>
                <c:pt idx="0">
                  <c:v>range</c:v>
                </c:pt>
              </c:strCache>
            </c:strRef>
          </c:tx>
          <c:spPr>
            <a:ln w="34925">
              <a:solidFill>
                <a:srgbClr val="CCD7DC"/>
              </a:solidFill>
            </a:ln>
          </c:spPr>
          <c:marker>
            <c:symbol val="none"/>
          </c:marker>
          <c:xVal>
            <c:numRef>
              <c:f>Sheet1!$A$58:$A$68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Sheet1!$B$58:$B$68</c:f>
              <c:numCache>
                <c:formatCode>0"%"</c:formatCode>
                <c:ptCount val="11"/>
                <c:pt idx="0">
                  <c:v>11.3</c:v>
                </c:pt>
                <c:pt idx="1">
                  <c:v>11.1</c:v>
                </c:pt>
                <c:pt idx="2">
                  <c:v>11.5</c:v>
                </c:pt>
                <c:pt idx="3">
                  <c:v>11.3</c:v>
                </c:pt>
                <c:pt idx="4">
                  <c:v>11.3</c:v>
                </c:pt>
                <c:pt idx="5">
                  <c:v>10.9</c:v>
                </c:pt>
                <c:pt idx="6">
                  <c:v>11.2</c:v>
                </c:pt>
                <c:pt idx="7">
                  <c:v>11.0</c:v>
                </c:pt>
                <c:pt idx="8">
                  <c:v>10.7</c:v>
                </c:pt>
                <c:pt idx="9">
                  <c:v>10.9</c:v>
                </c:pt>
                <c:pt idx="10">
                  <c:v>10.5</c:v>
                </c:pt>
              </c:numCache>
            </c:numRef>
          </c:yVal>
          <c:smooth val="0"/>
        </c:ser>
        <c:ser>
          <c:idx val="6"/>
          <c:order val="6"/>
          <c:tx>
            <c:strRef>
              <c:f>Sheet1!$B$70</c:f>
              <c:strCache>
                <c:ptCount val="1"/>
                <c:pt idx="0">
                  <c:v>range</c:v>
                </c:pt>
              </c:strCache>
            </c:strRef>
          </c:tx>
          <c:spPr>
            <a:ln w="34925">
              <a:solidFill>
                <a:srgbClr val="CCD7DC"/>
              </a:solidFill>
            </a:ln>
          </c:spPr>
          <c:marker>
            <c:symbol val="none"/>
          </c:marker>
          <c:xVal>
            <c:numRef>
              <c:f>Sheet1!$A$71:$A$81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Sheet1!$B$71:$B$81</c:f>
              <c:numCache>
                <c:formatCode>0"%"</c:formatCode>
                <c:ptCount val="11"/>
                <c:pt idx="0">
                  <c:v>11.3</c:v>
                </c:pt>
                <c:pt idx="1">
                  <c:v>11.113636363636363</c:v>
                </c:pt>
                <c:pt idx="2">
                  <c:v>11.527272727272727</c:v>
                </c:pt>
                <c:pt idx="3">
                  <c:v>11.336363636363638</c:v>
                </c:pt>
                <c:pt idx="4">
                  <c:v>11.345454545454546</c:v>
                </c:pt>
                <c:pt idx="5">
                  <c:v>10.954545454545455</c:v>
                </c:pt>
                <c:pt idx="6">
                  <c:v>11.272727272727272</c:v>
                </c:pt>
                <c:pt idx="7">
                  <c:v>11.081818181818182</c:v>
                </c:pt>
                <c:pt idx="8">
                  <c:v>10.790909090909091</c:v>
                </c:pt>
                <c:pt idx="9">
                  <c:v>11.00909090909091</c:v>
                </c:pt>
                <c:pt idx="10">
                  <c:v>10.622727272727273</c:v>
                </c:pt>
              </c:numCache>
            </c:numRef>
          </c:yVal>
          <c:smooth val="0"/>
        </c:ser>
        <c:ser>
          <c:idx val="7"/>
          <c:order val="7"/>
          <c:tx>
            <c:strRef>
              <c:f>Sheet1!$B$83</c:f>
              <c:strCache>
                <c:ptCount val="1"/>
                <c:pt idx="0">
                  <c:v>range</c:v>
                </c:pt>
              </c:strCache>
            </c:strRef>
          </c:tx>
          <c:spPr>
            <a:ln w="34925">
              <a:solidFill>
                <a:srgbClr val="CCD7DC"/>
              </a:solidFill>
            </a:ln>
          </c:spPr>
          <c:marker>
            <c:symbol val="none"/>
          </c:marker>
          <c:xVal>
            <c:numRef>
              <c:f>Sheet1!$A$84:$A$94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Sheet1!$B$84:$B$94</c:f>
              <c:numCache>
                <c:formatCode>0"%"</c:formatCode>
                <c:ptCount val="11"/>
                <c:pt idx="0">
                  <c:v>11.3</c:v>
                </c:pt>
                <c:pt idx="1">
                  <c:v>11.127272727272727</c:v>
                </c:pt>
                <c:pt idx="2">
                  <c:v>11.554545454545455</c:v>
                </c:pt>
                <c:pt idx="3">
                  <c:v>11.372727272727273</c:v>
                </c:pt>
                <c:pt idx="4">
                  <c:v>11.390909090909092</c:v>
                </c:pt>
                <c:pt idx="5">
                  <c:v>11.00909090909091</c:v>
                </c:pt>
                <c:pt idx="6">
                  <c:v>11.345454545454546</c:v>
                </c:pt>
                <c:pt idx="7">
                  <c:v>11.163636363636364</c:v>
                </c:pt>
                <c:pt idx="8">
                  <c:v>10.881818181818181</c:v>
                </c:pt>
                <c:pt idx="9">
                  <c:v>11.118181818181819</c:v>
                </c:pt>
                <c:pt idx="10">
                  <c:v>10.745454545454546</c:v>
                </c:pt>
              </c:numCache>
            </c:numRef>
          </c:yVal>
          <c:smooth val="0"/>
        </c:ser>
        <c:ser>
          <c:idx val="8"/>
          <c:order val="8"/>
          <c:tx>
            <c:strRef>
              <c:f>Sheet1!$B$96</c:f>
              <c:strCache>
                <c:ptCount val="1"/>
                <c:pt idx="0">
                  <c:v>range</c:v>
                </c:pt>
              </c:strCache>
            </c:strRef>
          </c:tx>
          <c:spPr>
            <a:ln w="34925">
              <a:solidFill>
                <a:srgbClr val="CCD7DC"/>
              </a:solidFill>
            </a:ln>
          </c:spPr>
          <c:marker>
            <c:symbol val="none"/>
          </c:marker>
          <c:xVal>
            <c:numRef>
              <c:f>Sheet1!$A$97:$A$107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Sheet1!$B$97:$B$107</c:f>
              <c:numCache>
                <c:formatCode>0"%"</c:formatCode>
                <c:ptCount val="11"/>
                <c:pt idx="0">
                  <c:v>11.3</c:v>
                </c:pt>
                <c:pt idx="1">
                  <c:v>11.14090909090909</c:v>
                </c:pt>
                <c:pt idx="2">
                  <c:v>11.581818181818182</c:v>
                </c:pt>
                <c:pt idx="3">
                  <c:v>11.40909090909091</c:v>
                </c:pt>
                <c:pt idx="4">
                  <c:v>11.436363636363637</c:v>
                </c:pt>
                <c:pt idx="5">
                  <c:v>11.063636363636364</c:v>
                </c:pt>
                <c:pt idx="6">
                  <c:v>11.418181818181818</c:v>
                </c:pt>
                <c:pt idx="7">
                  <c:v>11.245454545454546</c:v>
                </c:pt>
                <c:pt idx="8">
                  <c:v>10.972727272727273</c:v>
                </c:pt>
                <c:pt idx="9">
                  <c:v>11.227272727272728</c:v>
                </c:pt>
                <c:pt idx="10">
                  <c:v>10.868181818181817</c:v>
                </c:pt>
              </c:numCache>
            </c:numRef>
          </c:yVal>
          <c:smooth val="0"/>
        </c:ser>
        <c:ser>
          <c:idx val="9"/>
          <c:order val="9"/>
          <c:tx>
            <c:strRef>
              <c:f>Sheet1!$B$109</c:f>
              <c:strCache>
                <c:ptCount val="1"/>
                <c:pt idx="0">
                  <c:v>range</c:v>
                </c:pt>
              </c:strCache>
            </c:strRef>
          </c:tx>
          <c:spPr>
            <a:ln w="34925">
              <a:solidFill>
                <a:srgbClr val="CCD7DC"/>
              </a:solidFill>
            </a:ln>
          </c:spPr>
          <c:marker>
            <c:symbol val="none"/>
          </c:marker>
          <c:xVal>
            <c:numRef>
              <c:f>Sheet1!$A$110:$A$120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Sheet1!$B$110:$B$120</c:f>
              <c:numCache>
                <c:formatCode>0"%"</c:formatCode>
                <c:ptCount val="11"/>
                <c:pt idx="0">
                  <c:v>11.3</c:v>
                </c:pt>
                <c:pt idx="1">
                  <c:v>11.154545454545454</c:v>
                </c:pt>
                <c:pt idx="2">
                  <c:v>11.60909090909091</c:v>
                </c:pt>
                <c:pt idx="3">
                  <c:v>11.445454545454545</c:v>
                </c:pt>
                <c:pt idx="4">
                  <c:v>11.481818181818182</c:v>
                </c:pt>
                <c:pt idx="5">
                  <c:v>11.118181818181819</c:v>
                </c:pt>
                <c:pt idx="6">
                  <c:v>11.49090909090909</c:v>
                </c:pt>
                <c:pt idx="7">
                  <c:v>11.327272727272728</c:v>
                </c:pt>
                <c:pt idx="8">
                  <c:v>11.063636363636363</c:v>
                </c:pt>
                <c:pt idx="9">
                  <c:v>11.336363636363636</c:v>
                </c:pt>
                <c:pt idx="10">
                  <c:v>10.99090909090909</c:v>
                </c:pt>
              </c:numCache>
            </c:numRef>
          </c:yVal>
          <c:smooth val="0"/>
        </c:ser>
        <c:ser>
          <c:idx val="10"/>
          <c:order val="10"/>
          <c:tx>
            <c:strRef>
              <c:f>Sheet1!$B$122</c:f>
              <c:strCache>
                <c:ptCount val="1"/>
                <c:pt idx="0">
                  <c:v>range</c:v>
                </c:pt>
              </c:strCache>
            </c:strRef>
          </c:tx>
          <c:spPr>
            <a:ln w="34925">
              <a:solidFill>
                <a:srgbClr val="CCD7DC"/>
              </a:solidFill>
            </a:ln>
          </c:spPr>
          <c:marker>
            <c:symbol val="none"/>
          </c:marker>
          <c:xVal>
            <c:numRef>
              <c:f>Sheet1!$A$123:$A$133</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Sheet1!$B$123:$B$133</c:f>
              <c:numCache>
                <c:formatCode>0"%"</c:formatCode>
                <c:ptCount val="11"/>
                <c:pt idx="0">
                  <c:v>11.3</c:v>
                </c:pt>
                <c:pt idx="1">
                  <c:v>11.168181818181818</c:v>
                </c:pt>
                <c:pt idx="2">
                  <c:v>11.636363636363637</c:v>
                </c:pt>
                <c:pt idx="3">
                  <c:v>11.481818181818182</c:v>
                </c:pt>
                <c:pt idx="4">
                  <c:v>11.527272727272727</c:v>
                </c:pt>
                <c:pt idx="5">
                  <c:v>11.172727272727274</c:v>
                </c:pt>
                <c:pt idx="6">
                  <c:v>11.563636363636363</c:v>
                </c:pt>
                <c:pt idx="7">
                  <c:v>11.40909090909091</c:v>
                </c:pt>
                <c:pt idx="8">
                  <c:v>11.154545454545454</c:v>
                </c:pt>
                <c:pt idx="9">
                  <c:v>11.445454545454545</c:v>
                </c:pt>
                <c:pt idx="10">
                  <c:v>11.113636363636363</c:v>
                </c:pt>
              </c:numCache>
            </c:numRef>
          </c:yVal>
          <c:smooth val="0"/>
        </c:ser>
        <c:ser>
          <c:idx val="11"/>
          <c:order val="11"/>
          <c:tx>
            <c:strRef>
              <c:f>Sheet1!$B$135</c:f>
              <c:strCache>
                <c:ptCount val="1"/>
                <c:pt idx="0">
                  <c:v>range</c:v>
                </c:pt>
              </c:strCache>
            </c:strRef>
          </c:tx>
          <c:spPr>
            <a:ln w="34925">
              <a:solidFill>
                <a:srgbClr val="CCD7DC"/>
              </a:solidFill>
            </a:ln>
          </c:spPr>
          <c:marker>
            <c:symbol val="none"/>
          </c:marker>
          <c:xVal>
            <c:numRef>
              <c:f>Sheet1!$A$136:$A$146</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Sheet1!$B$136:$B$146</c:f>
              <c:numCache>
                <c:formatCode>0"%"</c:formatCode>
                <c:ptCount val="11"/>
                <c:pt idx="0">
                  <c:v>11.3</c:v>
                </c:pt>
                <c:pt idx="1">
                  <c:v>11.181818181818182</c:v>
                </c:pt>
                <c:pt idx="2">
                  <c:v>11.663636363636364</c:v>
                </c:pt>
                <c:pt idx="3">
                  <c:v>11.51818181818182</c:v>
                </c:pt>
                <c:pt idx="4">
                  <c:v>11.572727272727274</c:v>
                </c:pt>
                <c:pt idx="5">
                  <c:v>11.227272727272727</c:v>
                </c:pt>
                <c:pt idx="6">
                  <c:v>11.636363636363637</c:v>
                </c:pt>
                <c:pt idx="7">
                  <c:v>11.49090909090909</c:v>
                </c:pt>
                <c:pt idx="8">
                  <c:v>11.245454545454544</c:v>
                </c:pt>
                <c:pt idx="9">
                  <c:v>11.554545454545455</c:v>
                </c:pt>
                <c:pt idx="10">
                  <c:v>11.236363636363636</c:v>
                </c:pt>
              </c:numCache>
            </c:numRef>
          </c:yVal>
          <c:smooth val="0"/>
        </c:ser>
        <c:ser>
          <c:idx val="12"/>
          <c:order val="12"/>
          <c:tx>
            <c:strRef>
              <c:f>Sheet1!$B$148</c:f>
              <c:strCache>
                <c:ptCount val="1"/>
                <c:pt idx="0">
                  <c:v>range</c:v>
                </c:pt>
              </c:strCache>
            </c:strRef>
          </c:tx>
          <c:spPr>
            <a:ln w="34925">
              <a:solidFill>
                <a:srgbClr val="CCD7DC"/>
              </a:solidFill>
            </a:ln>
          </c:spPr>
          <c:marker>
            <c:symbol val="none"/>
          </c:marker>
          <c:xVal>
            <c:numRef>
              <c:f>Sheet1!$A$149:$A$159</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Sheet1!$B$149:$B$159</c:f>
              <c:numCache>
                <c:formatCode>0"%"</c:formatCode>
                <c:ptCount val="11"/>
                <c:pt idx="0">
                  <c:v>11.3</c:v>
                </c:pt>
                <c:pt idx="1">
                  <c:v>11.195454545454545</c:v>
                </c:pt>
                <c:pt idx="2">
                  <c:v>11.690909090909091</c:v>
                </c:pt>
                <c:pt idx="3">
                  <c:v>11.554545454545455</c:v>
                </c:pt>
                <c:pt idx="4">
                  <c:v>11.618181818181819</c:v>
                </c:pt>
                <c:pt idx="5">
                  <c:v>11.281818181818181</c:v>
                </c:pt>
                <c:pt idx="6">
                  <c:v>11.709090909090909</c:v>
                </c:pt>
                <c:pt idx="7">
                  <c:v>11.572727272727272</c:v>
                </c:pt>
                <c:pt idx="8">
                  <c:v>11.336363636363636</c:v>
                </c:pt>
                <c:pt idx="9">
                  <c:v>11.663636363636364</c:v>
                </c:pt>
                <c:pt idx="10">
                  <c:v>11.35909090909091</c:v>
                </c:pt>
              </c:numCache>
            </c:numRef>
          </c:yVal>
          <c:smooth val="0"/>
        </c:ser>
        <c:ser>
          <c:idx val="13"/>
          <c:order val="13"/>
          <c:tx>
            <c:strRef>
              <c:f>Sheet1!$B$161</c:f>
              <c:strCache>
                <c:ptCount val="1"/>
                <c:pt idx="0">
                  <c:v>range</c:v>
                </c:pt>
              </c:strCache>
            </c:strRef>
          </c:tx>
          <c:spPr>
            <a:ln w="34925">
              <a:solidFill>
                <a:srgbClr val="CCD7DC"/>
              </a:solidFill>
            </a:ln>
          </c:spPr>
          <c:marker>
            <c:symbol val="none"/>
          </c:marker>
          <c:xVal>
            <c:numRef>
              <c:f>Sheet1!$A$162:$A$172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Sheet1!$B$162:$B$172</c:f>
              <c:numCache>
                <c:formatCode>0"%"</c:formatCode>
                <c:ptCount val="11"/>
                <c:pt idx="0">
                  <c:v>11.3</c:v>
                </c:pt>
                <c:pt idx="1">
                  <c:v>11.209090909090909</c:v>
                </c:pt>
                <c:pt idx="2">
                  <c:v>11.718181818181819</c:v>
                </c:pt>
                <c:pt idx="3">
                  <c:v>11.590909090909092</c:v>
                </c:pt>
                <c:pt idx="4">
                  <c:v>11.663636363636364</c:v>
                </c:pt>
                <c:pt idx="5">
                  <c:v>11.336363636363636</c:v>
                </c:pt>
                <c:pt idx="6">
                  <c:v>11.781818181818181</c:v>
                </c:pt>
                <c:pt idx="7">
                  <c:v>11.654545454545454</c:v>
                </c:pt>
                <c:pt idx="8">
                  <c:v>11.427272727272726</c:v>
                </c:pt>
                <c:pt idx="9">
                  <c:v>11.772727272727273</c:v>
                </c:pt>
                <c:pt idx="10">
                  <c:v>11.481818181818182</c:v>
                </c:pt>
              </c:numCache>
            </c:numRef>
          </c:yVal>
          <c:smooth val="0"/>
        </c:ser>
        <c:ser>
          <c:idx val="14"/>
          <c:order val="14"/>
          <c:tx>
            <c:strRef>
              <c:f>Sheet1!$B$174</c:f>
              <c:strCache>
                <c:ptCount val="1"/>
                <c:pt idx="0">
                  <c:v>range</c:v>
                </c:pt>
              </c:strCache>
            </c:strRef>
          </c:tx>
          <c:spPr>
            <a:ln w="34925">
              <a:solidFill>
                <a:srgbClr val="CCD7DC"/>
              </a:solidFill>
            </a:ln>
          </c:spPr>
          <c:marker>
            <c:symbol val="none"/>
          </c:marker>
          <c:xVal>
            <c:numRef>
              <c:f>Sheet1!$A$175:$A$185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Sheet1!$B$175:$B$185</c:f>
              <c:numCache>
                <c:formatCode>0"%"</c:formatCode>
                <c:ptCount val="11"/>
                <c:pt idx="0">
                  <c:v>11.3</c:v>
                </c:pt>
                <c:pt idx="1">
                  <c:v>11.222727272727273</c:v>
                </c:pt>
                <c:pt idx="2">
                  <c:v>11.745454545454546</c:v>
                </c:pt>
                <c:pt idx="3">
                  <c:v>11.627272727272727</c:v>
                </c:pt>
                <c:pt idx="4">
                  <c:v>11.709090909090909</c:v>
                </c:pt>
                <c:pt idx="5">
                  <c:v>11.39090909090909</c:v>
                </c:pt>
                <c:pt idx="6">
                  <c:v>11.854545454545455</c:v>
                </c:pt>
                <c:pt idx="7">
                  <c:v>11.736363636363636</c:v>
                </c:pt>
                <c:pt idx="8">
                  <c:v>11.518181818181818</c:v>
                </c:pt>
                <c:pt idx="9">
                  <c:v>11.881818181818183</c:v>
                </c:pt>
                <c:pt idx="10">
                  <c:v>11.604545454545454</c:v>
                </c:pt>
              </c:numCache>
            </c:numRef>
          </c:yVal>
          <c:smooth val="0"/>
        </c:ser>
        <c:ser>
          <c:idx val="15"/>
          <c:order val="15"/>
          <c:tx>
            <c:strRef>
              <c:f>Sheet1!$B$187</c:f>
              <c:strCache>
                <c:ptCount val="1"/>
                <c:pt idx="0">
                  <c:v>range</c:v>
                </c:pt>
              </c:strCache>
            </c:strRef>
          </c:tx>
          <c:spPr>
            <a:ln w="34925">
              <a:solidFill>
                <a:srgbClr val="CCD7DC"/>
              </a:solidFill>
            </a:ln>
          </c:spPr>
          <c:marker>
            <c:symbol val="none"/>
          </c:marker>
          <c:xVal>
            <c:numRef>
              <c:f>Sheet1!$A$188:$A$198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Sheet1!$B$188:$B$198</c:f>
              <c:numCache>
                <c:formatCode>0"%"</c:formatCode>
                <c:ptCount val="11"/>
                <c:pt idx="0">
                  <c:v>11.3</c:v>
                </c:pt>
                <c:pt idx="1">
                  <c:v>11.236363636363636</c:v>
                </c:pt>
                <c:pt idx="2">
                  <c:v>11.772727272727273</c:v>
                </c:pt>
                <c:pt idx="3">
                  <c:v>11.663636363636364</c:v>
                </c:pt>
                <c:pt idx="4">
                  <c:v>11.754545454545456</c:v>
                </c:pt>
                <c:pt idx="5">
                  <c:v>11.445454545454545</c:v>
                </c:pt>
                <c:pt idx="6">
                  <c:v>11.927272727272728</c:v>
                </c:pt>
                <c:pt idx="7">
                  <c:v>11.818181818181818</c:v>
                </c:pt>
                <c:pt idx="8">
                  <c:v>11.609090909090908</c:v>
                </c:pt>
                <c:pt idx="9">
                  <c:v>11.990909090909092</c:v>
                </c:pt>
                <c:pt idx="10">
                  <c:v>11.727272727272727</c:v>
                </c:pt>
              </c:numCache>
            </c:numRef>
          </c:yVal>
          <c:smooth val="0"/>
        </c:ser>
        <c:ser>
          <c:idx val="16"/>
          <c:order val="16"/>
          <c:tx>
            <c:strRef>
              <c:f>Sheet1!$B$200</c:f>
              <c:strCache>
                <c:ptCount val="1"/>
                <c:pt idx="0">
                  <c:v>range</c:v>
                </c:pt>
              </c:strCache>
            </c:strRef>
          </c:tx>
          <c:spPr>
            <a:ln w="34925">
              <a:solidFill>
                <a:srgbClr val="CCD7DC"/>
              </a:solidFill>
            </a:ln>
          </c:spPr>
          <c:marker>
            <c:symbol val="none"/>
          </c:marker>
          <c:xVal>
            <c:numRef>
              <c:f>Sheet1!$A$201:$A$211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Sheet1!$B$201:$B$211</c:f>
              <c:numCache>
                <c:formatCode>0"%"</c:formatCode>
                <c:ptCount val="11"/>
                <c:pt idx="0">
                  <c:v>11.3</c:v>
                </c:pt>
                <c:pt idx="1">
                  <c:v>11.25</c:v>
                </c:pt>
                <c:pt idx="2">
                  <c:v>11.8</c:v>
                </c:pt>
                <c:pt idx="3">
                  <c:v>11.7</c:v>
                </c:pt>
                <c:pt idx="4">
                  <c:v>11.8</c:v>
                </c:pt>
                <c:pt idx="5">
                  <c:v>11.5</c:v>
                </c:pt>
                <c:pt idx="6">
                  <c:v>12.0</c:v>
                </c:pt>
                <c:pt idx="7">
                  <c:v>11.9</c:v>
                </c:pt>
                <c:pt idx="8">
                  <c:v>11.7</c:v>
                </c:pt>
                <c:pt idx="9">
                  <c:v>12.100000000000001</c:v>
                </c:pt>
                <c:pt idx="10">
                  <c:v>11.85</c:v>
                </c:pt>
              </c:numCache>
            </c:numRef>
          </c:yVal>
          <c:smooth val="0"/>
        </c:ser>
        <c:ser>
          <c:idx val="17"/>
          <c:order val="17"/>
          <c:tx>
            <c:strRef>
              <c:f>Sheet1!$B$213</c:f>
              <c:strCache>
                <c:ptCount val="1"/>
                <c:pt idx="0">
                  <c:v>range</c:v>
                </c:pt>
              </c:strCache>
            </c:strRef>
          </c:tx>
          <c:spPr>
            <a:ln w="34925">
              <a:solidFill>
                <a:srgbClr val="CCD7DC"/>
              </a:solidFill>
            </a:ln>
          </c:spPr>
          <c:marker>
            <c:symbol val="none"/>
          </c:marker>
          <c:xVal>
            <c:numRef>
              <c:f>Sheet1!$A$214:$A$224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Sheet1!$B$214:$B$224</c:f>
              <c:numCache>
                <c:formatCode>0"%"</c:formatCode>
                <c:ptCount val="11"/>
                <c:pt idx="0">
                  <c:v>11.3</c:v>
                </c:pt>
                <c:pt idx="1">
                  <c:v>11.263636363636364</c:v>
                </c:pt>
                <c:pt idx="2">
                  <c:v>11.827272727272726</c:v>
                </c:pt>
                <c:pt idx="3">
                  <c:v>11.736363636363636</c:v>
                </c:pt>
                <c:pt idx="4">
                  <c:v>11.845454545454546</c:v>
                </c:pt>
                <c:pt idx="5">
                  <c:v>11.554545454545455</c:v>
                </c:pt>
                <c:pt idx="6">
                  <c:v>12.072727272727272</c:v>
                </c:pt>
                <c:pt idx="7">
                  <c:v>11.981818181818182</c:v>
                </c:pt>
                <c:pt idx="8">
                  <c:v>11.79090909090909</c:v>
                </c:pt>
                <c:pt idx="9">
                  <c:v>12.209090909090909</c:v>
                </c:pt>
                <c:pt idx="10">
                  <c:v>11.972727272727273</c:v>
                </c:pt>
              </c:numCache>
            </c:numRef>
          </c:yVal>
          <c:smooth val="0"/>
        </c:ser>
        <c:ser>
          <c:idx val="18"/>
          <c:order val="18"/>
          <c:tx>
            <c:strRef>
              <c:f>Sheet1!$B$226</c:f>
              <c:strCache>
                <c:ptCount val="1"/>
                <c:pt idx="0">
                  <c:v>range</c:v>
                </c:pt>
              </c:strCache>
            </c:strRef>
          </c:tx>
          <c:spPr>
            <a:ln w="34925">
              <a:solidFill>
                <a:srgbClr val="CCD7DC"/>
              </a:solidFill>
            </a:ln>
          </c:spPr>
          <c:marker>
            <c:symbol val="none"/>
          </c:marker>
          <c:xVal>
            <c:numRef>
              <c:f>Sheet1!$A$227:$A$237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Sheet1!$B$227:$B$237</c:f>
              <c:numCache>
                <c:formatCode>0"%"</c:formatCode>
                <c:ptCount val="11"/>
                <c:pt idx="0">
                  <c:v>11.3</c:v>
                </c:pt>
                <c:pt idx="1">
                  <c:v>11.277272727272727</c:v>
                </c:pt>
                <c:pt idx="2">
                  <c:v>11.854545454545454</c:v>
                </c:pt>
                <c:pt idx="3">
                  <c:v>11.772727272727273</c:v>
                </c:pt>
                <c:pt idx="4">
                  <c:v>11.890909090909092</c:v>
                </c:pt>
                <c:pt idx="5">
                  <c:v>11.60909090909091</c:v>
                </c:pt>
                <c:pt idx="6">
                  <c:v>12.145454545454546</c:v>
                </c:pt>
                <c:pt idx="7">
                  <c:v>12.063636363636364</c:v>
                </c:pt>
                <c:pt idx="8">
                  <c:v>11.881818181818181</c:v>
                </c:pt>
                <c:pt idx="9">
                  <c:v>12.318181818181818</c:v>
                </c:pt>
                <c:pt idx="10">
                  <c:v>12.095454545454546</c:v>
                </c:pt>
              </c:numCache>
            </c:numRef>
          </c:yVal>
          <c:smooth val="0"/>
        </c:ser>
        <c:ser>
          <c:idx val="19"/>
          <c:order val="19"/>
          <c:tx>
            <c:strRef>
              <c:f>Sheet1!$B$239</c:f>
              <c:strCache>
                <c:ptCount val="1"/>
                <c:pt idx="0">
                  <c:v>range</c:v>
                </c:pt>
              </c:strCache>
            </c:strRef>
          </c:tx>
          <c:spPr>
            <a:ln w="34925">
              <a:solidFill>
                <a:srgbClr val="CCD7DC"/>
              </a:solidFill>
            </a:ln>
          </c:spPr>
          <c:marker>
            <c:symbol val="none"/>
          </c:marker>
          <c:xVal>
            <c:numRef>
              <c:f>Sheet1!$A$240:$A$250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Sheet1!$B$240:$B$250</c:f>
              <c:numCache>
                <c:formatCode>0"%"</c:formatCode>
                <c:ptCount val="11"/>
                <c:pt idx="0">
                  <c:v>11.3</c:v>
                </c:pt>
                <c:pt idx="1">
                  <c:v>11.290909090909091</c:v>
                </c:pt>
                <c:pt idx="2">
                  <c:v>11.881818181818181</c:v>
                </c:pt>
                <c:pt idx="3">
                  <c:v>11.809090909090909</c:v>
                </c:pt>
                <c:pt idx="4">
                  <c:v>11.936363636363637</c:v>
                </c:pt>
                <c:pt idx="5">
                  <c:v>11.663636363636364</c:v>
                </c:pt>
                <c:pt idx="6">
                  <c:v>12.218181818181819</c:v>
                </c:pt>
                <c:pt idx="7">
                  <c:v>12.145454545454546</c:v>
                </c:pt>
                <c:pt idx="8">
                  <c:v>11.972727272727273</c:v>
                </c:pt>
                <c:pt idx="9">
                  <c:v>12.427272727272728</c:v>
                </c:pt>
                <c:pt idx="10">
                  <c:v>12.218181818181819</c:v>
                </c:pt>
              </c:numCache>
            </c:numRef>
          </c:yVal>
          <c:smooth val="0"/>
        </c:ser>
        <c:ser>
          <c:idx val="20"/>
          <c:order val="20"/>
          <c:tx>
            <c:strRef>
              <c:f>Sheet1!$B$252</c:f>
              <c:strCache>
                <c:ptCount val="1"/>
                <c:pt idx="0">
                  <c:v>range</c:v>
                </c:pt>
              </c:strCache>
            </c:strRef>
          </c:tx>
          <c:spPr>
            <a:ln w="34925">
              <a:solidFill>
                <a:srgbClr val="CCD7DC"/>
              </a:solidFill>
            </a:ln>
          </c:spPr>
          <c:marker>
            <c:symbol val="none"/>
          </c:marker>
          <c:xVal>
            <c:numRef>
              <c:f>Sheet1!$A$253:$A$263</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Sheet1!$B$253:$B$263</c:f>
              <c:numCache>
                <c:formatCode>0"%"</c:formatCode>
                <c:ptCount val="11"/>
                <c:pt idx="0">
                  <c:v>11.3</c:v>
                </c:pt>
                <c:pt idx="1">
                  <c:v>11.304545454545455</c:v>
                </c:pt>
                <c:pt idx="2">
                  <c:v>11.909090909090908</c:v>
                </c:pt>
                <c:pt idx="3">
                  <c:v>11.845454545454546</c:v>
                </c:pt>
                <c:pt idx="4">
                  <c:v>11.981818181818182</c:v>
                </c:pt>
                <c:pt idx="5">
                  <c:v>11.718181818181819</c:v>
                </c:pt>
                <c:pt idx="6">
                  <c:v>12.290909090909091</c:v>
                </c:pt>
                <c:pt idx="7">
                  <c:v>12.227272727272728</c:v>
                </c:pt>
                <c:pt idx="8">
                  <c:v>12.063636363636363</c:v>
                </c:pt>
                <c:pt idx="9">
                  <c:v>12.536363636363637</c:v>
                </c:pt>
                <c:pt idx="10">
                  <c:v>12.34090909090909</c:v>
                </c:pt>
              </c:numCache>
            </c:numRef>
          </c:yVal>
          <c:smooth val="0"/>
        </c:ser>
        <c:ser>
          <c:idx val="21"/>
          <c:order val="21"/>
          <c:tx>
            <c:strRef>
              <c:f>Sheet1!$B$265</c:f>
              <c:strCache>
                <c:ptCount val="1"/>
                <c:pt idx="0">
                  <c:v>range</c:v>
                </c:pt>
              </c:strCache>
            </c:strRef>
          </c:tx>
          <c:spPr>
            <a:ln w="34925">
              <a:solidFill>
                <a:srgbClr val="CCD7DC"/>
              </a:solidFill>
            </a:ln>
          </c:spPr>
          <c:marker>
            <c:symbol val="none"/>
          </c:marker>
          <c:xVal>
            <c:numRef>
              <c:f>Sheet1!$A$266:$A$276</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Sheet1!$B$266:$B$276</c:f>
              <c:numCache>
                <c:formatCode>0"%"</c:formatCode>
                <c:ptCount val="11"/>
                <c:pt idx="0">
                  <c:v>11.3</c:v>
                </c:pt>
                <c:pt idx="1">
                  <c:v>11.318181818181818</c:v>
                </c:pt>
                <c:pt idx="2">
                  <c:v>11.936363636363636</c:v>
                </c:pt>
                <c:pt idx="3">
                  <c:v>11.881818181818181</c:v>
                </c:pt>
                <c:pt idx="4">
                  <c:v>12.027272727272727</c:v>
                </c:pt>
                <c:pt idx="5">
                  <c:v>11.772727272727273</c:v>
                </c:pt>
                <c:pt idx="6">
                  <c:v>12.363636363636363</c:v>
                </c:pt>
                <c:pt idx="7">
                  <c:v>12.30909090909091</c:v>
                </c:pt>
                <c:pt idx="8">
                  <c:v>12.154545454545454</c:v>
                </c:pt>
                <c:pt idx="9">
                  <c:v>12.645454545454546</c:v>
                </c:pt>
                <c:pt idx="10">
                  <c:v>12.463636363636363</c:v>
                </c:pt>
              </c:numCache>
            </c:numRef>
          </c:yVal>
          <c:smooth val="0"/>
        </c:ser>
        <c:ser>
          <c:idx val="22"/>
          <c:order val="22"/>
          <c:tx>
            <c:strRef>
              <c:f>Sheet1!$B$278</c:f>
              <c:strCache>
                <c:ptCount val="1"/>
                <c:pt idx="0">
                  <c:v>range</c:v>
                </c:pt>
              </c:strCache>
            </c:strRef>
          </c:tx>
          <c:spPr>
            <a:ln w="34925">
              <a:solidFill>
                <a:srgbClr val="CCD7DC"/>
              </a:solidFill>
            </a:ln>
          </c:spPr>
          <c:marker>
            <c:symbol val="none"/>
          </c:marker>
          <c:xVal>
            <c:numRef>
              <c:f>Sheet1!$A$279:$A$289</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Sheet1!$B$279:$B$289</c:f>
              <c:numCache>
                <c:formatCode>0"%"</c:formatCode>
                <c:ptCount val="11"/>
                <c:pt idx="0">
                  <c:v>11.3</c:v>
                </c:pt>
                <c:pt idx="1">
                  <c:v>11.331818181818182</c:v>
                </c:pt>
                <c:pt idx="2">
                  <c:v>11.963636363636363</c:v>
                </c:pt>
                <c:pt idx="3">
                  <c:v>11.918181818181818</c:v>
                </c:pt>
                <c:pt idx="4">
                  <c:v>12.072727272727274</c:v>
                </c:pt>
                <c:pt idx="5">
                  <c:v>11.827272727272726</c:v>
                </c:pt>
                <c:pt idx="6">
                  <c:v>12.436363636363637</c:v>
                </c:pt>
                <c:pt idx="7">
                  <c:v>12.39090909090909</c:v>
                </c:pt>
                <c:pt idx="8">
                  <c:v>12.245454545454544</c:v>
                </c:pt>
                <c:pt idx="9">
                  <c:v>12.754545454545456</c:v>
                </c:pt>
                <c:pt idx="10">
                  <c:v>12.586363636363636</c:v>
                </c:pt>
              </c:numCache>
            </c:numRef>
          </c:yVal>
          <c:smooth val="0"/>
        </c:ser>
        <c:ser>
          <c:idx val="23"/>
          <c:order val="23"/>
          <c:tx>
            <c:strRef>
              <c:f>Sheet1!$B$291</c:f>
              <c:strCache>
                <c:ptCount val="1"/>
                <c:pt idx="0">
                  <c:v>range</c:v>
                </c:pt>
              </c:strCache>
            </c:strRef>
          </c:tx>
          <c:spPr>
            <a:ln w="34925">
              <a:solidFill>
                <a:srgbClr val="CCD7DC"/>
              </a:solidFill>
            </a:ln>
          </c:spPr>
          <c:marker>
            <c:symbol val="none"/>
          </c:marker>
          <c:xVal>
            <c:numRef>
              <c:f>Sheet1!$A$292:$A$302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Sheet1!$B$292:$B$302</c:f>
              <c:numCache>
                <c:formatCode>0"%"</c:formatCode>
                <c:ptCount val="11"/>
                <c:pt idx="0">
                  <c:v>11.3</c:v>
                </c:pt>
                <c:pt idx="1">
                  <c:v>11.345454545454546</c:v>
                </c:pt>
                <c:pt idx="2">
                  <c:v>11.99090909090909</c:v>
                </c:pt>
                <c:pt idx="3">
                  <c:v>11.954545454545455</c:v>
                </c:pt>
                <c:pt idx="4">
                  <c:v>12.118181818181819</c:v>
                </c:pt>
                <c:pt idx="5">
                  <c:v>11.881818181818181</c:v>
                </c:pt>
                <c:pt idx="6">
                  <c:v>12.50909090909091</c:v>
                </c:pt>
                <c:pt idx="7">
                  <c:v>12.472727272727273</c:v>
                </c:pt>
                <c:pt idx="8">
                  <c:v>12.336363636363636</c:v>
                </c:pt>
                <c:pt idx="9">
                  <c:v>12.863636363636365</c:v>
                </c:pt>
                <c:pt idx="10">
                  <c:v>12.709090909090909</c:v>
                </c:pt>
              </c:numCache>
            </c:numRef>
          </c:yVal>
          <c:smooth val="0"/>
        </c:ser>
        <c:ser>
          <c:idx val="24"/>
          <c:order val="24"/>
          <c:tx>
            <c:strRef>
              <c:f>Sheet1!$B$304</c:f>
              <c:strCache>
                <c:ptCount val="1"/>
                <c:pt idx="0">
                  <c:v>range</c:v>
                </c:pt>
              </c:strCache>
            </c:strRef>
          </c:tx>
          <c:spPr>
            <a:ln w="34925">
              <a:solidFill>
                <a:srgbClr val="CCD7DC"/>
              </a:solidFill>
            </a:ln>
          </c:spPr>
          <c:marker>
            <c:symbol val="none"/>
          </c:marker>
          <c:xVal>
            <c:numRef>
              <c:f>Sheet1!$A$305:$A$315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Sheet1!$B$305:$B$315</c:f>
              <c:numCache>
                <c:formatCode>0"%"</c:formatCode>
                <c:ptCount val="11"/>
                <c:pt idx="0">
                  <c:v>11.3</c:v>
                </c:pt>
                <c:pt idx="1">
                  <c:v>11.35909090909091</c:v>
                </c:pt>
                <c:pt idx="2">
                  <c:v>12.018181818181818</c:v>
                </c:pt>
                <c:pt idx="3">
                  <c:v>11.99090909090909</c:v>
                </c:pt>
                <c:pt idx="4">
                  <c:v>12.163636363636364</c:v>
                </c:pt>
                <c:pt idx="5">
                  <c:v>11.936363636363636</c:v>
                </c:pt>
                <c:pt idx="6">
                  <c:v>12.581818181818182</c:v>
                </c:pt>
                <c:pt idx="7">
                  <c:v>12.554545454545455</c:v>
                </c:pt>
                <c:pt idx="8">
                  <c:v>12.427272727272726</c:v>
                </c:pt>
                <c:pt idx="9">
                  <c:v>12.972727272727273</c:v>
                </c:pt>
                <c:pt idx="10">
                  <c:v>12.831818181818182</c:v>
                </c:pt>
              </c:numCache>
            </c:numRef>
          </c:yVal>
          <c:smooth val="0"/>
        </c:ser>
        <c:ser>
          <c:idx val="25"/>
          <c:order val="25"/>
          <c:tx>
            <c:strRef>
              <c:f>Sheet1!$B$317</c:f>
              <c:strCache>
                <c:ptCount val="1"/>
                <c:pt idx="0">
                  <c:v>range</c:v>
                </c:pt>
              </c:strCache>
            </c:strRef>
          </c:tx>
          <c:spPr>
            <a:ln w="34925">
              <a:solidFill>
                <a:srgbClr val="CCD7DC"/>
              </a:solidFill>
            </a:ln>
          </c:spPr>
          <c:marker>
            <c:symbol val="none"/>
          </c:marker>
          <c:xVal>
            <c:numRef>
              <c:f>Sheet1!$A$318:$A$328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Sheet1!$B$318:$B$328</c:f>
              <c:numCache>
                <c:formatCode>0"%"</c:formatCode>
                <c:ptCount val="11"/>
                <c:pt idx="0">
                  <c:v>11.3</c:v>
                </c:pt>
                <c:pt idx="1">
                  <c:v>11.372727272727273</c:v>
                </c:pt>
                <c:pt idx="2">
                  <c:v>12.045454545454545</c:v>
                </c:pt>
                <c:pt idx="3">
                  <c:v>12.027272727272727</c:v>
                </c:pt>
                <c:pt idx="4">
                  <c:v>12.209090909090909</c:v>
                </c:pt>
                <c:pt idx="5">
                  <c:v>11.99090909090909</c:v>
                </c:pt>
                <c:pt idx="6">
                  <c:v>12.654545454545454</c:v>
                </c:pt>
                <c:pt idx="7">
                  <c:v>12.636363636363637</c:v>
                </c:pt>
                <c:pt idx="8">
                  <c:v>12.518181818181818</c:v>
                </c:pt>
                <c:pt idx="9">
                  <c:v>13.081818181818182</c:v>
                </c:pt>
                <c:pt idx="10">
                  <c:v>12.954545454545453</c:v>
                </c:pt>
              </c:numCache>
            </c:numRef>
          </c:yVal>
          <c:smooth val="0"/>
        </c:ser>
        <c:ser>
          <c:idx val="26"/>
          <c:order val="26"/>
          <c:tx>
            <c:strRef>
              <c:f>Sheet1!$B$330</c:f>
              <c:strCache>
                <c:ptCount val="1"/>
                <c:pt idx="0">
                  <c:v>range</c:v>
                </c:pt>
              </c:strCache>
            </c:strRef>
          </c:tx>
          <c:spPr>
            <a:ln w="34925">
              <a:solidFill>
                <a:srgbClr val="CCD7DC"/>
              </a:solidFill>
            </a:ln>
          </c:spPr>
          <c:marker>
            <c:symbol val="none"/>
          </c:marker>
          <c:xVal>
            <c:numRef>
              <c:f>Sheet1!$A$331:$A$341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Sheet1!$B$331:$B$341</c:f>
              <c:numCache>
                <c:formatCode>0"%"</c:formatCode>
                <c:ptCount val="11"/>
                <c:pt idx="0">
                  <c:v>11.3</c:v>
                </c:pt>
                <c:pt idx="1">
                  <c:v>11.386363636363637</c:v>
                </c:pt>
                <c:pt idx="2">
                  <c:v>12.072727272727272</c:v>
                </c:pt>
                <c:pt idx="3">
                  <c:v>12.063636363636363</c:v>
                </c:pt>
                <c:pt idx="4">
                  <c:v>12.254545454545456</c:v>
                </c:pt>
                <c:pt idx="5">
                  <c:v>12.045454545454545</c:v>
                </c:pt>
                <c:pt idx="6">
                  <c:v>12.727272727272728</c:v>
                </c:pt>
                <c:pt idx="7">
                  <c:v>12.718181818181819</c:v>
                </c:pt>
                <c:pt idx="8">
                  <c:v>12.60909090909091</c:v>
                </c:pt>
                <c:pt idx="9">
                  <c:v>13.190909090909091</c:v>
                </c:pt>
                <c:pt idx="10">
                  <c:v>13.077272727272726</c:v>
                </c:pt>
              </c:numCache>
            </c:numRef>
          </c:yVal>
          <c:smooth val="0"/>
        </c:ser>
        <c:ser>
          <c:idx val="27"/>
          <c:order val="27"/>
          <c:tx>
            <c:strRef>
              <c:f>Sheet1!$B$343</c:f>
              <c:strCache>
                <c:ptCount val="1"/>
                <c:pt idx="0">
                  <c:v>range</c:v>
                </c:pt>
              </c:strCache>
            </c:strRef>
          </c:tx>
          <c:spPr>
            <a:ln w="34925">
              <a:solidFill>
                <a:srgbClr val="CCD7DC"/>
              </a:solidFill>
            </a:ln>
          </c:spPr>
          <c:marker>
            <c:symbol val="none"/>
          </c:marker>
          <c:xVal>
            <c:numRef>
              <c:f>Sheet1!$A$344:$A$354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Sheet1!$B$344:$B$354</c:f>
              <c:numCache>
                <c:formatCode>0"%"</c:formatCode>
                <c:ptCount val="11"/>
                <c:pt idx="0">
                  <c:v>11.3</c:v>
                </c:pt>
                <c:pt idx="1">
                  <c:v>11.4</c:v>
                </c:pt>
                <c:pt idx="2">
                  <c:v>12.1</c:v>
                </c:pt>
                <c:pt idx="3">
                  <c:v>12.1</c:v>
                </c:pt>
                <c:pt idx="4">
                  <c:v>12.3</c:v>
                </c:pt>
                <c:pt idx="5">
                  <c:v>12.1</c:v>
                </c:pt>
                <c:pt idx="6">
                  <c:v>12.8</c:v>
                </c:pt>
                <c:pt idx="7">
                  <c:v>12.8</c:v>
                </c:pt>
                <c:pt idx="8">
                  <c:v>12.7</c:v>
                </c:pt>
                <c:pt idx="9">
                  <c:v>13.3</c:v>
                </c:pt>
                <c:pt idx="10">
                  <c:v>13.2</c:v>
                </c:pt>
              </c:numCache>
            </c:numRef>
          </c:yVal>
          <c:smooth val="0"/>
        </c:ser>
        <c:axId val="-2128940872"/>
        <c:axId val="-2129643912"/>
      </c:scatterChart>
      <c:valAx>
        <c:axId val="-2128940872"/>
        <c:scaling>
          <c:max val="2035.0"/>
          <c:min val="2015.0"/>
        </c:scaling>
        <c:delete val="0"/>
        <c:axPos val="b"/>
        <c:numFmt formatCode="0" sourceLinked="0"/>
        <c:majorTickMark val="out"/>
        <c:minorTickMark val="none"/>
        <c:tickLblPos val="nextTo"/>
        <c:spPr>
          <a:ln w="9525">
            <a:solidFill>
              <a:srgbClr val="404040"/>
            </a:solidFill>
          </a:ln>
        </c:spPr>
        <c:txPr>
          <a:bodyPr/>
          <a:lstStyle/>
          <a:p>
            <a:pPr>
              <a:defRPr sz="900" b="0" i="0">
                <a:solidFill>
                  <a:srgbClr val="404040"/>
                </a:solidFill>
                <a:latin typeface="Arial"/>
              </a:defRPr>
            </a:pPr>
          </a:p>
        </c:txPr>
        <c:crossAx val="-2129643912"/>
        <c:crosses val="min"/>
        <c:crossBetween val="midCat"/>
        <c:majorUnit val="10.0"/>
      </c:valAx>
      <c:valAx>
        <c:axId val="-2129643912"/>
        <c:scaling>
          <c:max val="20.0"/>
          <c:min val="0.0"/>
        </c:scaling>
        <c:delete val="0"/>
        <c:axPos val="l"/>
        <c:majorGridlines>
          <c:spPr>
            <a:ln w="9525">
              <a:solidFill>
                <a:srgbClr val="D9D9D9"/>
              </a:solidFill>
            </a:ln>
          </c:spPr>
        </c:majorGridlines>
        <c:numFmt formatCode="0&quot;%&quot;" sourceLinked="0"/>
        <c:majorTickMark val="none"/>
        <c:minorTickMark val="none"/>
        <c:tickLblPos val="nextTo"/>
        <c:spPr>
          <a:ln>
            <a:noFill/>
          </a:ln>
        </c:spPr>
        <c:txPr>
          <a:bodyPr/>
          <a:lstStyle/>
          <a:p>
            <a:pPr>
              <a:defRPr sz="900" b="0" i="0">
                <a:solidFill>
                  <a:srgbClr val="404040"/>
                </a:solidFill>
                <a:latin typeface="Arial"/>
              </a:defRPr>
            </a:pPr>
          </a:p>
        </c:txPr>
        <c:crossAx val="-2128940872"/>
        <c:crosses val="min"/>
        <c:crossBetween val="midCat"/>
        <c:majorUnit val="5.0"/>
      </c:valAx>
      <c:spPr>
        <a:noFill/>
      </c:spPr>
    </c:plotArea>
    <c:plotVisOnly val="1"/>
    <c:dispBlanksAs val="gap"/>
    <c:showDLblsOverMax val="0"/>
  </c:chart>
  <c:txPr>
    <a:bodyPr/>
    <a:lstStyle/>
    <a:p>
      <a:pPr>
        <a:defRPr sz="900" b="0" i="0">
          <a:solidFill>
            <a:srgbClr val="404040"/>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47"/>
          <c:y val="0.0"/>
          <c:w val="0.52"/>
          <c:h val="1.0"/>
        </c:manualLayout>
      </c:layout>
      <c:barChart>
        <c:barDir val="bar"/>
        <c:grouping val="clustered"/>
        <c:varyColors val="0"/>
        <c:ser>
          <c:idx val="0"/>
          <c:order val="0"/>
          <c:tx>
            <c:strRef>
              <c:f>Sheet1!$B$1</c:f>
              <c:strCache>
                <c:ptCount val="1"/>
                <c:pt idx="0">
                  <c:v>Ten-year total</c:v>
                </c:pt>
              </c:strCache>
            </c:strRef>
          </c:tx>
          <c:spPr>
            <a:solidFill>
              <a:srgbClr val="7F7F7F"/>
            </a:solidFill>
            <a:ln>
              <a:noFill/>
            </a:ln>
          </c:spPr>
          <c:dPt>
            <c:idx val="0"/>
            <c:spPr>
              <a:solidFill>
                <a:srgbClr val="003953"/>
              </a:solidFill>
            </c:spPr>
          </c:dPt>
          <c:dPt>
            <c:idx val="1"/>
            <c:spPr>
              <a:solidFill>
                <a:srgbClr val="0096D7"/>
              </a:solidFill>
            </c:spPr>
          </c:dPt>
          <c:dPt>
            <c:idx val="2"/>
            <c:spPr>
              <a:solidFill>
                <a:srgbClr val="2E4B19"/>
              </a:solidFill>
            </c:spPr>
          </c:dPt>
          <c:dPt>
            <c:idx val="3"/>
            <c:spPr>
              <a:solidFill>
                <a:srgbClr val="D57883"/>
              </a:solidFill>
            </c:spPr>
          </c:dPt>
          <c:dPt>
            <c:idx val="4"/>
            <c:spPr>
              <a:solidFill>
                <a:srgbClr val="5D9732"/>
              </a:solidFill>
            </c:spPr>
          </c:dPt>
          <c:dLbls>
            <c:dLbl>
              <c:idx val="0"/>
              <c:tx>
                <c:rich>
                  <a:bodyPr/>
                  <a:lstStyle/>
                  <a:p>
                    <a:r>
                      <a:rPr sz="900" b="1" i="0">
                        <a:solidFill>
                          <a:srgbClr val="000000"/>
                        </a:solidFill>
                        <a:latin typeface="Arial"/>
                      </a:rPr>
                      <a:t>2,410  41%</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dLbl>
              <c:idx val="1"/>
              <c:tx>
                <c:rich>
                  <a:bodyPr/>
                  <a:lstStyle/>
                  <a:p>
                    <a:r>
                      <a:rPr sz="900" b="1" i="0">
                        <a:solidFill>
                          <a:srgbClr val="000000"/>
                        </a:solidFill>
                        <a:latin typeface="Arial"/>
                      </a:rPr>
                      <a:t>1,800  31%</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dLbl>
              <c:idx val="2"/>
              <c:tx>
                <c:rich>
                  <a:bodyPr/>
                  <a:lstStyle/>
                  <a:p>
                    <a:r>
                      <a:rPr sz="900" b="1" i="0">
                        <a:solidFill>
                          <a:srgbClr val="000000"/>
                        </a:solidFill>
                        <a:latin typeface="Arial"/>
                      </a:rPr>
                      <a:t>860  15%</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dLbl>
              <c:idx val="3"/>
              <c:tx>
                <c:rich>
                  <a:bodyPr/>
                  <a:lstStyle/>
                  <a:p>
                    <a:r>
                      <a:rPr sz="900" b="1" i="0">
                        <a:solidFill>
                          <a:srgbClr val="000000"/>
                        </a:solidFill>
                        <a:latin typeface="Arial"/>
                      </a:rPr>
                      <a:t>400  7%</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dLbl>
              <c:idx val="4"/>
              <c:tx>
                <c:rich>
                  <a:bodyPr/>
                  <a:lstStyle/>
                  <a:p>
                    <a:r>
                      <a:rPr sz="900" b="1" i="0">
                        <a:solidFill>
                          <a:srgbClr val="000000"/>
                        </a:solidFill>
                        <a:latin typeface="Arial"/>
                      </a:rPr>
                      <a:t>375  6%</a:t>
                    </a:r>
                  </a:p>
                </c:rich>
              </c:tx>
              <c:txPr>
                <a:bodyPr/>
                <a:lstStyle/>
                <a:p>
                  <a:pPr>
                    <a:defRPr sz="900" b="1" i="0">
                      <a:solidFill>
                        <a:srgbClr val="000000"/>
                      </a:solidFill>
                      <a:latin typeface="Arial"/>
                    </a:defRPr>
                  </a:pPr>
                </a:p>
              </c:txPr>
              <c:dLblPos val="outEnd"/>
              <c:showLegendKey val="0"/>
              <c:showVal val="1"/>
              <c:showCatName val="0"/>
              <c:showSerName val="0"/>
              <c:showPercent val="0"/>
              <c:showBubbleSize val="0"/>
            </c:dLbl>
            <c:txPr>
              <a:bodyPr/>
              <a:lstStyle/>
              <a:p>
                <a:pPr>
                  <a:defRPr sz="900" b="1" i="0">
                    <a:solidFill>
                      <a:srgbClr val="000000"/>
                    </a:solidFill>
                    <a:latin typeface="Arial"/>
                  </a:defRPr>
                </a:pPr>
              </a:p>
            </c:txPr>
            <c:dLblPos val="outEnd"/>
            <c:showLegendKey val="0"/>
            <c:showVal val="1"/>
            <c:showCatName val="0"/>
            <c:showSerName val="0"/>
            <c:showPercent val="0"/>
            <c:showBubbleSize val="0"/>
            <c:showLeaderLines val="1"/>
          </c:dLbls>
          <c:cat>
            <c:strRef>
              <c:f>Sheet1!$A$2:$A$6</c:f>
              <c:strCache>
                <c:ptCount val="5"/>
                <c:pt idx="0">
                  <c:v>state of good repair</c:v>
                </c:pt>
                <c:pt idx="1">
                  <c:v>expansion</c:v>
                </c:pt>
                <c:pt idx="2">
                  <c:v>fleet and electrification</c:v>
                </c:pt>
                <c:pt idx="3">
                  <c:v>stations and accessibility</c:v>
                </c:pt>
                <c:pt idx="4">
                  <c:v>safety and systems</c:v>
                </c:pt>
              </c:strCache>
            </c:strRef>
          </c:cat>
          <c:val>
            <c:numRef>
              <c:f>Sheet1!$B$2:$B$6</c:f>
              <c:numCache>
                <c:formatCode>#,##0</c:formatCode>
                <c:ptCount val="5"/>
                <c:pt idx="0">
                  <c:v>2410</c:v>
                </c:pt>
                <c:pt idx="1">
                  <c:v>1800</c:v>
                </c:pt>
                <c:pt idx="2">
                  <c:v>860</c:v>
                </c:pt>
                <c:pt idx="3">
                  <c:v>400</c:v>
                </c:pt>
                <c:pt idx="4">
                  <c:v>375</c:v>
                </c:pt>
              </c:numCache>
            </c:numRef>
          </c:val>
        </c:ser>
        <c:gapWidth val="30"/>
        <c:axId val="-2068027336"/>
        <c:axId val="-2113994440"/>
      </c:barChart>
      <c:catAx>
        <c:axId val="-2068027336"/>
        <c:scaling>
          <c:orientation val="maxMin"/>
        </c:scaling>
        <c:delete val="0"/>
        <c:axPos val="l"/>
        <c:majorTickMark val="none"/>
        <c:minorTickMark val="none"/>
        <c:tickLblPos val="nextTo"/>
        <c:spPr>
          <a:ln w="9525">
            <a:solidFill>
              <a:srgbClr val="404040"/>
            </a:solidFill>
          </a:ln>
        </c:spPr>
        <c:txPr>
          <a:bodyPr rot="0" vert="horz"/>
          <a:lstStyle/>
          <a:p>
            <a:pPr>
              <a:defRPr sz="900" b="0" i="0">
                <a:solidFill>
                  <a:srgbClr val="404040"/>
                </a:solidFill>
                <a:latin typeface="Arial"/>
              </a:defRPr>
            </a:pPr>
          </a:p>
        </c:txPr>
        <c:crossAx val="-2113994440"/>
        <c:crosses val="autoZero"/>
        <c:auto val="1"/>
        <c:lblAlgn val="ctr"/>
        <c:lblOffset val="100"/>
        <c:noMultiLvlLbl val="0"/>
      </c:catAx>
      <c:valAx>
        <c:axId val="-2113994440"/>
        <c:scaling>
          <c:max val="3400.0"/>
          <c:min val="0.0"/>
        </c:scaling>
        <c:delete/>
        <c:axPos val="b"/>
        <c:majorTickMark val="out"/>
        <c:minorTickMark val="none"/>
        <c:tickLblPos val="nextTo"/>
        <c:crossAx val="-2068027336"/>
        <c:crosses val="autoZero"/>
        <c:crossBetween val="between"/>
        <c:majorUnit val="500.0"/>
      </c:valAx>
      <c:spPr>
        <a:noFill/>
      </c:spPr>
    </c:plotArea>
    <c:dispBlanksAs val="gap"/>
  </c:chart>
  <c:txPr>
    <a:bodyPr/>
    <a:lstStyle/>
    <a:p>
      <a:pPr>
        <a:defRPr sz="900" b="0" i="0">
          <a:solidFill>
            <a:srgbClr val="404040"/>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1"/>
          <c:y val="0.02"/>
          <c:w val="0.98"/>
          <c:h val="0.9"/>
        </c:manualLayout>
      </c:layout>
      <c:barChart>
        <c:barDir val="col"/>
        <c:grouping val="stacked"/>
        <c:varyColors val="0"/>
        <c:ser>
          <c:idx val="0"/>
          <c:order val="0"/>
          <c:tx>
            <c:strRef>
              <c:f>Sheet1!$B$1</c:f>
              <c:strCache>
                <c:ptCount val="1"/>
                <c:pt idx="0">
                  <c:v>State of good repair</c:v>
                </c:pt>
              </c:strCache>
            </c:strRef>
          </c:tx>
          <c:spPr>
            <a:solidFill>
              <a:srgbClr val="003953"/>
            </a:solidFill>
            <a:ln>
              <a:noFill/>
            </a:ln>
          </c:spPr>
          <c:cat>
            <c:strRef>
              <c:f>Sheet1!$A$2:$A$11</c:f>
              <c:strCache>
                <c:ptCount val="10"/>
                <c:pt idx="0">
                  <c:v>2026</c:v>
                </c:pt>
                <c:pt idx="1">
                  <c:v>2027</c:v>
                </c:pt>
                <c:pt idx="2">
                  <c:v>2028</c:v>
                </c:pt>
                <c:pt idx="3">
                  <c:v>2029</c:v>
                </c:pt>
                <c:pt idx="4">
                  <c:v>2030</c:v>
                </c:pt>
                <c:pt idx="5">
                  <c:v>2031</c:v>
                </c:pt>
                <c:pt idx="6">
                  <c:v>2032</c:v>
                </c:pt>
                <c:pt idx="7">
                  <c:v>2033</c:v>
                </c:pt>
                <c:pt idx="8">
                  <c:v>2034</c:v>
                </c:pt>
                <c:pt idx="9">
                  <c:v>2035</c:v>
                </c:pt>
              </c:strCache>
            </c:strRef>
          </c:cat>
          <c:val>
            <c:numRef>
              <c:f>Sheet1!$B$2:$B$11</c:f>
              <c:numCache>
                <c:formatCode>0</c:formatCode>
                <c:ptCount val="10"/>
                <c:pt idx="0">
                  <c:v>210</c:v>
                </c:pt>
                <c:pt idx="1">
                  <c:v>220</c:v>
                </c:pt>
                <c:pt idx="2">
                  <c:v>230</c:v>
                </c:pt>
                <c:pt idx="3">
                  <c:v>235</c:v>
                </c:pt>
                <c:pt idx="4">
                  <c:v>240</c:v>
                </c:pt>
                <c:pt idx="5">
                  <c:v>245</c:v>
                </c:pt>
                <c:pt idx="6">
                  <c:v>250</c:v>
                </c:pt>
                <c:pt idx="7">
                  <c:v>255</c:v>
                </c:pt>
                <c:pt idx="8">
                  <c:v>260</c:v>
                </c:pt>
                <c:pt idx="9">
                  <c:v>265</c:v>
                </c:pt>
              </c:numCache>
            </c:numRef>
          </c:val>
        </c:ser>
        <c:ser>
          <c:idx val="1"/>
          <c:order val="1"/>
          <c:tx>
            <c:strRef>
              <c:f>Sheet1!$C$1</c:f>
              <c:strCache>
                <c:ptCount val="1"/>
                <c:pt idx="0">
                  <c:v>Expansion</c:v>
                </c:pt>
              </c:strCache>
            </c:strRef>
          </c:tx>
          <c:spPr>
            <a:solidFill>
              <a:srgbClr val="0096D7"/>
            </a:solidFill>
            <a:ln>
              <a:noFill/>
            </a:ln>
          </c:spPr>
          <c:cat>
            <c:strRef>
              <c:f>Sheet1!$A$2:$A$11</c:f>
              <c:strCache>
                <c:ptCount val="10"/>
                <c:pt idx="0">
                  <c:v>2026</c:v>
                </c:pt>
                <c:pt idx="1">
                  <c:v>2027</c:v>
                </c:pt>
                <c:pt idx="2">
                  <c:v>2028</c:v>
                </c:pt>
                <c:pt idx="3">
                  <c:v>2029</c:v>
                </c:pt>
                <c:pt idx="4">
                  <c:v>2030</c:v>
                </c:pt>
                <c:pt idx="5">
                  <c:v>2031</c:v>
                </c:pt>
                <c:pt idx="6">
                  <c:v>2032</c:v>
                </c:pt>
                <c:pt idx="7">
                  <c:v>2033</c:v>
                </c:pt>
                <c:pt idx="8">
                  <c:v>2034</c:v>
                </c:pt>
                <c:pt idx="9">
                  <c:v>2035</c:v>
                </c:pt>
              </c:strCache>
            </c:strRef>
          </c:cat>
          <c:val>
            <c:numRef>
              <c:f>Sheet1!$C$2:$C$11</c:f>
              <c:numCache>
                <c:formatCode>0</c:formatCode>
                <c:ptCount val="10"/>
                <c:pt idx="0">
                  <c:v>120</c:v>
                </c:pt>
                <c:pt idx="1">
                  <c:v>260</c:v>
                </c:pt>
                <c:pt idx="2">
                  <c:v>330</c:v>
                </c:pt>
                <c:pt idx="3">
                  <c:v>360</c:v>
                </c:pt>
                <c:pt idx="4">
                  <c:v>260</c:v>
                </c:pt>
                <c:pt idx="5">
                  <c:v>120</c:v>
                </c:pt>
                <c:pt idx="6">
                  <c:v>140</c:v>
                </c:pt>
                <c:pt idx="7">
                  <c:v>120</c:v>
                </c:pt>
                <c:pt idx="8">
                  <c:v>60</c:v>
                </c:pt>
                <c:pt idx="9">
                  <c:v>30</c:v>
                </c:pt>
              </c:numCache>
            </c:numRef>
          </c:val>
        </c:ser>
        <c:ser>
          <c:idx val="2"/>
          <c:order val="2"/>
          <c:tx>
            <c:strRef>
              <c:f>Sheet1!$D$1</c:f>
              <c:strCache>
                <c:ptCount val="1"/>
                <c:pt idx="0">
                  <c:v>Fleet and electrification</c:v>
                </c:pt>
              </c:strCache>
            </c:strRef>
          </c:tx>
          <c:spPr>
            <a:solidFill>
              <a:srgbClr val="2E4B19"/>
            </a:solidFill>
            <a:ln>
              <a:noFill/>
            </a:ln>
          </c:spPr>
          <c:cat>
            <c:strRef>
              <c:f>Sheet1!$A$2:$A$11</c:f>
              <c:strCache>
                <c:ptCount val="10"/>
                <c:pt idx="0">
                  <c:v>2026</c:v>
                </c:pt>
                <c:pt idx="1">
                  <c:v>2027</c:v>
                </c:pt>
                <c:pt idx="2">
                  <c:v>2028</c:v>
                </c:pt>
                <c:pt idx="3">
                  <c:v>2029</c:v>
                </c:pt>
                <c:pt idx="4">
                  <c:v>2030</c:v>
                </c:pt>
                <c:pt idx="5">
                  <c:v>2031</c:v>
                </c:pt>
                <c:pt idx="6">
                  <c:v>2032</c:v>
                </c:pt>
                <c:pt idx="7">
                  <c:v>2033</c:v>
                </c:pt>
                <c:pt idx="8">
                  <c:v>2034</c:v>
                </c:pt>
                <c:pt idx="9">
                  <c:v>2035</c:v>
                </c:pt>
              </c:strCache>
            </c:strRef>
          </c:cat>
          <c:val>
            <c:numRef>
              <c:f>Sheet1!$D$2:$D$11</c:f>
              <c:numCache>
                <c:formatCode>0</c:formatCode>
                <c:ptCount val="10"/>
                <c:pt idx="0">
                  <c:v>60</c:v>
                </c:pt>
                <c:pt idx="1">
                  <c:v>70</c:v>
                </c:pt>
                <c:pt idx="2">
                  <c:v>80</c:v>
                </c:pt>
                <c:pt idx="3">
                  <c:v>90</c:v>
                </c:pt>
                <c:pt idx="4">
                  <c:v>95</c:v>
                </c:pt>
                <c:pt idx="5">
                  <c:v>100</c:v>
                </c:pt>
                <c:pt idx="6">
                  <c:v>100</c:v>
                </c:pt>
                <c:pt idx="7">
                  <c:v>95</c:v>
                </c:pt>
                <c:pt idx="8">
                  <c:v>90</c:v>
                </c:pt>
                <c:pt idx="9">
                  <c:v>80</c:v>
                </c:pt>
              </c:numCache>
            </c:numRef>
          </c:val>
        </c:ser>
        <c:ser>
          <c:idx val="3"/>
          <c:order val="3"/>
          <c:tx>
            <c:strRef>
              <c:f>Sheet1!$E$1</c:f>
              <c:strCache>
                <c:ptCount val="1"/>
                <c:pt idx="0">
                  <c:v>Stations and accessibility</c:v>
                </c:pt>
              </c:strCache>
            </c:strRef>
          </c:tx>
          <c:spPr>
            <a:solidFill>
              <a:srgbClr val="D57883"/>
            </a:solidFill>
            <a:ln>
              <a:noFill/>
            </a:ln>
          </c:spPr>
          <c:cat>
            <c:strRef>
              <c:f>Sheet1!$A$2:$A$11</c:f>
              <c:strCache>
                <c:ptCount val="10"/>
                <c:pt idx="0">
                  <c:v>2026</c:v>
                </c:pt>
                <c:pt idx="1">
                  <c:v>2027</c:v>
                </c:pt>
                <c:pt idx="2">
                  <c:v>2028</c:v>
                </c:pt>
                <c:pt idx="3">
                  <c:v>2029</c:v>
                </c:pt>
                <c:pt idx="4">
                  <c:v>2030</c:v>
                </c:pt>
                <c:pt idx="5">
                  <c:v>2031</c:v>
                </c:pt>
                <c:pt idx="6">
                  <c:v>2032</c:v>
                </c:pt>
                <c:pt idx="7">
                  <c:v>2033</c:v>
                </c:pt>
                <c:pt idx="8">
                  <c:v>2034</c:v>
                </c:pt>
                <c:pt idx="9">
                  <c:v>2035</c:v>
                </c:pt>
              </c:strCache>
            </c:strRef>
          </c:cat>
          <c:val>
            <c:numRef>
              <c:f>Sheet1!$E$2:$E$11</c:f>
              <c:numCache>
                <c:formatCode>0</c:formatCode>
                <c:ptCount val="10"/>
                <c:pt idx="0">
                  <c:v>35</c:v>
                </c:pt>
                <c:pt idx="1">
                  <c:v>40</c:v>
                </c:pt>
                <c:pt idx="2">
                  <c:v>45</c:v>
                </c:pt>
                <c:pt idx="3">
                  <c:v>45</c:v>
                </c:pt>
                <c:pt idx="4">
                  <c:v>45</c:v>
                </c:pt>
                <c:pt idx="5">
                  <c:v>45</c:v>
                </c:pt>
                <c:pt idx="6">
                  <c:v>40</c:v>
                </c:pt>
                <c:pt idx="7">
                  <c:v>40</c:v>
                </c:pt>
                <c:pt idx="8">
                  <c:v>35</c:v>
                </c:pt>
                <c:pt idx="9">
                  <c:v>30</c:v>
                </c:pt>
              </c:numCache>
            </c:numRef>
          </c:val>
        </c:ser>
        <c:ser>
          <c:idx val="4"/>
          <c:order val="4"/>
          <c:tx>
            <c:strRef>
              <c:f>Sheet1!$F$1</c:f>
              <c:strCache>
                <c:ptCount val="1"/>
                <c:pt idx="0">
                  <c:v>Safety, systems and technology</c:v>
                </c:pt>
              </c:strCache>
            </c:strRef>
          </c:tx>
          <c:spPr>
            <a:solidFill>
              <a:srgbClr val="5D9732"/>
            </a:solidFill>
            <a:ln>
              <a:noFill/>
            </a:ln>
          </c:spPr>
          <c:cat>
            <c:strRef>
              <c:f>Sheet1!$A$2:$A$11</c:f>
              <c:strCache>
                <c:ptCount val="10"/>
                <c:pt idx="0">
                  <c:v>2026</c:v>
                </c:pt>
                <c:pt idx="1">
                  <c:v>2027</c:v>
                </c:pt>
                <c:pt idx="2">
                  <c:v>2028</c:v>
                </c:pt>
                <c:pt idx="3">
                  <c:v>2029</c:v>
                </c:pt>
                <c:pt idx="4">
                  <c:v>2030</c:v>
                </c:pt>
                <c:pt idx="5">
                  <c:v>2031</c:v>
                </c:pt>
                <c:pt idx="6">
                  <c:v>2032</c:v>
                </c:pt>
                <c:pt idx="7">
                  <c:v>2033</c:v>
                </c:pt>
                <c:pt idx="8">
                  <c:v>2034</c:v>
                </c:pt>
                <c:pt idx="9">
                  <c:v>2035</c:v>
                </c:pt>
              </c:strCache>
            </c:strRef>
          </c:cat>
          <c:val>
            <c:numRef>
              <c:f>Sheet1!$F$2:$F$11</c:f>
              <c:numCache>
                <c:formatCode>0</c:formatCode>
                <c:ptCount val="10"/>
                <c:pt idx="0">
                  <c:v>55</c:v>
                </c:pt>
                <c:pt idx="1">
                  <c:v>60</c:v>
                </c:pt>
                <c:pt idx="2">
                  <c:v>45</c:v>
                </c:pt>
                <c:pt idx="3">
                  <c:v>35</c:v>
                </c:pt>
                <c:pt idx="4">
                  <c:v>30</c:v>
                </c:pt>
                <c:pt idx="5">
                  <c:v>30</c:v>
                </c:pt>
                <c:pt idx="6">
                  <c:v>30</c:v>
                </c:pt>
                <c:pt idx="7">
                  <c:v>30</c:v>
                </c:pt>
                <c:pt idx="8">
                  <c:v>30</c:v>
                </c:pt>
                <c:pt idx="9">
                  <c:v>30</c:v>
                </c:pt>
              </c:numCache>
            </c:numRef>
          </c:val>
        </c:ser>
        <c:ser>
          <c:idx val="5"/>
          <c:order val="5"/>
          <c:tx>
            <c:strRef>
              <c:f>Sheet1!$G$1</c:f>
              <c:strCache>
                <c:ptCount val="1"/>
                <c:pt idx="0">
                  <c:v>Total</c:v>
                </c:pt>
              </c:strCache>
            </c:strRef>
          </c:tx>
          <c:spPr>
            <a:noFill/>
            <a:ln>
              <a:noFill/>
            </a:ln>
          </c:spPr>
          <c:dLbls>
            <c:dLbl>
              <c:idx val="0"/>
              <c:tx>
                <c:rich>
                  <a:bodyPr/>
                  <a:lstStyle/>
                  <a:p>
                    <a:r>
                      <a:rPr sz="900" b="1" i="0">
                        <a:solidFill>
                          <a:srgbClr val="000000"/>
                        </a:solidFill>
                        <a:latin typeface="Arial"/>
                      </a:rPr>
                      <a:t>480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1"/>
              <c:tx>
                <c:rich>
                  <a:bodyPr/>
                  <a:lstStyle/>
                  <a:p>
                    <a:r>
                      <a:rPr sz="900" b="1" i="0">
                        <a:solidFill>
                          <a:srgbClr val="000000"/>
                        </a:solidFill>
                        <a:latin typeface="Arial"/>
                      </a:rPr>
                      <a:t>650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2"/>
              <c:tx>
                <c:rich>
                  <a:bodyPr/>
                  <a:lstStyle/>
                  <a:p>
                    <a:r>
                      <a:rPr sz="900" b="1" i="0">
                        <a:solidFill>
                          <a:srgbClr val="000000"/>
                        </a:solidFill>
                        <a:latin typeface="Arial"/>
                      </a:rPr>
                      <a:t>730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3"/>
              <c:tx>
                <c:rich>
                  <a:bodyPr/>
                  <a:lstStyle/>
                  <a:p>
                    <a:r>
                      <a:rPr sz="900" b="1" i="0">
                        <a:solidFill>
                          <a:srgbClr val="000000"/>
                        </a:solidFill>
                        <a:latin typeface="Arial"/>
                      </a:rPr>
                      <a:t>765</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4"/>
              <c:tx>
                <c:rich>
                  <a:bodyPr/>
                  <a:lstStyle/>
                  <a:p>
                    <a:r>
                      <a:rPr sz="900" b="1" i="0">
                        <a:solidFill>
                          <a:srgbClr val="000000"/>
                        </a:solidFill>
                        <a:latin typeface="Arial"/>
                      </a:rPr>
                      <a:t>670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5"/>
              <c:tx>
                <c:rich>
                  <a:bodyPr/>
                  <a:lstStyle/>
                  <a:p>
                    <a:r>
                      <a:rPr sz="900" b="1" i="0">
                        <a:solidFill>
                          <a:srgbClr val="000000"/>
                        </a:solidFill>
                        <a:latin typeface="Arial"/>
                      </a:rPr>
                      <a:t>540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6"/>
              <c:tx>
                <c:rich>
                  <a:bodyPr/>
                  <a:lstStyle/>
                  <a:p>
                    <a:r>
                      <a:rPr sz="900" b="1" i="0">
                        <a:solidFill>
                          <a:srgbClr val="000000"/>
                        </a:solidFill>
                        <a:latin typeface="Arial"/>
                      </a:rPr>
                      <a:t>560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7"/>
              <c:tx>
                <c:rich>
                  <a:bodyPr/>
                  <a:lstStyle/>
                  <a:p>
                    <a:r>
                      <a:rPr sz="900" b="1" i="0">
                        <a:solidFill>
                          <a:srgbClr val="000000"/>
                        </a:solidFill>
                        <a:latin typeface="Arial"/>
                      </a:rPr>
                      <a:t>540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8"/>
              <c:tx>
                <c:rich>
                  <a:bodyPr/>
                  <a:lstStyle/>
                  <a:p>
                    <a:r>
                      <a:rPr sz="900" b="1" i="0">
                        <a:solidFill>
                          <a:srgbClr val="000000"/>
                        </a:solidFill>
                        <a:latin typeface="Arial"/>
                      </a:rPr>
                      <a:t>475</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9"/>
              <c:tx>
                <c:rich>
                  <a:bodyPr/>
                  <a:lstStyle/>
                  <a:p>
                    <a:r>
                      <a:rPr sz="900" b="1" i="0">
                        <a:solidFill>
                          <a:srgbClr val="000000"/>
                        </a:solidFill>
                        <a:latin typeface="Arial"/>
                      </a:rPr>
                      <a:t>435</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txPr>
              <a:bodyPr/>
              <a:lstStyle/>
              <a:p>
                <a:pPr>
                  <a:defRPr sz="900" b="1" i="0">
                    <a:solidFill>
                      <a:srgbClr val="000000"/>
                    </a:solidFill>
                    <a:latin typeface="Arial"/>
                  </a:defRPr>
                </a:pPr>
              </a:p>
            </c:txPr>
            <c:dLblPos val="inBase"/>
            <c:showLegendKey val="0"/>
            <c:showVal val="1"/>
            <c:showCatName val="0"/>
            <c:showSerName val="0"/>
            <c:showPercent val="0"/>
            <c:showBubbleSize val="0"/>
            <c:showLeaderLines val="1"/>
          </c:dLbls>
          <c:cat>
            <c:strRef>
              <c:f>Sheet1!$A$2:$A$11</c:f>
              <c:strCache>
                <c:ptCount val="10"/>
                <c:pt idx="0">
                  <c:v>2026</c:v>
                </c:pt>
                <c:pt idx="1">
                  <c:v>2027</c:v>
                </c:pt>
                <c:pt idx="2">
                  <c:v>2028</c:v>
                </c:pt>
                <c:pt idx="3">
                  <c:v>2029</c:v>
                </c:pt>
                <c:pt idx="4">
                  <c:v>2030</c:v>
                </c:pt>
                <c:pt idx="5">
                  <c:v>2031</c:v>
                </c:pt>
                <c:pt idx="6">
                  <c:v>2032</c:v>
                </c:pt>
                <c:pt idx="7">
                  <c:v>2033</c:v>
                </c:pt>
                <c:pt idx="8">
                  <c:v>2034</c:v>
                </c:pt>
                <c:pt idx="9">
                  <c:v>2035</c:v>
                </c:pt>
              </c:strCache>
            </c:strRef>
          </c:cat>
          <c:val>
            <c:numRef>
              <c:f>Sheet1!$G$2:$G$11</c:f>
              <c:numCache>
                <c:formatCode>0</c:formatCode>
                <c:ptCount val="10"/>
                <c:pt idx="0">
                  <c:v>0</c:v>
                </c:pt>
                <c:pt idx="1">
                  <c:v>0</c:v>
                </c:pt>
                <c:pt idx="2">
                  <c:v>0</c:v>
                </c:pt>
                <c:pt idx="3">
                  <c:v>0</c:v>
                </c:pt>
                <c:pt idx="4">
                  <c:v>0</c:v>
                </c:pt>
                <c:pt idx="5">
                  <c:v>0</c:v>
                </c:pt>
                <c:pt idx="6">
                  <c:v>0</c:v>
                </c:pt>
                <c:pt idx="7">
                  <c:v>0</c:v>
                </c:pt>
                <c:pt idx="8">
                  <c:v>0</c:v>
                </c:pt>
                <c:pt idx="9">
                  <c:v>0</c:v>
                </c:pt>
              </c:numCache>
            </c:numRef>
          </c:val>
        </c:ser>
        <c:gapWidth val="35"/>
        <c:overlap val="100"/>
        <c:axId val="-2068027336"/>
        <c:axId val="-2113994440"/>
      </c:barChart>
      <c:catAx>
        <c:axId val="-2068027336"/>
        <c:scaling/>
        <c:delete val="0"/>
        <c:axPos val="b"/>
        <c:majorTickMark val="none"/>
        <c:minorTickMark val="none"/>
        <c:tickLblPos val="nextTo"/>
        <c:spPr>
          <a:ln w="9525">
            <a:solidFill>
              <a:srgbClr val="404040"/>
            </a:solidFill>
          </a:ln>
        </c:spPr>
        <c:txPr>
          <a:bodyPr rot="0" vert="horz"/>
          <a:lstStyle/>
          <a:p>
            <a:pPr>
              <a:defRPr sz="900" b="0" i="0">
                <a:solidFill>
                  <a:srgbClr val="404040"/>
                </a:solidFill>
                <a:latin typeface="Arial"/>
              </a:defRPr>
            </a:pPr>
          </a:p>
        </c:txPr>
        <c:crossAx val="-2113994440"/>
        <c:crosses val="autoZero"/>
        <c:auto val="1"/>
        <c:lblAlgn val="ctr"/>
        <c:lblOffset val="100"/>
        <c:noMultiLvlLbl val="0"/>
      </c:catAx>
      <c:valAx>
        <c:axId val="-2113994440"/>
        <c:scaling>
          <c:max val="1150.0"/>
          <c:min val="0.0"/>
        </c:scaling>
        <c:delete/>
        <c:axPos val="l"/>
        <c:majorTickMark val="out"/>
        <c:minorTickMark val="none"/>
        <c:tickLblPos val="nextTo"/>
        <c:crossAx val="-2068027336"/>
        <c:crosses val="autoZero"/>
        <c:crossBetween val="between"/>
        <c:majorUnit val="250.0"/>
      </c:valAx>
      <c:spPr>
        <a:noFill/>
      </c:spPr>
    </c:plotArea>
    <c:dispBlanksAs val="gap"/>
  </c:chart>
  <c:txPr>
    <a:bodyPr/>
    <a:lstStyle/>
    <a:p>
      <a:pPr>
        <a:defRPr sz="900" b="0" i="0">
          <a:solidFill>
            <a:srgbClr val="404040"/>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
          <c:y val="0.06"/>
          <c:w val="0.9"/>
          <c:h val="0.74"/>
        </c:manualLayout>
      </c:layout>
      <c:barChart>
        <c:barDir val="col"/>
        <c:grouping val="stacked"/>
        <c:varyColors val="0"/>
        <c:ser>
          <c:idx val="0"/>
          <c:order val="0"/>
          <c:tx>
            <c:strRef>
              <c:f>Sheet1!$B$1</c:f>
              <c:strCache>
                <c:ptCount val="1"/>
                <c:pt idx="0">
                  <c:v>Base</c:v>
                </c:pt>
              </c:strCache>
            </c:strRef>
          </c:tx>
          <c:spPr>
            <a:noFill/>
            <a:ln>
              <a:noFill/>
            </a:ln>
          </c:spPr>
          <c:cat>
            <c:strRef>
              <c:f>Sheet1!$A$2:$A$8</c:f>
              <c:strCache>
                <c:ptCount val="7"/>
                <c:pt idx="0">
                  <c:v>Need</c:v>
                </c:pt>
                <c:pt idx="1">
                  <c:v>Federal formula</c:v>
                </c:pt>
                <c:pt idx="2">
                  <c:v>Federal grants</c:v>
                </c:pt>
                <c:pt idx="3">
                  <c:v>State grants</c:v>
                </c:pt>
                <c:pt idx="4">
                  <c:v>Sales tax</c:v>
                </c:pt>
                <c:pt idx="5">
                  <c:v>Bonds</c:v>
                </c:pt>
                <c:pt idx="6">
                  <c:v>Gap</c:v>
                </c:pt>
              </c:strCache>
            </c:strRef>
          </c:cat>
          <c:val>
            <c:numRef>
              <c:f>Sheet1!$B$2:$B$8</c:f>
              <c:numCache>
                <c:formatCode>#,##0</c:formatCode>
                <c:ptCount val="7"/>
                <c:pt idx="0">
                  <c:v>0</c:v>
                </c:pt>
                <c:pt idx="1">
                  <c:v>4695</c:v>
                </c:pt>
                <c:pt idx="2">
                  <c:v>3795</c:v>
                </c:pt>
                <c:pt idx="3">
                  <c:v>3035</c:v>
                </c:pt>
                <c:pt idx="4">
                  <c:v>1515</c:v>
                </c:pt>
                <c:pt idx="5">
                  <c:v>915</c:v>
                </c:pt>
                <c:pt idx="6">
                  <c:v>0</c:v>
                </c:pt>
              </c:numCache>
            </c:numRef>
          </c:val>
        </c:ser>
        <c:ser>
          <c:idx val="1"/>
          <c:order val="1"/>
          <c:tx>
            <c:strRef>
              <c:f>Sheet1!$C$1</c:f>
              <c:strCache>
                <c:ptCount val="1"/>
                <c:pt idx="0">
                  <c:v>Step</c:v>
                </c:pt>
              </c:strCache>
            </c:strRef>
          </c:tx>
          <c:spPr>
            <a:solidFill>
              <a:srgbClr val="A6A6A6"/>
            </a:solidFill>
            <a:ln>
              <a:noFill/>
            </a:ln>
          </c:spPr>
          <c:dPt>
            <c:idx val="0"/>
            <c:spPr>
              <a:solidFill>
                <a:srgbClr val="404040"/>
              </a:solidFill>
            </c:spPr>
          </c:dPt>
          <c:dPt>
            <c:idx val="6"/>
            <c:spPr>
              <a:solidFill>
                <a:srgbClr val="7A2630"/>
              </a:solidFill>
            </c:spPr>
          </c:dPt>
          <c:cat>
            <c:strRef>
              <c:f>Sheet1!$A$2:$A$8</c:f>
              <c:strCache>
                <c:ptCount val="7"/>
                <c:pt idx="0">
                  <c:v>Need</c:v>
                </c:pt>
                <c:pt idx="1">
                  <c:v>Federal formula</c:v>
                </c:pt>
                <c:pt idx="2">
                  <c:v>Federal grants</c:v>
                </c:pt>
                <c:pt idx="3">
                  <c:v>State grants</c:v>
                </c:pt>
                <c:pt idx="4">
                  <c:v>Sales tax</c:v>
                </c:pt>
                <c:pt idx="5">
                  <c:v>Bonds</c:v>
                </c:pt>
                <c:pt idx="6">
                  <c:v>Gap</c:v>
                </c:pt>
              </c:strCache>
            </c:strRef>
          </c:cat>
          <c:val>
            <c:numRef>
              <c:f>Sheet1!$C$2:$C$8</c:f>
              <c:numCache>
                <c:formatCode>#,##0</c:formatCode>
                <c:ptCount val="7"/>
                <c:pt idx="0">
                  <c:v>5845</c:v>
                </c:pt>
                <c:pt idx="1">
                  <c:v>1150</c:v>
                </c:pt>
                <c:pt idx="2">
                  <c:v>900</c:v>
                </c:pt>
                <c:pt idx="3">
                  <c:v>760</c:v>
                </c:pt>
                <c:pt idx="4">
                  <c:v>1520</c:v>
                </c:pt>
                <c:pt idx="5">
                  <c:v>600</c:v>
                </c:pt>
                <c:pt idx="6">
                  <c:v>915</c:v>
                </c:pt>
              </c:numCache>
            </c:numRef>
          </c:val>
        </c:ser>
        <c:ser>
          <c:idx val="2"/>
          <c:order val="2"/>
          <c:tx>
            <c:strRef>
              <c:f>Sheet1!$D$1</c:f>
              <c:strCache>
                <c:ptCount val="1"/>
                <c:pt idx="0">
                  <c:v>Label</c:v>
                </c:pt>
              </c:strCache>
            </c:strRef>
          </c:tx>
          <c:spPr>
            <a:noFill/>
            <a:ln>
              <a:noFill/>
            </a:ln>
          </c:spPr>
          <c:dLbls>
            <c:dLbl>
              <c:idx val="0"/>
              <c:tx>
                <c:rich>
                  <a:bodyPr/>
                  <a:lstStyle/>
                  <a:p>
                    <a:r>
                      <a:rPr sz="900" b="1" i="0">
                        <a:solidFill>
                          <a:srgbClr val="000000"/>
                        </a:solidFill>
                        <a:latin typeface="Arial"/>
                      </a:rPr>
                      <a:t>5,845</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1"/>
              <c:tx>
                <c:rich>
                  <a:bodyPr/>
                  <a:lstStyle/>
                  <a:p>
                    <a:r>
                      <a:rPr sz="900" b="1" i="0">
                        <a:solidFill>
                          <a:srgbClr val="000000"/>
                        </a:solidFill>
                        <a:latin typeface="Arial"/>
                      </a:rPr>
                      <a:t>-1,150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2"/>
              <c:tx>
                <c:rich>
                  <a:bodyPr/>
                  <a:lstStyle/>
                  <a:p>
                    <a:r>
                      <a:rPr sz="900" b="1" i="0">
                        <a:solidFill>
                          <a:srgbClr val="000000"/>
                        </a:solidFill>
                        <a:latin typeface="Arial"/>
                      </a:rPr>
                      <a:t>-900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3"/>
              <c:tx>
                <c:rich>
                  <a:bodyPr/>
                  <a:lstStyle/>
                  <a:p>
                    <a:r>
                      <a:rPr sz="900" b="1" i="0">
                        <a:solidFill>
                          <a:srgbClr val="000000"/>
                        </a:solidFill>
                        <a:latin typeface="Arial"/>
                      </a:rPr>
                      <a:t>-760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4"/>
              <c:tx>
                <c:rich>
                  <a:bodyPr/>
                  <a:lstStyle/>
                  <a:p>
                    <a:r>
                      <a:rPr sz="900" b="1" i="0">
                        <a:solidFill>
                          <a:srgbClr val="000000"/>
                        </a:solidFill>
                        <a:latin typeface="Arial"/>
                      </a:rPr>
                      <a:t>-1,520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5"/>
              <c:tx>
                <c:rich>
                  <a:bodyPr/>
                  <a:lstStyle/>
                  <a:p>
                    <a:r>
                      <a:rPr sz="900" b="1" i="0">
                        <a:solidFill>
                          <a:srgbClr val="000000"/>
                        </a:solidFill>
                        <a:latin typeface="Arial"/>
                      </a:rPr>
                      <a:t>-600</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6"/>
              <c:tx>
                <c:rich>
                  <a:bodyPr/>
                  <a:lstStyle/>
                  <a:p>
                    <a:r>
                      <a:rPr sz="900" b="1" i="0">
                        <a:solidFill>
                          <a:srgbClr val="000000"/>
                        </a:solidFill>
                        <a:latin typeface="Arial"/>
                      </a:rPr>
                      <a:t>915</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txPr>
              <a:bodyPr/>
              <a:lstStyle/>
              <a:p>
                <a:pPr>
                  <a:defRPr sz="900" b="1" i="0">
                    <a:solidFill>
                      <a:srgbClr val="000000"/>
                    </a:solidFill>
                    <a:latin typeface="Arial"/>
                  </a:defRPr>
                </a:pPr>
              </a:p>
            </c:txPr>
            <c:dLblPos val="inBase"/>
            <c:showLegendKey val="0"/>
            <c:showVal val="1"/>
            <c:showCatName val="0"/>
            <c:showSerName val="0"/>
            <c:showPercent val="0"/>
            <c:showBubbleSize val="0"/>
            <c:showLeaderLines val="1"/>
          </c:dLbls>
          <c:cat>
            <c:strRef>
              <c:f>Sheet1!$A$2:$A$8</c:f>
              <c:strCache>
                <c:ptCount val="7"/>
                <c:pt idx="0">
                  <c:v>Need</c:v>
                </c:pt>
                <c:pt idx="1">
                  <c:v>Federal formula</c:v>
                </c:pt>
                <c:pt idx="2">
                  <c:v>Federal grants</c:v>
                </c:pt>
                <c:pt idx="3">
                  <c:v>State grants</c:v>
                </c:pt>
                <c:pt idx="4">
                  <c:v>Sales tax</c:v>
                </c:pt>
                <c:pt idx="5">
                  <c:v>Bonds</c:v>
                </c:pt>
                <c:pt idx="6">
                  <c:v>Gap</c:v>
                </c:pt>
              </c:strCache>
            </c:strRef>
          </c:cat>
          <c:val>
            <c:numRef>
              <c:f>Sheet1!$D$2:$D$8</c:f>
              <c:numCache>
                <c:formatCode>#,##0</c:formatCode>
                <c:ptCount val="7"/>
                <c:pt idx="0">
                  <c:v>0</c:v>
                </c:pt>
                <c:pt idx="1">
                  <c:v>0</c:v>
                </c:pt>
                <c:pt idx="2">
                  <c:v>0</c:v>
                </c:pt>
                <c:pt idx="3">
                  <c:v>0</c:v>
                </c:pt>
                <c:pt idx="4">
                  <c:v>0</c:v>
                </c:pt>
                <c:pt idx="5">
                  <c:v>0</c:v>
                </c:pt>
                <c:pt idx="6">
                  <c:v>0</c:v>
                </c:pt>
              </c:numCache>
            </c:numRef>
          </c:val>
        </c:ser>
        <c:gapWidth val="40"/>
        <c:overlap val="100"/>
        <c:axId val="-2068027336"/>
        <c:axId val="-2113994440"/>
      </c:barChart>
      <c:catAx>
        <c:axId val="-2068027336"/>
        <c:scaling/>
        <c:delete val="0"/>
        <c:axPos val="b"/>
        <c:majorTickMark val="none"/>
        <c:minorTickMark val="none"/>
        <c:tickLblPos val="nextTo"/>
        <c:spPr>
          <a:ln w="9525">
            <a:solidFill>
              <a:srgbClr val="404040"/>
            </a:solidFill>
          </a:ln>
        </c:spPr>
        <c:txPr>
          <a:bodyPr rot="0" vert="horz"/>
          <a:lstStyle/>
          <a:p>
            <a:pPr>
              <a:defRPr sz="900" b="0" i="0">
                <a:solidFill>
                  <a:srgbClr val="404040"/>
                </a:solidFill>
                <a:latin typeface="Arial"/>
              </a:defRPr>
            </a:pPr>
          </a:p>
        </c:txPr>
        <c:crossAx val="-2113994440"/>
        <c:crosses val="autoZero"/>
        <c:auto val="1"/>
        <c:lblAlgn val="ctr"/>
        <c:lblOffset val="100"/>
        <c:noMultiLvlLbl val="0"/>
      </c:catAx>
      <c:valAx>
        <c:axId val="-2113994440"/>
        <c:scaling>
          <c:max val="6000.0"/>
          <c:min val="0.0"/>
        </c:scaling>
        <c:delete val="0"/>
        <c:axPos val="l"/>
        <c:majorGridlines>
          <c:spPr>
            <a:ln w="9525">
              <a:solidFill>
                <a:srgbClr val="D9D9D9"/>
              </a:solidFill>
            </a:ln>
          </c:spPr>
        </c:majorGridlines>
        <c:numFmt formatCode="#,##0" sourceLinked="0"/>
        <c:majorTickMark val="none"/>
        <c:minorTickMark val="none"/>
        <c:tickLblPos val="nextTo"/>
        <c:spPr>
          <a:ln>
            <a:noFill/>
          </a:ln>
        </c:spPr>
        <c:txPr>
          <a:bodyPr/>
          <a:lstStyle/>
          <a:p>
            <a:pPr>
              <a:defRPr sz="900" b="0" i="0">
                <a:solidFill>
                  <a:srgbClr val="404040"/>
                </a:solidFill>
                <a:latin typeface="Arial"/>
              </a:defRPr>
            </a:pPr>
          </a:p>
        </c:txPr>
        <c:crossAx val="-2068027336"/>
        <c:crosses val="autoZero"/>
        <c:crossBetween val="between"/>
        <c:majorUnit val="1000.0"/>
      </c:valAx>
      <c:spPr>
        <a:noFill/>
      </c:spPr>
    </c:plotArea>
    <c:dispBlanksAs val="gap"/>
  </c:chart>
  <c:txPr>
    <a:bodyPr/>
    <a:lstStyle/>
    <a:p>
      <a:pPr>
        <a:defRPr sz="900" b="0" i="0">
          <a:solidFill>
            <a:srgbClr val="404040"/>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9"/>
          <c:y val="0.11"/>
          <c:w val="0.56"/>
          <c:h val="0.78"/>
        </c:manualLayout>
      </c:layout>
      <c:scatterChart>
        <c:scatterStyle val="lineMarker"/>
        <c:varyColors val="0"/>
        <c:ser>
          <c:idx val="0"/>
          <c:order val="0"/>
          <c:tx>
            <c:strRef>
              <c:f>Sheet1!$B$1</c:f>
              <c:strCache>
                <c:ptCount val="1"/>
                <c:pt idx="0">
                  <c:v>Baseline</c:v>
                </c:pt>
              </c:strCache>
            </c:strRef>
          </c:tx>
          <c:spPr>
            <a:ln w="22225">
              <a:solidFill>
                <a:srgbClr val="000000"/>
              </a:solidFill>
              <a:prstDash val="dash"/>
            </a:ln>
          </c:spPr>
          <c:marker>
            <c:symbol val="none"/>
          </c:marker>
          <c:dLbls>
            <c:dLbl>
              <c:idx val="10"/>
              <c:tx>
                <c:rich>
                  <a:bodyPr/>
                  <a:lstStyle/>
                  <a:p>
                    <a:r>
                      <a:rPr sz="900" b="1" i="0">
                        <a:solidFill>
                          <a:srgbClr val="000000"/>
                        </a:solidFill>
                        <a:latin typeface="Arial"/>
                      </a:rPr>
                      <a:t>baseline $13.12</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Sheet1!$A$2:$A$12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Sheet1!$B$2:$B$12</c:f>
              <c:numCache>
                <c:formatCode>$0</c:formatCode>
                <c:ptCount val="11"/>
                <c:pt idx="0">
                  <c:v>12.07</c:v>
                </c:pt>
                <c:pt idx="1">
                  <c:v>12.1</c:v>
                </c:pt>
                <c:pt idx="2">
                  <c:v>12.13</c:v>
                </c:pt>
                <c:pt idx="3">
                  <c:v>12.17</c:v>
                </c:pt>
                <c:pt idx="4">
                  <c:v>12.07</c:v>
                </c:pt>
                <c:pt idx="5">
                  <c:v>12.34</c:v>
                </c:pt>
                <c:pt idx="6">
                  <c:v>12.33</c:v>
                </c:pt>
                <c:pt idx="7">
                  <c:v>12.44</c:v>
                </c:pt>
                <c:pt idx="8">
                  <c:v>12.66</c:v>
                </c:pt>
                <c:pt idx="9">
                  <c:v>12.89</c:v>
                </c:pt>
                <c:pt idx="10">
                  <c:v>13.12</c:v>
                </c:pt>
              </c:numCache>
            </c:numRef>
          </c:yVal>
          <c:smooth val="0"/>
        </c:ser>
        <c:ser>
          <c:idx val="1"/>
          <c:order val="1"/>
          <c:tx>
            <c:strRef>
              <c:f>Sheet1!$B$14</c:f>
              <c:strCache>
                <c:ptCount val="1"/>
                <c:pt idx="0">
                  <c:v>High case</c:v>
                </c:pt>
              </c:strCache>
            </c:strRef>
          </c:tx>
          <c:spPr>
            <a:ln w="15875">
              <a:solidFill>
                <a:srgbClr val="7F7F7F"/>
              </a:solidFill>
            </a:ln>
          </c:spPr>
          <c:marker>
            <c:symbol val="none"/>
          </c:marker>
          <c:dLbls>
            <c:dLbl>
              <c:idx val="10"/>
              <c:tx>
                <c:rich>
                  <a:bodyPr/>
                  <a:lstStyle/>
                  <a:p>
                    <a:r>
                      <a:rPr sz="900" b="1" i="0">
                        <a:solidFill>
                          <a:srgbClr val="7F7F7F"/>
                        </a:solidFill>
                        <a:latin typeface="Arial"/>
                      </a:rPr>
                      <a:t>high ridership $11.92</a:t>
                    </a:r>
                  </a:p>
                </c:rich>
              </c:tx>
              <c:txPr>
                <a:bodyPr/>
                <a:lstStyle/>
                <a:p>
                  <a:pPr>
                    <a:defRPr sz="900" b="1" i="0">
                      <a:solidFill>
                        <a:srgbClr val="7F7F7F"/>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Sheet1!$A$15:$A$25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Sheet1!$B$15:$B$25</c:f>
              <c:numCache>
                <c:formatCode>$0</c:formatCode>
                <c:ptCount val="11"/>
                <c:pt idx="0">
                  <c:v>12.07</c:v>
                </c:pt>
                <c:pt idx="1">
                  <c:v>11.98</c:v>
                </c:pt>
                <c:pt idx="2">
                  <c:v>11.89</c:v>
                </c:pt>
                <c:pt idx="3">
                  <c:v>11.82</c:v>
                </c:pt>
                <c:pt idx="4">
                  <c:v>11.61</c:v>
                </c:pt>
                <c:pt idx="5">
                  <c:v>11.76</c:v>
                </c:pt>
                <c:pt idx="6">
                  <c:v>11.63</c:v>
                </c:pt>
                <c:pt idx="7">
                  <c:v>11.63</c:v>
                </c:pt>
                <c:pt idx="8">
                  <c:v>11.72</c:v>
                </c:pt>
                <c:pt idx="9">
                  <c:v>11.83</c:v>
                </c:pt>
                <c:pt idx="10">
                  <c:v>11.92</c:v>
                </c:pt>
              </c:numCache>
            </c:numRef>
          </c:yVal>
          <c:smooth val="0"/>
        </c:ser>
        <c:ser>
          <c:idx val="2"/>
          <c:order val="2"/>
          <c:tx>
            <c:strRef>
              <c:f>Sheet1!$B$27</c:f>
              <c:strCache>
                <c:ptCount val="1"/>
                <c:pt idx="0">
                  <c:v>Low case</c:v>
                </c:pt>
              </c:strCache>
            </c:strRef>
          </c:tx>
          <c:spPr>
            <a:ln w="15875">
              <a:solidFill>
                <a:srgbClr val="7F7F7F"/>
              </a:solidFill>
            </a:ln>
          </c:spPr>
          <c:marker>
            <c:symbol val="none"/>
          </c:marker>
          <c:dLbls>
            <c:dLbl>
              <c:idx val="10"/>
              <c:tx>
                <c:rich>
                  <a:bodyPr/>
                  <a:lstStyle/>
                  <a:p>
                    <a:r>
                      <a:rPr sz="900" b="1" i="0">
                        <a:solidFill>
                          <a:srgbClr val="7F7F7F"/>
                        </a:solidFill>
                        <a:latin typeface="Arial"/>
                      </a:rPr>
                      <a:t>low ridership $14.91</a:t>
                    </a:r>
                  </a:p>
                </c:rich>
              </c:tx>
              <c:txPr>
                <a:bodyPr/>
                <a:lstStyle/>
                <a:p>
                  <a:pPr>
                    <a:defRPr sz="900" b="1" i="0">
                      <a:solidFill>
                        <a:srgbClr val="7F7F7F"/>
                      </a:solidFill>
                      <a:latin typeface="Aria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xVal>
            <c:numRef>
              <c:f>Sheet1!$A$28:$A$38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Sheet1!$B$28:$B$38</c:f>
              <c:numCache>
                <c:formatCode>$0</c:formatCode>
                <c:ptCount val="11"/>
                <c:pt idx="0">
                  <c:v>12.07</c:v>
                </c:pt>
                <c:pt idx="1">
                  <c:v>12.25</c:v>
                </c:pt>
                <c:pt idx="2">
                  <c:v>12.42</c:v>
                </c:pt>
                <c:pt idx="3">
                  <c:v>12.63</c:v>
                </c:pt>
                <c:pt idx="4">
                  <c:v>12.68</c:v>
                </c:pt>
                <c:pt idx="5">
                  <c:v>13.13</c:v>
                </c:pt>
                <c:pt idx="6">
                  <c:v>13.29</c:v>
                </c:pt>
                <c:pt idx="7">
                  <c:v>13.59</c:v>
                </c:pt>
                <c:pt idx="8">
                  <c:v>14.0</c:v>
                </c:pt>
                <c:pt idx="9">
                  <c:v>14.45</c:v>
                </c:pt>
                <c:pt idx="10">
                  <c:v>14.91</c:v>
                </c:pt>
              </c:numCache>
            </c:numRef>
          </c:yVal>
          <c:smooth val="0"/>
        </c:ser>
        <c:ser>
          <c:idx val="3"/>
          <c:order val="3"/>
          <c:tx>
            <c:strRef>
              <c:f>Sheet1!$B$40</c:f>
              <c:strCache>
                <c:ptCount val="1"/>
                <c:pt idx="0">
                  <c:v>history</c:v>
                </c:pt>
              </c:strCache>
            </c:strRef>
          </c:tx>
          <c:spPr>
            <a:ln w="22225">
              <a:solidFill>
                <a:srgbClr val="000000"/>
              </a:solidFill>
            </a:ln>
          </c:spPr>
          <c:marker>
            <c:symbol val="none"/>
          </c:marker>
          <c:xVal>
            <c:numRef>
              <c:f>Sheet1!$A$41:$A$51</c:f>
              <c:numCache>
                <c:formatCode>$0</c:formatCode>
                <c:ptCount val="11"/>
                <c:pt idx="0">
                  <c:v>2015</c:v>
                </c:pt>
                <c:pt idx="1">
                  <c:v>2016</c:v>
                </c:pt>
                <c:pt idx="2">
                  <c:v>2017</c:v>
                </c:pt>
                <c:pt idx="3">
                  <c:v>2018</c:v>
                </c:pt>
                <c:pt idx="4">
                  <c:v>2019</c:v>
                </c:pt>
                <c:pt idx="5">
                  <c:v>2020</c:v>
                </c:pt>
                <c:pt idx="6">
                  <c:v>2021</c:v>
                </c:pt>
                <c:pt idx="7">
                  <c:v>2022</c:v>
                </c:pt>
                <c:pt idx="8">
                  <c:v>2023</c:v>
                </c:pt>
                <c:pt idx="9">
                  <c:v>2024</c:v>
                </c:pt>
                <c:pt idx="10">
                  <c:v>2025</c:v>
                </c:pt>
              </c:numCache>
            </c:numRef>
          </c:xVal>
          <c:yVal>
            <c:numRef>
              <c:f>Sheet1!$B$41:$B$51</c:f>
              <c:numCache>
                <c:formatCode>$0</c:formatCode>
                <c:ptCount val="11"/>
                <c:pt idx="0">
                  <c:v>8.86</c:v>
                </c:pt>
                <c:pt idx="1">
                  <c:v>8.91</c:v>
                </c:pt>
                <c:pt idx="2">
                  <c:v>8.98</c:v>
                </c:pt>
                <c:pt idx="3">
                  <c:v>9.08</c:v>
                </c:pt>
                <c:pt idx="4">
                  <c:v>9.29</c:v>
                </c:pt>
                <c:pt idx="5">
                  <c:v>16.36</c:v>
                </c:pt>
                <c:pt idx="6">
                  <c:v>15.45</c:v>
                </c:pt>
                <c:pt idx="7">
                  <c:v>13.56</c:v>
                </c:pt>
                <c:pt idx="8">
                  <c:v>12.8</c:v>
                </c:pt>
                <c:pt idx="9">
                  <c:v>12.29</c:v>
                </c:pt>
                <c:pt idx="10">
                  <c:v>12.07</c:v>
                </c:pt>
              </c:numCache>
            </c:numRef>
          </c:yVal>
          <c:smooth val="0"/>
        </c:ser>
        <c:ser>
          <c:idx val="4"/>
          <c:order val="4"/>
          <c:tx>
            <c:strRef>
              <c:f>Sheet1!$B$53</c:f>
              <c:strCache>
                <c:ptCount val="1"/>
                <c:pt idx="0">
                  <c:v>2019 level</c:v>
                </c:pt>
              </c:strCache>
            </c:strRef>
          </c:tx>
          <c:spPr>
            <a:ln w="12700">
              <a:solidFill>
                <a:srgbClr val="404040"/>
              </a:solidFill>
              <a:prstDash val="sysDot"/>
            </a:ln>
          </c:spPr>
          <c:marker>
            <c:symbol val="none"/>
          </c:marker>
          <c:dLbls>
            <c:dLbl>
              <c:idx val="1"/>
              <c:tx>
                <c:rich>
                  <a:bodyPr/>
                  <a:lstStyle/>
                  <a:p>
                    <a:r>
                      <a:rPr sz="900" b="1" i="0">
                        <a:solidFill>
                          <a:srgbClr val="404040"/>
                        </a:solidFill>
                        <a:latin typeface="Arial"/>
                      </a:rPr>
                      <a:t>2019 level, $9.29</a:t>
                    </a:r>
                  </a:p>
                </c:rich>
              </c:tx>
              <c:txPr>
                <a:bodyPr/>
                <a:lstStyle/>
                <a:p>
                  <a:pPr>
                    <a:defRPr sz="900" b="1" i="0">
                      <a:solidFill>
                        <a:srgbClr val="404040"/>
                      </a:solidFill>
                      <a:latin typeface="Arial"/>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xVal>
            <c:numRef>
              <c:f>Sheet1!$A$54:$A$55</c:f>
              <c:numCache>
                <c:formatCode>$0</c:formatCode>
                <c:ptCount val="11"/>
                <c:pt idx="0">
                  <c:v>2015</c:v>
                </c:pt>
                <c:pt idx="1">
                  <c:v>2035</c:v>
                </c:pt>
              </c:numCache>
            </c:numRef>
          </c:xVal>
          <c:yVal>
            <c:numRef>
              <c:f>Sheet1!$B$54:$B$55</c:f>
              <c:numCache>
                <c:formatCode>$0</c:formatCode>
                <c:ptCount val="11"/>
                <c:pt idx="0">
                  <c:v>9.29</c:v>
                </c:pt>
                <c:pt idx="1">
                  <c:v>9.29</c:v>
                </c:pt>
              </c:numCache>
            </c:numRef>
          </c:yVal>
          <c:smooth val="0"/>
        </c:ser>
        <c:ser>
          <c:idx val="5"/>
          <c:order val="5"/>
          <c:tx>
            <c:strRef>
              <c:f>Sheet1!$B$57</c:f>
              <c:strCache>
                <c:ptCount val="1"/>
                <c:pt idx="0">
                  <c:v>range</c:v>
                </c:pt>
              </c:strCache>
            </c:strRef>
          </c:tx>
          <c:spPr>
            <a:ln w="34925">
              <a:solidFill>
                <a:srgbClr val="CCD7DC"/>
              </a:solidFill>
            </a:ln>
          </c:spPr>
          <c:marker>
            <c:symbol val="none"/>
          </c:marker>
          <c:xVal>
            <c:numRef>
              <c:f>Sheet1!$A$58:$A$68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Sheet1!$B$58:$B$68</c:f>
              <c:numCache>
                <c:formatCode>$0</c:formatCode>
                <c:ptCount val="11"/>
                <c:pt idx="0">
                  <c:v>12.07</c:v>
                </c:pt>
                <c:pt idx="1">
                  <c:v>12.25</c:v>
                </c:pt>
                <c:pt idx="2">
                  <c:v>12.42</c:v>
                </c:pt>
                <c:pt idx="3">
                  <c:v>12.63</c:v>
                </c:pt>
                <c:pt idx="4">
                  <c:v>12.68</c:v>
                </c:pt>
                <c:pt idx="5">
                  <c:v>13.13</c:v>
                </c:pt>
                <c:pt idx="6">
                  <c:v>13.29</c:v>
                </c:pt>
                <c:pt idx="7">
                  <c:v>13.59</c:v>
                </c:pt>
                <c:pt idx="8">
                  <c:v>14.0</c:v>
                </c:pt>
                <c:pt idx="9">
                  <c:v>14.45</c:v>
                </c:pt>
                <c:pt idx="10">
                  <c:v>14.91</c:v>
                </c:pt>
              </c:numCache>
            </c:numRef>
          </c:yVal>
          <c:smooth val="0"/>
        </c:ser>
        <c:ser>
          <c:idx val="6"/>
          <c:order val="6"/>
          <c:tx>
            <c:strRef>
              <c:f>Sheet1!$B$70</c:f>
              <c:strCache>
                <c:ptCount val="1"/>
                <c:pt idx="0">
                  <c:v>range</c:v>
                </c:pt>
              </c:strCache>
            </c:strRef>
          </c:tx>
          <c:spPr>
            <a:ln w="34925">
              <a:solidFill>
                <a:srgbClr val="CCD7DC"/>
              </a:solidFill>
            </a:ln>
          </c:spPr>
          <c:marker>
            <c:symbol val="none"/>
          </c:marker>
          <c:xVal>
            <c:numRef>
              <c:f>Sheet1!$A$71:$A$81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Sheet1!$B$71:$B$81</c:f>
              <c:numCache>
                <c:formatCode>$0</c:formatCode>
                <c:ptCount val="11"/>
                <c:pt idx="0">
                  <c:v>12.07</c:v>
                </c:pt>
                <c:pt idx="1">
                  <c:v>12.237727272727273</c:v>
                </c:pt>
                <c:pt idx="2">
                  <c:v>12.395909090909091</c:v>
                </c:pt>
                <c:pt idx="3">
                  <c:v>12.593181818181819</c:v>
                </c:pt>
                <c:pt idx="4">
                  <c:v>12.631363636363636</c:v>
                </c:pt>
                <c:pt idx="5">
                  <c:v>13.067727272727273</c:v>
                </c:pt>
                <c:pt idx="6">
                  <c:v>13.214545454545453</c:v>
                </c:pt>
                <c:pt idx="7">
                  <c:v>13.50090909090909</c:v>
                </c:pt>
                <c:pt idx="8">
                  <c:v>13.896363636363636</c:v>
                </c:pt>
                <c:pt idx="9">
                  <c:v>14.33090909090909</c:v>
                </c:pt>
                <c:pt idx="10">
                  <c:v>14.774090909090908</c:v>
                </c:pt>
              </c:numCache>
            </c:numRef>
          </c:yVal>
          <c:smooth val="0"/>
        </c:ser>
        <c:ser>
          <c:idx val="7"/>
          <c:order val="7"/>
          <c:tx>
            <c:strRef>
              <c:f>Sheet1!$B$83</c:f>
              <c:strCache>
                <c:ptCount val="1"/>
                <c:pt idx="0">
                  <c:v>range</c:v>
                </c:pt>
              </c:strCache>
            </c:strRef>
          </c:tx>
          <c:spPr>
            <a:ln w="34925">
              <a:solidFill>
                <a:srgbClr val="CCD7DC"/>
              </a:solidFill>
            </a:ln>
          </c:spPr>
          <c:marker>
            <c:symbol val="none"/>
          </c:marker>
          <c:xVal>
            <c:numRef>
              <c:f>Sheet1!$A$84:$A$94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Sheet1!$B$84:$B$94</c:f>
              <c:numCache>
                <c:formatCode>$0</c:formatCode>
                <c:ptCount val="11"/>
                <c:pt idx="0">
                  <c:v>12.07</c:v>
                </c:pt>
                <c:pt idx="1">
                  <c:v>12.225454545454545</c:v>
                </c:pt>
                <c:pt idx="2">
                  <c:v>12.371818181818181</c:v>
                </c:pt>
                <c:pt idx="3">
                  <c:v>12.556363636363637</c:v>
                </c:pt>
                <c:pt idx="4">
                  <c:v>12.582727272727272</c:v>
                </c:pt>
                <c:pt idx="5">
                  <c:v>13.005454545454546</c:v>
                </c:pt>
                <c:pt idx="6">
                  <c:v>13.139090909090909</c:v>
                </c:pt>
                <c:pt idx="7">
                  <c:v>13.411818181818182</c:v>
                </c:pt>
                <c:pt idx="8">
                  <c:v>13.792727272727273</c:v>
                </c:pt>
                <c:pt idx="9">
                  <c:v>14.211818181818181</c:v>
                </c:pt>
                <c:pt idx="10">
                  <c:v>14.638181818181819</c:v>
                </c:pt>
              </c:numCache>
            </c:numRef>
          </c:yVal>
          <c:smooth val="0"/>
        </c:ser>
        <c:ser>
          <c:idx val="8"/>
          <c:order val="8"/>
          <c:tx>
            <c:strRef>
              <c:f>Sheet1!$B$96</c:f>
              <c:strCache>
                <c:ptCount val="1"/>
                <c:pt idx="0">
                  <c:v>range</c:v>
                </c:pt>
              </c:strCache>
            </c:strRef>
          </c:tx>
          <c:spPr>
            <a:ln w="34925">
              <a:solidFill>
                <a:srgbClr val="CCD7DC"/>
              </a:solidFill>
            </a:ln>
          </c:spPr>
          <c:marker>
            <c:symbol val="none"/>
          </c:marker>
          <c:xVal>
            <c:numRef>
              <c:f>Sheet1!$A$97:$A$107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Sheet1!$B$97:$B$107</c:f>
              <c:numCache>
                <c:formatCode>$0</c:formatCode>
                <c:ptCount val="11"/>
                <c:pt idx="0">
                  <c:v>12.07</c:v>
                </c:pt>
                <c:pt idx="1">
                  <c:v>12.213181818181818</c:v>
                </c:pt>
                <c:pt idx="2">
                  <c:v>12.347727272727273</c:v>
                </c:pt>
                <c:pt idx="3">
                  <c:v>12.519545454545455</c:v>
                </c:pt>
                <c:pt idx="4">
                  <c:v>12.534090909090908</c:v>
                </c:pt>
                <c:pt idx="5">
                  <c:v>12.943181818181818</c:v>
                </c:pt>
                <c:pt idx="6">
                  <c:v>13.063636363636363</c:v>
                </c:pt>
                <c:pt idx="7">
                  <c:v>13.322727272727272</c:v>
                </c:pt>
                <c:pt idx="8">
                  <c:v>13.68909090909091</c:v>
                </c:pt>
                <c:pt idx="9">
                  <c:v>14.092727272727272</c:v>
                </c:pt>
                <c:pt idx="10">
                  <c:v>14.502272727272727</c:v>
                </c:pt>
              </c:numCache>
            </c:numRef>
          </c:yVal>
          <c:smooth val="0"/>
        </c:ser>
        <c:ser>
          <c:idx val="9"/>
          <c:order val="9"/>
          <c:tx>
            <c:strRef>
              <c:f>Sheet1!$B$109</c:f>
              <c:strCache>
                <c:ptCount val="1"/>
                <c:pt idx="0">
                  <c:v>range</c:v>
                </c:pt>
              </c:strCache>
            </c:strRef>
          </c:tx>
          <c:spPr>
            <a:ln w="34925">
              <a:solidFill>
                <a:srgbClr val="CCD7DC"/>
              </a:solidFill>
            </a:ln>
          </c:spPr>
          <c:marker>
            <c:symbol val="none"/>
          </c:marker>
          <c:xVal>
            <c:numRef>
              <c:f>Sheet1!$A$110:$A$120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Sheet1!$B$110:$B$120</c:f>
              <c:numCache>
                <c:formatCode>$0</c:formatCode>
                <c:ptCount val="11"/>
                <c:pt idx="0">
                  <c:v>12.07</c:v>
                </c:pt>
                <c:pt idx="1">
                  <c:v>12.200909090909091</c:v>
                </c:pt>
                <c:pt idx="2">
                  <c:v>12.323636363636364</c:v>
                </c:pt>
                <c:pt idx="3">
                  <c:v>12.482727272727274</c:v>
                </c:pt>
                <c:pt idx="4">
                  <c:v>12.485454545454544</c:v>
                </c:pt>
                <c:pt idx="5">
                  <c:v>12.88090909090909</c:v>
                </c:pt>
                <c:pt idx="6">
                  <c:v>12.988181818181818</c:v>
                </c:pt>
                <c:pt idx="7">
                  <c:v>13.233636363636364</c:v>
                </c:pt>
                <c:pt idx="8">
                  <c:v>13.585454545454546</c:v>
                </c:pt>
                <c:pt idx="9">
                  <c:v>13.973636363636363</c:v>
                </c:pt>
                <c:pt idx="10">
                  <c:v>14.366363636363637</c:v>
                </c:pt>
              </c:numCache>
            </c:numRef>
          </c:yVal>
          <c:smooth val="0"/>
        </c:ser>
        <c:ser>
          <c:idx val="10"/>
          <c:order val="10"/>
          <c:tx>
            <c:strRef>
              <c:f>Sheet1!$B$122</c:f>
              <c:strCache>
                <c:ptCount val="1"/>
                <c:pt idx="0">
                  <c:v>range</c:v>
                </c:pt>
              </c:strCache>
            </c:strRef>
          </c:tx>
          <c:spPr>
            <a:ln w="34925">
              <a:solidFill>
                <a:srgbClr val="CCD7DC"/>
              </a:solidFill>
            </a:ln>
          </c:spPr>
          <c:marker>
            <c:symbol val="none"/>
          </c:marker>
          <c:xVal>
            <c:numRef>
              <c:f>Sheet1!$A$123:$A$133</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Sheet1!$B$123:$B$133</c:f>
              <c:numCache>
                <c:formatCode>$0</c:formatCode>
                <c:ptCount val="11"/>
                <c:pt idx="0">
                  <c:v>12.07</c:v>
                </c:pt>
                <c:pt idx="1">
                  <c:v>12.188636363636364</c:v>
                </c:pt>
                <c:pt idx="2">
                  <c:v>12.299545454545454</c:v>
                </c:pt>
                <c:pt idx="3">
                  <c:v>12.445909090909092</c:v>
                </c:pt>
                <c:pt idx="4">
                  <c:v>12.43681818181818</c:v>
                </c:pt>
                <c:pt idx="5">
                  <c:v>12.818636363636363</c:v>
                </c:pt>
                <c:pt idx="6">
                  <c:v>12.912727272727272</c:v>
                </c:pt>
                <c:pt idx="7">
                  <c:v>13.144545454545455</c:v>
                </c:pt>
                <c:pt idx="8">
                  <c:v>13.481818181818182</c:v>
                </c:pt>
                <c:pt idx="9">
                  <c:v>13.854545454545454</c:v>
                </c:pt>
                <c:pt idx="10">
                  <c:v>14.230454545454545</c:v>
                </c:pt>
              </c:numCache>
            </c:numRef>
          </c:yVal>
          <c:smooth val="0"/>
        </c:ser>
        <c:ser>
          <c:idx val="11"/>
          <c:order val="11"/>
          <c:tx>
            <c:strRef>
              <c:f>Sheet1!$B$135</c:f>
              <c:strCache>
                <c:ptCount val="1"/>
                <c:pt idx="0">
                  <c:v>range</c:v>
                </c:pt>
              </c:strCache>
            </c:strRef>
          </c:tx>
          <c:spPr>
            <a:ln w="34925">
              <a:solidFill>
                <a:srgbClr val="CCD7DC"/>
              </a:solidFill>
            </a:ln>
          </c:spPr>
          <c:marker>
            <c:symbol val="none"/>
          </c:marker>
          <c:xVal>
            <c:numRef>
              <c:f>Sheet1!$A$136:$A$146</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Sheet1!$B$136:$B$146</c:f>
              <c:numCache>
                <c:formatCode>$0</c:formatCode>
                <c:ptCount val="11"/>
                <c:pt idx="0">
                  <c:v>12.07</c:v>
                </c:pt>
                <c:pt idx="1">
                  <c:v>12.176363636363636</c:v>
                </c:pt>
                <c:pt idx="2">
                  <c:v>12.275454545454545</c:v>
                </c:pt>
                <c:pt idx="3">
                  <c:v>12.40909090909091</c:v>
                </c:pt>
                <c:pt idx="4">
                  <c:v>12.388181818181819</c:v>
                </c:pt>
                <c:pt idx="5">
                  <c:v>12.756363636363638</c:v>
                </c:pt>
                <c:pt idx="6">
                  <c:v>12.837272727272726</c:v>
                </c:pt>
                <c:pt idx="7">
                  <c:v>13.055454545454545</c:v>
                </c:pt>
                <c:pt idx="8">
                  <c:v>13.378181818181819</c:v>
                </c:pt>
                <c:pt idx="9">
                  <c:v>13.735454545454544</c:v>
                </c:pt>
                <c:pt idx="10">
                  <c:v>14.094545454545454</c:v>
                </c:pt>
              </c:numCache>
            </c:numRef>
          </c:yVal>
          <c:smooth val="0"/>
        </c:ser>
        <c:ser>
          <c:idx val="12"/>
          <c:order val="12"/>
          <c:tx>
            <c:strRef>
              <c:f>Sheet1!$B$148</c:f>
              <c:strCache>
                <c:ptCount val="1"/>
                <c:pt idx="0">
                  <c:v>range</c:v>
                </c:pt>
              </c:strCache>
            </c:strRef>
          </c:tx>
          <c:spPr>
            <a:ln w="34925">
              <a:solidFill>
                <a:srgbClr val="CCD7DC"/>
              </a:solidFill>
            </a:ln>
          </c:spPr>
          <c:marker>
            <c:symbol val="none"/>
          </c:marker>
          <c:xVal>
            <c:numRef>
              <c:f>Sheet1!$A$149:$A$159</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Sheet1!$B$149:$B$159</c:f>
              <c:numCache>
                <c:formatCode>$0</c:formatCode>
                <c:ptCount val="11"/>
                <c:pt idx="0">
                  <c:v>12.07</c:v>
                </c:pt>
                <c:pt idx="1">
                  <c:v>12.164090909090909</c:v>
                </c:pt>
                <c:pt idx="2">
                  <c:v>12.251363636363637</c:v>
                </c:pt>
                <c:pt idx="3">
                  <c:v>12.372272727272728</c:v>
                </c:pt>
                <c:pt idx="4">
                  <c:v>12.339545454545455</c:v>
                </c:pt>
                <c:pt idx="5">
                  <c:v>12.69409090909091</c:v>
                </c:pt>
                <c:pt idx="6">
                  <c:v>12.761818181818182</c:v>
                </c:pt>
                <c:pt idx="7">
                  <c:v>12.966363636363637</c:v>
                </c:pt>
                <c:pt idx="8">
                  <c:v>13.274545454545455</c:v>
                </c:pt>
                <c:pt idx="9">
                  <c:v>13.616363636363635</c:v>
                </c:pt>
                <c:pt idx="10">
                  <c:v>13.958636363636364</c:v>
                </c:pt>
              </c:numCache>
            </c:numRef>
          </c:yVal>
          <c:smooth val="0"/>
        </c:ser>
        <c:ser>
          <c:idx val="13"/>
          <c:order val="13"/>
          <c:tx>
            <c:strRef>
              <c:f>Sheet1!$B$161</c:f>
              <c:strCache>
                <c:ptCount val="1"/>
                <c:pt idx="0">
                  <c:v>range</c:v>
                </c:pt>
              </c:strCache>
            </c:strRef>
          </c:tx>
          <c:spPr>
            <a:ln w="34925">
              <a:solidFill>
                <a:srgbClr val="CCD7DC"/>
              </a:solidFill>
            </a:ln>
          </c:spPr>
          <c:marker>
            <c:symbol val="none"/>
          </c:marker>
          <c:xVal>
            <c:numRef>
              <c:f>Sheet1!$A$162:$A$172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Sheet1!$B$162:$B$172</c:f>
              <c:numCache>
                <c:formatCode>$0</c:formatCode>
                <c:ptCount val="11"/>
                <c:pt idx="0">
                  <c:v>12.07</c:v>
                </c:pt>
                <c:pt idx="1">
                  <c:v>12.151818181818182</c:v>
                </c:pt>
                <c:pt idx="2">
                  <c:v>12.227272727272727</c:v>
                </c:pt>
                <c:pt idx="3">
                  <c:v>12.335454545454546</c:v>
                </c:pt>
                <c:pt idx="4">
                  <c:v>12.290909090909091</c:v>
                </c:pt>
                <c:pt idx="5">
                  <c:v>12.631818181818183</c:v>
                </c:pt>
                <c:pt idx="6">
                  <c:v>12.686363636363636</c:v>
                </c:pt>
                <c:pt idx="7">
                  <c:v>12.877272727272727</c:v>
                </c:pt>
                <c:pt idx="8">
                  <c:v>13.170909090909092</c:v>
                </c:pt>
                <c:pt idx="9">
                  <c:v>13.497272727272726</c:v>
                </c:pt>
                <c:pt idx="10">
                  <c:v>13.822727272727272</c:v>
                </c:pt>
              </c:numCache>
            </c:numRef>
          </c:yVal>
          <c:smooth val="0"/>
        </c:ser>
        <c:ser>
          <c:idx val="14"/>
          <c:order val="14"/>
          <c:tx>
            <c:strRef>
              <c:f>Sheet1!$B$174</c:f>
              <c:strCache>
                <c:ptCount val="1"/>
                <c:pt idx="0">
                  <c:v>range</c:v>
                </c:pt>
              </c:strCache>
            </c:strRef>
          </c:tx>
          <c:spPr>
            <a:ln w="34925">
              <a:solidFill>
                <a:srgbClr val="CCD7DC"/>
              </a:solidFill>
            </a:ln>
          </c:spPr>
          <c:marker>
            <c:symbol val="none"/>
          </c:marker>
          <c:xVal>
            <c:numRef>
              <c:f>Sheet1!$A$175:$A$185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Sheet1!$B$175:$B$185</c:f>
              <c:numCache>
                <c:formatCode>$0</c:formatCode>
                <c:ptCount val="11"/>
                <c:pt idx="0">
                  <c:v>12.07</c:v>
                </c:pt>
                <c:pt idx="1">
                  <c:v>12.139545454545456</c:v>
                </c:pt>
                <c:pt idx="2">
                  <c:v>12.203181818181818</c:v>
                </c:pt>
                <c:pt idx="3">
                  <c:v>12.298636363636364</c:v>
                </c:pt>
                <c:pt idx="4">
                  <c:v>12.242272727272727</c:v>
                </c:pt>
                <c:pt idx="5">
                  <c:v>12.569545454545455</c:v>
                </c:pt>
                <c:pt idx="6">
                  <c:v>12.610909090909091</c:v>
                </c:pt>
                <c:pt idx="7">
                  <c:v>12.788181818181819</c:v>
                </c:pt>
                <c:pt idx="8">
                  <c:v>13.067272727272728</c:v>
                </c:pt>
                <c:pt idx="9">
                  <c:v>13.378181818181817</c:v>
                </c:pt>
                <c:pt idx="10">
                  <c:v>13.686818181818182</c:v>
                </c:pt>
              </c:numCache>
            </c:numRef>
          </c:yVal>
          <c:smooth val="0"/>
        </c:ser>
        <c:ser>
          <c:idx val="15"/>
          <c:order val="15"/>
          <c:tx>
            <c:strRef>
              <c:f>Sheet1!$B$187</c:f>
              <c:strCache>
                <c:ptCount val="1"/>
                <c:pt idx="0">
                  <c:v>range</c:v>
                </c:pt>
              </c:strCache>
            </c:strRef>
          </c:tx>
          <c:spPr>
            <a:ln w="34925">
              <a:solidFill>
                <a:srgbClr val="CCD7DC"/>
              </a:solidFill>
            </a:ln>
          </c:spPr>
          <c:marker>
            <c:symbol val="none"/>
          </c:marker>
          <c:xVal>
            <c:numRef>
              <c:f>Sheet1!$A$188:$A$198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Sheet1!$B$188:$B$198</c:f>
              <c:numCache>
                <c:formatCode>$0</c:formatCode>
                <c:ptCount val="11"/>
                <c:pt idx="0">
                  <c:v>12.07</c:v>
                </c:pt>
                <c:pt idx="1">
                  <c:v>12.127272727272727</c:v>
                </c:pt>
                <c:pt idx="2">
                  <c:v>12.17909090909091</c:v>
                </c:pt>
                <c:pt idx="3">
                  <c:v>12.261818181818182</c:v>
                </c:pt>
                <c:pt idx="4">
                  <c:v>12.193636363636363</c:v>
                </c:pt>
                <c:pt idx="5">
                  <c:v>12.507272727272728</c:v>
                </c:pt>
                <c:pt idx="6">
                  <c:v>12.535454545454545</c:v>
                </c:pt>
                <c:pt idx="7">
                  <c:v>12.69909090909091</c:v>
                </c:pt>
                <c:pt idx="8">
                  <c:v>12.963636363636365</c:v>
                </c:pt>
                <c:pt idx="9">
                  <c:v>13.259090909090908</c:v>
                </c:pt>
                <c:pt idx="10">
                  <c:v>13.55090909090909</c:v>
                </c:pt>
              </c:numCache>
            </c:numRef>
          </c:yVal>
          <c:smooth val="0"/>
        </c:ser>
        <c:ser>
          <c:idx val="16"/>
          <c:order val="16"/>
          <c:tx>
            <c:strRef>
              <c:f>Sheet1!$B$200</c:f>
              <c:strCache>
                <c:ptCount val="1"/>
                <c:pt idx="0">
                  <c:v>range</c:v>
                </c:pt>
              </c:strCache>
            </c:strRef>
          </c:tx>
          <c:spPr>
            <a:ln w="34925">
              <a:solidFill>
                <a:srgbClr val="CCD7DC"/>
              </a:solidFill>
            </a:ln>
          </c:spPr>
          <c:marker>
            <c:symbol val="none"/>
          </c:marker>
          <c:xVal>
            <c:numRef>
              <c:f>Sheet1!$A$201:$A$211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Sheet1!$B$201:$B$211</c:f>
              <c:numCache>
                <c:formatCode>$0</c:formatCode>
                <c:ptCount val="11"/>
                <c:pt idx="0">
                  <c:v>12.07</c:v>
                </c:pt>
                <c:pt idx="1">
                  <c:v>12.115</c:v>
                </c:pt>
                <c:pt idx="2">
                  <c:v>12.155000000000001</c:v>
                </c:pt>
                <c:pt idx="3">
                  <c:v>12.225000000000001</c:v>
                </c:pt>
                <c:pt idx="4">
                  <c:v>12.145</c:v>
                </c:pt>
                <c:pt idx="5">
                  <c:v>12.445</c:v>
                </c:pt>
                <c:pt idx="6">
                  <c:v>12.46</c:v>
                </c:pt>
                <c:pt idx="7">
                  <c:v>12.61</c:v>
                </c:pt>
                <c:pt idx="8">
                  <c:v>12.86</c:v>
                </c:pt>
                <c:pt idx="9">
                  <c:v>13.14</c:v>
                </c:pt>
                <c:pt idx="10">
                  <c:v>13.415</c:v>
                </c:pt>
              </c:numCache>
            </c:numRef>
          </c:yVal>
          <c:smooth val="0"/>
        </c:ser>
        <c:ser>
          <c:idx val="17"/>
          <c:order val="17"/>
          <c:tx>
            <c:strRef>
              <c:f>Sheet1!$B$213</c:f>
              <c:strCache>
                <c:ptCount val="1"/>
                <c:pt idx="0">
                  <c:v>range</c:v>
                </c:pt>
              </c:strCache>
            </c:strRef>
          </c:tx>
          <c:spPr>
            <a:ln w="34925">
              <a:solidFill>
                <a:srgbClr val="CCD7DC"/>
              </a:solidFill>
            </a:ln>
          </c:spPr>
          <c:marker>
            <c:symbol val="none"/>
          </c:marker>
          <c:xVal>
            <c:numRef>
              <c:f>Sheet1!$A$214:$A$224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Sheet1!$B$214:$B$224</c:f>
              <c:numCache>
                <c:formatCode>$0</c:formatCode>
                <c:ptCount val="11"/>
                <c:pt idx="0">
                  <c:v>12.07</c:v>
                </c:pt>
                <c:pt idx="1">
                  <c:v>12.102727272727273</c:v>
                </c:pt>
                <c:pt idx="2">
                  <c:v>12.13090909090909</c:v>
                </c:pt>
                <c:pt idx="3">
                  <c:v>12.18818181818182</c:v>
                </c:pt>
                <c:pt idx="4">
                  <c:v>12.096363636363636</c:v>
                </c:pt>
                <c:pt idx="5">
                  <c:v>12.382727272727273</c:v>
                </c:pt>
                <c:pt idx="6">
                  <c:v>12.384545454545455</c:v>
                </c:pt>
                <c:pt idx="7">
                  <c:v>12.520909090909091</c:v>
                </c:pt>
                <c:pt idx="8">
                  <c:v>12.756363636363638</c:v>
                </c:pt>
                <c:pt idx="9">
                  <c:v>13.020909090909091</c:v>
                </c:pt>
                <c:pt idx="10">
                  <c:v>13.27909090909091</c:v>
                </c:pt>
              </c:numCache>
            </c:numRef>
          </c:yVal>
          <c:smooth val="0"/>
        </c:ser>
        <c:ser>
          <c:idx val="18"/>
          <c:order val="18"/>
          <c:tx>
            <c:strRef>
              <c:f>Sheet1!$B$226</c:f>
              <c:strCache>
                <c:ptCount val="1"/>
                <c:pt idx="0">
                  <c:v>range</c:v>
                </c:pt>
              </c:strCache>
            </c:strRef>
          </c:tx>
          <c:spPr>
            <a:ln w="34925">
              <a:solidFill>
                <a:srgbClr val="CCD7DC"/>
              </a:solidFill>
            </a:ln>
          </c:spPr>
          <c:marker>
            <c:symbol val="none"/>
          </c:marker>
          <c:xVal>
            <c:numRef>
              <c:f>Sheet1!$A$227:$A$237</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Sheet1!$B$227:$B$237</c:f>
              <c:numCache>
                <c:formatCode>$0</c:formatCode>
                <c:ptCount val="11"/>
                <c:pt idx="0">
                  <c:v>12.07</c:v>
                </c:pt>
                <c:pt idx="1">
                  <c:v>12.090454545454545</c:v>
                </c:pt>
                <c:pt idx="2">
                  <c:v>12.106818181818182</c:v>
                </c:pt>
                <c:pt idx="3">
                  <c:v>12.151363636363637</c:v>
                </c:pt>
                <c:pt idx="4">
                  <c:v>12.047727272727272</c:v>
                </c:pt>
                <c:pt idx="5">
                  <c:v>12.320454545454545</c:v>
                </c:pt>
                <c:pt idx="6">
                  <c:v>12.309090909090909</c:v>
                </c:pt>
                <c:pt idx="7">
                  <c:v>12.431818181818182</c:v>
                </c:pt>
                <c:pt idx="8">
                  <c:v>12.652727272727272</c:v>
                </c:pt>
                <c:pt idx="9">
                  <c:v>12.901818181818182</c:v>
                </c:pt>
                <c:pt idx="10">
                  <c:v>13.143181818181818</c:v>
                </c:pt>
              </c:numCache>
            </c:numRef>
          </c:yVal>
          <c:smooth val="0"/>
        </c:ser>
        <c:ser>
          <c:idx val="19"/>
          <c:order val="19"/>
          <c:tx>
            <c:strRef>
              <c:f>Sheet1!$B$239</c:f>
              <c:strCache>
                <c:ptCount val="1"/>
                <c:pt idx="0">
                  <c:v>range</c:v>
                </c:pt>
              </c:strCache>
            </c:strRef>
          </c:tx>
          <c:spPr>
            <a:ln w="34925">
              <a:solidFill>
                <a:srgbClr val="CCD7DC"/>
              </a:solidFill>
            </a:ln>
          </c:spPr>
          <c:marker>
            <c:symbol val="none"/>
          </c:marker>
          <c:xVal>
            <c:numRef>
              <c:f>Sheet1!$A$240:$A$250</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Sheet1!$B$240:$B$250</c:f>
              <c:numCache>
                <c:formatCode>$0</c:formatCode>
                <c:ptCount val="11"/>
                <c:pt idx="0">
                  <c:v>12.07</c:v>
                </c:pt>
                <c:pt idx="1">
                  <c:v>12.078181818181818</c:v>
                </c:pt>
                <c:pt idx="2">
                  <c:v>12.082727272727274</c:v>
                </c:pt>
                <c:pt idx="3">
                  <c:v>12.114545454545455</c:v>
                </c:pt>
                <c:pt idx="4">
                  <c:v>11.999090909090908</c:v>
                </c:pt>
                <c:pt idx="5">
                  <c:v>12.258181818181818</c:v>
                </c:pt>
                <c:pt idx="6">
                  <c:v>12.233636363636364</c:v>
                </c:pt>
                <c:pt idx="7">
                  <c:v>12.342727272727274</c:v>
                </c:pt>
                <c:pt idx="8">
                  <c:v>12.549090909090909</c:v>
                </c:pt>
                <c:pt idx="9">
                  <c:v>12.782727272727273</c:v>
                </c:pt>
                <c:pt idx="10">
                  <c:v>13.007272727272728</c:v>
                </c:pt>
              </c:numCache>
            </c:numRef>
          </c:yVal>
          <c:smooth val="0"/>
        </c:ser>
        <c:ser>
          <c:idx val="20"/>
          <c:order val="20"/>
          <c:tx>
            <c:strRef>
              <c:f>Sheet1!$B$252</c:f>
              <c:strCache>
                <c:ptCount val="1"/>
                <c:pt idx="0">
                  <c:v>range</c:v>
                </c:pt>
              </c:strCache>
            </c:strRef>
          </c:tx>
          <c:spPr>
            <a:ln w="34925">
              <a:solidFill>
                <a:srgbClr val="CCD7DC"/>
              </a:solidFill>
            </a:ln>
          </c:spPr>
          <c:marker>
            <c:symbol val="none"/>
          </c:marker>
          <c:xVal>
            <c:numRef>
              <c:f>Sheet1!$A$253:$A$263</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Sheet1!$B$253:$B$263</c:f>
              <c:numCache>
                <c:formatCode>$0</c:formatCode>
                <c:ptCount val="11"/>
                <c:pt idx="0">
                  <c:v>12.07</c:v>
                </c:pt>
                <c:pt idx="1">
                  <c:v>12.065909090909091</c:v>
                </c:pt>
                <c:pt idx="2">
                  <c:v>12.058636363636364</c:v>
                </c:pt>
                <c:pt idx="3">
                  <c:v>12.077727272727273</c:v>
                </c:pt>
                <c:pt idx="4">
                  <c:v>11.950454545454544</c:v>
                </c:pt>
                <c:pt idx="5">
                  <c:v>12.19590909090909</c:v>
                </c:pt>
                <c:pt idx="6">
                  <c:v>12.158181818181818</c:v>
                </c:pt>
                <c:pt idx="7">
                  <c:v>12.253636363636364</c:v>
                </c:pt>
                <c:pt idx="8">
                  <c:v>12.445454545454545</c:v>
                </c:pt>
                <c:pt idx="9">
                  <c:v>12.663636363636364</c:v>
                </c:pt>
                <c:pt idx="10">
                  <c:v>12.871363636363636</c:v>
                </c:pt>
              </c:numCache>
            </c:numRef>
          </c:yVal>
          <c:smooth val="0"/>
        </c:ser>
        <c:ser>
          <c:idx val="21"/>
          <c:order val="21"/>
          <c:tx>
            <c:strRef>
              <c:f>Sheet1!$B$265</c:f>
              <c:strCache>
                <c:ptCount val="1"/>
                <c:pt idx="0">
                  <c:v>range</c:v>
                </c:pt>
              </c:strCache>
            </c:strRef>
          </c:tx>
          <c:spPr>
            <a:ln w="34925">
              <a:solidFill>
                <a:srgbClr val="CCD7DC"/>
              </a:solidFill>
            </a:ln>
          </c:spPr>
          <c:marker>
            <c:symbol val="none"/>
          </c:marker>
          <c:xVal>
            <c:numRef>
              <c:f>Sheet1!$A$266:$A$276</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Sheet1!$B$266:$B$276</c:f>
              <c:numCache>
                <c:formatCode>$0</c:formatCode>
                <c:ptCount val="11"/>
                <c:pt idx="0">
                  <c:v>12.07</c:v>
                </c:pt>
                <c:pt idx="1">
                  <c:v>12.053636363636365</c:v>
                </c:pt>
                <c:pt idx="2">
                  <c:v>12.034545454545455</c:v>
                </c:pt>
                <c:pt idx="3">
                  <c:v>12.040909090909091</c:v>
                </c:pt>
                <c:pt idx="4">
                  <c:v>11.90181818181818</c:v>
                </c:pt>
                <c:pt idx="5">
                  <c:v>12.133636363636363</c:v>
                </c:pt>
                <c:pt idx="6">
                  <c:v>12.082727272727272</c:v>
                </c:pt>
                <c:pt idx="7">
                  <c:v>12.164545454545454</c:v>
                </c:pt>
                <c:pt idx="8">
                  <c:v>12.341818181818182</c:v>
                </c:pt>
                <c:pt idx="9">
                  <c:v>12.544545454545455</c:v>
                </c:pt>
                <c:pt idx="10">
                  <c:v>12.735454545454544</c:v>
                </c:pt>
              </c:numCache>
            </c:numRef>
          </c:yVal>
          <c:smooth val="0"/>
        </c:ser>
        <c:ser>
          <c:idx val="22"/>
          <c:order val="22"/>
          <c:tx>
            <c:strRef>
              <c:f>Sheet1!$B$278</c:f>
              <c:strCache>
                <c:ptCount val="1"/>
                <c:pt idx="0">
                  <c:v>range</c:v>
                </c:pt>
              </c:strCache>
            </c:strRef>
          </c:tx>
          <c:spPr>
            <a:ln w="34925">
              <a:solidFill>
                <a:srgbClr val="CCD7DC"/>
              </a:solidFill>
            </a:ln>
          </c:spPr>
          <c:marker>
            <c:symbol val="none"/>
          </c:marker>
          <c:xVal>
            <c:numRef>
              <c:f>Sheet1!$A$279:$A$289</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Sheet1!$B$279:$B$289</c:f>
              <c:numCache>
                <c:formatCode>$0</c:formatCode>
                <c:ptCount val="11"/>
                <c:pt idx="0">
                  <c:v>12.07</c:v>
                </c:pt>
                <c:pt idx="1">
                  <c:v>12.041363636363636</c:v>
                </c:pt>
                <c:pt idx="2">
                  <c:v>12.010454545454547</c:v>
                </c:pt>
                <c:pt idx="3">
                  <c:v>12.004090909090909</c:v>
                </c:pt>
                <c:pt idx="4">
                  <c:v>11.853181818181818</c:v>
                </c:pt>
                <c:pt idx="5">
                  <c:v>12.071363636363635</c:v>
                </c:pt>
                <c:pt idx="6">
                  <c:v>12.007272727272728</c:v>
                </c:pt>
                <c:pt idx="7">
                  <c:v>12.075454545454546</c:v>
                </c:pt>
                <c:pt idx="8">
                  <c:v>12.238181818181818</c:v>
                </c:pt>
                <c:pt idx="9">
                  <c:v>12.425454545454546</c:v>
                </c:pt>
                <c:pt idx="10">
                  <c:v>12.599545454545455</c:v>
                </c:pt>
              </c:numCache>
            </c:numRef>
          </c:yVal>
          <c:smooth val="0"/>
        </c:ser>
        <c:ser>
          <c:idx val="23"/>
          <c:order val="23"/>
          <c:tx>
            <c:strRef>
              <c:f>Sheet1!$B$291</c:f>
              <c:strCache>
                <c:ptCount val="1"/>
                <c:pt idx="0">
                  <c:v>range</c:v>
                </c:pt>
              </c:strCache>
            </c:strRef>
          </c:tx>
          <c:spPr>
            <a:ln w="34925">
              <a:solidFill>
                <a:srgbClr val="CCD7DC"/>
              </a:solidFill>
            </a:ln>
          </c:spPr>
          <c:marker>
            <c:symbol val="none"/>
          </c:marker>
          <c:xVal>
            <c:numRef>
              <c:f>Sheet1!$A$292:$A$302</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Sheet1!$B$292:$B$302</c:f>
              <c:numCache>
                <c:formatCode>$0</c:formatCode>
                <c:ptCount val="11"/>
                <c:pt idx="0">
                  <c:v>12.07</c:v>
                </c:pt>
                <c:pt idx="1">
                  <c:v>12.02909090909091</c:v>
                </c:pt>
                <c:pt idx="2">
                  <c:v>11.986363636363636</c:v>
                </c:pt>
                <c:pt idx="3">
                  <c:v>11.967272727272727</c:v>
                </c:pt>
                <c:pt idx="4">
                  <c:v>11.804545454545455</c:v>
                </c:pt>
                <c:pt idx="5">
                  <c:v>12.00909090909091</c:v>
                </c:pt>
                <c:pt idx="6">
                  <c:v>11.931818181818182</c:v>
                </c:pt>
                <c:pt idx="7">
                  <c:v>11.986363636363636</c:v>
                </c:pt>
                <c:pt idx="8">
                  <c:v>12.134545454545455</c:v>
                </c:pt>
                <c:pt idx="9">
                  <c:v>12.306363636363637</c:v>
                </c:pt>
                <c:pt idx="10">
                  <c:v>12.463636363636363</c:v>
                </c:pt>
              </c:numCache>
            </c:numRef>
          </c:yVal>
          <c:smooth val="0"/>
        </c:ser>
        <c:ser>
          <c:idx val="24"/>
          <c:order val="24"/>
          <c:tx>
            <c:strRef>
              <c:f>Sheet1!$B$304</c:f>
              <c:strCache>
                <c:ptCount val="1"/>
                <c:pt idx="0">
                  <c:v>range</c:v>
                </c:pt>
              </c:strCache>
            </c:strRef>
          </c:tx>
          <c:spPr>
            <a:ln w="34925">
              <a:solidFill>
                <a:srgbClr val="CCD7DC"/>
              </a:solidFill>
            </a:ln>
          </c:spPr>
          <c:marker>
            <c:symbol val="none"/>
          </c:marker>
          <c:xVal>
            <c:numRef>
              <c:f>Sheet1!$A$305:$A$315</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Sheet1!$B$305:$B$315</c:f>
              <c:numCache>
                <c:formatCode>$0</c:formatCode>
                <c:ptCount val="11"/>
                <c:pt idx="0">
                  <c:v>12.07</c:v>
                </c:pt>
                <c:pt idx="1">
                  <c:v>12.016818181818183</c:v>
                </c:pt>
                <c:pt idx="2">
                  <c:v>11.962272727272728</c:v>
                </c:pt>
                <c:pt idx="3">
                  <c:v>11.930454545454547</c:v>
                </c:pt>
                <c:pt idx="4">
                  <c:v>11.75590909090909</c:v>
                </c:pt>
                <c:pt idx="5">
                  <c:v>11.946818181818182</c:v>
                </c:pt>
                <c:pt idx="6">
                  <c:v>11.856363636363637</c:v>
                </c:pt>
                <c:pt idx="7">
                  <c:v>11.897272727272728</c:v>
                </c:pt>
                <c:pt idx="8">
                  <c:v>12.030909090909091</c:v>
                </c:pt>
                <c:pt idx="9">
                  <c:v>12.187272727272727</c:v>
                </c:pt>
                <c:pt idx="10">
                  <c:v>12.327727272727273</c:v>
                </c:pt>
              </c:numCache>
            </c:numRef>
          </c:yVal>
          <c:smooth val="0"/>
        </c:ser>
        <c:ser>
          <c:idx val="25"/>
          <c:order val="25"/>
          <c:tx>
            <c:strRef>
              <c:f>Sheet1!$B$317</c:f>
              <c:strCache>
                <c:ptCount val="1"/>
                <c:pt idx="0">
                  <c:v>range</c:v>
                </c:pt>
              </c:strCache>
            </c:strRef>
          </c:tx>
          <c:spPr>
            <a:ln w="34925">
              <a:solidFill>
                <a:srgbClr val="CCD7DC"/>
              </a:solidFill>
            </a:ln>
          </c:spPr>
          <c:marker>
            <c:symbol val="none"/>
          </c:marker>
          <c:xVal>
            <c:numRef>
              <c:f>Sheet1!$A$318:$A$328</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Sheet1!$B$318:$B$328</c:f>
              <c:numCache>
                <c:formatCode>$0</c:formatCode>
                <c:ptCount val="11"/>
                <c:pt idx="0">
                  <c:v>12.07</c:v>
                </c:pt>
                <c:pt idx="1">
                  <c:v>12.004545454545456</c:v>
                </c:pt>
                <c:pt idx="2">
                  <c:v>11.93818181818182</c:v>
                </c:pt>
                <c:pt idx="3">
                  <c:v>11.893636363636364</c:v>
                </c:pt>
                <c:pt idx="4">
                  <c:v>11.707272727272727</c:v>
                </c:pt>
                <c:pt idx="5">
                  <c:v>11.884545454545455</c:v>
                </c:pt>
                <c:pt idx="6">
                  <c:v>11.780909090909091</c:v>
                </c:pt>
                <c:pt idx="7">
                  <c:v>11.808181818181819</c:v>
                </c:pt>
                <c:pt idx="8">
                  <c:v>11.927272727272728</c:v>
                </c:pt>
                <c:pt idx="9">
                  <c:v>12.068181818181818</c:v>
                </c:pt>
                <c:pt idx="10">
                  <c:v>12.191818181818181</c:v>
                </c:pt>
              </c:numCache>
            </c:numRef>
          </c:yVal>
          <c:smooth val="0"/>
        </c:ser>
        <c:ser>
          <c:idx val="26"/>
          <c:order val="26"/>
          <c:tx>
            <c:strRef>
              <c:f>Sheet1!$B$330</c:f>
              <c:strCache>
                <c:ptCount val="1"/>
                <c:pt idx="0">
                  <c:v>range</c:v>
                </c:pt>
              </c:strCache>
            </c:strRef>
          </c:tx>
          <c:spPr>
            <a:ln w="34925">
              <a:solidFill>
                <a:srgbClr val="CCD7DC"/>
              </a:solidFill>
            </a:ln>
          </c:spPr>
          <c:marker>
            <c:symbol val="none"/>
          </c:marker>
          <c:xVal>
            <c:numRef>
              <c:f>Sheet1!$A$331:$A$341</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Sheet1!$B$331:$B$341</c:f>
              <c:numCache>
                <c:formatCode>$0</c:formatCode>
                <c:ptCount val="11"/>
                <c:pt idx="0">
                  <c:v>12.07</c:v>
                </c:pt>
                <c:pt idx="1">
                  <c:v>11.992272727272727</c:v>
                </c:pt>
                <c:pt idx="2">
                  <c:v>11.914090909090909</c:v>
                </c:pt>
                <c:pt idx="3">
                  <c:v>11.856818181818182</c:v>
                </c:pt>
                <c:pt idx="4">
                  <c:v>11.658636363636363</c:v>
                </c:pt>
                <c:pt idx="5">
                  <c:v>11.822272727272727</c:v>
                </c:pt>
                <c:pt idx="6">
                  <c:v>11.705454545454547</c:v>
                </c:pt>
                <c:pt idx="7">
                  <c:v>11.719090909090909</c:v>
                </c:pt>
                <c:pt idx="8">
                  <c:v>11.823636363636364</c:v>
                </c:pt>
                <c:pt idx="9">
                  <c:v>11.94909090909091</c:v>
                </c:pt>
                <c:pt idx="10">
                  <c:v>12.05590909090909</c:v>
                </c:pt>
              </c:numCache>
            </c:numRef>
          </c:yVal>
          <c:smooth val="0"/>
        </c:ser>
        <c:ser>
          <c:idx val="27"/>
          <c:order val="27"/>
          <c:tx>
            <c:strRef>
              <c:f>Sheet1!$B$343</c:f>
              <c:strCache>
                <c:ptCount val="1"/>
                <c:pt idx="0">
                  <c:v>range</c:v>
                </c:pt>
              </c:strCache>
            </c:strRef>
          </c:tx>
          <c:spPr>
            <a:ln w="34925">
              <a:solidFill>
                <a:srgbClr val="CCD7DC"/>
              </a:solidFill>
            </a:ln>
          </c:spPr>
          <c:marker>
            <c:symbol val="none"/>
          </c:marker>
          <c:xVal>
            <c:numRef>
              <c:f>Sheet1!$A$344:$A$354</c:f>
              <c:numCache>
                <c:formatCode>$0</c:formatCode>
                <c:ptCount val="11"/>
                <c:pt idx="0">
                  <c:v>2025</c:v>
                </c:pt>
                <c:pt idx="1">
                  <c:v>2026</c:v>
                </c:pt>
                <c:pt idx="2">
                  <c:v>2027</c:v>
                </c:pt>
                <c:pt idx="3">
                  <c:v>2028</c:v>
                </c:pt>
                <c:pt idx="4">
                  <c:v>2029</c:v>
                </c:pt>
                <c:pt idx="5">
                  <c:v>2030</c:v>
                </c:pt>
                <c:pt idx="6">
                  <c:v>2031</c:v>
                </c:pt>
                <c:pt idx="7">
                  <c:v>2032</c:v>
                </c:pt>
                <c:pt idx="8">
                  <c:v>2033</c:v>
                </c:pt>
                <c:pt idx="9">
                  <c:v>2034</c:v>
                </c:pt>
                <c:pt idx="10">
                  <c:v>2035</c:v>
                </c:pt>
              </c:numCache>
            </c:numRef>
          </c:xVal>
          <c:yVal>
            <c:numRef>
              <c:f>Sheet1!$B$344:$B$354</c:f>
              <c:numCache>
                <c:formatCode>$0</c:formatCode>
                <c:ptCount val="11"/>
                <c:pt idx="0">
                  <c:v>12.07</c:v>
                </c:pt>
                <c:pt idx="1">
                  <c:v>11.98</c:v>
                </c:pt>
                <c:pt idx="2">
                  <c:v>11.89</c:v>
                </c:pt>
                <c:pt idx="3">
                  <c:v>11.82</c:v>
                </c:pt>
                <c:pt idx="4">
                  <c:v>11.61</c:v>
                </c:pt>
                <c:pt idx="5">
                  <c:v>11.76</c:v>
                </c:pt>
                <c:pt idx="6">
                  <c:v>11.63</c:v>
                </c:pt>
                <c:pt idx="7">
                  <c:v>11.63</c:v>
                </c:pt>
                <c:pt idx="8">
                  <c:v>11.72</c:v>
                </c:pt>
                <c:pt idx="9">
                  <c:v>11.83</c:v>
                </c:pt>
                <c:pt idx="10">
                  <c:v>11.92</c:v>
                </c:pt>
              </c:numCache>
            </c:numRef>
          </c:yVal>
          <c:smooth val="0"/>
        </c:ser>
        <c:axId val="-2128940872"/>
        <c:axId val="-2129643912"/>
      </c:scatterChart>
      <c:valAx>
        <c:axId val="-2128940872"/>
        <c:scaling>
          <c:max val="2035.0"/>
          <c:min val="2015.0"/>
        </c:scaling>
        <c:delete val="0"/>
        <c:axPos val="b"/>
        <c:numFmt formatCode="0" sourceLinked="0"/>
        <c:majorTickMark val="out"/>
        <c:minorTickMark val="none"/>
        <c:tickLblPos val="nextTo"/>
        <c:spPr>
          <a:ln w="9525">
            <a:solidFill>
              <a:srgbClr val="404040"/>
            </a:solidFill>
          </a:ln>
        </c:spPr>
        <c:txPr>
          <a:bodyPr/>
          <a:lstStyle/>
          <a:p>
            <a:pPr>
              <a:defRPr sz="900" b="0" i="0">
                <a:solidFill>
                  <a:srgbClr val="404040"/>
                </a:solidFill>
                <a:latin typeface="Arial"/>
              </a:defRPr>
            </a:pPr>
          </a:p>
        </c:txPr>
        <c:crossAx val="-2129643912"/>
        <c:crosses val="min"/>
        <c:crossBetween val="midCat"/>
        <c:majorUnit val="5.0"/>
      </c:valAx>
      <c:valAx>
        <c:axId val="-2129643912"/>
        <c:scaling>
          <c:max val="18.0"/>
          <c:min val="8.0"/>
        </c:scaling>
        <c:delete val="0"/>
        <c:axPos val="l"/>
        <c:majorGridlines>
          <c:spPr>
            <a:ln w="9525">
              <a:solidFill>
                <a:srgbClr val="D9D9D9"/>
              </a:solidFill>
            </a:ln>
          </c:spPr>
        </c:majorGridlines>
        <c:numFmt formatCode="$0" sourceLinked="0"/>
        <c:majorTickMark val="none"/>
        <c:minorTickMark val="none"/>
        <c:tickLblPos val="nextTo"/>
        <c:spPr>
          <a:ln>
            <a:noFill/>
          </a:ln>
        </c:spPr>
        <c:txPr>
          <a:bodyPr/>
          <a:lstStyle/>
          <a:p>
            <a:pPr>
              <a:defRPr sz="900" b="0" i="0">
                <a:solidFill>
                  <a:srgbClr val="404040"/>
                </a:solidFill>
                <a:latin typeface="Arial"/>
              </a:defRPr>
            </a:pPr>
          </a:p>
        </c:txPr>
        <c:crossAx val="-2128940872"/>
        <c:crosses val="min"/>
        <c:crossBetween val="midCat"/>
        <c:majorUnit val="2.0"/>
      </c:valAx>
      <c:spPr>
        <a:noFill/>
      </c:spPr>
    </c:plotArea>
    <c:plotVisOnly val="1"/>
    <c:dispBlanksAs val="gap"/>
    <c:showDLblsOverMax val="0"/>
  </c:chart>
  <c:txPr>
    <a:bodyPr/>
    <a:lstStyle/>
    <a:p>
      <a:pPr>
        <a:defRPr sz="900" b="0" i="0">
          <a:solidFill>
            <a:srgbClr val="404040"/>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17"/>
          <c:y val="0.03"/>
          <c:w val="0.81"/>
          <c:h val="0.6"/>
        </c:manualLayout>
      </c:layout>
      <c:barChart>
        <c:barDir val="col"/>
        <c:grouping val="stacked"/>
        <c:varyColors val="0"/>
        <c:ser>
          <c:idx val="0"/>
          <c:order val="0"/>
          <c:tx>
            <c:strRef>
              <c:f>Sheet1!$B$1</c:f>
              <c:strCache>
                <c:ptCount val="1"/>
                <c:pt idx="0">
                  <c:v>Range base</c:v>
                </c:pt>
              </c:strCache>
            </c:strRef>
          </c:tx>
          <c:spPr>
            <a:noFill/>
            <a:ln>
              <a:noFill/>
            </a:ln>
          </c:spPr>
          <c:cat>
            <c:strRef>
              <c:f>Sheet1!$A$2:$A$6</c:f>
              <c:strCache>
                <c:ptCount val="5"/>
                <c:pt idx="0">
                  <c:v>bus</c:v>
                </c:pt>
                <c:pt idx="1">
                  <c:v>commuter rail</c:v>
                </c:pt>
                <c:pt idx="2">
                  <c:v>light rail</c:v>
                </c:pt>
                <c:pt idx="3">
                  <c:v>demand response</c:v>
                </c:pt>
                <c:pt idx="4">
                  <c:v>all modes</c:v>
                </c:pt>
              </c:strCache>
            </c:strRef>
          </c:cat>
          <c:val>
            <c:numRef>
              <c:f>Sheet1!$B$2:$B$6</c:f>
              <c:numCache>
                <c:formatCode>0</c:formatCode>
                <c:ptCount val="5"/>
                <c:pt idx="0">
                  <c:v>34.2</c:v>
                </c:pt>
                <c:pt idx="1">
                  <c:v>29.7</c:v>
                </c:pt>
                <c:pt idx="2">
                  <c:v>20.1</c:v>
                </c:pt>
                <c:pt idx="3">
                  <c:v>10.3</c:v>
                </c:pt>
                <c:pt idx="4">
                  <c:v>28.3</c:v>
                </c:pt>
              </c:numCache>
            </c:numRef>
          </c:val>
        </c:ser>
        <c:ser>
          <c:idx val="1"/>
          <c:order val="1"/>
          <c:tx>
            <c:strRef>
              <c:f>Sheet1!$C$1</c:f>
              <c:strCache>
                <c:ptCount val="1"/>
                <c:pt idx="0">
                  <c:v>2035 range</c:v>
                </c:pt>
              </c:strCache>
            </c:strRef>
          </c:tx>
          <c:spPr>
            <a:solidFill>
              <a:srgbClr val="CCD7DC"/>
            </a:solidFill>
            <a:ln>
              <a:noFill/>
            </a:ln>
          </c:spPr>
          <c:cat>
            <c:strRef>
              <c:f>Sheet1!$A$2:$A$6</c:f>
              <c:strCache>
                <c:ptCount val="5"/>
                <c:pt idx="0">
                  <c:v>bus</c:v>
                </c:pt>
                <c:pt idx="1">
                  <c:v>commuter rail</c:v>
                </c:pt>
                <c:pt idx="2">
                  <c:v>light rail</c:v>
                </c:pt>
                <c:pt idx="3">
                  <c:v>demand response</c:v>
                </c:pt>
                <c:pt idx="4">
                  <c:v>all modes</c:v>
                </c:pt>
              </c:strCache>
            </c:strRef>
          </c:cat>
          <c:val>
            <c:numRef>
              <c:f>Sheet1!$C$2:$C$6</c:f>
              <c:numCache>
                <c:formatCode>0</c:formatCode>
                <c:ptCount val="5"/>
                <c:pt idx="0">
                  <c:v>33.5</c:v>
                </c:pt>
                <c:pt idx="1">
                  <c:v>32.4</c:v>
                </c:pt>
                <c:pt idx="2">
                  <c:v>30.1</c:v>
                </c:pt>
                <c:pt idx="3">
                  <c:v>27.6</c:v>
                </c:pt>
                <c:pt idx="4">
                  <c:v>32.2</c:v>
                </c:pt>
              </c:numCache>
            </c:numRef>
          </c:val>
        </c:ser>
        <c:gapWidth val="260"/>
        <c:overlap val="100"/>
        <c:axId val="2118791784"/>
        <c:axId val="2140495176"/>
      </c:barChart>
      <c:lineChart>
        <c:grouping val="standard"/>
        <c:varyColors val="0"/>
        <c:ser>
          <c:idx val="2"/>
          <c:order val="2"/>
          <c:tx>
            <c:strRef>
              <c:f>Sheet1!$D$1</c:f>
              <c:strCache>
                <c:ptCount val="1"/>
                <c:pt idx="0">
                  <c:v>2025</c:v>
                </c:pt>
              </c:strCache>
            </c:strRef>
          </c:tx>
          <c:spPr>
            <a:ln>
              <a:noFill/>
            </a:ln>
          </c:spPr>
          <c:marker>
            <c:symbol val="circle"/>
            <c:size val="7"/>
            <c:spPr>
              <a:solidFill>
                <a:srgbClr val="7F7F7F"/>
              </a:solidFill>
              <a:ln>
                <a:solidFill>
                  <a:srgbClr val="7F7F7F"/>
                </a:solidFill>
              </a:ln>
            </c:spPr>
          </c:marker>
          <c:cat>
            <c:strRef>
              <c:f>Sheet1!$A$2:$A$6</c:f>
              <c:strCache>
                <c:ptCount val="5"/>
                <c:pt idx="0">
                  <c:v>bus</c:v>
                </c:pt>
                <c:pt idx="1">
                  <c:v>commuter rail</c:v>
                </c:pt>
                <c:pt idx="2">
                  <c:v>light rail</c:v>
                </c:pt>
                <c:pt idx="3">
                  <c:v>demand response</c:v>
                </c:pt>
                <c:pt idx="4">
                  <c:v>all modes</c:v>
                </c:pt>
              </c:strCache>
            </c:strRef>
          </c:cat>
          <c:val>
            <c:numRef>
              <c:f>Sheet1!$D$2:$D$6</c:f>
              <c:numCache>
                <c:formatCode>0</c:formatCode>
                <c:ptCount val="5"/>
                <c:pt idx="0">
                  <c:v>31.0</c:v>
                </c:pt>
                <c:pt idx="1">
                  <c:v>32.7</c:v>
                </c:pt>
                <c:pt idx="2">
                  <c:v>25.1</c:v>
                </c:pt>
                <c:pt idx="3">
                  <c:v>22.5</c:v>
                </c:pt>
                <c:pt idx="4">
                  <c:v>29.9</c:v>
                </c:pt>
              </c:numCache>
            </c:numRef>
          </c:val>
          <c:smooth val="0"/>
        </c:ser>
        <c:ser>
          <c:idx val="3"/>
          <c:order val="3"/>
          <c:tx>
            <c:strRef>
              <c:f>Sheet1!$E$1</c:f>
              <c:strCache>
                <c:ptCount val="1"/>
                <c:pt idx="0">
                  <c:v>2035 baseline</c:v>
                </c:pt>
              </c:strCache>
            </c:strRef>
          </c:tx>
          <c:spPr>
            <a:ln>
              <a:noFill/>
            </a:ln>
          </c:spPr>
          <c:marker>
            <c:symbol val="circle"/>
            <c:size val="8"/>
            <c:spPr>
              <a:solidFill>
                <a:srgbClr val="000000"/>
              </a:solidFill>
              <a:ln>
                <a:solidFill>
                  <a:srgbClr val="000000"/>
                </a:solidFill>
              </a:ln>
            </c:spPr>
          </c:marker>
          <c:dLbls>
            <c:dLbl>
              <c:idx val="0"/>
              <c:tx>
                <c:rich>
                  <a:bodyPr/>
                  <a:lstStyle/>
                  <a:p>
                    <a:r>
                      <a:rPr sz="900" b="1" i="0">
                        <a:solidFill>
                          <a:srgbClr val="000000"/>
                        </a:solidFill>
                        <a:latin typeface="Arial"/>
                      </a:rPr>
                      <a:t>+48%</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dLbl>
              <c:idx val="1"/>
              <c:tx>
                <c:rich>
                  <a:bodyPr/>
                  <a:lstStyle/>
                  <a:p>
                    <a:r>
                      <a:rPr sz="900" b="1" i="0">
                        <a:solidFill>
                          <a:srgbClr val="000000"/>
                        </a:solidFill>
                        <a:latin typeface="Arial"/>
                      </a:rPr>
                      <a:t>+43%</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dLbl>
              <c:idx val="2"/>
              <c:tx>
                <c:rich>
                  <a:bodyPr/>
                  <a:lstStyle/>
                  <a:p>
                    <a:r>
                      <a:rPr sz="900" b="1" i="0">
                        <a:solidFill>
                          <a:srgbClr val="000000"/>
                        </a:solidFill>
                        <a:latin typeface="Arial"/>
                      </a:rPr>
                      <a:t>+32%</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dLbl>
              <c:idx val="3"/>
              <c:tx>
                <c:rich>
                  <a:bodyPr/>
                  <a:lstStyle/>
                  <a:p>
                    <a:r>
                      <a:rPr sz="900" b="1" i="0">
                        <a:solidFill>
                          <a:srgbClr val="000000"/>
                        </a:solidFill>
                        <a:latin typeface="Arial"/>
                      </a:rPr>
                      <a:t>+21%</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dLbl>
              <c:idx val="4"/>
              <c:tx>
                <c:rich>
                  <a:bodyPr/>
                  <a:lstStyle/>
                  <a:p>
                    <a:r>
                      <a:rPr sz="900" b="1" i="0">
                        <a:solidFill>
                          <a:srgbClr val="000000"/>
                        </a:solidFill>
                        <a:latin typeface="Arial"/>
                      </a:rPr>
                      <a:t>+41%</a:t>
                    </a:r>
                  </a:p>
                </c:rich>
              </c:tx>
              <c:txPr>
                <a:bodyPr/>
                <a:lstStyle/>
                <a:p>
                  <a:pPr>
                    <a:defRPr sz="900" b="1" i="0">
                      <a:solidFill>
                        <a:srgbClr val="000000"/>
                      </a:solidFill>
                      <a:latin typeface="Arial"/>
                    </a:defRPr>
                  </a:pPr>
                </a:p>
              </c:txPr>
              <c:dLblPos val="r"/>
              <c:showLegendKey val="0"/>
              <c:showVal val="1"/>
              <c:showCatName val="0"/>
              <c:showSerName val="0"/>
              <c:showPercent val="0"/>
              <c:showBubbleSize val="0"/>
            </c:dLbl>
            <c:txPr>
              <a:bodyPr/>
              <a:lstStyle/>
              <a:p>
                <a:pPr>
                  <a:defRPr sz="900" b="1" i="0">
                    <a:solidFill>
                      <a:srgbClr val="000000"/>
                    </a:solidFill>
                    <a:latin typeface="Arial"/>
                  </a:defRPr>
                </a:pPr>
              </a:p>
            </c:txPr>
            <c:dLblPos val="r"/>
            <c:showLegendKey val="0"/>
            <c:showVal val="1"/>
            <c:showCatName val="0"/>
            <c:showSerName val="0"/>
            <c:showPercent val="0"/>
            <c:showBubbleSize val="0"/>
            <c:showLeaderLines val="1"/>
          </c:dLbls>
          <c:cat>
            <c:strRef>
              <c:f>Sheet1!$A$2:$A$6</c:f>
              <c:strCache>
                <c:ptCount val="5"/>
                <c:pt idx="0">
                  <c:v>bus</c:v>
                </c:pt>
                <c:pt idx="1">
                  <c:v>commuter rail</c:v>
                </c:pt>
                <c:pt idx="2">
                  <c:v>light rail</c:v>
                </c:pt>
                <c:pt idx="3">
                  <c:v>demand response</c:v>
                </c:pt>
                <c:pt idx="4">
                  <c:v>all modes</c:v>
                </c:pt>
              </c:strCache>
            </c:strRef>
          </c:cat>
          <c:val>
            <c:numRef>
              <c:f>Sheet1!$E$2:$E$6</c:f>
              <c:numCache>
                <c:formatCode>0</c:formatCode>
                <c:ptCount val="5"/>
                <c:pt idx="0">
                  <c:v>47.5</c:v>
                </c:pt>
                <c:pt idx="1">
                  <c:v>42.7</c:v>
                </c:pt>
                <c:pt idx="2">
                  <c:v>32.1</c:v>
                </c:pt>
                <c:pt idx="3">
                  <c:v>21.3</c:v>
                </c:pt>
                <c:pt idx="4">
                  <c:v>41.2</c:v>
                </c:pt>
              </c:numCache>
            </c:numRef>
          </c:val>
          <c:smooth val="0"/>
        </c:ser>
        <c:marker val="1"/>
        <c:smooth val="0"/>
        <c:axId val="2118791784"/>
        <c:axId val="2140495176"/>
      </c:lineChart>
      <c:catAx>
        <c:axId val="2118791784"/>
        <c:scaling/>
        <c:delete val="0"/>
        <c:axPos val="b"/>
        <c:majorTickMark val="none"/>
        <c:minorTickMark val="none"/>
        <c:tickLblPos val="low"/>
        <c:spPr>
          <a:ln w="9525">
            <a:solidFill>
              <a:srgbClr val="404040"/>
            </a:solidFill>
          </a:ln>
        </c:spPr>
        <c:txPr>
          <a:bodyPr rot="0" vert="horz"/>
          <a:lstStyle/>
          <a:p>
            <a:pPr>
              <a:defRPr sz="900" b="0" i="0">
                <a:solidFill>
                  <a:srgbClr val="404040"/>
                </a:solidFill>
                <a:latin typeface="Arial"/>
              </a:defRPr>
            </a:pPr>
          </a:p>
        </c:txPr>
        <c:crossAx val="2140495176"/>
        <c:crosses val="autoZero"/>
        <c:auto val="1"/>
        <c:lblAlgn val="ctr"/>
        <c:lblOffset val="100"/>
        <c:noMultiLvlLbl val="0"/>
      </c:catAx>
      <c:valAx>
        <c:axId val="2140495176"/>
        <c:scaling>
          <c:max val="70.0"/>
          <c:min val="0.0"/>
        </c:scaling>
        <c:delete val="0"/>
        <c:axPos val="l"/>
        <c:majorGridlines>
          <c:spPr>
            <a:ln w="9525">
              <a:solidFill>
                <a:srgbClr val="D9D9D9"/>
              </a:solidFill>
            </a:ln>
          </c:spPr>
        </c:majorGridlines>
        <c:numFmt formatCode="0&quot;%&quot;" sourceLinked="0"/>
        <c:majorTickMark val="none"/>
        <c:minorTickMark val="none"/>
        <c:tickLblPos val="nextTo"/>
        <c:spPr>
          <a:ln>
            <a:noFill/>
          </a:ln>
        </c:spPr>
        <c:txPr>
          <a:bodyPr/>
          <a:lstStyle/>
          <a:p>
            <a:pPr>
              <a:defRPr sz="900" b="0" i="0">
                <a:solidFill>
                  <a:srgbClr val="404040"/>
                </a:solidFill>
                <a:latin typeface="Arial"/>
              </a:defRPr>
            </a:pPr>
          </a:p>
        </c:txPr>
        <c:crossAx val="2118791784"/>
        <c:crosses val="autoZero"/>
        <c:crossBetween val="between"/>
        <c:majorUnit val="10.0"/>
      </c:valAx>
      <c:spPr>
        <a:noFill/>
      </c:spPr>
    </c:plotArea>
    <c:plotVisOnly val="1"/>
    <c:dispBlanksAs val="gap"/>
    <c:showDLblsOverMax val="0"/>
  </c:chart>
  <c:txPr>
    <a:bodyPr/>
    <a:lstStyle/>
    <a:p>
      <a:pPr>
        <a:defRPr sz="900" b="0" i="0">
          <a:solidFill>
            <a:srgbClr val="404040"/>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25"/>
          <c:y val="0.09"/>
          <c:w val="0.74"/>
          <c:h val="0.9"/>
        </c:manualLayout>
      </c:layout>
      <c:barChart>
        <c:barDir val="bar"/>
        <c:grouping val="stacked"/>
        <c:varyColors val="0"/>
        <c:ser>
          <c:idx val="0"/>
          <c:order val="0"/>
          <c:tx>
            <c:strRef>
              <c:f>Sheet1!$B$1</c:f>
              <c:strCache>
                <c:ptCount val="1"/>
                <c:pt idx="0">
                  <c:v>Start</c:v>
                </c:pt>
              </c:strCache>
            </c:strRef>
          </c:tx>
          <c:spPr>
            <a:noFill/>
            <a:ln>
              <a:noFill/>
            </a:ln>
          </c:spPr>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Sheet1!$B$2:$B$12</c:f>
              <c:numCache>
                <c:formatCode>0</c:formatCode>
                <c:ptCount val="11"/>
                <c:pt idx="0">
                  <c:v>0</c:v>
                </c:pt>
                <c:pt idx="1">
                  <c:v>0</c:v>
                </c:pt>
                <c:pt idx="2">
                  <c:v>0</c:v>
                </c:pt>
                <c:pt idx="3">
                  <c:v>0</c:v>
                </c:pt>
                <c:pt idx="4">
                  <c:v>0</c:v>
                </c:pt>
                <c:pt idx="5">
                  <c:v>1</c:v>
                </c:pt>
                <c:pt idx="6">
                  <c:v>1</c:v>
                </c:pt>
                <c:pt idx="7">
                  <c:v>3</c:v>
                </c:pt>
                <c:pt idx="8">
                  <c:v>5</c:v>
                </c:pt>
                <c:pt idx="9">
                  <c:v>0</c:v>
                </c:pt>
                <c:pt idx="10">
                  <c:v>0</c:v>
                </c:pt>
              </c:numCache>
            </c:numRef>
          </c:val>
        </c:ser>
        <c:ser>
          <c:idx val="1"/>
          <c:order val="1"/>
          <c:tx>
            <c:strRef>
              <c:f>Sheet1!$C$1</c:f>
              <c:strCache>
                <c:ptCount val="1"/>
                <c:pt idx="0">
                  <c:v>Construction</c:v>
                </c:pt>
              </c:strCache>
            </c:strRef>
          </c:tx>
          <c:spPr>
            <a:solidFill>
              <a:srgbClr val="7F7F7F"/>
            </a:solidFill>
            <a:ln>
              <a:noFill/>
            </a:ln>
          </c:spPr>
          <c:dPt>
            <c:idx val="1"/>
            <c:spPr>
              <a:solidFill>
                <a:srgbClr val="5D9732"/>
              </a:solidFill>
            </c:spPr>
          </c:dPt>
          <c:dPt>
            <c:idx val="2"/>
            <c:spPr>
              <a:solidFill>
                <a:srgbClr val="0096D7"/>
              </a:solidFill>
            </c:spPr>
          </c:dPt>
          <c:dPt>
            <c:idx val="3"/>
            <c:spPr>
              <a:solidFill>
                <a:srgbClr val="5D9732"/>
              </a:solidFill>
            </c:spPr>
          </c:dPt>
          <c:dPt>
            <c:idx val="4"/>
            <c:spPr>
              <a:solidFill>
                <a:srgbClr val="0096D7"/>
              </a:solidFill>
            </c:spPr>
          </c:dPt>
          <c:dPt>
            <c:idx val="5"/>
            <c:spPr>
              <a:solidFill>
                <a:srgbClr val="2E4B19"/>
              </a:solidFill>
            </c:spPr>
          </c:dPt>
          <c:dPt>
            <c:idx val="6"/>
            <c:spPr>
              <a:solidFill>
                <a:srgbClr val="003953"/>
              </a:solidFill>
            </c:spPr>
          </c:dPt>
          <c:dPt>
            <c:idx val="7"/>
            <c:spPr>
              <a:solidFill>
                <a:srgbClr val="0096D7"/>
              </a:solidFill>
            </c:spPr>
          </c:dPt>
          <c:dPt>
            <c:idx val="8"/>
            <c:spPr>
              <a:solidFill>
                <a:srgbClr val="003953"/>
              </a:solidFill>
            </c:spPr>
          </c:dPt>
          <c:dPt>
            <c:idx val="9"/>
            <c:spPr>
              <a:solidFill>
                <a:srgbClr val="D57883"/>
              </a:solidFill>
            </c:spPr>
          </c:dPt>
          <c:dPt>
            <c:idx val="10"/>
            <c:spPr>
              <a:solidFill>
                <a:srgbClr val="2E4B19"/>
              </a:solidFill>
            </c:spPr>
          </c:dPt>
          <c:dLbls>
            <c:dLbl>
              <c:idx val="0"/>
              <c:delete val="1"/>
            </c:dLbl>
            <c:dLbl>
              <c:idx val="1"/>
              <c:tx>
                <c:rich>
                  <a:bodyPr/>
                  <a:lstStyle/>
                  <a:p>
                    <a:r>
                      <a:rPr sz="900" b="1" i="0">
                        <a:solidFill>
                          <a:srgbClr val="000000"/>
                        </a:solidFill>
                        <a:latin typeface="Arial"/>
                      </a:rPr>
                      <a:t>$85m</a:t>
                    </a:r>
                  </a:p>
                </c:rich>
              </c:tx>
              <c:txPr>
                <a:bodyPr/>
                <a:lstStyle/>
                <a:p>
                  <a:pPr>
                    <a:defRPr sz="900" b="1" i="0">
                      <a:solidFill>
                        <a:srgbClr val="000000"/>
                      </a:solidFill>
                      <a:latin typeface="Arial"/>
                    </a:defRPr>
                  </a:pPr>
                </a:p>
              </c:txPr>
              <c:dLblPos val="ctr"/>
              <c:showLegendKey val="0"/>
              <c:showVal val="1"/>
              <c:showCatName val="0"/>
              <c:showSerName val="0"/>
              <c:showPercent val="0"/>
              <c:showBubbleSize val="0"/>
            </c:dLbl>
            <c:dLbl>
              <c:idx val="2"/>
              <c:tx>
                <c:rich>
                  <a:bodyPr/>
                  <a:lstStyle/>
                  <a:p>
                    <a:r>
                      <a:rPr sz="900" b="1" i="0">
                        <a:solidFill>
                          <a:srgbClr val="000000"/>
                        </a:solidFill>
                        <a:latin typeface="Arial"/>
                      </a:rPr>
                      <a:t>$210m</a:t>
                    </a:r>
                  </a:p>
                </c:rich>
              </c:tx>
              <c:txPr>
                <a:bodyPr/>
                <a:lstStyle/>
                <a:p>
                  <a:pPr>
                    <a:defRPr sz="900" b="1" i="0">
                      <a:solidFill>
                        <a:srgbClr val="000000"/>
                      </a:solidFill>
                      <a:latin typeface="Arial"/>
                    </a:defRPr>
                  </a:pPr>
                </a:p>
              </c:txPr>
              <c:dLblPos val="ctr"/>
              <c:showLegendKey val="0"/>
              <c:showVal val="1"/>
              <c:showCatName val="0"/>
              <c:showSerName val="0"/>
              <c:showPercent val="0"/>
              <c:showBubbleSize val="0"/>
            </c:dLbl>
            <c:dLbl>
              <c:idx val="3"/>
              <c:tx>
                <c:rich>
                  <a:bodyPr/>
                  <a:lstStyle/>
                  <a:p>
                    <a:r>
                      <a:rPr sz="900" b="1" i="0">
                        <a:solidFill>
                          <a:srgbClr val="000000"/>
                        </a:solidFill>
                        <a:latin typeface="Arial"/>
                      </a:rPr>
                      <a:t>$190m</a:t>
                    </a:r>
                  </a:p>
                </c:rich>
              </c:tx>
              <c:txPr>
                <a:bodyPr/>
                <a:lstStyle/>
                <a:p>
                  <a:pPr>
                    <a:defRPr sz="900" b="1" i="0">
                      <a:solidFill>
                        <a:srgbClr val="000000"/>
                      </a:solidFill>
                      <a:latin typeface="Arial"/>
                    </a:defRPr>
                  </a:pPr>
                </a:p>
              </c:txPr>
              <c:dLblPos val="ctr"/>
              <c:showLegendKey val="0"/>
              <c:showVal val="1"/>
              <c:showCatName val="0"/>
              <c:showSerName val="0"/>
              <c:showPercent val="0"/>
              <c:showBubbleSize val="0"/>
            </c:dLbl>
            <c:dLbl>
              <c:idx val="4"/>
              <c:tx>
                <c:rich>
                  <a:bodyPr/>
                  <a:lstStyle/>
                  <a:p>
                    <a:r>
                      <a:rPr sz="900" b="1" i="0">
                        <a:solidFill>
                          <a:srgbClr val="000000"/>
                        </a:solidFill>
                        <a:latin typeface="Arial"/>
                      </a:rPr>
                      <a:t>$1,350m</a:t>
                    </a:r>
                  </a:p>
                </c:rich>
              </c:tx>
              <c:txPr>
                <a:bodyPr/>
                <a:lstStyle/>
                <a:p>
                  <a:pPr>
                    <a:defRPr sz="900" b="1" i="0">
                      <a:solidFill>
                        <a:srgbClr val="000000"/>
                      </a:solidFill>
                      <a:latin typeface="Arial"/>
                    </a:defRPr>
                  </a:pPr>
                </a:p>
              </c:txPr>
              <c:dLblPos val="ctr"/>
              <c:showLegendKey val="0"/>
              <c:showVal val="1"/>
              <c:showCatName val="0"/>
              <c:showSerName val="0"/>
              <c:showPercent val="0"/>
              <c:showBubbleSize val="0"/>
            </c:dLbl>
            <c:dLbl>
              <c:idx val="5"/>
              <c:tx>
                <c:rich>
                  <a:bodyPr/>
                  <a:lstStyle/>
                  <a:p>
                    <a:r>
                      <a:rPr sz="900" b="1" i="0">
                        <a:solidFill>
                          <a:srgbClr val="FFFFFF"/>
                        </a:solidFill>
                        <a:latin typeface="Arial"/>
                      </a:rPr>
                      <a:t>$180m</a:t>
                    </a:r>
                  </a:p>
                </c:rich>
              </c:tx>
              <c:txPr>
                <a:bodyPr/>
                <a:lstStyle/>
                <a:p>
                  <a:pPr>
                    <a:defRPr sz="900" b="1" i="0">
                      <a:solidFill>
                        <a:srgbClr val="FFFFFF"/>
                      </a:solidFill>
                      <a:latin typeface="Arial"/>
                    </a:defRPr>
                  </a:pPr>
                </a:p>
              </c:txPr>
              <c:dLblPos val="ctr"/>
              <c:showLegendKey val="0"/>
              <c:showVal val="1"/>
              <c:showCatName val="0"/>
              <c:showSerName val="0"/>
              <c:showPercent val="0"/>
              <c:showBubbleSize val="0"/>
            </c:dLbl>
            <c:dLbl>
              <c:idx val="6"/>
              <c:tx>
                <c:rich>
                  <a:bodyPr/>
                  <a:lstStyle/>
                  <a:p>
                    <a:r>
                      <a:rPr sz="900" b="1" i="0">
                        <a:solidFill>
                          <a:srgbClr val="FFFFFF"/>
                        </a:solidFill>
                        <a:latin typeface="Arial"/>
                      </a:rPr>
                      <a:t>$260m</a:t>
                    </a:r>
                  </a:p>
                </c:rich>
              </c:tx>
              <c:txPr>
                <a:bodyPr/>
                <a:lstStyle/>
                <a:p>
                  <a:pPr>
                    <a:defRPr sz="900" b="1" i="0">
                      <a:solidFill>
                        <a:srgbClr val="FFFFFF"/>
                      </a:solidFill>
                      <a:latin typeface="Arial"/>
                    </a:defRPr>
                  </a:pPr>
                </a:p>
              </c:txPr>
              <c:dLblPos val="inBase"/>
              <c:showLegendKey val="0"/>
              <c:showVal val="1"/>
              <c:showCatName val="0"/>
              <c:showSerName val="0"/>
              <c:showPercent val="0"/>
              <c:showBubbleSize val="0"/>
            </c:dLbl>
            <c:dLbl>
              <c:idx val="7"/>
              <c:tx>
                <c:rich>
                  <a:bodyPr/>
                  <a:lstStyle/>
                  <a:p>
                    <a:r>
                      <a:rPr sz="900" b="1" i="0">
                        <a:solidFill>
                          <a:srgbClr val="000000"/>
                        </a:solidFill>
                        <a:latin typeface="Arial"/>
                      </a:rPr>
                      <a:t>$240m</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8"/>
              <c:tx>
                <c:rich>
                  <a:bodyPr/>
                  <a:lstStyle/>
                  <a:p>
                    <a:r>
                      <a:rPr sz="900" b="1" i="0">
                        <a:solidFill>
                          <a:srgbClr val="FFFFFF"/>
                        </a:solidFill>
                        <a:latin typeface="Arial"/>
                      </a:rPr>
                      <a:t>$320m</a:t>
                    </a:r>
                  </a:p>
                </c:rich>
              </c:tx>
              <c:txPr>
                <a:bodyPr/>
                <a:lstStyle/>
                <a:p>
                  <a:pPr>
                    <a:defRPr sz="900" b="1" i="0">
                      <a:solidFill>
                        <a:srgbClr val="FFFFFF"/>
                      </a:solidFill>
                      <a:latin typeface="Arial"/>
                    </a:defRPr>
                  </a:pPr>
                </a:p>
              </c:txPr>
              <c:dLblPos val="ctr"/>
              <c:showLegendKey val="0"/>
              <c:showVal val="1"/>
              <c:showCatName val="0"/>
              <c:showSerName val="0"/>
              <c:showPercent val="0"/>
              <c:showBubbleSize val="0"/>
            </c:dLbl>
            <c:dLbl>
              <c:idx val="9"/>
              <c:tx>
                <c:rich>
                  <a:bodyPr/>
                  <a:lstStyle/>
                  <a:p>
                    <a:r>
                      <a:rPr sz="900" b="1" i="0">
                        <a:solidFill>
                          <a:srgbClr val="000000"/>
                        </a:solidFill>
                        <a:latin typeface="Arial"/>
                      </a:rPr>
                      <a:t>$400m</a:t>
                    </a:r>
                  </a:p>
                </c:rich>
              </c:tx>
              <c:txPr>
                <a:bodyPr/>
                <a:lstStyle/>
                <a:p>
                  <a:pPr>
                    <a:defRPr sz="900" b="1" i="0">
                      <a:solidFill>
                        <a:srgbClr val="000000"/>
                      </a:solidFill>
                      <a:latin typeface="Arial"/>
                    </a:defRPr>
                  </a:pPr>
                </a:p>
              </c:txPr>
              <c:dLblPos val="inBase"/>
              <c:showLegendKey val="0"/>
              <c:showVal val="1"/>
              <c:showCatName val="0"/>
              <c:showSerName val="0"/>
              <c:showPercent val="0"/>
              <c:showBubbleSize val="0"/>
            </c:dLbl>
            <c:dLbl>
              <c:idx val="10"/>
              <c:tx>
                <c:rich>
                  <a:bodyPr/>
                  <a:lstStyle/>
                  <a:p>
                    <a:r>
                      <a:rPr sz="900" b="1" i="0">
                        <a:solidFill>
                          <a:srgbClr val="FFFFFF"/>
                        </a:solidFill>
                        <a:latin typeface="Arial"/>
                      </a:rPr>
                      <a:t>$680m</a:t>
                    </a:r>
                  </a:p>
                </c:rich>
              </c:tx>
              <c:txPr>
                <a:bodyPr/>
                <a:lstStyle/>
                <a:p>
                  <a:pPr>
                    <a:defRPr sz="900" b="1" i="0">
                      <a:solidFill>
                        <a:srgbClr val="FFFFFF"/>
                      </a:solidFill>
                      <a:latin typeface="Arial"/>
                    </a:defRPr>
                  </a:pPr>
                </a:p>
              </c:txPr>
              <c:dLblPos val="inBase"/>
              <c:showLegendKey val="0"/>
              <c:showVal val="1"/>
              <c:showCatName val="0"/>
              <c:showSerName val="0"/>
              <c:showPercent val="0"/>
              <c:showBubbleSize val="0"/>
            </c:dLbl>
            <c:txPr>
              <a:bodyPr/>
              <a:lstStyle/>
              <a:p>
                <a:pPr>
                  <a:defRPr sz="900" b="1" i="0">
                    <a:solidFill>
                      <a:srgbClr val="00000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Sheet1!$C$2:$C$12</c:f>
              <c:numCache>
                <c:formatCode>0</c:formatCode>
                <c:ptCount val="11"/>
                <c:pt idx="0">
                  <c:v>0</c:v>
                </c:pt>
                <c:pt idx="1">
                  <c:v>2</c:v>
                </c:pt>
                <c:pt idx="2">
                  <c:v>3</c:v>
                </c:pt>
                <c:pt idx="3">
                  <c:v>4</c:v>
                </c:pt>
                <c:pt idx="4">
                  <c:v>5</c:v>
                </c:pt>
                <c:pt idx="5">
                  <c:v>4</c:v>
                </c:pt>
                <c:pt idx="6">
                  <c:v>6</c:v>
                </c:pt>
                <c:pt idx="7">
                  <c:v>3</c:v>
                </c:pt>
                <c:pt idx="8">
                  <c:v>5</c:v>
                </c:pt>
                <c:pt idx="9">
                  <c:v>10</c:v>
                </c:pt>
                <c:pt idx="10">
                  <c:v>10</c:v>
                </c:pt>
              </c:numCache>
            </c:numRef>
          </c:val>
        </c:ser>
        <c:ser>
          <c:idx val="2"/>
          <c:order val="2"/>
          <c:tx>
            <c:strRef>
              <c:f>Sheet1!$D$1</c:f>
              <c:strCache>
                <c:ptCount val="1"/>
                <c:pt idx="0">
                  <c:v>Service</c:v>
                </c:pt>
              </c:strCache>
            </c:strRef>
          </c:tx>
          <c:spPr>
            <a:noFill/>
            <a:ln>
              <a:noFill/>
            </a:ln>
          </c:spPr>
          <c:dLbls>
            <c:dLbl>
              <c:idx val="10"/>
              <c:delete val="1"/>
            </c:dLbl>
            <c:dLbl>
              <c:idx val="9"/>
              <c:delete val="1"/>
            </c:dLbl>
            <c:dLbl>
              <c:idx val="8"/>
              <c:delete val="1"/>
            </c:dLbl>
            <c:dLbl>
              <c:idx val="6"/>
              <c:delete val="1"/>
            </c:dLbl>
            <c:dLbl>
              <c:idx val="5"/>
              <c:delete val="1"/>
            </c:dLbl>
            <c:dLbl>
              <c:idx val="3"/>
              <c:delete val="1"/>
            </c:dLbl>
            <c:dLbl>
              <c:idx val="1"/>
              <c:delete val="1"/>
            </c:dLbl>
            <c:dLbl>
              <c:idx val="0"/>
              <c:delete val="1"/>
            </c:dLbl>
            <c:dLbl>
              <c:idx val="2"/>
              <c:tx>
                <c:rich>
                  <a:bodyPr/>
                  <a:lstStyle/>
                  <a:p>
                    <a:r>
                      <a:rPr sz="900" b="1" i="0">
                        <a:solidFill>
                          <a:srgbClr val="404040"/>
                        </a:solidFill>
                        <a:latin typeface="Arial"/>
                      </a:rPr>
                      <a:t>in service 2028</a:t>
                    </a:r>
                  </a:p>
                </c:rich>
              </c:tx>
              <c:txPr>
                <a:bodyPr/>
                <a:lstStyle/>
                <a:p>
                  <a:pPr>
                    <a:defRPr sz="900" b="1" i="0">
                      <a:solidFill>
                        <a:srgbClr val="404040"/>
                      </a:solidFill>
                      <a:latin typeface="Arial"/>
                    </a:defRPr>
                  </a:pPr>
                </a:p>
              </c:txPr>
              <c:dLblPos val="inBase"/>
              <c:showLegendKey val="0"/>
              <c:showVal val="1"/>
              <c:showCatName val="0"/>
              <c:showSerName val="0"/>
              <c:showPercent val="0"/>
              <c:showBubbleSize val="0"/>
            </c:dLbl>
            <c:dLbl>
              <c:idx val="4"/>
              <c:tx>
                <c:rich>
                  <a:bodyPr/>
                  <a:lstStyle/>
                  <a:p>
                    <a:r>
                      <a:rPr sz="900" b="1" i="0">
                        <a:solidFill>
                          <a:srgbClr val="404040"/>
                        </a:solidFill>
                        <a:latin typeface="Arial"/>
                      </a:rPr>
                      <a:t>in service 2030</a:t>
                    </a:r>
                  </a:p>
                </c:rich>
              </c:tx>
              <c:txPr>
                <a:bodyPr/>
                <a:lstStyle/>
                <a:p>
                  <a:pPr>
                    <a:defRPr sz="900" b="1" i="0">
                      <a:solidFill>
                        <a:srgbClr val="404040"/>
                      </a:solidFill>
                      <a:latin typeface="Arial"/>
                    </a:defRPr>
                  </a:pPr>
                </a:p>
              </c:txPr>
              <c:dLblPos val="inBase"/>
              <c:showLegendKey val="0"/>
              <c:showVal val="1"/>
              <c:showCatName val="0"/>
              <c:showSerName val="0"/>
              <c:showPercent val="0"/>
              <c:showBubbleSize val="0"/>
            </c:dLbl>
            <c:dLbl>
              <c:idx val="7"/>
              <c:tx>
                <c:rich>
                  <a:bodyPr/>
                  <a:lstStyle/>
                  <a:p>
                    <a:r>
                      <a:rPr sz="900" b="1" i="0">
                        <a:solidFill>
                          <a:srgbClr val="404040"/>
                        </a:solidFill>
                        <a:latin typeface="Arial"/>
                      </a:rPr>
                      <a:t>in service 2031</a:t>
                    </a:r>
                  </a:p>
                </c:rich>
              </c:tx>
              <c:txPr>
                <a:bodyPr/>
                <a:lstStyle/>
                <a:p>
                  <a:pPr>
                    <a:defRPr sz="900" b="1" i="0">
                      <a:solidFill>
                        <a:srgbClr val="404040"/>
                      </a:solidFill>
                      <a:latin typeface="Arial"/>
                    </a:defRPr>
                  </a:pPr>
                </a:p>
              </c:txPr>
              <c:dLblPos val="inBase"/>
              <c:showLegendKey val="0"/>
              <c:showVal val="1"/>
              <c:showCatName val="0"/>
              <c:showSerName val="0"/>
              <c:showPercent val="0"/>
              <c:showBubbleSize val="0"/>
            </c:dLbl>
            <c:txPr>
              <a:bodyPr/>
              <a:lstStyle/>
              <a:p>
                <a:pPr>
                  <a:defRPr sz="900" b="1" i="0">
                    <a:solidFill>
                      <a:srgbClr val="404040"/>
                    </a:solidFill>
                    <a:latin typeface="Arial"/>
                  </a:defRPr>
                </a:pPr>
              </a:p>
            </c:txPr>
            <c:dLblPos val="inBase"/>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Sheet1!$D$2:$D$12</c:f>
              <c:numCache>
                <c:formatCode>0</c:formatCode>
                <c:ptCount val="11"/>
                <c:pt idx="0">
                  <c:v>0</c:v>
                </c:pt>
                <c:pt idx="1">
                  <c:v>0</c:v>
                </c:pt>
                <c:pt idx="2">
                  <c:v>0.0001</c:v>
                </c:pt>
                <c:pt idx="3">
                  <c:v>0</c:v>
                </c:pt>
                <c:pt idx="4">
                  <c:v>0.0001</c:v>
                </c:pt>
                <c:pt idx="5">
                  <c:v>0</c:v>
                </c:pt>
                <c:pt idx="6">
                  <c:v>0</c:v>
                </c:pt>
                <c:pt idx="7">
                  <c:v>0.0001</c:v>
                </c:pt>
                <c:pt idx="8">
                  <c:v>0</c:v>
                </c:pt>
                <c:pt idx="9">
                  <c:v>0</c:v>
                </c:pt>
                <c:pt idx="10">
                  <c:v>0</c:v>
                </c:pt>
              </c:numCache>
            </c:numRef>
          </c:val>
        </c:ser>
        <c:ser>
          <c:idx val="3"/>
          <c:order val="3"/>
          <c:tx>
            <c:strRef>
              <c:f>Sheet1!$E$1</c:f>
              <c:strCache>
                <c:ptCount val="1"/>
                <c:pt idx="0">
                  <c:v>2026</c:v>
                </c:pt>
              </c:strCache>
            </c:strRef>
          </c:tx>
          <c:spPr>
            <a:solidFill>
              <a:srgbClr val="E7EFF8"/>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2026</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Sheet1!$E$2:$E$12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ser>
          <c:idx val="4"/>
          <c:order val="4"/>
          <c:tx>
            <c:strRef>
              <c:f>Sheet1!$F$1</c:f>
              <c:strCache>
                <c:ptCount val="1"/>
                <c:pt idx="0">
                  <c:v>2027</c:v>
                </c:pt>
              </c:strCache>
            </c:strRef>
          </c:tx>
          <c:spPr>
            <a:solidFill>
              <a:srgbClr val="CBDDF0"/>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2027</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Sheet1!$F$2:$F$12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ser>
          <c:idx val="5"/>
          <c:order val="5"/>
          <c:tx>
            <c:strRef>
              <c:f>Sheet1!$G$1</c:f>
              <c:strCache>
                <c:ptCount val="1"/>
                <c:pt idx="0">
                  <c:v>2028</c:v>
                </c:pt>
              </c:strCache>
            </c:strRef>
          </c:tx>
          <c:spPr>
            <a:solidFill>
              <a:srgbClr val="E7EFF8"/>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2028</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Sheet1!$G$2:$G$12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ser>
          <c:idx val="6"/>
          <c:order val="6"/>
          <c:tx>
            <c:strRef>
              <c:f>Sheet1!$H$1</c:f>
              <c:strCache>
                <c:ptCount val="1"/>
                <c:pt idx="0">
                  <c:v>2029</c:v>
                </c:pt>
              </c:strCache>
            </c:strRef>
          </c:tx>
          <c:spPr>
            <a:solidFill>
              <a:srgbClr val="CBDDF0"/>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2029</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Sheet1!$H$2:$H$12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ser>
          <c:idx val="7"/>
          <c:order val="7"/>
          <c:tx>
            <c:strRef>
              <c:f>Sheet1!$I$1</c:f>
              <c:strCache>
                <c:ptCount val="1"/>
                <c:pt idx="0">
                  <c:v>2030</c:v>
                </c:pt>
              </c:strCache>
            </c:strRef>
          </c:tx>
          <c:spPr>
            <a:solidFill>
              <a:srgbClr val="E7EFF8"/>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2030</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Sheet1!$I$2:$I$12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ser>
          <c:idx val="8"/>
          <c:order val="8"/>
          <c:tx>
            <c:strRef>
              <c:f>Sheet1!$J$1</c:f>
              <c:strCache>
                <c:ptCount val="1"/>
                <c:pt idx="0">
                  <c:v>2031</c:v>
                </c:pt>
              </c:strCache>
            </c:strRef>
          </c:tx>
          <c:spPr>
            <a:solidFill>
              <a:srgbClr val="CBDDF0"/>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2031</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Sheet1!$J$2:$J$12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ser>
          <c:idx val="9"/>
          <c:order val="9"/>
          <c:tx>
            <c:strRef>
              <c:f>Sheet1!$K$1</c:f>
              <c:strCache>
                <c:ptCount val="1"/>
                <c:pt idx="0">
                  <c:v>2032</c:v>
                </c:pt>
              </c:strCache>
            </c:strRef>
          </c:tx>
          <c:spPr>
            <a:solidFill>
              <a:srgbClr val="E7EFF8"/>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2032</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Sheet1!$K$2:$K$12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ser>
          <c:idx val="10"/>
          <c:order val="10"/>
          <c:tx>
            <c:strRef>
              <c:f>Sheet1!$L$1</c:f>
              <c:strCache>
                <c:ptCount val="1"/>
                <c:pt idx="0">
                  <c:v>2033</c:v>
                </c:pt>
              </c:strCache>
            </c:strRef>
          </c:tx>
          <c:spPr>
            <a:solidFill>
              <a:srgbClr val="CBDDF0"/>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2033</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Sheet1!$L$2:$L$12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ser>
          <c:idx val="11"/>
          <c:order val="11"/>
          <c:tx>
            <c:strRef>
              <c:f>Sheet1!$M$1</c:f>
              <c:strCache>
                <c:ptCount val="1"/>
                <c:pt idx="0">
                  <c:v>2034</c:v>
                </c:pt>
              </c:strCache>
            </c:strRef>
          </c:tx>
          <c:spPr>
            <a:solidFill>
              <a:srgbClr val="E7EFF8"/>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2034</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Sheet1!$M$2:$M$12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ser>
          <c:idx val="12"/>
          <c:order val="12"/>
          <c:tx>
            <c:strRef>
              <c:f>Sheet1!$N$1</c:f>
              <c:strCache>
                <c:ptCount val="1"/>
                <c:pt idx="0">
                  <c:v>2035</c:v>
                </c:pt>
              </c:strCache>
            </c:strRef>
          </c:tx>
          <c:spPr>
            <a:solidFill>
              <a:srgbClr val="CBDDF0"/>
            </a:solidFill>
            <a:ln>
              <a:noFill/>
            </a:ln>
          </c:spPr>
          <c:dLbls>
            <c:dLbl>
              <c:idx val="10"/>
              <c:delete val="1"/>
            </c:dLbl>
            <c:dLbl>
              <c:idx val="9"/>
              <c:delete val="1"/>
            </c:dLbl>
            <c:dLbl>
              <c:idx val="8"/>
              <c:delete val="1"/>
            </c:dLbl>
            <c:dLbl>
              <c:idx val="7"/>
              <c:delete val="1"/>
            </c:dLbl>
            <c:dLbl>
              <c:idx val="6"/>
              <c:delete val="1"/>
            </c:dLbl>
            <c:dLbl>
              <c:idx val="5"/>
              <c:delete val="1"/>
            </c:dLbl>
            <c:dLbl>
              <c:idx val="4"/>
              <c:delete val="1"/>
            </c:dLbl>
            <c:dLbl>
              <c:idx val="3"/>
              <c:delete val="1"/>
            </c:dLbl>
            <c:dLbl>
              <c:idx val="2"/>
              <c:delete val="1"/>
            </c:dLbl>
            <c:dLbl>
              <c:idx val="1"/>
              <c:delete val="1"/>
            </c:dLbl>
            <c:dLbl>
              <c:idx val="0"/>
              <c:tx>
                <c:rich>
                  <a:bodyPr/>
                  <a:lstStyle/>
                  <a:p>
                    <a:r>
                      <a:rPr sz="900" b="0" i="0">
                        <a:solidFill>
                          <a:srgbClr val="404040"/>
                        </a:solidFill>
                        <a:latin typeface="Arial"/>
                      </a:rPr>
                      <a:t>2035</a:t>
                    </a:r>
                  </a:p>
                </c:rich>
              </c:tx>
              <c:txPr>
                <a:bodyPr/>
                <a:lstStyle/>
                <a:p>
                  <a:pPr>
                    <a:defRPr sz="900" b="0" i="0">
                      <a:solidFill>
                        <a:srgbClr val="404040"/>
                      </a:solidFill>
                      <a:latin typeface="Arial"/>
                    </a:defRPr>
                  </a:pPr>
                </a:p>
              </c:txPr>
              <c:dLblPos val="ctr"/>
              <c:showLegendKey val="0"/>
              <c:showVal val="1"/>
              <c:showCatName val="0"/>
              <c:showSerName val="0"/>
              <c:showPercent val="0"/>
              <c:showBubbleSize val="0"/>
            </c:dLbl>
            <c:txPr>
              <a:bodyPr/>
              <a:lstStyle/>
              <a:p>
                <a:pPr>
                  <a:defRPr sz="900" b="0" i="0">
                    <a:solidFill>
                      <a:srgbClr val="404040"/>
                    </a:solidFill>
                    <a:latin typeface="Arial"/>
                  </a:defRPr>
                </a:pPr>
              </a:p>
            </c:txPr>
            <c:dLblPos val="ctr"/>
            <c:showLegendKey val="0"/>
            <c:showVal val="1"/>
            <c:showCatName val="0"/>
            <c:showSerName val="0"/>
            <c:showPercent val="0"/>
            <c:showBubbleSize val="0"/>
            <c:showLeaderLines val="1"/>
          </c:dLbls>
          <c:cat>
            <c:strRef>
              <c:f>Sheet1!$A$2:$A$12</c:f>
              <c:strCache>
                <c:ptCount val="11"/>
                <c:pt idx="0">
                  <c:v>year</c:v>
                </c:pt>
                <c:pt idx="1">
                  <c:v>Fare system replacement</c:v>
                </c:pt>
                <c:pt idx="2">
                  <c:v>Lakefront BRT (Route 1)</c:v>
                </c:pt>
                <c:pt idx="3">
                  <c:v>Commuter rail signal upgrade</c:v>
                </c:pt>
                <c:pt idx="4">
                  <c:v>Blue Line extension to Northgate</c:v>
                </c:pt>
                <c:pt idx="5">
                  <c:v>Eastside garage electrification</c:v>
                </c:pt>
                <c:pt idx="6">
                  <c:v>Light rail vehicle overhaul</c:v>
                </c:pt>
                <c:pt idx="7">
                  <c:v>Crosstown BRT (Route 2)</c:v>
                </c:pt>
                <c:pt idx="8">
                  <c:v>Union Station rehabilitation</c:v>
                </c:pt>
                <c:pt idx="9">
                  <c:v>Station accessibility program</c:v>
                </c:pt>
                <c:pt idx="10">
                  <c:v>Battery-electric bus replacement</c:v>
                </c:pt>
              </c:strCache>
            </c:strRef>
          </c:cat>
          <c:val>
            <c:numRef>
              <c:f>Sheet1!$N$2:$N$12</c:f>
              <c:numCache>
                <c:formatCode>0</c:formatCode>
                <c:ptCount val="11"/>
                <c:pt idx="0">
                  <c:v>1</c:v>
                </c:pt>
                <c:pt idx="1">
                  <c:v>0</c:v>
                </c:pt>
                <c:pt idx="2">
                  <c:v>0</c:v>
                </c:pt>
                <c:pt idx="3">
                  <c:v>0</c:v>
                </c:pt>
                <c:pt idx="4">
                  <c:v>0</c:v>
                </c:pt>
                <c:pt idx="5">
                  <c:v>0</c:v>
                </c:pt>
                <c:pt idx="6">
                  <c:v>0</c:v>
                </c:pt>
                <c:pt idx="7">
                  <c:v>0</c:v>
                </c:pt>
                <c:pt idx="8">
                  <c:v>0</c:v>
                </c:pt>
                <c:pt idx="9">
                  <c:v>0</c:v>
                </c:pt>
                <c:pt idx="10">
                  <c:v>0</c:v>
                </c:pt>
              </c:numCache>
            </c:numRef>
          </c:val>
        </c:ser>
        <c:gapWidth val="30"/>
        <c:overlap val="100"/>
        <c:axId val="-2068027336"/>
        <c:axId val="-2113994440"/>
      </c:barChart>
      <c:catAx>
        <c:axId val="-2068027336"/>
        <c:scaling>
          <c:orientation val="maxMin"/>
        </c:scaling>
        <c:delete val="0"/>
        <c:axPos val="l"/>
        <c:majorTickMark val="none"/>
        <c:minorTickMark val="none"/>
        <c:tickLblPos val="nextTo"/>
        <c:spPr>
          <a:ln>
            <a:noFill/>
          </a:ln>
        </c:spPr>
        <c:txPr>
          <a:bodyPr rot="0" vert="horz"/>
          <a:lstStyle/>
          <a:p>
            <a:pPr>
              <a:defRPr sz="900" b="0" i="0">
                <a:solidFill>
                  <a:srgbClr val="404040"/>
                </a:solidFill>
                <a:latin typeface="Arial"/>
              </a:defRPr>
            </a:pPr>
          </a:p>
        </c:txPr>
        <c:crossAx val="-2113994440"/>
        <c:crosses val="autoZero"/>
        <c:auto val="1"/>
        <c:lblAlgn val="ctr"/>
        <c:lblOffset val="100"/>
        <c:noMultiLvlLbl val="0"/>
      </c:catAx>
      <c:valAx>
        <c:axId val="-2113994440"/>
        <c:scaling>
          <c:max val="10.0"/>
          <c:min val="0.0"/>
        </c:scaling>
        <c:delete/>
        <c:axPos val="b"/>
        <c:majorTickMark val="out"/>
        <c:minorTickMark val="none"/>
        <c:tickLblPos val="nextTo"/>
        <c:crossAx val="-2068027336"/>
        <c:crosses val="autoZero"/>
        <c:crossBetween val="between"/>
        <c:majorUnit val="1.0"/>
      </c:valAx>
      <c:spPr>
        <a:noFill/>
      </c:spPr>
    </c:plotArea>
    <c:dispBlanksAs val="gap"/>
  </c:chart>
  <c:txPr>
    <a:bodyPr/>
    <a:lstStyle/>
    <a:p>
      <a:pPr>
        <a:defRPr sz="900" b="0" i="0">
          <a:solidFill>
            <a:srgbClr val="40404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figures on this page are illustrative: they were invented for a fictional agency, the Lakeshore Regional Transit Authority, and computed in figures.py. They describe no real transit system. Boardings fell from 96.9 million in 2019 to 56.1 million in 2020 and were 88.0 million in 2025. The baseline passes the 2019 level in 2029 (100.5 million) and reaches 114.9 million in 2035; the low and high cases end at 101.1 and 126.4 million. Light rail grows 45% from 2025 to 2035, bus 25%, commuter rail 25%, demand response 36%.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figures on this page are illustrative: they were invented for a fictional agency, the Lakeshore Regional Transit Authority, and computed in figures.py. They describe no real transit system. Fare revenue was $152 million in 2019 and $120 million in 2025; the baseline reaches $180 million in 2035 ($159 to $198 million across cases). Operating cost goes from $1,062 million to $1,507 million. Recovery was 16.8% in 2019 and 11.3% in 2025, and ends 2035 at 10.5% (low), 12.0% (baseline) and 13.2% (high).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figures on this page are illustrative: they were invented for a fictional agency, the Lakeshore Regional Transit Authority, and computed in figures.py. They describe no real transit system. The ten-year plan totals $5,845 million. Annual spending peaks at $765 million in 2029. Expansion spends $1,210 million of its $1,800 million in 2027-2030 (67%).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figures on this page are illustrative: they were invented for a fictional agency, the Lakeshore Regional Transit Authority, and computed in figures.py. They describe no real transit system. Need $5,845 million; identified $4,930 million; gap $915 million (15.7% of need). Scenario gaps run from $465 million (sales tax renewed) to $2,283 million (both downsides).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figures on this page are illustrative: they were invented for a fictional agency, the Lakeshore Regional Transit Authority, and computed in figures.py. They describe no real transit system. Systemwide cost per boarding was $9.29 in 2019 and $12.07 in 2025; it ends 2035 at $13.12 in the baseline, $11.92 with high ridership and $14.91 with low. By mode, 2035 against 2019: bus +48%, commuter rail +43%, light rail +32%, demand response +21%, all modes +41%.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figures on this page are illustrative: they were invented for a fictional agency, the Lakeshore Regional Transit Authority, and computed in figures.py. They describe no real transit system. Projects ending by 2030: Fare system replacement, Lakefront BRT (Route 1), Commuter rail signal upgrade, Blue Line extension to Northgate, Eastside garage electrification. Running 2026-2035: Station accessibility program, Battery-electric bus replacement.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image" Target="../media/image1.png"/><Relationship Id="rId5" Type="http://schemas.openxmlformats.org/officeDocument/2006/relationships/tags" Target="../tags/tag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image" Target="../media/image1.png"/><Relationship Id="rId6" Type="http://schemas.openxmlformats.org/officeDocument/2006/relationships/tags" Target="../tags/tag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image" Target="../media/image1.png"/><Relationship Id="rId5" Type="http://schemas.openxmlformats.org/officeDocument/2006/relationships/tags" Target="../tags/tag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image" Target="../media/image1.png"/><Relationship Id="rId4" Type="http://schemas.openxmlformats.org/officeDocument/2006/relationships/tags" Target="../tags/tag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 Id="rId4" Type="http://schemas.openxmlformats.org/officeDocument/2006/relationships/image" Target="../media/image1.png"/><Relationship Id="rId5" Type="http://schemas.openxmlformats.org/officeDocument/2006/relationships/tags" Target="../tags/tag5.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image" Target="../media/image1.png"/><Relationship Id="rId4" Type="http://schemas.openxmlformats.org/officeDocument/2006/relationships/tags" Target="../tags/tag6.xml"/><Relationship Id="rId5"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37591" y="110082"/>
            <a:ext cx="8234934" cy="792480"/>
          </a:xfrm>
          <a:prstGeom prst="rect">
            <a:avLst/>
          </a:prstGeom>
          <a:noFill/>
        </p:spPr>
        <p:txBody>
          <a:bodyPr wrap="square" lIns="0" tIns="0" rIns="0" bIns="0" anchor="t">
            <a:noAutofit/>
          </a:bodyPr>
          <a:lstStyle/>
          <a:p>
            <a:pPr algn="l" marL="0" indent="0">
              <a:lnSpc>
                <a:spcPts val="3120"/>
              </a:lnSpc>
              <a:spcBef>
                <a:spcPts val="0"/>
              </a:spcBef>
              <a:spcAft>
                <a:spcPts val="0"/>
              </a:spcAft>
              <a:buNone/>
            </a:pPr>
            <a:r>
              <a:rPr sz="2600" b="0" i="0">
                <a:solidFill>
                  <a:srgbClr val="0096D7"/>
                </a:solidFill>
                <a:latin typeface="Times New Roman"/>
              </a:rPr>
              <a:t>Ridership passes its 2019 level in 2029 in the baseline; light</a:t>
            </a:r>
            <a:br/>
            <a:r>
              <a:rPr sz="2600" b="0" i="0">
                <a:solidFill>
                  <a:srgbClr val="0096D7"/>
                </a:solidFill>
                <a:latin typeface="Times New Roman"/>
              </a:rPr>
              <a:t>rail grows fastest, up 45% from 2025 to 2035</a:t>
            </a:r>
          </a:p>
        </p:txBody>
      </p:sp>
      <p:sp>
        <p:nvSpPr>
          <p:cNvPr id="3" name="pl-hd"/>
          <p:cNvSpPr txBox="1"/>
          <p:nvPr/>
        </p:nvSpPr>
        <p:spPr>
          <a:xfrm>
            <a:off x="537591" y="1001434"/>
            <a:ext cx="4517306"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Annual boardings, all modes, by ridership case</a:t>
            </a:r>
          </a:p>
          <a:p>
            <a:pPr algn="l" marL="0" indent="0">
              <a:lnSpc>
                <a:spcPts val="1200"/>
              </a:lnSpc>
              <a:spcBef>
                <a:spcPts val="0"/>
              </a:spcBef>
              <a:spcAft>
                <a:spcPts val="0"/>
              </a:spcAft>
              <a:buNone/>
            </a:pPr>
            <a:r>
              <a:rPr sz="1000" b="0" i="0">
                <a:solidFill>
                  <a:srgbClr val="000000"/>
                </a:solidFill>
                <a:latin typeface="Arial"/>
              </a:rPr>
              <a:t>millions</a:t>
            </a:r>
          </a:p>
        </p:txBody>
      </p:sp>
      <p:graphicFrame>
        <p:nvGraphicFramePr>
          <p:cNvPr id="4" name="c-total"/>
          <p:cNvGraphicFramePr>
            <a:graphicFrameLocks noGrp="1"/>
          </p:cNvGraphicFramePr>
          <p:nvPr/>
        </p:nvGraphicFramePr>
        <p:xfrm>
          <a:off x="537591" y="1420346"/>
          <a:ext cx="4517306" cy="2707718"/>
        </p:xfrm>
        <a:graphic>
          <a:graphicData uri="http://schemas.openxmlformats.org/drawingml/2006/chart">
            <c:chart xmlns:c="http://schemas.openxmlformats.org/drawingml/2006/chart" r:id="rId2"/>
          </a:graphicData>
        </a:graphic>
      </p:graphicFrame>
      <p:sp>
        <p:nvSpPr>
          <p:cNvPr id="5" name="pr-hd"/>
          <p:cNvSpPr txBox="1"/>
          <p:nvPr/>
        </p:nvSpPr>
        <p:spPr>
          <a:xfrm>
            <a:off x="5426372" y="1001434"/>
            <a:ext cx="3346153"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Growth in boardings, 2025-2035, by mode</a:t>
            </a:r>
          </a:p>
          <a:p>
            <a:pPr algn="l" marL="0" indent="0">
              <a:lnSpc>
                <a:spcPts val="1200"/>
              </a:lnSpc>
              <a:spcBef>
                <a:spcPts val="0"/>
              </a:spcBef>
              <a:spcAft>
                <a:spcPts val="0"/>
              </a:spcAft>
              <a:buNone/>
            </a:pPr>
            <a:r>
              <a:rPr sz="1000" b="0" i="0">
                <a:solidFill>
                  <a:srgbClr val="000000"/>
                </a:solidFill>
                <a:latin typeface="Arial"/>
              </a:rPr>
              <a:t>percent, baseline; boardings in 2025 and 2035 at right</a:t>
            </a:r>
          </a:p>
        </p:txBody>
      </p:sp>
      <p:graphicFrame>
        <p:nvGraphicFramePr>
          <p:cNvPr id="6" name="c-growth"/>
          <p:cNvGraphicFramePr>
            <a:graphicFrameLocks noGrp="1"/>
          </p:cNvGraphicFramePr>
          <p:nvPr/>
        </p:nvGraphicFramePr>
        <p:xfrm>
          <a:off x="5426372" y="1420346"/>
          <a:ext cx="3346153" cy="2707718"/>
        </p:xfrm>
        <a:graphic>
          <a:graphicData uri="http://schemas.openxmlformats.org/drawingml/2006/chart">
            <c:chart xmlns:c="http://schemas.openxmlformats.org/drawingml/2006/chart" r:id="rId3"/>
          </a:graphicData>
        </a:graphic>
      </p:graphicFrame>
      <p:sp>
        <p:nvSpPr>
          <p:cNvPr id="7" name="source"/>
          <p:cNvSpPr txBox="1"/>
          <p:nvPr/>
        </p:nvSpPr>
        <p:spPr>
          <a:xfrm>
            <a:off x="537591" y="4226936"/>
            <a:ext cx="8234934" cy="27432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0" i="0">
                <a:solidFill>
                  <a:srgbClr val="000000"/>
                </a:solidFill>
                <a:latin typeface="Arial"/>
              </a:rPr>
              <a:t>Data source: Lakeshore Regional Transit Authority, Ten-Year Capital and Ridership Outlook 2026 (fictional agency; illustrative figures)</a:t>
            </a:r>
          </a:p>
          <a:p>
            <a:pPr algn="l" marL="0" indent="0">
              <a:lnSpc>
                <a:spcPts val="1080"/>
              </a:lnSpc>
              <a:spcBef>
                <a:spcPts val="0"/>
              </a:spcBef>
              <a:spcAft>
                <a:spcPts val="0"/>
              </a:spcAft>
              <a:buNone/>
            </a:pPr>
            <a:r>
              <a:rPr sz="900" b="0" i="0">
                <a:solidFill>
                  <a:srgbClr val="000000"/>
                </a:solidFill>
                <a:latin typeface="Arial"/>
              </a:rPr>
              <a:t>Note: The low and high cases scale every mode alike, to 0.88 and 1.10 times the baseline in 2035; they pass the 2019 level in 2028 and 2030.</a:t>
            </a:r>
          </a:p>
        </p:txBody>
      </p:sp>
      <p:sp>
        <p:nvSpPr>
          <p:cNvPr id="8" name="foot-fill"/>
          <p:cNvSpPr/>
          <p:nvPr/>
        </p:nvSpPr>
        <p:spPr>
          <a:xfrm>
            <a:off x="0" y="4699000"/>
            <a:ext cx="9144000" cy="444500"/>
          </a:xfrm>
          <a:prstGeom prst="rect">
            <a:avLst/>
          </a:prstGeom>
          <a:solidFill>
            <a:srgbClr val="0096D7"/>
          </a:solidFill>
          <a:ln>
            <a:noFill/>
          </a:ln>
        </p:spPr>
        <p:txBody>
          <a:bodyPr rtlCol="0" anchor="ctr"/>
          <a:lstStyle/>
          <a:p>
            <a:pPr algn="ctr"/>
          </a:p>
        </p:txBody>
      </p:sp>
      <p:pic>
        <p:nvPicPr>
          <p:cNvPr id="9" name="mark" descr="lrta-mark.png"/>
          <p:cNvPicPr>
            <a:picLocks noChangeAspect="1"/>
          </p:cNvPicPr>
          <p:nvPr/>
        </p:nvPicPr>
        <p:blipFill>
          <a:blip r:embed="rId4"/>
          <a:stretch>
            <a:fillRect/>
          </a:stretch>
        </p:blipFill>
        <p:spPr>
          <a:xfrm>
            <a:off x="110082" y="4735512"/>
            <a:ext cx="482918" cy="371475"/>
          </a:xfrm>
          <a:prstGeom prst="rect">
            <a:avLst/>
          </a:prstGeom>
        </p:spPr>
      </p:pic>
      <p:sp>
        <p:nvSpPr>
          <p:cNvPr id="10" name="foot-text"/>
          <p:cNvSpPr txBox="1"/>
          <p:nvPr/>
        </p:nvSpPr>
        <p:spPr>
          <a:xfrm>
            <a:off x="757755" y="4791710"/>
            <a:ext cx="7457253" cy="25908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0" i="1">
                <a:solidFill>
                  <a:srgbClr val="FFFFFF"/>
                </a:solidFill>
                <a:latin typeface="Arial"/>
              </a:rPr>
              <a:t>LRTA Ten-Year Capital and Ridership Outlook 2026</a:t>
            </a:r>
          </a:p>
          <a:p>
            <a:pPr algn="l" marL="0" indent="0">
              <a:lnSpc>
                <a:spcPts val="840"/>
              </a:lnSpc>
              <a:spcBef>
                <a:spcPts val="0"/>
              </a:spcBef>
              <a:spcAft>
                <a:spcPts val="0"/>
              </a:spcAft>
              <a:buNone/>
            </a:pPr>
            <a:r>
              <a:rPr sz="700" b="0" i="0">
                <a:solidFill>
                  <a:srgbClr val="FFFFFF"/>
                </a:solidFill>
                <a:latin typeface="Arial"/>
              </a:rPr>
              <a:t>Illustrative figures. Built in the style of a public US federal presentation; not affiliated with or endorsed by any agency.</a:t>
            </a:r>
          </a:p>
        </p:txBody>
      </p:sp>
      <p:sp>
        <p:nvSpPr>
          <p:cNvPr id="11" name="pageno"/>
          <p:cNvSpPr txBox="1"/>
          <p:nvPr/>
        </p:nvSpPr>
        <p:spPr>
          <a:xfrm>
            <a:off x="8325090" y="4814570"/>
            <a:ext cx="447435" cy="213360"/>
          </a:xfrm>
          <a:prstGeom prst="rect">
            <a:avLst/>
          </a:prstGeom>
          <a:noFill/>
        </p:spPr>
        <p:txBody>
          <a:bodyPr wrap="square" lIns="0" tIns="0" rIns="0" bIns="0" anchor="t">
            <a:noAutofit/>
          </a:bodyPr>
          <a:lstStyle/>
          <a:p>
            <a:pPr algn="r" marL="0" indent="0">
              <a:lnSpc>
                <a:spcPts val="1680"/>
              </a:lnSpc>
              <a:spcBef>
                <a:spcPts val="0"/>
              </a:spcBef>
              <a:spcAft>
                <a:spcPts val="0"/>
              </a:spcAft>
              <a:buNone/>
            </a:pPr>
            <a:r>
              <a:rPr sz="1400" b="1" i="0">
                <a:solidFill>
                  <a:srgbClr val="FFFFFF"/>
                </a:solidFill>
                <a:latin typeface="Arial"/>
              </a:rPr>
              <a:t>2</a:t>
            </a:r>
          </a:p>
        </p:txBody>
      </p:sp>
      <p:cxnSp>
        <p:nvCxnSpPr>
          <p:cNvPr id="12" name="c-total-2025-line"/>
          <p:cNvCxnSpPr/>
          <p:nvPr/>
        </p:nvCxnSpPr>
        <p:spPr>
          <a:xfrm flipV="1">
            <a:off x="2570379" y="1718195"/>
            <a:ext cx="0" cy="2112020"/>
          </a:xfrm>
          <a:prstGeom prst="line">
            <a:avLst/>
          </a:prstGeom>
          <a:ln w="12700">
            <a:solidFill>
              <a:srgbClr val="BFBFBF"/>
            </a:solidFill>
            <a:prstDash val="dash"/>
          </a:ln>
        </p:spPr>
      </p:cxnSp>
      <p:sp>
        <p:nvSpPr>
          <p:cNvPr id="13" name="c-total-2025-label"/>
          <p:cNvSpPr txBox="1"/>
          <p:nvPr/>
        </p:nvSpPr>
        <p:spPr>
          <a:xfrm>
            <a:off x="2423008" y="1482163"/>
            <a:ext cx="294741" cy="137160"/>
          </a:xfrm>
          <a:prstGeom prst="rect">
            <a:avLst/>
          </a:prstGeom>
          <a:noFill/>
        </p:spPr>
        <p:txBody>
          <a:bodyPr wrap="square" lIns="0" tIns="0" rIns="0" bIns="0" anchor="t">
            <a:noAutofit/>
          </a:bodyPr>
          <a:lstStyle/>
          <a:p>
            <a:pPr algn="ctr" marL="0" indent="0">
              <a:lnSpc>
                <a:spcPts val="1080"/>
              </a:lnSpc>
              <a:spcBef>
                <a:spcPts val="0"/>
              </a:spcBef>
              <a:spcAft>
                <a:spcPts val="0"/>
              </a:spcAft>
              <a:buNone/>
            </a:pPr>
            <a:r>
              <a:rPr sz="900" b="1" i="0">
                <a:solidFill>
                  <a:srgbClr val="7F7F7F"/>
                </a:solidFill>
                <a:latin typeface="Arial"/>
              </a:rPr>
              <a:t>2025</a:t>
            </a:r>
          </a:p>
        </p:txBody>
      </p:sp>
      <p:cxnSp>
        <p:nvCxnSpPr>
          <p:cNvPr id="14" name="c-total-proj-line"/>
          <p:cNvCxnSpPr/>
          <p:nvPr/>
        </p:nvCxnSpPr>
        <p:spPr>
          <a:xfrm flipV="1">
            <a:off x="2570379" y="1718195"/>
            <a:ext cx="0" cy="2112020"/>
          </a:xfrm>
          <a:prstGeom prst="line">
            <a:avLst/>
          </a:prstGeom>
          <a:ln w="12700">
            <a:solidFill>
              <a:srgbClr val="BFBFBF"/>
            </a:solidFill>
            <a:prstDash val="dash"/>
          </a:ln>
        </p:spPr>
      </p:cxnSp>
      <p:sp>
        <p:nvSpPr>
          <p:cNvPr id="15" name="c-total-proj-label"/>
          <p:cNvSpPr txBox="1"/>
          <p:nvPr/>
        </p:nvSpPr>
        <p:spPr>
          <a:xfrm>
            <a:off x="2669251" y="1718195"/>
            <a:ext cx="593216"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0" i="0">
                <a:solidFill>
                  <a:srgbClr val="7F7F7F"/>
                </a:solidFill>
                <a:latin typeface="Arial"/>
              </a:rPr>
              <a:t>projections</a:t>
            </a:r>
          </a:p>
        </p:txBody>
      </p:sp>
      <p:cxnSp>
        <p:nvCxnSpPr>
          <p:cNvPr id="16" name="lvl2019-line"/>
          <p:cNvCxnSpPr/>
          <p:nvPr/>
        </p:nvCxnSpPr>
        <p:spPr>
          <a:xfrm>
            <a:off x="898975" y="2628476"/>
            <a:ext cx="3342807" cy="0"/>
          </a:xfrm>
          <a:prstGeom prst="line">
            <a:avLst/>
          </a:prstGeom>
          <a:ln w="12700">
            <a:solidFill>
              <a:srgbClr val="404040"/>
            </a:solidFill>
            <a:prstDash val="sysDot"/>
          </a:ln>
        </p:spPr>
      </p:cxnSp>
      <p:sp>
        <p:nvSpPr>
          <p:cNvPr id="17" name="lvl2019-label"/>
          <p:cNvSpPr txBox="1"/>
          <p:nvPr/>
        </p:nvSpPr>
        <p:spPr>
          <a:xfrm>
            <a:off x="898975" y="2392444"/>
            <a:ext cx="866687"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404040"/>
                </a:solidFill>
                <a:latin typeface="Arial"/>
              </a:rPr>
              <a:t>2019 level, 96.9</a:t>
            </a:r>
          </a:p>
        </p:txBody>
      </p:sp>
      <p:sp>
        <p:nvSpPr>
          <p:cNvPr id="18" name="cross-label"/>
          <p:cNvSpPr txBox="1"/>
          <p:nvPr/>
        </p:nvSpPr>
        <p:spPr>
          <a:xfrm>
            <a:off x="3610415" y="2923918"/>
            <a:ext cx="1685763" cy="27432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7A2630"/>
                </a:solidFill>
                <a:latin typeface="Arial"/>
              </a:rPr>
              <a:t>the baseline is back above the</a:t>
            </a:r>
            <a:br/>
            <a:r>
              <a:rPr sz="900" b="1" i="0">
                <a:solidFill>
                  <a:srgbClr val="7A2630"/>
                </a:solidFill>
                <a:latin typeface="Arial"/>
              </a:rPr>
              <a:t>2019 level in 2029</a:t>
            </a:r>
          </a:p>
        </p:txBody>
      </p:sp>
      <p:cxnSp>
        <p:nvCxnSpPr>
          <p:cNvPr id="19" name="cross-leader"/>
          <p:cNvCxnSpPr/>
          <p:nvPr/>
        </p:nvCxnSpPr>
        <p:spPr>
          <a:xfrm flipH="1" flipV="1">
            <a:off x="3238940" y="2552443"/>
            <a:ext cx="371475" cy="371475"/>
          </a:xfrm>
          <a:prstGeom prst="line">
            <a:avLst/>
          </a:prstGeom>
          <a:ln w="12700">
            <a:solidFill>
              <a:srgbClr val="7A2630"/>
            </a:solidFill>
            <a:tailEnd type="triangle"/>
          </a:ln>
        </p:spPr>
      </p:cxnSp>
      <p:sp>
        <p:nvSpPr>
          <p:cNvPr id="20" name="levels-0-text"/>
          <p:cNvSpPr txBox="1"/>
          <p:nvPr/>
        </p:nvSpPr>
        <p:spPr>
          <a:xfrm>
            <a:off x="8221942" y="1841863"/>
            <a:ext cx="644226" cy="137160"/>
          </a:xfrm>
          <a:prstGeom prst="rect">
            <a:avLst/>
          </a:prstGeom>
          <a:noFill/>
        </p:spPr>
        <p:txBody>
          <a:bodyPr wrap="square" lIns="0" tIns="0" rIns="0" bIns="0" anchor="ctr">
            <a:noAutofit/>
          </a:bodyPr>
          <a:lstStyle/>
          <a:p>
            <a:pPr algn="r" marL="0" indent="0">
              <a:lnSpc>
                <a:spcPts val="1080"/>
              </a:lnSpc>
              <a:spcBef>
                <a:spcPts val="0"/>
              </a:spcBef>
              <a:spcAft>
                <a:spcPts val="0"/>
              </a:spcAft>
              <a:buNone/>
            </a:pPr>
            <a:r>
              <a:rPr sz="900" b="0" i="0">
                <a:solidFill>
                  <a:srgbClr val="404040"/>
                </a:solidFill>
                <a:latin typeface="Arial"/>
              </a:rPr>
              <a:t>23.0 to 33.3</a:t>
            </a:r>
          </a:p>
        </p:txBody>
      </p:sp>
      <p:sp>
        <p:nvSpPr>
          <p:cNvPr id="21" name="levels-1-text"/>
          <p:cNvSpPr txBox="1"/>
          <p:nvPr/>
        </p:nvSpPr>
        <p:spPr>
          <a:xfrm>
            <a:off x="8349078" y="2334668"/>
            <a:ext cx="517090" cy="137160"/>
          </a:xfrm>
          <a:prstGeom prst="rect">
            <a:avLst/>
          </a:prstGeom>
          <a:noFill/>
        </p:spPr>
        <p:txBody>
          <a:bodyPr wrap="square" lIns="0" tIns="0" rIns="0" bIns="0" anchor="ctr">
            <a:noAutofit/>
          </a:bodyPr>
          <a:lstStyle/>
          <a:p>
            <a:pPr algn="r" marL="0" indent="0">
              <a:lnSpc>
                <a:spcPts val="1080"/>
              </a:lnSpc>
              <a:spcBef>
                <a:spcPts val="0"/>
              </a:spcBef>
              <a:spcAft>
                <a:spcPts val="0"/>
              </a:spcAft>
              <a:buNone/>
            </a:pPr>
            <a:r>
              <a:rPr sz="900" b="0" i="0">
                <a:solidFill>
                  <a:srgbClr val="404040"/>
                </a:solidFill>
                <a:latin typeface="Arial"/>
              </a:rPr>
              <a:t>1.4 to 1.9</a:t>
            </a:r>
          </a:p>
        </p:txBody>
      </p:sp>
      <p:sp>
        <p:nvSpPr>
          <p:cNvPr id="22" name="levels-2-text"/>
          <p:cNvSpPr txBox="1"/>
          <p:nvPr/>
        </p:nvSpPr>
        <p:spPr>
          <a:xfrm>
            <a:off x="8221942" y="2827472"/>
            <a:ext cx="644226" cy="137160"/>
          </a:xfrm>
          <a:prstGeom prst="rect">
            <a:avLst/>
          </a:prstGeom>
          <a:noFill/>
        </p:spPr>
        <p:txBody>
          <a:bodyPr wrap="square" lIns="0" tIns="0" rIns="0" bIns="0" anchor="ctr">
            <a:noAutofit/>
          </a:bodyPr>
          <a:lstStyle/>
          <a:p>
            <a:pPr algn="r" marL="0" indent="0">
              <a:lnSpc>
                <a:spcPts val="1080"/>
              </a:lnSpc>
              <a:spcBef>
                <a:spcPts val="0"/>
              </a:spcBef>
              <a:spcAft>
                <a:spcPts val="0"/>
              </a:spcAft>
              <a:buNone/>
            </a:pPr>
            <a:r>
              <a:rPr sz="900" b="0" i="0">
                <a:solidFill>
                  <a:srgbClr val="404040"/>
                </a:solidFill>
                <a:latin typeface="Arial"/>
              </a:rPr>
              <a:t>55.2 to 69.2</a:t>
            </a:r>
          </a:p>
        </p:txBody>
      </p:sp>
      <p:sp>
        <p:nvSpPr>
          <p:cNvPr id="23" name="levels-3-text"/>
          <p:cNvSpPr txBox="1"/>
          <p:nvPr/>
        </p:nvSpPr>
        <p:spPr>
          <a:xfrm>
            <a:off x="8285510" y="3320277"/>
            <a:ext cx="580658" cy="137160"/>
          </a:xfrm>
          <a:prstGeom prst="rect">
            <a:avLst/>
          </a:prstGeom>
          <a:noFill/>
        </p:spPr>
        <p:txBody>
          <a:bodyPr wrap="square" lIns="0" tIns="0" rIns="0" bIns="0" anchor="ctr">
            <a:noAutofit/>
          </a:bodyPr>
          <a:lstStyle/>
          <a:p>
            <a:pPr algn="r" marL="0" indent="0">
              <a:lnSpc>
                <a:spcPts val="1080"/>
              </a:lnSpc>
              <a:spcBef>
                <a:spcPts val="0"/>
              </a:spcBef>
              <a:spcAft>
                <a:spcPts val="0"/>
              </a:spcAft>
              <a:buNone/>
            </a:pPr>
            <a:r>
              <a:rPr sz="900" b="0" i="0">
                <a:solidFill>
                  <a:srgbClr val="404040"/>
                </a:solidFill>
                <a:latin typeface="Arial"/>
              </a:rPr>
              <a:t>8.4 to 10.5</a:t>
            </a:r>
          </a:p>
        </p:txBody>
      </p:sp>
      <p:sp>
        <p:nvSpPr>
          <p:cNvPr id="24" name="levels-4-text"/>
          <p:cNvSpPr txBox="1"/>
          <p:nvPr/>
        </p:nvSpPr>
        <p:spPr>
          <a:xfrm>
            <a:off x="8166856" y="3813082"/>
            <a:ext cx="699312" cy="137160"/>
          </a:xfrm>
          <a:prstGeom prst="rect">
            <a:avLst/>
          </a:prstGeom>
          <a:noFill/>
        </p:spPr>
        <p:txBody>
          <a:bodyPr wrap="square" lIns="0" tIns="0" rIns="0" bIns="0" anchor="ctr">
            <a:noAutofit/>
          </a:bodyPr>
          <a:lstStyle/>
          <a:p>
            <a:pPr algn="r" marL="0" indent="0">
              <a:lnSpc>
                <a:spcPts val="1080"/>
              </a:lnSpc>
              <a:spcBef>
                <a:spcPts val="0"/>
              </a:spcBef>
              <a:spcAft>
                <a:spcPts val="0"/>
              </a:spcAft>
              <a:buNone/>
            </a:pPr>
            <a:r>
              <a:rPr sz="900" b="0" i="0">
                <a:solidFill>
                  <a:srgbClr val="404040"/>
                </a:solidFill>
                <a:latin typeface="Arial"/>
              </a:rPr>
              <a:t>88.0 to 114.9</a:t>
            </a:r>
          </a:p>
        </p:txBody>
      </p:sp>
      <p:sp>
        <p:nvSpPr>
          <p:cNvPr id="25" name="levels-label"/>
          <p:cNvSpPr txBox="1"/>
          <p:nvPr/>
        </p:nvSpPr>
        <p:spPr>
          <a:xfrm>
            <a:off x="8305741" y="1526881"/>
            <a:ext cx="421542" cy="137160"/>
          </a:xfrm>
          <a:prstGeom prst="rect">
            <a:avLst/>
          </a:prstGeom>
          <a:noFill/>
        </p:spPr>
        <p:txBody>
          <a:bodyPr wrap="square" lIns="0" tIns="0" rIns="0" bIns="0" anchor="ctr">
            <a:noAutofit/>
          </a:bodyPr>
          <a:lstStyle/>
          <a:p>
            <a:pPr algn="r" marL="0" indent="0">
              <a:lnSpc>
                <a:spcPts val="1080"/>
              </a:lnSpc>
              <a:spcBef>
                <a:spcPts val="0"/>
              </a:spcBef>
              <a:spcAft>
                <a:spcPts val="0"/>
              </a:spcAft>
              <a:buNone/>
            </a:pPr>
            <a:r>
              <a:rPr sz="900" b="0" i="0">
                <a:solidFill>
                  <a:srgbClr val="404040"/>
                </a:solidFill>
                <a:latin typeface="Arial"/>
              </a:rPr>
              <a:t>millions</a:t>
            </a:r>
          </a:p>
        </p:txBody>
      </p:sp>
    </p:spTree>
    <p:custDataLst>
      <p:tags r:id="rId5"/>
    </p:custData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37591" y="110082"/>
            <a:ext cx="8234934" cy="792480"/>
          </a:xfrm>
          <a:prstGeom prst="rect">
            <a:avLst/>
          </a:prstGeom>
          <a:noFill/>
        </p:spPr>
        <p:txBody>
          <a:bodyPr wrap="square" lIns="0" tIns="0" rIns="0" bIns="0" anchor="t">
            <a:noAutofit/>
          </a:bodyPr>
          <a:lstStyle/>
          <a:p>
            <a:pPr algn="l" marL="0" indent="0">
              <a:lnSpc>
                <a:spcPts val="3120"/>
              </a:lnSpc>
              <a:spcBef>
                <a:spcPts val="0"/>
              </a:spcBef>
              <a:spcAft>
                <a:spcPts val="0"/>
              </a:spcAft>
              <a:buNone/>
            </a:pPr>
            <a:r>
              <a:rPr sz="2600" b="0" i="0">
                <a:solidFill>
                  <a:srgbClr val="0096D7"/>
                </a:solidFill>
                <a:latin typeface="Times New Roman"/>
              </a:rPr>
              <a:t>Fare revenue grows 51% by 2035, yet farebox recovery ends</a:t>
            </a:r>
            <a:br/>
            <a:r>
              <a:rPr sz="2600" b="0" i="0">
                <a:solidFill>
                  <a:srgbClr val="0096D7"/>
                </a:solidFill>
                <a:latin typeface="Times New Roman"/>
              </a:rPr>
              <a:t>at 10.5-13.2%, below 2019's 16.8% in every case</a:t>
            </a:r>
          </a:p>
        </p:txBody>
      </p:sp>
      <p:sp>
        <p:nvSpPr>
          <p:cNvPr id="3" name="fan-key"/>
          <p:cNvSpPr txBox="1"/>
          <p:nvPr/>
        </p:nvSpPr>
        <p:spPr>
          <a:xfrm>
            <a:off x="537591" y="1001434"/>
            <a:ext cx="8234934"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000000"/>
                </a:solidFill>
                <a:latin typeface="Arial"/>
              </a:rPr>
              <a:t>history, then the baseline dashed after 2025</a:t>
            </a:r>
            <a:r>
              <a:rPr sz="900" b="1" i="0">
                <a:solidFill>
                  <a:srgbClr val="000000"/>
                </a:solidFill>
                <a:latin typeface="Arial"/>
              </a:rPr>
              <a:t>   </a:t>
            </a:r>
            <a:r>
              <a:rPr sz="900" b="1" i="0">
                <a:solidFill>
                  <a:srgbClr val="7F7F7F"/>
                </a:solidFill>
                <a:latin typeface="Arial"/>
              </a:rPr>
              <a:t>low and high ridership cases, with the range between them shaded</a:t>
            </a:r>
          </a:p>
        </p:txBody>
      </p:sp>
      <p:sp>
        <p:nvSpPr>
          <p:cNvPr id="4" name="pa-hd"/>
          <p:cNvSpPr txBox="1"/>
          <p:nvPr/>
        </p:nvSpPr>
        <p:spPr>
          <a:xfrm>
            <a:off x="537591" y="1237466"/>
            <a:ext cx="2568758"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Fare revenue</a:t>
            </a:r>
          </a:p>
          <a:p>
            <a:pPr algn="l" marL="0" indent="0">
              <a:lnSpc>
                <a:spcPts val="1200"/>
              </a:lnSpc>
              <a:spcBef>
                <a:spcPts val="0"/>
              </a:spcBef>
              <a:spcAft>
                <a:spcPts val="0"/>
              </a:spcAft>
              <a:buNone/>
            </a:pPr>
            <a:r>
              <a:rPr sz="1000" b="0" i="0">
                <a:solidFill>
                  <a:srgbClr val="000000"/>
                </a:solidFill>
                <a:latin typeface="Arial"/>
              </a:rPr>
              <a:t>$ million, nominal</a:t>
            </a:r>
          </a:p>
        </p:txBody>
      </p:sp>
      <p:graphicFrame>
        <p:nvGraphicFramePr>
          <p:cNvPr id="5" name="c-rev"/>
          <p:cNvGraphicFramePr>
            <a:graphicFrameLocks noGrp="1"/>
          </p:cNvGraphicFramePr>
          <p:nvPr/>
        </p:nvGraphicFramePr>
        <p:xfrm>
          <a:off x="537591" y="1656378"/>
          <a:ext cx="2568758" cy="2471686"/>
        </p:xfrm>
        <a:graphic>
          <a:graphicData uri="http://schemas.openxmlformats.org/drawingml/2006/chart">
            <c:chart xmlns:c="http://schemas.openxmlformats.org/drawingml/2006/chart" r:id="rId2"/>
          </a:graphicData>
        </a:graphic>
      </p:graphicFrame>
      <p:sp>
        <p:nvSpPr>
          <p:cNvPr id="6" name="pb-hd"/>
          <p:cNvSpPr txBox="1"/>
          <p:nvPr/>
        </p:nvSpPr>
        <p:spPr>
          <a:xfrm>
            <a:off x="3370680" y="1237466"/>
            <a:ext cx="2568757"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Operating cost</a:t>
            </a:r>
          </a:p>
          <a:p>
            <a:pPr algn="l" marL="0" indent="0">
              <a:lnSpc>
                <a:spcPts val="1200"/>
              </a:lnSpc>
              <a:spcBef>
                <a:spcPts val="0"/>
              </a:spcBef>
              <a:spcAft>
                <a:spcPts val="0"/>
              </a:spcAft>
              <a:buNone/>
            </a:pPr>
            <a:r>
              <a:rPr sz="1000" b="0" i="0">
                <a:solidFill>
                  <a:srgbClr val="000000"/>
                </a:solidFill>
                <a:latin typeface="Arial"/>
              </a:rPr>
              <a:t>$ million, nominal</a:t>
            </a:r>
          </a:p>
        </p:txBody>
      </p:sp>
      <p:graphicFrame>
        <p:nvGraphicFramePr>
          <p:cNvPr id="7" name="c-cost"/>
          <p:cNvGraphicFramePr>
            <a:graphicFrameLocks noGrp="1"/>
          </p:cNvGraphicFramePr>
          <p:nvPr/>
        </p:nvGraphicFramePr>
        <p:xfrm>
          <a:off x="3370680" y="1656378"/>
          <a:ext cx="2568757" cy="2471686"/>
        </p:xfrm>
        <a:graphic>
          <a:graphicData uri="http://schemas.openxmlformats.org/drawingml/2006/chart">
            <c:chart xmlns:c="http://schemas.openxmlformats.org/drawingml/2006/chart" r:id="rId3"/>
          </a:graphicData>
        </a:graphic>
      </p:graphicFrame>
      <p:sp>
        <p:nvSpPr>
          <p:cNvPr id="8" name="pc-hd"/>
          <p:cNvSpPr txBox="1"/>
          <p:nvPr/>
        </p:nvSpPr>
        <p:spPr>
          <a:xfrm>
            <a:off x="6203768" y="1237466"/>
            <a:ext cx="2568757"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Farebox recovery</a:t>
            </a:r>
          </a:p>
          <a:p>
            <a:pPr algn="l" marL="0" indent="0">
              <a:lnSpc>
                <a:spcPts val="1200"/>
              </a:lnSpc>
              <a:spcBef>
                <a:spcPts val="0"/>
              </a:spcBef>
              <a:spcAft>
                <a:spcPts val="0"/>
              </a:spcAft>
              <a:buNone/>
            </a:pPr>
            <a:r>
              <a:rPr sz="1000" b="0" i="0">
                <a:solidFill>
                  <a:srgbClr val="000000"/>
                </a:solidFill>
                <a:latin typeface="Arial"/>
              </a:rPr>
              <a:t>fare revenue as a percent of operating cost</a:t>
            </a:r>
          </a:p>
        </p:txBody>
      </p:sp>
      <p:graphicFrame>
        <p:nvGraphicFramePr>
          <p:cNvPr id="9" name="c-rec"/>
          <p:cNvGraphicFramePr>
            <a:graphicFrameLocks noGrp="1"/>
          </p:cNvGraphicFramePr>
          <p:nvPr/>
        </p:nvGraphicFramePr>
        <p:xfrm>
          <a:off x="6203768" y="1656378"/>
          <a:ext cx="2568757" cy="2471686"/>
        </p:xfrm>
        <a:graphic>
          <a:graphicData uri="http://schemas.openxmlformats.org/drawingml/2006/chart">
            <c:chart xmlns:c="http://schemas.openxmlformats.org/drawingml/2006/chart" r:id="rId4"/>
          </a:graphicData>
        </a:graphic>
      </p:graphicFrame>
      <p:sp>
        <p:nvSpPr>
          <p:cNvPr id="10" name="source"/>
          <p:cNvSpPr txBox="1"/>
          <p:nvPr/>
        </p:nvSpPr>
        <p:spPr>
          <a:xfrm>
            <a:off x="537591" y="4226936"/>
            <a:ext cx="8234934" cy="27432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0" i="0">
                <a:solidFill>
                  <a:srgbClr val="000000"/>
                </a:solidFill>
                <a:latin typeface="Arial"/>
              </a:rPr>
              <a:t>Data source: Lakeshore Regional Transit Authority, Ten-Year Capital and Ridership Outlook 2026 (fictional agency; illustrative figures)</a:t>
            </a:r>
          </a:p>
          <a:p>
            <a:pPr algn="l" marL="0" indent="0">
              <a:lnSpc>
                <a:spcPts val="1080"/>
              </a:lnSpc>
              <a:spcBef>
                <a:spcPts val="0"/>
              </a:spcBef>
              <a:spcAft>
                <a:spcPts val="0"/>
              </a:spcAft>
              <a:buNone/>
            </a:pPr>
            <a:r>
              <a:rPr sz="900" b="0" i="0">
                <a:solidFill>
                  <a:srgbClr val="000000"/>
                </a:solidFill>
                <a:latin typeface="Arial"/>
              </a:rPr>
              <a:t>Note: Fares rise 5% for every mode in 2027, 2031 and 2034. Operating cost is the same in all three cases; the cases differ in ridership, and so in fare revenue.</a:t>
            </a:r>
          </a:p>
        </p:txBody>
      </p:sp>
      <p:sp>
        <p:nvSpPr>
          <p:cNvPr id="11" name="foot-fill"/>
          <p:cNvSpPr/>
          <p:nvPr/>
        </p:nvSpPr>
        <p:spPr>
          <a:xfrm>
            <a:off x="0" y="4699000"/>
            <a:ext cx="9144000" cy="444500"/>
          </a:xfrm>
          <a:prstGeom prst="rect">
            <a:avLst/>
          </a:prstGeom>
          <a:solidFill>
            <a:srgbClr val="0096D7"/>
          </a:solidFill>
          <a:ln>
            <a:noFill/>
          </a:ln>
        </p:spPr>
        <p:txBody>
          <a:bodyPr rtlCol="0" anchor="ctr"/>
          <a:lstStyle/>
          <a:p>
            <a:pPr algn="ctr"/>
          </a:p>
        </p:txBody>
      </p:sp>
      <p:pic>
        <p:nvPicPr>
          <p:cNvPr id="12" name="mark" descr="lrta-mark.png"/>
          <p:cNvPicPr>
            <a:picLocks noChangeAspect="1"/>
          </p:cNvPicPr>
          <p:nvPr/>
        </p:nvPicPr>
        <p:blipFill>
          <a:blip r:embed="rId5"/>
          <a:stretch>
            <a:fillRect/>
          </a:stretch>
        </p:blipFill>
        <p:spPr>
          <a:xfrm>
            <a:off x="110082" y="4735512"/>
            <a:ext cx="482918" cy="371475"/>
          </a:xfrm>
          <a:prstGeom prst="rect">
            <a:avLst/>
          </a:prstGeom>
        </p:spPr>
      </p:pic>
      <p:sp>
        <p:nvSpPr>
          <p:cNvPr id="13" name="foot-text"/>
          <p:cNvSpPr txBox="1"/>
          <p:nvPr/>
        </p:nvSpPr>
        <p:spPr>
          <a:xfrm>
            <a:off x="757755" y="4791710"/>
            <a:ext cx="7457253" cy="25908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0" i="1">
                <a:solidFill>
                  <a:srgbClr val="FFFFFF"/>
                </a:solidFill>
                <a:latin typeface="Arial"/>
              </a:rPr>
              <a:t>LRTA Ten-Year Capital and Ridership Outlook 2026</a:t>
            </a:r>
          </a:p>
          <a:p>
            <a:pPr algn="l" marL="0" indent="0">
              <a:lnSpc>
                <a:spcPts val="840"/>
              </a:lnSpc>
              <a:spcBef>
                <a:spcPts val="0"/>
              </a:spcBef>
              <a:spcAft>
                <a:spcPts val="0"/>
              </a:spcAft>
              <a:buNone/>
            </a:pPr>
            <a:r>
              <a:rPr sz="700" b="0" i="0">
                <a:solidFill>
                  <a:srgbClr val="FFFFFF"/>
                </a:solidFill>
                <a:latin typeface="Arial"/>
              </a:rPr>
              <a:t>Illustrative figures. Built in the style of a public US federal presentation; not affiliated with or endorsed by any agency.</a:t>
            </a:r>
          </a:p>
        </p:txBody>
      </p:sp>
      <p:sp>
        <p:nvSpPr>
          <p:cNvPr id="14" name="pageno"/>
          <p:cNvSpPr txBox="1"/>
          <p:nvPr/>
        </p:nvSpPr>
        <p:spPr>
          <a:xfrm>
            <a:off x="8325090" y="4814570"/>
            <a:ext cx="447435" cy="213360"/>
          </a:xfrm>
          <a:prstGeom prst="rect">
            <a:avLst/>
          </a:prstGeom>
          <a:noFill/>
        </p:spPr>
        <p:txBody>
          <a:bodyPr wrap="square" lIns="0" tIns="0" rIns="0" bIns="0" anchor="t">
            <a:noAutofit/>
          </a:bodyPr>
          <a:lstStyle/>
          <a:p>
            <a:pPr algn="r" marL="0" indent="0">
              <a:lnSpc>
                <a:spcPts val="1680"/>
              </a:lnSpc>
              <a:spcBef>
                <a:spcPts val="0"/>
              </a:spcBef>
              <a:spcAft>
                <a:spcPts val="0"/>
              </a:spcAft>
              <a:buNone/>
            </a:pPr>
            <a:r>
              <a:rPr sz="1400" b="1" i="0">
                <a:solidFill>
                  <a:srgbClr val="FFFFFF"/>
                </a:solidFill>
                <a:latin typeface="Arial"/>
              </a:rPr>
              <a:t>3</a:t>
            </a:r>
          </a:p>
        </p:txBody>
      </p:sp>
      <p:cxnSp>
        <p:nvCxnSpPr>
          <p:cNvPr id="15" name="c-rev-2025-line"/>
          <p:cNvCxnSpPr/>
          <p:nvPr/>
        </p:nvCxnSpPr>
        <p:spPr>
          <a:xfrm flipV="1">
            <a:off x="1667845" y="1928263"/>
            <a:ext cx="0" cy="1927916"/>
          </a:xfrm>
          <a:prstGeom prst="line">
            <a:avLst/>
          </a:prstGeom>
          <a:ln w="12700">
            <a:solidFill>
              <a:srgbClr val="BFBFBF"/>
            </a:solidFill>
            <a:prstDash val="dash"/>
          </a:ln>
        </p:spPr>
      </p:cxnSp>
      <p:sp>
        <p:nvSpPr>
          <p:cNvPr id="16" name="c-rev-2025-label"/>
          <p:cNvSpPr txBox="1"/>
          <p:nvPr/>
        </p:nvSpPr>
        <p:spPr>
          <a:xfrm>
            <a:off x="1520474" y="1692231"/>
            <a:ext cx="294741" cy="137160"/>
          </a:xfrm>
          <a:prstGeom prst="rect">
            <a:avLst/>
          </a:prstGeom>
          <a:noFill/>
        </p:spPr>
        <p:txBody>
          <a:bodyPr wrap="square" lIns="0" tIns="0" rIns="0" bIns="0" anchor="t">
            <a:noAutofit/>
          </a:bodyPr>
          <a:lstStyle/>
          <a:p>
            <a:pPr algn="ctr" marL="0" indent="0">
              <a:lnSpc>
                <a:spcPts val="1080"/>
              </a:lnSpc>
              <a:spcBef>
                <a:spcPts val="0"/>
              </a:spcBef>
              <a:spcAft>
                <a:spcPts val="0"/>
              </a:spcAft>
              <a:buNone/>
            </a:pPr>
            <a:r>
              <a:rPr sz="900" b="1" i="0">
                <a:solidFill>
                  <a:srgbClr val="7F7F7F"/>
                </a:solidFill>
                <a:latin typeface="Arial"/>
              </a:rPr>
              <a:t>2025</a:t>
            </a:r>
          </a:p>
        </p:txBody>
      </p:sp>
      <p:cxnSp>
        <p:nvCxnSpPr>
          <p:cNvPr id="17" name="c-rev-proj-line"/>
          <p:cNvCxnSpPr/>
          <p:nvPr/>
        </p:nvCxnSpPr>
        <p:spPr>
          <a:xfrm flipV="1">
            <a:off x="1667845" y="1928263"/>
            <a:ext cx="0" cy="1927916"/>
          </a:xfrm>
          <a:prstGeom prst="line">
            <a:avLst/>
          </a:prstGeom>
          <a:ln w="12700">
            <a:solidFill>
              <a:srgbClr val="BFBFBF"/>
            </a:solidFill>
            <a:prstDash val="dash"/>
          </a:ln>
        </p:spPr>
      </p:cxnSp>
      <p:sp>
        <p:nvSpPr>
          <p:cNvPr id="18" name="c-rev-proj-label"/>
          <p:cNvSpPr txBox="1"/>
          <p:nvPr/>
        </p:nvSpPr>
        <p:spPr>
          <a:xfrm>
            <a:off x="1766717" y="1928263"/>
            <a:ext cx="593216"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0" i="0">
                <a:solidFill>
                  <a:srgbClr val="7F7F7F"/>
                </a:solidFill>
                <a:latin typeface="Arial"/>
              </a:rPr>
              <a:t>projections</a:t>
            </a:r>
          </a:p>
        </p:txBody>
      </p:sp>
      <p:cxnSp>
        <p:nvCxnSpPr>
          <p:cNvPr id="19" name="c-cost-2025-line"/>
          <p:cNvCxnSpPr/>
          <p:nvPr/>
        </p:nvCxnSpPr>
        <p:spPr>
          <a:xfrm flipV="1">
            <a:off x="4500933" y="1928263"/>
            <a:ext cx="0" cy="1927916"/>
          </a:xfrm>
          <a:prstGeom prst="line">
            <a:avLst/>
          </a:prstGeom>
          <a:ln w="12700">
            <a:solidFill>
              <a:srgbClr val="BFBFBF"/>
            </a:solidFill>
            <a:prstDash val="dash"/>
          </a:ln>
        </p:spPr>
      </p:cxnSp>
      <p:cxnSp>
        <p:nvCxnSpPr>
          <p:cNvPr id="20" name="c-rec-2025-line"/>
          <p:cNvCxnSpPr/>
          <p:nvPr/>
        </p:nvCxnSpPr>
        <p:spPr>
          <a:xfrm flipV="1">
            <a:off x="7334021" y="1928263"/>
            <a:ext cx="0" cy="1927916"/>
          </a:xfrm>
          <a:prstGeom prst="line">
            <a:avLst/>
          </a:prstGeom>
          <a:ln w="12700">
            <a:solidFill>
              <a:srgbClr val="BFBFBF"/>
            </a:solidFill>
            <a:prstDash val="dash"/>
          </a:ln>
        </p:spPr>
      </p:cxnSp>
    </p:spTree>
    <p:custDataLst>
      <p:tags r:id="rId6"/>
    </p:custData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37591" y="110082"/>
            <a:ext cx="8234934" cy="792480"/>
          </a:xfrm>
          <a:prstGeom prst="rect">
            <a:avLst/>
          </a:prstGeom>
          <a:noFill/>
        </p:spPr>
        <p:txBody>
          <a:bodyPr wrap="square" lIns="0" tIns="0" rIns="0" bIns="0" anchor="t">
            <a:noAutofit/>
          </a:bodyPr>
          <a:lstStyle/>
          <a:p>
            <a:pPr algn="l" marL="0" indent="0">
              <a:lnSpc>
                <a:spcPts val="3120"/>
              </a:lnSpc>
              <a:spcBef>
                <a:spcPts val="0"/>
              </a:spcBef>
              <a:spcAft>
                <a:spcPts val="0"/>
              </a:spcAft>
              <a:buNone/>
            </a:pPr>
            <a:r>
              <a:rPr sz="2600" b="0" i="0">
                <a:solidFill>
                  <a:srgbClr val="0096D7"/>
                </a:solidFill>
                <a:latin typeface="Times New Roman"/>
              </a:rPr>
              <a:t>State of good repair takes 41% of the $5.8 billion plan; two-</a:t>
            </a:r>
            <a:br/>
            <a:r>
              <a:rPr sz="2600" b="0" i="0">
                <a:solidFill>
                  <a:srgbClr val="0096D7"/>
                </a:solidFill>
                <a:latin typeface="Times New Roman"/>
              </a:rPr>
              <a:t>thirds of expansion spending falls in 2027-2030</a:t>
            </a:r>
          </a:p>
        </p:txBody>
      </p:sp>
      <p:sp>
        <p:nvSpPr>
          <p:cNvPr id="3" name="pr-hd"/>
          <p:cNvSpPr txBox="1"/>
          <p:nvPr/>
        </p:nvSpPr>
        <p:spPr>
          <a:xfrm>
            <a:off x="537591" y="1001434"/>
            <a:ext cx="3216870"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Ten-year total by program</a:t>
            </a:r>
          </a:p>
          <a:p>
            <a:pPr algn="l" marL="0" indent="0">
              <a:lnSpc>
                <a:spcPts val="1200"/>
              </a:lnSpc>
              <a:spcBef>
                <a:spcPts val="0"/>
              </a:spcBef>
              <a:spcAft>
                <a:spcPts val="0"/>
              </a:spcAft>
              <a:buNone/>
            </a:pPr>
            <a:r>
              <a:rPr sz="1000" b="0" i="0">
                <a:solidFill>
                  <a:srgbClr val="000000"/>
                </a:solidFill>
                <a:latin typeface="Arial"/>
              </a:rPr>
              <a:t>$ million; share of the $5,845 million plan</a:t>
            </a:r>
          </a:p>
        </p:txBody>
      </p:sp>
      <p:graphicFrame>
        <p:nvGraphicFramePr>
          <p:cNvPr id="4" name="c-progs"/>
          <p:cNvGraphicFramePr>
            <a:graphicFrameLocks noGrp="1"/>
          </p:cNvGraphicFramePr>
          <p:nvPr/>
        </p:nvGraphicFramePr>
        <p:xfrm>
          <a:off x="537591" y="1420346"/>
          <a:ext cx="3216870" cy="2707718"/>
        </p:xfrm>
        <a:graphic>
          <a:graphicData uri="http://schemas.openxmlformats.org/drawingml/2006/chart">
            <c:chart xmlns:c="http://schemas.openxmlformats.org/drawingml/2006/chart" r:id="rId2"/>
          </a:graphicData>
        </a:graphic>
      </p:graphicFrame>
      <p:sp>
        <p:nvSpPr>
          <p:cNvPr id="5" name="pl-hd"/>
          <p:cNvSpPr txBox="1"/>
          <p:nvPr/>
        </p:nvSpPr>
        <p:spPr>
          <a:xfrm>
            <a:off x="4125936" y="1001434"/>
            <a:ext cx="4646589"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Capital plan by year and program</a:t>
            </a:r>
          </a:p>
          <a:p>
            <a:pPr algn="l" marL="0" indent="0">
              <a:lnSpc>
                <a:spcPts val="1200"/>
              </a:lnSpc>
              <a:spcBef>
                <a:spcPts val="0"/>
              </a:spcBef>
              <a:spcAft>
                <a:spcPts val="0"/>
              </a:spcAft>
              <a:buNone/>
            </a:pPr>
            <a:r>
              <a:rPr sz="1000" b="0" i="0">
                <a:solidFill>
                  <a:srgbClr val="000000"/>
                </a:solidFill>
                <a:latin typeface="Arial"/>
              </a:rPr>
              <a:t>$ million, year of expenditure; colours as in the left chart</a:t>
            </a:r>
          </a:p>
        </p:txBody>
      </p:sp>
      <p:sp>
        <p:nvSpPr>
          <p:cNvPr id="6" name="exp-build-band"/>
          <p:cNvSpPr/>
          <p:nvPr/>
        </p:nvSpPr>
        <p:spPr>
          <a:xfrm>
            <a:off x="4627768" y="1474500"/>
            <a:ext cx="1821463" cy="2436946"/>
          </a:xfrm>
          <a:prstGeom prst="rect">
            <a:avLst/>
          </a:prstGeom>
          <a:solidFill>
            <a:srgbClr val="E7EFF8"/>
          </a:solidFill>
          <a:ln>
            <a:noFill/>
          </a:ln>
        </p:spPr>
        <p:txBody>
          <a:bodyPr rtlCol="0" anchor="ctr"/>
          <a:lstStyle/>
          <a:p>
            <a:pPr algn="ctr"/>
          </a:p>
        </p:txBody>
      </p:sp>
      <p:sp>
        <p:nvSpPr>
          <p:cNvPr id="7" name="exp-build-label"/>
          <p:cNvSpPr txBox="1"/>
          <p:nvPr/>
        </p:nvSpPr>
        <p:spPr>
          <a:xfrm>
            <a:off x="4627768" y="1474500"/>
            <a:ext cx="1584132" cy="27432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7A2630"/>
                </a:solidFill>
                <a:latin typeface="Arial"/>
              </a:rPr>
              <a:t>2027-2030: $1,210m of the</a:t>
            </a:r>
            <a:br/>
            <a:r>
              <a:rPr sz="900" b="1" i="0">
                <a:solidFill>
                  <a:srgbClr val="7A2630"/>
                </a:solidFill>
                <a:latin typeface="Arial"/>
              </a:rPr>
              <a:t>$1,800m expansion program</a:t>
            </a:r>
          </a:p>
        </p:txBody>
      </p:sp>
      <p:graphicFrame>
        <p:nvGraphicFramePr>
          <p:cNvPr id="8" name="c-years"/>
          <p:cNvGraphicFramePr>
            <a:graphicFrameLocks noGrp="1"/>
          </p:cNvGraphicFramePr>
          <p:nvPr/>
        </p:nvGraphicFramePr>
        <p:xfrm>
          <a:off x="4125936" y="1420346"/>
          <a:ext cx="4646589" cy="2707718"/>
        </p:xfrm>
        <a:graphic>
          <a:graphicData uri="http://schemas.openxmlformats.org/drawingml/2006/chart">
            <c:chart xmlns:c="http://schemas.openxmlformats.org/drawingml/2006/chart" r:id="rId3"/>
          </a:graphicData>
        </a:graphic>
      </p:graphicFrame>
      <p:sp>
        <p:nvSpPr>
          <p:cNvPr id="9" name="source"/>
          <p:cNvSpPr txBox="1"/>
          <p:nvPr/>
        </p:nvSpPr>
        <p:spPr>
          <a:xfrm>
            <a:off x="537591" y="4226936"/>
            <a:ext cx="8234934" cy="27432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0" i="0">
                <a:solidFill>
                  <a:srgbClr val="000000"/>
                </a:solidFill>
                <a:latin typeface="Arial"/>
              </a:rPr>
              <a:t>Data source: Lakeshore Regional Transit Authority, Ten-Year Capital and Ridership Outlook 2026 (fictional agency; illustrative figures)</a:t>
            </a:r>
          </a:p>
          <a:p>
            <a:pPr algn="l" marL="0" indent="0">
              <a:lnSpc>
                <a:spcPts val="1080"/>
              </a:lnSpc>
              <a:spcBef>
                <a:spcPts val="0"/>
              </a:spcBef>
              <a:spcAft>
                <a:spcPts val="0"/>
              </a:spcAft>
              <a:buNone/>
            </a:pPr>
            <a:r>
              <a:rPr sz="900" b="0" i="0">
                <a:solidFill>
                  <a:srgbClr val="000000"/>
                </a:solidFill>
                <a:latin typeface="Arial"/>
              </a:rPr>
              <a:t>Note: Year-of-expenditure dollars. Expansion = Blue Line extension, Lakefront BRT and Crosstown BRT.</a:t>
            </a:r>
          </a:p>
        </p:txBody>
      </p:sp>
      <p:sp>
        <p:nvSpPr>
          <p:cNvPr id="10" name="foot-fill"/>
          <p:cNvSpPr/>
          <p:nvPr/>
        </p:nvSpPr>
        <p:spPr>
          <a:xfrm>
            <a:off x="0" y="4699000"/>
            <a:ext cx="9144000" cy="444500"/>
          </a:xfrm>
          <a:prstGeom prst="rect">
            <a:avLst/>
          </a:prstGeom>
          <a:solidFill>
            <a:srgbClr val="0096D7"/>
          </a:solidFill>
          <a:ln>
            <a:noFill/>
          </a:ln>
        </p:spPr>
        <p:txBody>
          <a:bodyPr rtlCol="0" anchor="ctr"/>
          <a:lstStyle/>
          <a:p>
            <a:pPr algn="ctr"/>
          </a:p>
        </p:txBody>
      </p:sp>
      <p:pic>
        <p:nvPicPr>
          <p:cNvPr id="11" name="mark" descr="lrta-mark.png"/>
          <p:cNvPicPr>
            <a:picLocks noChangeAspect="1"/>
          </p:cNvPicPr>
          <p:nvPr/>
        </p:nvPicPr>
        <p:blipFill>
          <a:blip r:embed="rId4"/>
          <a:stretch>
            <a:fillRect/>
          </a:stretch>
        </p:blipFill>
        <p:spPr>
          <a:xfrm>
            <a:off x="110082" y="4735512"/>
            <a:ext cx="482918" cy="371475"/>
          </a:xfrm>
          <a:prstGeom prst="rect">
            <a:avLst/>
          </a:prstGeom>
        </p:spPr>
      </p:pic>
      <p:sp>
        <p:nvSpPr>
          <p:cNvPr id="12" name="foot-text"/>
          <p:cNvSpPr txBox="1"/>
          <p:nvPr/>
        </p:nvSpPr>
        <p:spPr>
          <a:xfrm>
            <a:off x="757755" y="4791710"/>
            <a:ext cx="7457253" cy="25908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0" i="1">
                <a:solidFill>
                  <a:srgbClr val="FFFFFF"/>
                </a:solidFill>
                <a:latin typeface="Arial"/>
              </a:rPr>
              <a:t>LRTA Ten-Year Capital and Ridership Outlook 2026</a:t>
            </a:r>
          </a:p>
          <a:p>
            <a:pPr algn="l" marL="0" indent="0">
              <a:lnSpc>
                <a:spcPts val="840"/>
              </a:lnSpc>
              <a:spcBef>
                <a:spcPts val="0"/>
              </a:spcBef>
              <a:spcAft>
                <a:spcPts val="0"/>
              </a:spcAft>
              <a:buNone/>
            </a:pPr>
            <a:r>
              <a:rPr sz="700" b="0" i="0">
                <a:solidFill>
                  <a:srgbClr val="FFFFFF"/>
                </a:solidFill>
                <a:latin typeface="Arial"/>
              </a:rPr>
              <a:t>Illustrative figures. Built in the style of a public US federal presentation; not affiliated with or endorsed by any agency.</a:t>
            </a:r>
          </a:p>
        </p:txBody>
      </p:sp>
      <p:sp>
        <p:nvSpPr>
          <p:cNvPr id="13" name="pageno"/>
          <p:cNvSpPr txBox="1"/>
          <p:nvPr/>
        </p:nvSpPr>
        <p:spPr>
          <a:xfrm>
            <a:off x="8325090" y="4814570"/>
            <a:ext cx="447435" cy="213360"/>
          </a:xfrm>
          <a:prstGeom prst="rect">
            <a:avLst/>
          </a:prstGeom>
          <a:noFill/>
        </p:spPr>
        <p:txBody>
          <a:bodyPr wrap="square" lIns="0" tIns="0" rIns="0" bIns="0" anchor="t">
            <a:noAutofit/>
          </a:bodyPr>
          <a:lstStyle/>
          <a:p>
            <a:pPr algn="r" marL="0" indent="0">
              <a:lnSpc>
                <a:spcPts val="1680"/>
              </a:lnSpc>
              <a:spcBef>
                <a:spcPts val="0"/>
              </a:spcBef>
              <a:spcAft>
                <a:spcPts val="0"/>
              </a:spcAft>
              <a:buNone/>
            </a:pPr>
            <a:r>
              <a:rPr sz="1400" b="1" i="0">
                <a:solidFill>
                  <a:srgbClr val="FFFFFF"/>
                </a:solidFill>
                <a:latin typeface="Arial"/>
              </a:rPr>
              <a:t>4</a:t>
            </a:r>
          </a:p>
        </p:txBody>
      </p:sp>
    </p:spTree>
    <p:custDataLst>
      <p:tags r:id="rId5"/>
    </p:custData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37591" y="110082"/>
            <a:ext cx="8234934" cy="792480"/>
          </a:xfrm>
          <a:prstGeom prst="rect">
            <a:avLst/>
          </a:prstGeom>
          <a:noFill/>
        </p:spPr>
        <p:txBody>
          <a:bodyPr wrap="square" lIns="0" tIns="0" rIns="0" bIns="0" anchor="t">
            <a:noAutofit/>
          </a:bodyPr>
          <a:lstStyle/>
          <a:p>
            <a:pPr algn="l" marL="0" indent="0">
              <a:lnSpc>
                <a:spcPts val="3120"/>
              </a:lnSpc>
              <a:spcBef>
                <a:spcPts val="0"/>
              </a:spcBef>
              <a:spcAft>
                <a:spcPts val="0"/>
              </a:spcAft>
              <a:buNone/>
            </a:pPr>
            <a:r>
              <a:rPr sz="2600" b="0" i="0">
                <a:solidFill>
                  <a:srgbClr val="0096D7"/>
                </a:solidFill>
                <a:latin typeface="Times New Roman"/>
              </a:rPr>
              <a:t>Identified sources cover 84% of the $5.8 billion plan; the $0.9</a:t>
            </a:r>
            <a:br/>
            <a:r>
              <a:rPr sz="2600" b="0" i="0">
                <a:solidFill>
                  <a:srgbClr val="0096D7"/>
                </a:solidFill>
                <a:latin typeface="Times New Roman"/>
              </a:rPr>
              <a:t>billion gap runs from $0.5 to $2.3 billion across scenarios</a:t>
            </a:r>
          </a:p>
        </p:txBody>
      </p:sp>
      <p:sp>
        <p:nvSpPr>
          <p:cNvPr id="3" name="pl-hd"/>
          <p:cNvSpPr txBox="1"/>
          <p:nvPr/>
        </p:nvSpPr>
        <p:spPr>
          <a:xfrm>
            <a:off x="537591" y="1001434"/>
            <a:ext cx="3209575"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Need, identified sources and gap, baseline</a:t>
            </a:r>
          </a:p>
          <a:p>
            <a:pPr algn="l" marL="0" indent="0">
              <a:lnSpc>
                <a:spcPts val="1200"/>
              </a:lnSpc>
              <a:spcBef>
                <a:spcPts val="0"/>
              </a:spcBef>
              <a:spcAft>
                <a:spcPts val="0"/>
              </a:spcAft>
              <a:buNone/>
            </a:pPr>
            <a:r>
              <a:rPr sz="1000" b="0" i="0">
                <a:solidFill>
                  <a:srgbClr val="000000"/>
                </a:solidFill>
                <a:latin typeface="Arial"/>
              </a:rPr>
              <a:t>$ million, 2026-2035</a:t>
            </a:r>
          </a:p>
        </p:txBody>
      </p:sp>
      <p:graphicFrame>
        <p:nvGraphicFramePr>
          <p:cNvPr id="4" name="c-bridge"/>
          <p:cNvGraphicFramePr>
            <a:graphicFrameLocks noGrp="1"/>
          </p:cNvGraphicFramePr>
          <p:nvPr/>
        </p:nvGraphicFramePr>
        <p:xfrm>
          <a:off x="537591" y="1420346"/>
          <a:ext cx="3209575" cy="2707718"/>
        </p:xfrm>
        <a:graphic>
          <a:graphicData uri="http://schemas.openxmlformats.org/drawingml/2006/chart">
            <c:chart xmlns:c="http://schemas.openxmlformats.org/drawingml/2006/chart" r:id="rId2"/>
          </a:graphicData>
        </a:graphic>
      </p:graphicFrame>
      <p:sp>
        <p:nvSpPr>
          <p:cNvPr id="5" name="pr-hd"/>
          <p:cNvSpPr txBox="1"/>
          <p:nvPr/>
        </p:nvSpPr>
        <p:spPr>
          <a:xfrm>
            <a:off x="4118641" y="1001434"/>
            <a:ext cx="4653884"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Funding gap by scenario</a:t>
            </a:r>
          </a:p>
          <a:p>
            <a:pPr algn="l" marL="0" indent="0">
              <a:lnSpc>
                <a:spcPts val="1200"/>
              </a:lnSpc>
              <a:spcBef>
                <a:spcPts val="0"/>
              </a:spcBef>
              <a:spcAft>
                <a:spcPts val="0"/>
              </a:spcAft>
              <a:buNone/>
            </a:pPr>
            <a:r>
              <a:rPr sz="1000" b="0" i="0">
                <a:solidFill>
                  <a:srgbClr val="000000"/>
                </a:solidFill>
                <a:latin typeface="Arial"/>
              </a:rPr>
              <a:t>$ million over 2026-2035; gap as a share of need</a:t>
            </a:r>
          </a:p>
        </p:txBody>
      </p:sp>
      <p:graphicFrame>
        <p:nvGraphicFramePr>
          <p:cNvPr id="6" name="t-scen"/>
          <p:cNvGraphicFramePr>
            <a:graphicFrameLocks noGrp="1"/>
          </p:cNvGraphicFramePr>
          <p:nvPr/>
        </p:nvGraphicFramePr>
        <p:xfrm>
          <a:off x="4118641" y="1431556"/>
          <a:ext cx="4653884" cy="1629156"/>
        </p:xfrm>
        <a:graphic>
          <a:graphicData uri="http://schemas.openxmlformats.org/drawingml/2006/table">
            <a:tbl>
              <a:tblPr firstRow="0" bandRow="0" lastRow="0" firstCol="0" lastCol="0" bandCol="0"/>
              <a:tblGrid>
                <a:gridCol w="1256549"/>
                <a:gridCol w="1396165"/>
                <a:gridCol w="461130"/>
                <a:gridCol w="575095"/>
                <a:gridCol w="461130"/>
                <a:gridCol w="503815"/>
              </a:tblGrid>
              <a:tr h="271526">
                <a:tc>
                  <a:txBody>
                    <a:bodyPr wrap="square"/>
                    <a:lstStyle/>
                    <a:p>
                      <a:pPr algn="l"/>
                      <a:r>
                        <a:rPr sz="1000" b="0" i="0">
                          <a:solidFill>
                            <a:srgbClr val="FFFFFF"/>
                          </a:solidFill>
                          <a:latin typeface="Arial"/>
                        </a:rPr>
                        <a:t>Scenario</a:t>
                      </a:r>
                      <a:endParaRPr sz="1000" b="0" i="0">
                        <a:solidFill>
                          <a:srgbClr val="FFFFFF"/>
                        </a:solidFill>
                        <a:latin typeface="Arial"/>
                      </a:endParaRPr>
                    </a:p>
                  </a:txBody>
                  <a:tcPr marL="59436" marR="59436" marT="59436" marB="59436" anchor="ctr">
                    <a:lnL w="0">
                      <a:noFill/>
                    </a:lnL>
                    <a:lnR w="9525">
                      <a:solidFill>
                        <a:srgbClr val="FFFFFF"/>
                      </a:solidFill>
                    </a:lnR>
                    <a:lnT w="0">
                      <a:noFill/>
                    </a:lnT>
                    <a:lnB w="9525">
                      <a:solidFill>
                        <a:srgbClr val="FFFFFF"/>
                      </a:solidFill>
                    </a:lnB>
                    <a:solidFill>
                      <a:srgbClr val="00567E"/>
                    </a:solidFill>
                  </a:tcPr>
                </a:tc>
                <a:tc>
                  <a:txBody>
                    <a:bodyPr wrap="square"/>
                    <a:lstStyle/>
                    <a:p>
                      <a:pPr algn="l"/>
                      <a:r>
                        <a:rPr sz="1000" b="0" i="0">
                          <a:solidFill>
                            <a:srgbClr val="FFFFFF"/>
                          </a:solidFill>
                          <a:latin typeface="Arial"/>
                        </a:rPr>
                        <a:t>What changes</a:t>
                      </a:r>
                      <a:endParaRPr sz="1000" b="0" i="0">
                        <a:solidFill>
                          <a:srgbClr val="FFFFFF"/>
                        </a:solidFill>
                        <a:latin typeface="Arial"/>
                      </a:endParaRPr>
                    </a:p>
                  </a:txBody>
                  <a:tcPr marL="59436" marR="59436" marT="59436" marB="59436" anchor="ctr">
                    <a:lnL w="9525">
                      <a:solidFill>
                        <a:srgbClr val="FFFFFF"/>
                      </a:solidFill>
                    </a:lnL>
                    <a:lnR w="9525">
                      <a:solidFill>
                        <a:srgbClr val="FFFFFF"/>
                      </a:solidFill>
                    </a:lnR>
                    <a:lnT w="0">
                      <a:noFill/>
                    </a:lnT>
                    <a:lnB w="9525">
                      <a:solidFill>
                        <a:srgbClr val="FFFFFF"/>
                      </a:solidFill>
                    </a:lnB>
                    <a:solidFill>
                      <a:srgbClr val="00567E"/>
                    </a:solidFill>
                  </a:tcPr>
                </a:tc>
                <a:tc>
                  <a:txBody>
                    <a:bodyPr wrap="square"/>
                    <a:lstStyle/>
                    <a:p>
                      <a:pPr algn="r"/>
                      <a:r>
                        <a:rPr sz="1000" b="0" i="0">
                          <a:solidFill>
                            <a:srgbClr val="FFFFFF"/>
                          </a:solidFill>
                          <a:latin typeface="Arial"/>
                        </a:rPr>
                        <a:t>Need</a:t>
                      </a:r>
                      <a:endParaRPr sz="1000" b="0" i="0">
                        <a:solidFill>
                          <a:srgbClr val="FFFFFF"/>
                        </a:solidFill>
                        <a:latin typeface="Arial"/>
                      </a:endParaRPr>
                    </a:p>
                  </a:txBody>
                  <a:tcPr marL="59436" marR="59436" marT="59436" marB="59436" anchor="ctr">
                    <a:lnL w="9525">
                      <a:solidFill>
                        <a:srgbClr val="FFFFFF"/>
                      </a:solidFill>
                    </a:lnL>
                    <a:lnR w="9525">
                      <a:solidFill>
                        <a:srgbClr val="FFFFFF"/>
                      </a:solidFill>
                    </a:lnR>
                    <a:lnT w="0">
                      <a:noFill/>
                    </a:lnT>
                    <a:lnB w="9525">
                      <a:solidFill>
                        <a:srgbClr val="FFFFFF"/>
                      </a:solidFill>
                    </a:lnB>
                    <a:solidFill>
                      <a:srgbClr val="00567E"/>
                    </a:solidFill>
                  </a:tcPr>
                </a:tc>
                <a:tc>
                  <a:txBody>
                    <a:bodyPr wrap="square"/>
                    <a:lstStyle/>
                    <a:p>
                      <a:pPr algn="r"/>
                      <a:r>
                        <a:rPr sz="1000" b="0" i="0">
                          <a:solidFill>
                            <a:srgbClr val="FFFFFF"/>
                          </a:solidFill>
                          <a:latin typeface="Arial"/>
                        </a:rPr>
                        <a:t>Funded</a:t>
                      </a:r>
                      <a:endParaRPr sz="1000" b="0" i="0">
                        <a:solidFill>
                          <a:srgbClr val="FFFFFF"/>
                        </a:solidFill>
                        <a:latin typeface="Arial"/>
                      </a:endParaRPr>
                    </a:p>
                  </a:txBody>
                  <a:tcPr marL="59436" marR="59436" marT="59436" marB="59436" anchor="ctr">
                    <a:lnL w="9525">
                      <a:solidFill>
                        <a:srgbClr val="FFFFFF"/>
                      </a:solidFill>
                    </a:lnL>
                    <a:lnR w="9525">
                      <a:solidFill>
                        <a:srgbClr val="FFFFFF"/>
                      </a:solidFill>
                    </a:lnR>
                    <a:lnT w="0">
                      <a:noFill/>
                    </a:lnT>
                    <a:lnB w="9525">
                      <a:solidFill>
                        <a:srgbClr val="FFFFFF"/>
                      </a:solidFill>
                    </a:lnB>
                    <a:solidFill>
                      <a:srgbClr val="00567E"/>
                    </a:solidFill>
                  </a:tcPr>
                </a:tc>
                <a:tc>
                  <a:txBody>
                    <a:bodyPr wrap="square"/>
                    <a:lstStyle/>
                    <a:p>
                      <a:pPr algn="r"/>
                      <a:r>
                        <a:rPr sz="1000" b="0" i="0">
                          <a:solidFill>
                            <a:srgbClr val="FFFFFF"/>
                          </a:solidFill>
                          <a:latin typeface="Arial"/>
                        </a:rPr>
                        <a:t>Gap</a:t>
                      </a:r>
                      <a:endParaRPr sz="1000" b="0" i="0">
                        <a:solidFill>
                          <a:srgbClr val="FFFFFF"/>
                        </a:solidFill>
                        <a:latin typeface="Arial"/>
                      </a:endParaRPr>
                    </a:p>
                  </a:txBody>
                  <a:tcPr marL="59436" marR="59436" marT="59436" marB="59436" anchor="ctr">
                    <a:lnL w="9525">
                      <a:solidFill>
                        <a:srgbClr val="FFFFFF"/>
                      </a:solidFill>
                    </a:lnL>
                    <a:lnR w="9525">
                      <a:solidFill>
                        <a:srgbClr val="FFFFFF"/>
                      </a:solidFill>
                    </a:lnR>
                    <a:lnT w="0">
                      <a:noFill/>
                    </a:lnT>
                    <a:lnB w="9525">
                      <a:solidFill>
                        <a:srgbClr val="FFFFFF"/>
                      </a:solidFill>
                    </a:lnB>
                    <a:solidFill>
                      <a:srgbClr val="00567E"/>
                    </a:solidFill>
                  </a:tcPr>
                </a:tc>
                <a:tc>
                  <a:txBody>
                    <a:bodyPr wrap="square"/>
                    <a:lstStyle/>
                    <a:p>
                      <a:pPr algn="r"/>
                      <a:r>
                        <a:rPr sz="1000" b="0" i="0">
                          <a:solidFill>
                            <a:srgbClr val="FFFFFF"/>
                          </a:solidFill>
                          <a:latin typeface="Arial"/>
                        </a:rPr>
                        <a:t>Share</a:t>
                      </a:r>
                      <a:endParaRPr sz="1000" b="0" i="0">
                        <a:solidFill>
                          <a:srgbClr val="FFFFFF"/>
                        </a:solidFill>
                        <a:latin typeface="Arial"/>
                      </a:endParaRPr>
                    </a:p>
                  </a:txBody>
                  <a:tcPr marL="59436" marR="59436" marT="59436" marB="59436" anchor="ctr">
                    <a:lnL w="9525">
                      <a:solidFill>
                        <a:srgbClr val="FFFFFF"/>
                      </a:solidFill>
                    </a:lnL>
                    <a:lnR w="0">
                      <a:noFill/>
                    </a:lnR>
                    <a:lnT w="0">
                      <a:noFill/>
                    </a:lnT>
                    <a:lnB w="9525">
                      <a:solidFill>
                        <a:srgbClr val="FFFFFF"/>
                      </a:solidFill>
                    </a:lnB>
                    <a:solidFill>
                      <a:srgbClr val="00567E"/>
                    </a:solidFill>
                  </a:tcPr>
                </a:tc>
              </a:tr>
              <a:tr h="271526">
                <a:tc>
                  <a:txBody>
                    <a:bodyPr wrap="square"/>
                    <a:lstStyle/>
                    <a:p>
                      <a:pPr algn="l"/>
                      <a:r>
                        <a:rPr sz="1000" b="1" i="0">
                          <a:solidFill>
                            <a:srgbClr val="000000"/>
                          </a:solidFill>
                          <a:latin typeface="Arial"/>
                        </a:rPr>
                        <a:t>Baseline</a:t>
                      </a:r>
                      <a:endParaRPr sz="1000" b="1" i="0">
                        <a:solidFill>
                          <a:srgbClr val="000000"/>
                        </a:solidFill>
                        <a:latin typeface="Arial"/>
                      </a:endParaRPr>
                    </a:p>
                  </a:txBody>
                  <a:tcPr marL="59436" marR="59436" marT="59436" marB="59436" anchor="ctr">
                    <a:lnL w="0">
                      <a:noFill/>
                    </a:lnL>
                    <a:lnR w="9525">
                      <a:solidFill>
                        <a:srgbClr val="FFFFFF"/>
                      </a:solidFill>
                    </a:lnR>
                    <a:lnT w="9525">
                      <a:solidFill>
                        <a:srgbClr val="FFFFFF"/>
                      </a:solidFill>
                    </a:lnT>
                    <a:lnB w="9525">
                      <a:solidFill>
                        <a:srgbClr val="FFFFFF"/>
                      </a:solidFill>
                    </a:lnB>
                    <a:noFill/>
                  </a:tcPr>
                </a:tc>
                <a:tc>
                  <a:txBody>
                    <a:bodyPr wrap="square"/>
                    <a:lstStyle/>
                    <a:p>
                      <a:pPr algn="l"/>
                      <a:r>
                        <a:rPr sz="1000" b="1" i="0">
                          <a:solidFill>
                            <a:srgbClr val="000000"/>
                          </a:solidFill>
                          <a:latin typeface="Arial"/>
                        </a:rPr>
                        <a:t>as programmed</a:t>
                      </a:r>
                      <a:endParaRPr sz="1000" b="1"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noFill/>
                  </a:tcPr>
                </a:tc>
                <a:tc>
                  <a:txBody>
                    <a:bodyPr wrap="square"/>
                    <a:lstStyle/>
                    <a:p>
                      <a:pPr algn="r"/>
                      <a:r>
                        <a:rPr sz="1000" b="1" i="0">
                          <a:solidFill>
                            <a:srgbClr val="000000"/>
                          </a:solidFill>
                          <a:latin typeface="Arial"/>
                        </a:rPr>
                        <a:t>5,845</a:t>
                      </a:r>
                      <a:endParaRPr sz="1000" b="1"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noFill/>
                  </a:tcPr>
                </a:tc>
                <a:tc>
                  <a:txBody>
                    <a:bodyPr wrap="square"/>
                    <a:lstStyle/>
                    <a:p>
                      <a:pPr algn="r"/>
                      <a:r>
                        <a:rPr sz="1000" b="1" i="0">
                          <a:solidFill>
                            <a:srgbClr val="000000"/>
                          </a:solidFill>
                          <a:latin typeface="Arial"/>
                        </a:rPr>
                        <a:t>4,930</a:t>
                      </a:r>
                      <a:endParaRPr sz="1000" b="1"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noFill/>
                  </a:tcPr>
                </a:tc>
                <a:tc>
                  <a:txBody>
                    <a:bodyPr wrap="square"/>
                    <a:lstStyle/>
                    <a:p>
                      <a:pPr algn="r"/>
                      <a:r>
                        <a:rPr sz="1000" b="1" i="0">
                          <a:solidFill>
                            <a:srgbClr val="000000"/>
                          </a:solidFill>
                          <a:latin typeface="Arial"/>
                        </a:rPr>
                        <a:t>915</a:t>
                      </a:r>
                      <a:endParaRPr sz="1000" b="1"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noFill/>
                  </a:tcPr>
                </a:tc>
                <a:tc>
                  <a:txBody>
                    <a:bodyPr wrap="square"/>
                    <a:lstStyle/>
                    <a:p>
                      <a:pPr algn="r"/>
                      <a:r>
                        <a:rPr sz="1000" b="1" i="0">
                          <a:solidFill>
                            <a:srgbClr val="000000"/>
                          </a:solidFill>
                          <a:latin typeface="Arial"/>
                        </a:rPr>
                        <a:t>15.7%</a:t>
                      </a:r>
                      <a:endParaRPr sz="1000" b="1" i="0">
                        <a:solidFill>
                          <a:srgbClr val="000000"/>
                        </a:solidFill>
                        <a:latin typeface="Arial"/>
                      </a:endParaRPr>
                    </a:p>
                  </a:txBody>
                  <a:tcPr marL="59436" marR="59436" marT="59436" marB="59436" anchor="ctr">
                    <a:lnL w="9525">
                      <a:solidFill>
                        <a:srgbClr val="FFFFFF"/>
                      </a:solidFill>
                    </a:lnL>
                    <a:lnR w="0">
                      <a:noFill/>
                    </a:lnR>
                    <a:lnT w="9525">
                      <a:solidFill>
                        <a:srgbClr val="FFFFFF"/>
                      </a:solidFill>
                    </a:lnT>
                    <a:lnB w="9525">
                      <a:solidFill>
                        <a:srgbClr val="FFFFFF"/>
                      </a:solidFill>
                    </a:lnB>
                    <a:noFill/>
                  </a:tcPr>
                </a:tc>
              </a:tr>
              <a:tr h="271526">
                <a:tc>
                  <a:txBody>
                    <a:bodyPr wrap="square"/>
                    <a:lstStyle/>
                    <a:p>
                      <a:pPr algn="l"/>
                      <a:r>
                        <a:rPr sz="1000" b="0" i="0">
                          <a:solidFill>
                            <a:srgbClr val="000000"/>
                          </a:solidFill>
                          <a:latin typeface="Arial"/>
                        </a:rPr>
                        <a:t>Sales tax renewed</a:t>
                      </a:r>
                      <a:endParaRPr sz="1000" b="0" i="0">
                        <a:solidFill>
                          <a:srgbClr val="000000"/>
                        </a:solidFill>
                        <a:latin typeface="Arial"/>
                      </a:endParaRPr>
                    </a:p>
                  </a:txBody>
                  <a:tcPr marL="59436" marR="59436" marT="59436" marB="59436" anchor="ctr">
                    <a:lnL w="0">
                      <a:no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l"/>
                      <a:r>
                        <a:rPr sz="1000" b="0" i="0">
                          <a:solidFill>
                            <a:srgbClr val="000000"/>
                          </a:solidFill>
                          <a:latin typeface="Arial"/>
                        </a:rPr>
                        <a:t>+$450m from 2030</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r"/>
                      <a:r>
                        <a:rPr sz="1000" b="0" i="0">
                          <a:solidFill>
                            <a:srgbClr val="000000"/>
                          </a:solidFill>
                          <a:latin typeface="Arial"/>
                        </a:rPr>
                        <a:t>5,845</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r"/>
                      <a:r>
                        <a:rPr sz="1000" b="0" i="0">
                          <a:solidFill>
                            <a:srgbClr val="000000"/>
                          </a:solidFill>
                          <a:latin typeface="Arial"/>
                        </a:rPr>
                        <a:t>5,380</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r"/>
                      <a:r>
                        <a:rPr sz="1000" b="0" i="0">
                          <a:solidFill>
                            <a:srgbClr val="000000"/>
                          </a:solidFill>
                          <a:latin typeface="Arial"/>
                        </a:rPr>
                        <a:t>465</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r"/>
                      <a:r>
                        <a:rPr sz="1000" b="0" i="0">
                          <a:solidFill>
                            <a:srgbClr val="000000"/>
                          </a:solidFill>
                          <a:latin typeface="Arial"/>
                        </a:rPr>
                        <a:t>8.0%</a:t>
                      </a:r>
                      <a:endParaRPr sz="1000" b="0" i="0">
                        <a:solidFill>
                          <a:srgbClr val="000000"/>
                        </a:solidFill>
                        <a:latin typeface="Arial"/>
                      </a:endParaRPr>
                    </a:p>
                  </a:txBody>
                  <a:tcPr marL="59436" marR="59436" marT="59436" marB="59436" anchor="ctr">
                    <a:lnL w="9525">
                      <a:solidFill>
                        <a:srgbClr val="FFFFFF"/>
                      </a:solidFill>
                    </a:lnL>
                    <a:lnR w="0">
                      <a:noFill/>
                    </a:lnR>
                    <a:lnT w="9525">
                      <a:solidFill>
                        <a:srgbClr val="FFFFFF"/>
                      </a:solidFill>
                    </a:lnT>
                    <a:lnB w="9525">
                      <a:solidFill>
                        <a:srgbClr val="FFFFFF"/>
                      </a:solidFill>
                    </a:lnB>
                    <a:solidFill>
                      <a:srgbClr val="CBDDF0"/>
                    </a:solidFill>
                  </a:tcPr>
                </a:tc>
              </a:tr>
              <a:tr h="271526">
                <a:tc>
                  <a:txBody>
                    <a:bodyPr wrap="square"/>
                    <a:lstStyle/>
                    <a:p>
                      <a:pPr algn="l"/>
                      <a:r>
                        <a:rPr sz="1000" b="0" i="0">
                          <a:solidFill>
                            <a:srgbClr val="000000"/>
                          </a:solidFill>
                          <a:latin typeface="Arial"/>
                        </a:rPr>
                        <a:t>Costs 8% higher</a:t>
                      </a:r>
                      <a:endParaRPr sz="1000" b="0" i="0">
                        <a:solidFill>
                          <a:srgbClr val="000000"/>
                        </a:solidFill>
                        <a:latin typeface="Arial"/>
                      </a:endParaRPr>
                    </a:p>
                  </a:txBody>
                  <a:tcPr marL="59436" marR="59436" marT="59436" marB="59436" anchor="ctr">
                    <a:lnL w="0">
                      <a:noFill/>
                    </a:lnL>
                    <a:lnR w="9525">
                      <a:solidFill>
                        <a:srgbClr val="FFFFFF"/>
                      </a:solidFill>
                    </a:lnR>
                    <a:lnT w="9525">
                      <a:solidFill>
                        <a:srgbClr val="FFFFFF"/>
                      </a:solidFill>
                    </a:lnT>
                    <a:lnB w="9525">
                      <a:solidFill>
                        <a:srgbClr val="FFFFFF"/>
                      </a:solidFill>
                    </a:lnB>
                    <a:noFill/>
                  </a:tcPr>
                </a:tc>
                <a:tc>
                  <a:txBody>
                    <a:bodyPr wrap="square"/>
                    <a:lstStyle/>
                    <a:p>
                      <a:pPr algn="l"/>
                      <a:r>
                        <a:rPr sz="1000" b="0" i="0">
                          <a:solidFill>
                            <a:srgbClr val="000000"/>
                          </a:solidFill>
                          <a:latin typeface="Arial"/>
                        </a:rPr>
                        <a:t>need +8%</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noFill/>
                  </a:tcPr>
                </a:tc>
                <a:tc>
                  <a:txBody>
                    <a:bodyPr wrap="square"/>
                    <a:lstStyle/>
                    <a:p>
                      <a:pPr algn="r"/>
                      <a:r>
                        <a:rPr sz="1000" b="0" i="0">
                          <a:solidFill>
                            <a:srgbClr val="000000"/>
                          </a:solidFill>
                          <a:latin typeface="Arial"/>
                        </a:rPr>
                        <a:t>6,313</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noFill/>
                  </a:tcPr>
                </a:tc>
                <a:tc>
                  <a:txBody>
                    <a:bodyPr wrap="square"/>
                    <a:lstStyle/>
                    <a:p>
                      <a:pPr algn="r"/>
                      <a:r>
                        <a:rPr sz="1000" b="0" i="0">
                          <a:solidFill>
                            <a:srgbClr val="000000"/>
                          </a:solidFill>
                          <a:latin typeface="Arial"/>
                        </a:rPr>
                        <a:t>4,930</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noFill/>
                  </a:tcPr>
                </a:tc>
                <a:tc>
                  <a:txBody>
                    <a:bodyPr wrap="square"/>
                    <a:lstStyle/>
                    <a:p>
                      <a:pPr algn="r"/>
                      <a:r>
                        <a:rPr sz="1000" b="0" i="0">
                          <a:solidFill>
                            <a:srgbClr val="000000"/>
                          </a:solidFill>
                          <a:latin typeface="Arial"/>
                        </a:rPr>
                        <a:t>1,383</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noFill/>
                  </a:tcPr>
                </a:tc>
                <a:tc>
                  <a:txBody>
                    <a:bodyPr wrap="square"/>
                    <a:lstStyle/>
                    <a:p>
                      <a:pPr algn="r"/>
                      <a:r>
                        <a:rPr sz="1000" b="0" i="0">
                          <a:solidFill>
                            <a:srgbClr val="000000"/>
                          </a:solidFill>
                          <a:latin typeface="Arial"/>
                        </a:rPr>
                        <a:t>21.9%</a:t>
                      </a:r>
                      <a:endParaRPr sz="1000" b="0" i="0">
                        <a:solidFill>
                          <a:srgbClr val="000000"/>
                        </a:solidFill>
                        <a:latin typeface="Arial"/>
                      </a:endParaRPr>
                    </a:p>
                  </a:txBody>
                  <a:tcPr marL="59436" marR="59436" marT="59436" marB="59436" anchor="ctr">
                    <a:lnL w="9525">
                      <a:solidFill>
                        <a:srgbClr val="FFFFFF"/>
                      </a:solidFill>
                    </a:lnL>
                    <a:lnR w="0">
                      <a:noFill/>
                    </a:lnR>
                    <a:lnT w="9525">
                      <a:solidFill>
                        <a:srgbClr val="FFFFFF"/>
                      </a:solidFill>
                    </a:lnT>
                    <a:lnB w="9525">
                      <a:solidFill>
                        <a:srgbClr val="FFFFFF"/>
                      </a:solidFill>
                    </a:lnB>
                    <a:noFill/>
                  </a:tcPr>
                </a:tc>
              </a:tr>
              <a:tr h="271526">
                <a:tc>
                  <a:txBody>
                    <a:bodyPr wrap="square"/>
                    <a:lstStyle/>
                    <a:p>
                      <a:pPr algn="l"/>
                      <a:r>
                        <a:rPr sz="1000" b="0" i="0">
                          <a:solidFill>
                            <a:srgbClr val="000000"/>
                          </a:solidFill>
                          <a:latin typeface="Arial"/>
                        </a:rPr>
                        <a:t>No federal grant</a:t>
                      </a:r>
                      <a:endParaRPr sz="1000" b="0" i="0">
                        <a:solidFill>
                          <a:srgbClr val="000000"/>
                        </a:solidFill>
                        <a:latin typeface="Arial"/>
                      </a:endParaRPr>
                    </a:p>
                  </a:txBody>
                  <a:tcPr marL="59436" marR="59436" marT="59436" marB="59436" anchor="ctr">
                    <a:lnL w="0">
                      <a:no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l"/>
                      <a:r>
                        <a:rPr sz="1000" b="0" i="0">
                          <a:solidFill>
                            <a:srgbClr val="000000"/>
                          </a:solidFill>
                          <a:latin typeface="Arial"/>
                        </a:rPr>
                        <a:t>-$900m Blue Line</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r"/>
                      <a:r>
                        <a:rPr sz="1000" b="0" i="0">
                          <a:solidFill>
                            <a:srgbClr val="000000"/>
                          </a:solidFill>
                          <a:latin typeface="Arial"/>
                        </a:rPr>
                        <a:t>5,845</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r"/>
                      <a:r>
                        <a:rPr sz="1000" b="0" i="0">
                          <a:solidFill>
                            <a:srgbClr val="000000"/>
                          </a:solidFill>
                          <a:latin typeface="Arial"/>
                        </a:rPr>
                        <a:t>4,030</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r"/>
                      <a:r>
                        <a:rPr sz="1000" b="0" i="0">
                          <a:solidFill>
                            <a:srgbClr val="000000"/>
                          </a:solidFill>
                          <a:latin typeface="Arial"/>
                        </a:rPr>
                        <a:t>1,815</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9525">
                      <a:solidFill>
                        <a:srgbClr val="FFFFFF"/>
                      </a:solidFill>
                    </a:lnB>
                    <a:solidFill>
                      <a:srgbClr val="CBDDF0"/>
                    </a:solidFill>
                  </a:tcPr>
                </a:tc>
                <a:tc>
                  <a:txBody>
                    <a:bodyPr wrap="square"/>
                    <a:lstStyle/>
                    <a:p>
                      <a:pPr algn="r"/>
                      <a:r>
                        <a:rPr sz="1000" b="0" i="0">
                          <a:solidFill>
                            <a:srgbClr val="000000"/>
                          </a:solidFill>
                          <a:latin typeface="Arial"/>
                        </a:rPr>
                        <a:t>31.1%</a:t>
                      </a:r>
                      <a:endParaRPr sz="1000" b="0" i="0">
                        <a:solidFill>
                          <a:srgbClr val="000000"/>
                        </a:solidFill>
                        <a:latin typeface="Arial"/>
                      </a:endParaRPr>
                    </a:p>
                  </a:txBody>
                  <a:tcPr marL="59436" marR="59436" marT="59436" marB="59436" anchor="ctr">
                    <a:lnL w="9525">
                      <a:solidFill>
                        <a:srgbClr val="FFFFFF"/>
                      </a:solidFill>
                    </a:lnL>
                    <a:lnR w="0">
                      <a:noFill/>
                    </a:lnR>
                    <a:lnT w="9525">
                      <a:solidFill>
                        <a:srgbClr val="FFFFFF"/>
                      </a:solidFill>
                    </a:lnT>
                    <a:lnB w="9525">
                      <a:solidFill>
                        <a:srgbClr val="FFFFFF"/>
                      </a:solidFill>
                    </a:lnB>
                    <a:solidFill>
                      <a:srgbClr val="CBDDF0"/>
                    </a:solidFill>
                  </a:tcPr>
                </a:tc>
              </a:tr>
              <a:tr h="271526">
                <a:tc>
                  <a:txBody>
                    <a:bodyPr wrap="square"/>
                    <a:lstStyle/>
                    <a:p>
                      <a:pPr algn="l"/>
                      <a:r>
                        <a:rPr sz="1000" b="0" i="0">
                          <a:solidFill>
                            <a:srgbClr val="000000"/>
                          </a:solidFill>
                          <a:latin typeface="Arial"/>
                        </a:rPr>
                        <a:t>Both downsides</a:t>
                      </a:r>
                      <a:endParaRPr sz="1000" b="0" i="0">
                        <a:solidFill>
                          <a:srgbClr val="000000"/>
                        </a:solidFill>
                        <a:latin typeface="Arial"/>
                      </a:endParaRPr>
                    </a:p>
                  </a:txBody>
                  <a:tcPr marL="59436" marR="59436" marT="59436" marB="59436" anchor="ctr">
                    <a:lnL w="0">
                      <a:noFill/>
                    </a:lnL>
                    <a:lnR w="9525">
                      <a:solidFill>
                        <a:srgbClr val="FFFFFF"/>
                      </a:solidFill>
                    </a:lnR>
                    <a:lnT w="9525">
                      <a:solidFill>
                        <a:srgbClr val="FFFFFF"/>
                      </a:solidFill>
                    </a:lnT>
                    <a:lnB w="0">
                      <a:noFill/>
                    </a:lnB>
                    <a:noFill/>
                  </a:tcPr>
                </a:tc>
                <a:tc>
                  <a:txBody>
                    <a:bodyPr wrap="square"/>
                    <a:lstStyle/>
                    <a:p>
                      <a:pPr algn="l"/>
                      <a:r>
                        <a:rPr sz="1000" b="0" i="0">
                          <a:solidFill>
                            <a:srgbClr val="000000"/>
                          </a:solidFill>
                          <a:latin typeface="Arial"/>
                        </a:rPr>
                        <a:t>both of the above</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0">
                      <a:noFill/>
                    </a:lnB>
                    <a:noFill/>
                  </a:tcPr>
                </a:tc>
                <a:tc>
                  <a:txBody>
                    <a:bodyPr wrap="square"/>
                    <a:lstStyle/>
                    <a:p>
                      <a:pPr algn="r"/>
                      <a:r>
                        <a:rPr sz="1000" b="0" i="0">
                          <a:solidFill>
                            <a:srgbClr val="000000"/>
                          </a:solidFill>
                          <a:latin typeface="Arial"/>
                        </a:rPr>
                        <a:t>6,313</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0">
                      <a:noFill/>
                    </a:lnB>
                    <a:noFill/>
                  </a:tcPr>
                </a:tc>
                <a:tc>
                  <a:txBody>
                    <a:bodyPr wrap="square"/>
                    <a:lstStyle/>
                    <a:p>
                      <a:pPr algn="r"/>
                      <a:r>
                        <a:rPr sz="1000" b="0" i="0">
                          <a:solidFill>
                            <a:srgbClr val="000000"/>
                          </a:solidFill>
                          <a:latin typeface="Arial"/>
                        </a:rPr>
                        <a:t>4,030</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0">
                      <a:noFill/>
                    </a:lnB>
                    <a:noFill/>
                  </a:tcPr>
                </a:tc>
                <a:tc>
                  <a:txBody>
                    <a:bodyPr wrap="square"/>
                    <a:lstStyle/>
                    <a:p>
                      <a:pPr algn="r"/>
                      <a:r>
                        <a:rPr sz="1000" b="0" i="0">
                          <a:solidFill>
                            <a:srgbClr val="000000"/>
                          </a:solidFill>
                          <a:latin typeface="Arial"/>
                        </a:rPr>
                        <a:t>2,283</a:t>
                      </a:r>
                      <a:endParaRPr sz="1000" b="0" i="0">
                        <a:solidFill>
                          <a:srgbClr val="000000"/>
                        </a:solidFill>
                        <a:latin typeface="Arial"/>
                      </a:endParaRPr>
                    </a:p>
                  </a:txBody>
                  <a:tcPr marL="59436" marR="59436" marT="59436" marB="59436" anchor="ctr">
                    <a:lnL w="9525">
                      <a:solidFill>
                        <a:srgbClr val="FFFFFF"/>
                      </a:solidFill>
                    </a:lnL>
                    <a:lnR w="9525">
                      <a:solidFill>
                        <a:srgbClr val="FFFFFF"/>
                      </a:solidFill>
                    </a:lnR>
                    <a:lnT w="9525">
                      <a:solidFill>
                        <a:srgbClr val="FFFFFF"/>
                      </a:solidFill>
                    </a:lnT>
                    <a:lnB w="0">
                      <a:noFill/>
                    </a:lnB>
                    <a:noFill/>
                  </a:tcPr>
                </a:tc>
                <a:tc>
                  <a:txBody>
                    <a:bodyPr wrap="square"/>
                    <a:lstStyle/>
                    <a:p>
                      <a:pPr algn="r"/>
                      <a:r>
                        <a:rPr sz="1000" b="0" i="0">
                          <a:solidFill>
                            <a:srgbClr val="000000"/>
                          </a:solidFill>
                          <a:latin typeface="Arial"/>
                        </a:rPr>
                        <a:t>36.2%</a:t>
                      </a:r>
                      <a:endParaRPr sz="1000" b="0" i="0">
                        <a:solidFill>
                          <a:srgbClr val="000000"/>
                        </a:solidFill>
                        <a:latin typeface="Arial"/>
                      </a:endParaRPr>
                    </a:p>
                  </a:txBody>
                  <a:tcPr marL="59436" marR="59436" marT="59436" marB="59436" anchor="ctr">
                    <a:lnL w="9525">
                      <a:solidFill>
                        <a:srgbClr val="FFFFFF"/>
                      </a:solidFill>
                    </a:lnL>
                    <a:lnR w="0">
                      <a:noFill/>
                    </a:lnR>
                    <a:lnT w="9525">
                      <a:solidFill>
                        <a:srgbClr val="FFFFFF"/>
                      </a:solidFill>
                    </a:lnT>
                    <a:lnB w="0">
                      <a:noFill/>
                    </a:lnB>
                    <a:noFill/>
                  </a:tcPr>
                </a:tc>
              </a:tr>
            </a:tbl>
          </a:graphicData>
        </a:graphic>
      </p:graphicFrame>
      <p:sp>
        <p:nvSpPr>
          <p:cNvPr id="7" name="scen-read"/>
          <p:cNvSpPr txBox="1"/>
          <p:nvPr/>
        </p:nvSpPr>
        <p:spPr>
          <a:xfrm>
            <a:off x="4118641" y="3170794"/>
            <a:ext cx="4653884" cy="45720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0" i="0">
                <a:solidFill>
                  <a:srgbClr val="404040"/>
                </a:solidFill>
                <a:latin typeface="Arial"/>
              </a:rPr>
              <a:t>Renewing the local sales tax roughly halves the gap, to $465 million; losing the</a:t>
            </a:r>
            <a:br/>
            <a:r>
              <a:rPr sz="1000" b="0" i="0">
                <a:solidFill>
                  <a:srgbClr val="404040"/>
                </a:solidFill>
                <a:latin typeface="Arial"/>
              </a:rPr>
              <a:t>Blue Line's federal grant roughly doubles it, to $1,815 million. Costs 8% over</a:t>
            </a:r>
            <a:br/>
            <a:r>
              <a:rPr sz="1000" b="0" i="0">
                <a:solidFill>
                  <a:srgbClr val="404040"/>
                </a:solidFill>
                <a:latin typeface="Arial"/>
              </a:rPr>
              <a:t>estimate add $468 million to it.</a:t>
            </a:r>
          </a:p>
        </p:txBody>
      </p:sp>
      <p:sp>
        <p:nvSpPr>
          <p:cNvPr id="8" name="source"/>
          <p:cNvSpPr txBox="1"/>
          <p:nvPr/>
        </p:nvSpPr>
        <p:spPr>
          <a:xfrm>
            <a:off x="537591" y="4226936"/>
            <a:ext cx="8234934" cy="27432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0" i="0">
                <a:solidFill>
                  <a:srgbClr val="000000"/>
                </a:solidFill>
                <a:latin typeface="Arial"/>
              </a:rPr>
              <a:t>Data source: Lakeshore Regional Transit Authority, Ten-Year Capital and Ridership Outlook 2026 (fictional agency; illustrative figures)</a:t>
            </a:r>
          </a:p>
          <a:p>
            <a:pPr algn="l" marL="0" indent="0">
              <a:lnSpc>
                <a:spcPts val="1080"/>
              </a:lnSpc>
              <a:spcBef>
                <a:spcPts val="0"/>
              </a:spcBef>
              <a:spcAft>
                <a:spcPts val="0"/>
              </a:spcAft>
              <a:buNone/>
            </a:pPr>
            <a:r>
              <a:rPr sz="900" b="0" i="0">
                <a:solidFill>
                  <a:srgbClr val="000000"/>
                </a:solidFill>
                <a:latin typeface="Arial"/>
              </a:rPr>
              <a:t>Note: Federal grants = the Blue Line capital grant request. Costs 8% higher raises the whole plan 8%.</a:t>
            </a:r>
          </a:p>
        </p:txBody>
      </p:sp>
      <p:sp>
        <p:nvSpPr>
          <p:cNvPr id="9" name="foot-fill"/>
          <p:cNvSpPr/>
          <p:nvPr/>
        </p:nvSpPr>
        <p:spPr>
          <a:xfrm>
            <a:off x="0" y="4699000"/>
            <a:ext cx="9144000" cy="444500"/>
          </a:xfrm>
          <a:prstGeom prst="rect">
            <a:avLst/>
          </a:prstGeom>
          <a:solidFill>
            <a:srgbClr val="0096D7"/>
          </a:solidFill>
          <a:ln>
            <a:noFill/>
          </a:ln>
        </p:spPr>
        <p:txBody>
          <a:bodyPr rtlCol="0" anchor="ctr"/>
          <a:lstStyle/>
          <a:p>
            <a:pPr algn="ctr"/>
          </a:p>
        </p:txBody>
      </p:sp>
      <p:pic>
        <p:nvPicPr>
          <p:cNvPr id="10" name="mark" descr="lrta-mark.png"/>
          <p:cNvPicPr>
            <a:picLocks noChangeAspect="1"/>
          </p:cNvPicPr>
          <p:nvPr/>
        </p:nvPicPr>
        <p:blipFill>
          <a:blip r:embed="rId3"/>
          <a:stretch>
            <a:fillRect/>
          </a:stretch>
        </p:blipFill>
        <p:spPr>
          <a:xfrm>
            <a:off x="110082" y="4735512"/>
            <a:ext cx="482918" cy="371475"/>
          </a:xfrm>
          <a:prstGeom prst="rect">
            <a:avLst/>
          </a:prstGeom>
        </p:spPr>
      </p:pic>
      <p:sp>
        <p:nvSpPr>
          <p:cNvPr id="11" name="foot-text"/>
          <p:cNvSpPr txBox="1"/>
          <p:nvPr/>
        </p:nvSpPr>
        <p:spPr>
          <a:xfrm>
            <a:off x="757755" y="4791710"/>
            <a:ext cx="7457253" cy="25908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0" i="1">
                <a:solidFill>
                  <a:srgbClr val="FFFFFF"/>
                </a:solidFill>
                <a:latin typeface="Arial"/>
              </a:rPr>
              <a:t>LRTA Ten-Year Capital and Ridership Outlook 2026</a:t>
            </a:r>
          </a:p>
          <a:p>
            <a:pPr algn="l" marL="0" indent="0">
              <a:lnSpc>
                <a:spcPts val="840"/>
              </a:lnSpc>
              <a:spcBef>
                <a:spcPts val="0"/>
              </a:spcBef>
              <a:spcAft>
                <a:spcPts val="0"/>
              </a:spcAft>
              <a:buNone/>
            </a:pPr>
            <a:r>
              <a:rPr sz="700" b="0" i="0">
                <a:solidFill>
                  <a:srgbClr val="FFFFFF"/>
                </a:solidFill>
                <a:latin typeface="Arial"/>
              </a:rPr>
              <a:t>Illustrative figures. Built in the style of a public US federal presentation; not affiliated with or endorsed by any agency.</a:t>
            </a:r>
          </a:p>
        </p:txBody>
      </p:sp>
      <p:sp>
        <p:nvSpPr>
          <p:cNvPr id="12" name="pageno"/>
          <p:cNvSpPr txBox="1"/>
          <p:nvPr/>
        </p:nvSpPr>
        <p:spPr>
          <a:xfrm>
            <a:off x="8325090" y="4814570"/>
            <a:ext cx="447435" cy="213360"/>
          </a:xfrm>
          <a:prstGeom prst="rect">
            <a:avLst/>
          </a:prstGeom>
          <a:noFill/>
        </p:spPr>
        <p:txBody>
          <a:bodyPr wrap="square" lIns="0" tIns="0" rIns="0" bIns="0" anchor="t">
            <a:noAutofit/>
          </a:bodyPr>
          <a:lstStyle/>
          <a:p>
            <a:pPr algn="r" marL="0" indent="0">
              <a:lnSpc>
                <a:spcPts val="1680"/>
              </a:lnSpc>
              <a:spcBef>
                <a:spcPts val="0"/>
              </a:spcBef>
              <a:spcAft>
                <a:spcPts val="0"/>
              </a:spcAft>
              <a:buNone/>
            </a:pPr>
            <a:r>
              <a:rPr sz="1400" b="1" i="0">
                <a:solidFill>
                  <a:srgbClr val="FFFFFF"/>
                </a:solidFill>
                <a:latin typeface="Arial"/>
              </a:rPr>
              <a:t>5</a:t>
            </a:r>
          </a:p>
        </p:txBody>
      </p:sp>
      <p:cxnSp>
        <p:nvCxnSpPr>
          <p:cNvPr id="13" name="conn0-line"/>
          <p:cNvCxnSpPr/>
          <p:nvPr/>
        </p:nvCxnSpPr>
        <p:spPr>
          <a:xfrm>
            <a:off x="1228763" y="1634572"/>
            <a:ext cx="84890" cy="0"/>
          </a:xfrm>
          <a:prstGeom prst="line">
            <a:avLst/>
          </a:prstGeom>
          <a:ln w="9525">
            <a:solidFill>
              <a:srgbClr val="7F7F7F"/>
            </a:solidFill>
          </a:ln>
        </p:spPr>
      </p:cxnSp>
      <p:cxnSp>
        <p:nvCxnSpPr>
          <p:cNvPr id="14" name="conn1-line"/>
          <p:cNvCxnSpPr/>
          <p:nvPr/>
        </p:nvCxnSpPr>
        <p:spPr>
          <a:xfrm>
            <a:off x="1641423" y="2018616"/>
            <a:ext cx="84890" cy="0"/>
          </a:xfrm>
          <a:prstGeom prst="line">
            <a:avLst/>
          </a:prstGeom>
          <a:ln w="9525">
            <a:solidFill>
              <a:srgbClr val="7F7F7F"/>
            </a:solidFill>
          </a:ln>
        </p:spPr>
      </p:cxnSp>
      <p:cxnSp>
        <p:nvCxnSpPr>
          <p:cNvPr id="15" name="conn2-line"/>
          <p:cNvCxnSpPr/>
          <p:nvPr/>
        </p:nvCxnSpPr>
        <p:spPr>
          <a:xfrm>
            <a:off x="2054082" y="2319173"/>
            <a:ext cx="84890" cy="0"/>
          </a:xfrm>
          <a:prstGeom prst="line">
            <a:avLst/>
          </a:prstGeom>
          <a:ln w="9525">
            <a:solidFill>
              <a:srgbClr val="7F7F7F"/>
            </a:solidFill>
          </a:ln>
        </p:spPr>
      </p:cxnSp>
      <p:cxnSp>
        <p:nvCxnSpPr>
          <p:cNvPr id="16" name="conn3-line"/>
          <p:cNvCxnSpPr/>
          <p:nvPr/>
        </p:nvCxnSpPr>
        <p:spPr>
          <a:xfrm>
            <a:off x="2466742" y="2572976"/>
            <a:ext cx="84890" cy="0"/>
          </a:xfrm>
          <a:prstGeom prst="line">
            <a:avLst/>
          </a:prstGeom>
          <a:ln w="9525">
            <a:solidFill>
              <a:srgbClr val="7F7F7F"/>
            </a:solidFill>
          </a:ln>
        </p:spPr>
      </p:cxnSp>
      <p:cxnSp>
        <p:nvCxnSpPr>
          <p:cNvPr id="17" name="conn4-line"/>
          <p:cNvCxnSpPr/>
          <p:nvPr/>
        </p:nvCxnSpPr>
        <p:spPr>
          <a:xfrm>
            <a:off x="2879402" y="3080583"/>
            <a:ext cx="84890" cy="0"/>
          </a:xfrm>
          <a:prstGeom prst="line">
            <a:avLst/>
          </a:prstGeom>
          <a:ln w="9525">
            <a:solidFill>
              <a:srgbClr val="7F7F7F"/>
            </a:solidFill>
          </a:ln>
        </p:spPr>
      </p:cxnSp>
      <p:cxnSp>
        <p:nvCxnSpPr>
          <p:cNvPr id="18" name="conn5-line"/>
          <p:cNvCxnSpPr/>
          <p:nvPr/>
        </p:nvCxnSpPr>
        <p:spPr>
          <a:xfrm>
            <a:off x="3292061" y="3280954"/>
            <a:ext cx="84890" cy="0"/>
          </a:xfrm>
          <a:prstGeom prst="line">
            <a:avLst/>
          </a:prstGeom>
          <a:ln w="9525">
            <a:solidFill>
              <a:srgbClr val="7F7F7F"/>
            </a:solidFill>
          </a:ln>
        </p:spPr>
      </p:cxnSp>
    </p:spTree>
    <p:custDataLst>
      <p:tags r:id="rId4"/>
    </p:custData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37591" y="110082"/>
            <a:ext cx="8234934" cy="792480"/>
          </a:xfrm>
          <a:prstGeom prst="rect">
            <a:avLst/>
          </a:prstGeom>
          <a:noFill/>
        </p:spPr>
        <p:txBody>
          <a:bodyPr wrap="square" lIns="0" tIns="0" rIns="0" bIns="0" anchor="t">
            <a:noAutofit/>
          </a:bodyPr>
          <a:lstStyle/>
          <a:p>
            <a:pPr algn="l" marL="0" indent="0">
              <a:lnSpc>
                <a:spcPts val="3120"/>
              </a:lnSpc>
              <a:spcBef>
                <a:spcPts val="0"/>
              </a:spcBef>
              <a:spcAft>
                <a:spcPts val="0"/>
              </a:spcAft>
              <a:buNone/>
            </a:pPr>
            <a:r>
              <a:rPr sz="2600" b="0" i="0">
                <a:solidFill>
                  <a:srgbClr val="0096D7"/>
                </a:solidFill>
                <a:latin typeface="Times New Roman"/>
              </a:rPr>
              <a:t>Cost per boarding stays above 2019's $9.29 in every case;</a:t>
            </a:r>
            <a:br/>
            <a:r>
              <a:rPr sz="2600" b="0" i="0">
                <a:solidFill>
                  <a:srgbClr val="0096D7"/>
                </a:solidFill>
                <a:latin typeface="Times New Roman"/>
              </a:rPr>
              <a:t>bus's rises most, up 48% on 2019 by 2035</a:t>
            </a:r>
          </a:p>
        </p:txBody>
      </p:sp>
      <p:sp>
        <p:nvSpPr>
          <p:cNvPr id="3" name="pa-hd"/>
          <p:cNvSpPr txBox="1"/>
          <p:nvPr/>
        </p:nvSpPr>
        <p:spPr>
          <a:xfrm>
            <a:off x="537591" y="1001434"/>
            <a:ext cx="4206036"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Operating cost per boarding, all modes, by ridership case</a:t>
            </a:r>
          </a:p>
          <a:p>
            <a:pPr algn="l" marL="0" indent="0">
              <a:lnSpc>
                <a:spcPts val="1200"/>
              </a:lnSpc>
              <a:spcBef>
                <a:spcPts val="0"/>
              </a:spcBef>
              <a:spcAft>
                <a:spcPts val="0"/>
              </a:spcAft>
              <a:buNone/>
            </a:pPr>
            <a:r>
              <a:rPr sz="1000" b="0" i="0">
                <a:solidFill>
                  <a:srgbClr val="000000"/>
                </a:solidFill>
                <a:latin typeface="Arial"/>
              </a:rPr>
              <a:t>dollars, nominal</a:t>
            </a:r>
          </a:p>
        </p:txBody>
      </p:sp>
      <p:graphicFrame>
        <p:nvGraphicFramePr>
          <p:cNvPr id="4" name="c-cpb"/>
          <p:cNvGraphicFramePr>
            <a:graphicFrameLocks noGrp="1"/>
          </p:cNvGraphicFramePr>
          <p:nvPr/>
        </p:nvGraphicFramePr>
        <p:xfrm>
          <a:off x="537591" y="1420346"/>
          <a:ext cx="4206036" cy="2707718"/>
        </p:xfrm>
        <a:graphic>
          <a:graphicData uri="http://schemas.openxmlformats.org/drawingml/2006/chart">
            <c:chart xmlns:c="http://schemas.openxmlformats.org/drawingml/2006/chart" r:id="rId2"/>
          </a:graphicData>
        </a:graphic>
      </p:graphicFrame>
      <p:sp>
        <p:nvSpPr>
          <p:cNvPr id="5" name="pb-hd"/>
          <p:cNvSpPr txBox="1"/>
          <p:nvPr/>
        </p:nvSpPr>
        <p:spPr>
          <a:xfrm>
            <a:off x="5115102" y="1001434"/>
            <a:ext cx="3657423"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Change in cost per boarding since 2019, by mode</a:t>
            </a:r>
          </a:p>
          <a:p>
            <a:pPr algn="l" marL="0" indent="0">
              <a:lnSpc>
                <a:spcPts val="1200"/>
              </a:lnSpc>
              <a:spcBef>
                <a:spcPts val="0"/>
              </a:spcBef>
              <a:spcAft>
                <a:spcPts val="0"/>
              </a:spcAft>
              <a:buNone/>
            </a:pPr>
            <a:r>
              <a:rPr sz="1000" b="0" i="0">
                <a:solidFill>
                  <a:srgbClr val="000000"/>
                </a:solidFill>
                <a:latin typeface="Arial"/>
              </a:rPr>
              <a:t>percent; dollars per boarding below</a:t>
            </a:r>
          </a:p>
        </p:txBody>
      </p:sp>
      <p:sp>
        <p:nvSpPr>
          <p:cNvPr id="6" name="dots-key"/>
          <p:cNvSpPr txBox="1"/>
          <p:nvPr/>
        </p:nvSpPr>
        <p:spPr>
          <a:xfrm>
            <a:off x="5115102" y="1420346"/>
            <a:ext cx="3657423"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7F7F7F"/>
                </a:solidFill>
                <a:latin typeface="Arial"/>
              </a:rPr>
              <a:t>2025</a:t>
            </a:r>
            <a:r>
              <a:rPr sz="900" b="1" i="0">
                <a:solidFill>
                  <a:srgbClr val="000000"/>
                </a:solidFill>
                <a:latin typeface="Arial"/>
              </a:rPr>
              <a:t>   </a:t>
            </a:r>
            <a:r>
              <a:rPr sz="900" b="1" i="0">
                <a:solidFill>
                  <a:srgbClr val="000000"/>
                </a:solidFill>
                <a:latin typeface="Arial"/>
              </a:rPr>
              <a:t>2035 baseline</a:t>
            </a:r>
            <a:r>
              <a:rPr sz="900" b="1" i="0">
                <a:solidFill>
                  <a:srgbClr val="000000"/>
                </a:solidFill>
                <a:latin typeface="Arial"/>
              </a:rPr>
              <a:t>   </a:t>
            </a:r>
            <a:r>
              <a:rPr sz="900" b="1" i="0">
                <a:solidFill>
                  <a:srgbClr val="404040"/>
                </a:solidFill>
                <a:latin typeface="Arial"/>
              </a:rPr>
              <a:t>shaded: 2035 from high to low ridership</a:t>
            </a:r>
          </a:p>
        </p:txBody>
      </p:sp>
      <p:graphicFrame>
        <p:nvGraphicFramePr>
          <p:cNvPr id="7" name="c-dots"/>
          <p:cNvGraphicFramePr>
            <a:graphicFrameLocks noGrp="1"/>
          </p:cNvGraphicFramePr>
          <p:nvPr/>
        </p:nvGraphicFramePr>
        <p:xfrm>
          <a:off x="5115102" y="1656378"/>
          <a:ext cx="3657423" cy="2471686"/>
        </p:xfrm>
        <a:graphic>
          <a:graphicData uri="http://schemas.openxmlformats.org/drawingml/2006/chart">
            <c:chart xmlns:c="http://schemas.openxmlformats.org/drawingml/2006/chart" r:id="rId3"/>
          </a:graphicData>
        </a:graphic>
      </p:graphicFrame>
      <p:sp>
        <p:nvSpPr>
          <p:cNvPr id="8" name="source"/>
          <p:cNvSpPr txBox="1"/>
          <p:nvPr/>
        </p:nvSpPr>
        <p:spPr>
          <a:xfrm>
            <a:off x="537591" y="4226936"/>
            <a:ext cx="8234934" cy="27432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0" i="0">
                <a:solidFill>
                  <a:srgbClr val="000000"/>
                </a:solidFill>
                <a:latin typeface="Arial"/>
              </a:rPr>
              <a:t>Data source: Lakeshore Regional Transit Authority, Ten-Year Capital and Ridership Outlook 2026 (fictional agency; illustrative figures)</a:t>
            </a:r>
          </a:p>
          <a:p>
            <a:pPr algn="l" marL="0" indent="0">
              <a:lnSpc>
                <a:spcPts val="1080"/>
              </a:lnSpc>
              <a:spcBef>
                <a:spcPts val="0"/>
              </a:spcBef>
              <a:spcAft>
                <a:spcPts val="0"/>
              </a:spcAft>
              <a:buNone/>
            </a:pPr>
            <a:r>
              <a:rPr sz="900" b="0" i="0">
                <a:solidFill>
                  <a:srgbClr val="000000"/>
                </a:solidFill>
                <a:latin typeface="Arial"/>
              </a:rPr>
              <a:t>Note: Cost per boarding = operating cost / boardings. The cases differ in ridership only; operating cost is the baseline's in all three. Demand response is per trip.</a:t>
            </a:r>
          </a:p>
        </p:txBody>
      </p:sp>
      <p:sp>
        <p:nvSpPr>
          <p:cNvPr id="9" name="foot-fill"/>
          <p:cNvSpPr/>
          <p:nvPr/>
        </p:nvSpPr>
        <p:spPr>
          <a:xfrm>
            <a:off x="0" y="4699000"/>
            <a:ext cx="9144000" cy="444500"/>
          </a:xfrm>
          <a:prstGeom prst="rect">
            <a:avLst/>
          </a:prstGeom>
          <a:solidFill>
            <a:srgbClr val="0096D7"/>
          </a:solidFill>
          <a:ln>
            <a:noFill/>
          </a:ln>
        </p:spPr>
        <p:txBody>
          <a:bodyPr rtlCol="0" anchor="ctr"/>
          <a:lstStyle/>
          <a:p>
            <a:pPr algn="ctr"/>
          </a:p>
        </p:txBody>
      </p:sp>
      <p:pic>
        <p:nvPicPr>
          <p:cNvPr id="10" name="mark" descr="lrta-mark.png"/>
          <p:cNvPicPr>
            <a:picLocks noChangeAspect="1"/>
          </p:cNvPicPr>
          <p:nvPr/>
        </p:nvPicPr>
        <p:blipFill>
          <a:blip r:embed="rId4"/>
          <a:stretch>
            <a:fillRect/>
          </a:stretch>
        </p:blipFill>
        <p:spPr>
          <a:xfrm>
            <a:off x="110082" y="4735512"/>
            <a:ext cx="482918" cy="371475"/>
          </a:xfrm>
          <a:prstGeom prst="rect">
            <a:avLst/>
          </a:prstGeom>
        </p:spPr>
      </p:pic>
      <p:sp>
        <p:nvSpPr>
          <p:cNvPr id="11" name="foot-text"/>
          <p:cNvSpPr txBox="1"/>
          <p:nvPr/>
        </p:nvSpPr>
        <p:spPr>
          <a:xfrm>
            <a:off x="757755" y="4791710"/>
            <a:ext cx="7457253" cy="25908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0" i="1">
                <a:solidFill>
                  <a:srgbClr val="FFFFFF"/>
                </a:solidFill>
                <a:latin typeface="Arial"/>
              </a:rPr>
              <a:t>LRTA Ten-Year Capital and Ridership Outlook 2026</a:t>
            </a:r>
          </a:p>
          <a:p>
            <a:pPr algn="l" marL="0" indent="0">
              <a:lnSpc>
                <a:spcPts val="840"/>
              </a:lnSpc>
              <a:spcBef>
                <a:spcPts val="0"/>
              </a:spcBef>
              <a:spcAft>
                <a:spcPts val="0"/>
              </a:spcAft>
              <a:buNone/>
            </a:pPr>
            <a:r>
              <a:rPr sz="700" b="0" i="0">
                <a:solidFill>
                  <a:srgbClr val="FFFFFF"/>
                </a:solidFill>
                <a:latin typeface="Arial"/>
              </a:rPr>
              <a:t>Illustrative figures. Built in the style of a public US federal presentation; not affiliated with or endorsed by any agency.</a:t>
            </a:r>
          </a:p>
        </p:txBody>
      </p:sp>
      <p:sp>
        <p:nvSpPr>
          <p:cNvPr id="12" name="pageno"/>
          <p:cNvSpPr txBox="1"/>
          <p:nvPr/>
        </p:nvSpPr>
        <p:spPr>
          <a:xfrm>
            <a:off x="8325090" y="4814570"/>
            <a:ext cx="447435" cy="213360"/>
          </a:xfrm>
          <a:prstGeom prst="rect">
            <a:avLst/>
          </a:prstGeom>
          <a:noFill/>
        </p:spPr>
        <p:txBody>
          <a:bodyPr wrap="square" lIns="0" tIns="0" rIns="0" bIns="0" anchor="t">
            <a:noAutofit/>
          </a:bodyPr>
          <a:lstStyle/>
          <a:p>
            <a:pPr algn="r" marL="0" indent="0">
              <a:lnSpc>
                <a:spcPts val="1680"/>
              </a:lnSpc>
              <a:spcBef>
                <a:spcPts val="0"/>
              </a:spcBef>
              <a:spcAft>
                <a:spcPts val="0"/>
              </a:spcAft>
              <a:buNone/>
            </a:pPr>
            <a:r>
              <a:rPr sz="1400" b="1" i="0">
                <a:solidFill>
                  <a:srgbClr val="FFFFFF"/>
                </a:solidFill>
                <a:latin typeface="Arial"/>
              </a:rPr>
              <a:t>6</a:t>
            </a:r>
          </a:p>
        </p:txBody>
      </p:sp>
      <p:cxnSp>
        <p:nvCxnSpPr>
          <p:cNvPr id="13" name="c-cpb-2025-line"/>
          <p:cNvCxnSpPr/>
          <p:nvPr/>
        </p:nvCxnSpPr>
        <p:spPr>
          <a:xfrm flipV="1">
            <a:off x="2093824" y="1718195"/>
            <a:ext cx="0" cy="2112020"/>
          </a:xfrm>
          <a:prstGeom prst="line">
            <a:avLst/>
          </a:prstGeom>
          <a:ln w="12700">
            <a:solidFill>
              <a:srgbClr val="BFBFBF"/>
            </a:solidFill>
            <a:prstDash val="dash"/>
          </a:ln>
        </p:spPr>
      </p:cxnSp>
      <p:sp>
        <p:nvSpPr>
          <p:cNvPr id="14" name="c-cpb-2025-label"/>
          <p:cNvSpPr txBox="1"/>
          <p:nvPr/>
        </p:nvSpPr>
        <p:spPr>
          <a:xfrm>
            <a:off x="1946454" y="1482163"/>
            <a:ext cx="294741" cy="137160"/>
          </a:xfrm>
          <a:prstGeom prst="rect">
            <a:avLst/>
          </a:prstGeom>
          <a:noFill/>
        </p:spPr>
        <p:txBody>
          <a:bodyPr wrap="square" lIns="0" tIns="0" rIns="0" bIns="0" anchor="t">
            <a:noAutofit/>
          </a:bodyPr>
          <a:lstStyle/>
          <a:p>
            <a:pPr algn="ctr" marL="0" indent="0">
              <a:lnSpc>
                <a:spcPts val="1080"/>
              </a:lnSpc>
              <a:spcBef>
                <a:spcPts val="0"/>
              </a:spcBef>
              <a:spcAft>
                <a:spcPts val="0"/>
              </a:spcAft>
              <a:buNone/>
            </a:pPr>
            <a:r>
              <a:rPr sz="900" b="1" i="0">
                <a:solidFill>
                  <a:srgbClr val="7F7F7F"/>
                </a:solidFill>
                <a:latin typeface="Arial"/>
              </a:rPr>
              <a:t>2025</a:t>
            </a:r>
          </a:p>
        </p:txBody>
      </p:sp>
      <p:cxnSp>
        <p:nvCxnSpPr>
          <p:cNvPr id="15" name="c-cpb-proj-line"/>
          <p:cNvCxnSpPr/>
          <p:nvPr/>
        </p:nvCxnSpPr>
        <p:spPr>
          <a:xfrm flipV="1">
            <a:off x="2093824" y="1718195"/>
            <a:ext cx="0" cy="2112020"/>
          </a:xfrm>
          <a:prstGeom prst="line">
            <a:avLst/>
          </a:prstGeom>
          <a:ln w="12700">
            <a:solidFill>
              <a:srgbClr val="BFBFBF"/>
            </a:solidFill>
            <a:prstDash val="dash"/>
          </a:ln>
        </p:spPr>
      </p:cxnSp>
      <p:sp>
        <p:nvSpPr>
          <p:cNvPr id="16" name="c-cpb-proj-label"/>
          <p:cNvSpPr txBox="1"/>
          <p:nvPr/>
        </p:nvSpPr>
        <p:spPr>
          <a:xfrm>
            <a:off x="2192696" y="1718195"/>
            <a:ext cx="593216"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0" i="0">
                <a:solidFill>
                  <a:srgbClr val="7F7F7F"/>
                </a:solidFill>
                <a:latin typeface="Arial"/>
              </a:rPr>
              <a:t>projections</a:t>
            </a:r>
          </a:p>
        </p:txBody>
      </p:sp>
      <p:sp>
        <p:nvSpPr>
          <p:cNvPr id="17" name="row19-0-text"/>
          <p:cNvSpPr txBox="1"/>
          <p:nvPr/>
        </p:nvSpPr>
        <p:spPr>
          <a:xfrm>
            <a:off x="5869867" y="3625020"/>
            <a:ext cx="326497"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0" i="0">
                <a:solidFill>
                  <a:srgbClr val="404040"/>
                </a:solidFill>
                <a:latin typeface="Arial"/>
              </a:rPr>
              <a:t>$7.74</a:t>
            </a:r>
          </a:p>
        </p:txBody>
      </p:sp>
      <p:sp>
        <p:nvSpPr>
          <p:cNvPr id="18" name="row19-1-text"/>
          <p:cNvSpPr txBox="1"/>
          <p:nvPr/>
        </p:nvSpPr>
        <p:spPr>
          <a:xfrm>
            <a:off x="6430585" y="3625020"/>
            <a:ext cx="390065"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0" i="0">
                <a:solidFill>
                  <a:srgbClr val="404040"/>
                </a:solidFill>
                <a:latin typeface="Arial"/>
              </a:rPr>
              <a:t>$15.79</a:t>
            </a:r>
          </a:p>
        </p:txBody>
      </p:sp>
      <p:sp>
        <p:nvSpPr>
          <p:cNvPr id="19" name="row19-2-text"/>
          <p:cNvSpPr txBox="1"/>
          <p:nvPr/>
        </p:nvSpPr>
        <p:spPr>
          <a:xfrm>
            <a:off x="7054872" y="3625020"/>
            <a:ext cx="326497"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0" i="0">
                <a:solidFill>
                  <a:srgbClr val="404040"/>
                </a:solidFill>
                <a:latin typeface="Arial"/>
              </a:rPr>
              <a:t>$7.92</a:t>
            </a:r>
          </a:p>
        </p:txBody>
      </p:sp>
      <p:sp>
        <p:nvSpPr>
          <p:cNvPr id="20" name="row19-3-text"/>
          <p:cNvSpPr txBox="1"/>
          <p:nvPr/>
        </p:nvSpPr>
        <p:spPr>
          <a:xfrm>
            <a:off x="7615590" y="3625020"/>
            <a:ext cx="390065"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0" i="0">
                <a:solidFill>
                  <a:srgbClr val="404040"/>
                </a:solidFill>
                <a:latin typeface="Arial"/>
              </a:rPr>
              <a:t>$57.14</a:t>
            </a:r>
          </a:p>
        </p:txBody>
      </p:sp>
      <p:sp>
        <p:nvSpPr>
          <p:cNvPr id="21" name="row19-4-text"/>
          <p:cNvSpPr txBox="1"/>
          <p:nvPr/>
        </p:nvSpPr>
        <p:spPr>
          <a:xfrm>
            <a:off x="8239877" y="3625020"/>
            <a:ext cx="326497"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0" i="0">
                <a:solidFill>
                  <a:srgbClr val="404040"/>
                </a:solidFill>
                <a:latin typeface="Arial"/>
              </a:rPr>
              <a:t>$9.29</a:t>
            </a:r>
          </a:p>
        </p:txBody>
      </p:sp>
      <p:sp>
        <p:nvSpPr>
          <p:cNvPr id="22" name="row19-label"/>
          <p:cNvSpPr txBox="1"/>
          <p:nvPr/>
        </p:nvSpPr>
        <p:spPr>
          <a:xfrm>
            <a:off x="5442123" y="3625020"/>
            <a:ext cx="294741" cy="137160"/>
          </a:xfrm>
          <a:prstGeom prst="rect">
            <a:avLst/>
          </a:prstGeom>
          <a:noFill/>
        </p:spPr>
        <p:txBody>
          <a:bodyPr wrap="square" lIns="0" tIns="0" rIns="0" bIns="0" anchor="ctr">
            <a:noAutofit/>
          </a:bodyPr>
          <a:lstStyle/>
          <a:p>
            <a:pPr algn="l" marL="0" indent="0">
              <a:lnSpc>
                <a:spcPts val="1080"/>
              </a:lnSpc>
              <a:spcBef>
                <a:spcPts val="0"/>
              </a:spcBef>
              <a:spcAft>
                <a:spcPts val="0"/>
              </a:spcAft>
              <a:buNone/>
            </a:pPr>
            <a:r>
              <a:rPr sz="900" b="0" i="0">
                <a:solidFill>
                  <a:srgbClr val="404040"/>
                </a:solidFill>
                <a:latin typeface="Arial"/>
              </a:rPr>
              <a:t>2019</a:t>
            </a:r>
          </a:p>
        </p:txBody>
      </p:sp>
      <p:sp>
        <p:nvSpPr>
          <p:cNvPr id="23" name="row35-0-text"/>
          <p:cNvSpPr txBox="1"/>
          <p:nvPr/>
        </p:nvSpPr>
        <p:spPr>
          <a:xfrm>
            <a:off x="5841236" y="3861052"/>
            <a:ext cx="383759"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1" i="0">
                <a:solidFill>
                  <a:srgbClr val="000000"/>
                </a:solidFill>
                <a:latin typeface="Arial"/>
              </a:rPr>
              <a:t>$11.42</a:t>
            </a:r>
          </a:p>
        </p:txBody>
      </p:sp>
      <p:sp>
        <p:nvSpPr>
          <p:cNvPr id="24" name="row35-1-text"/>
          <p:cNvSpPr txBox="1"/>
          <p:nvPr/>
        </p:nvSpPr>
        <p:spPr>
          <a:xfrm>
            <a:off x="6430585" y="3861052"/>
            <a:ext cx="390065"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1" i="0">
                <a:solidFill>
                  <a:srgbClr val="000000"/>
                </a:solidFill>
                <a:latin typeface="Arial"/>
              </a:rPr>
              <a:t>$22.53</a:t>
            </a:r>
          </a:p>
        </p:txBody>
      </p:sp>
      <p:sp>
        <p:nvSpPr>
          <p:cNvPr id="25" name="row35-2-text"/>
          <p:cNvSpPr txBox="1"/>
          <p:nvPr/>
        </p:nvSpPr>
        <p:spPr>
          <a:xfrm>
            <a:off x="7023088" y="3861052"/>
            <a:ext cx="390065"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1" i="0">
                <a:solidFill>
                  <a:srgbClr val="000000"/>
                </a:solidFill>
                <a:latin typeface="Arial"/>
              </a:rPr>
              <a:t>$10.46</a:t>
            </a:r>
          </a:p>
        </p:txBody>
      </p:sp>
      <p:sp>
        <p:nvSpPr>
          <p:cNvPr id="26" name="row35-3-text"/>
          <p:cNvSpPr txBox="1"/>
          <p:nvPr/>
        </p:nvSpPr>
        <p:spPr>
          <a:xfrm>
            <a:off x="7615590" y="3861052"/>
            <a:ext cx="390065"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1" i="0">
                <a:solidFill>
                  <a:srgbClr val="000000"/>
                </a:solidFill>
                <a:latin typeface="Arial"/>
              </a:rPr>
              <a:t>$69.32</a:t>
            </a:r>
          </a:p>
        </p:txBody>
      </p:sp>
      <p:sp>
        <p:nvSpPr>
          <p:cNvPr id="27" name="row35-4-text"/>
          <p:cNvSpPr txBox="1"/>
          <p:nvPr/>
        </p:nvSpPr>
        <p:spPr>
          <a:xfrm>
            <a:off x="8208093" y="3861052"/>
            <a:ext cx="390065" cy="137160"/>
          </a:xfrm>
          <a:prstGeom prst="rect">
            <a:avLst/>
          </a:prstGeom>
          <a:noFill/>
        </p:spPr>
        <p:txBody>
          <a:bodyPr wrap="square" lIns="0" tIns="0" rIns="0" bIns="0" anchor="ctr">
            <a:noAutofit/>
          </a:bodyPr>
          <a:lstStyle/>
          <a:p>
            <a:pPr algn="ctr" marL="0" indent="0">
              <a:lnSpc>
                <a:spcPts val="1080"/>
              </a:lnSpc>
              <a:spcBef>
                <a:spcPts val="0"/>
              </a:spcBef>
              <a:spcAft>
                <a:spcPts val="0"/>
              </a:spcAft>
              <a:buNone/>
            </a:pPr>
            <a:r>
              <a:rPr sz="900" b="1" i="0">
                <a:solidFill>
                  <a:srgbClr val="000000"/>
                </a:solidFill>
                <a:latin typeface="Arial"/>
              </a:rPr>
              <a:t>$13.12</a:t>
            </a:r>
          </a:p>
        </p:txBody>
      </p:sp>
      <p:sp>
        <p:nvSpPr>
          <p:cNvPr id="28" name="row35-label"/>
          <p:cNvSpPr txBox="1"/>
          <p:nvPr/>
        </p:nvSpPr>
        <p:spPr>
          <a:xfrm>
            <a:off x="5442123" y="3861052"/>
            <a:ext cx="294741" cy="137160"/>
          </a:xfrm>
          <a:prstGeom prst="rect">
            <a:avLst/>
          </a:prstGeom>
          <a:noFill/>
        </p:spPr>
        <p:txBody>
          <a:bodyPr wrap="square" lIns="0" tIns="0" rIns="0" bIns="0" anchor="ctr">
            <a:noAutofit/>
          </a:bodyPr>
          <a:lstStyle/>
          <a:p>
            <a:pPr algn="l" marL="0" indent="0">
              <a:lnSpc>
                <a:spcPts val="1080"/>
              </a:lnSpc>
              <a:spcBef>
                <a:spcPts val="0"/>
              </a:spcBef>
              <a:spcAft>
                <a:spcPts val="0"/>
              </a:spcAft>
              <a:buNone/>
            </a:pPr>
            <a:r>
              <a:rPr sz="900" b="1" i="0">
                <a:solidFill>
                  <a:srgbClr val="000000"/>
                </a:solidFill>
                <a:latin typeface="Arial"/>
              </a:rPr>
              <a:t>2035</a:t>
            </a:r>
          </a:p>
        </p:txBody>
      </p:sp>
    </p:spTree>
    <p:custDataLst>
      <p:tags r:id="rId5"/>
    </p:custData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37591" y="110082"/>
            <a:ext cx="8234934" cy="792480"/>
          </a:xfrm>
          <a:prstGeom prst="rect">
            <a:avLst/>
          </a:prstGeom>
          <a:noFill/>
        </p:spPr>
        <p:txBody>
          <a:bodyPr wrap="square" lIns="0" tIns="0" rIns="0" bIns="0" anchor="t">
            <a:noAutofit/>
          </a:bodyPr>
          <a:lstStyle/>
          <a:p>
            <a:pPr algn="l" marL="0" indent="0">
              <a:lnSpc>
                <a:spcPts val="3120"/>
              </a:lnSpc>
              <a:spcBef>
                <a:spcPts val="0"/>
              </a:spcBef>
              <a:spcAft>
                <a:spcPts val="0"/>
              </a:spcAft>
              <a:buNone/>
            </a:pPr>
            <a:r>
              <a:rPr sz="2600" b="0" i="0">
                <a:solidFill>
                  <a:srgbClr val="0096D7"/>
                </a:solidFill>
                <a:latin typeface="Times New Roman"/>
              </a:rPr>
              <a:t>Five of ten major projects finish by 2030, including the $1.35</a:t>
            </a:r>
            <a:br/>
            <a:r>
              <a:rPr sz="2600" b="0" i="0">
                <a:solidFill>
                  <a:srgbClr val="0096D7"/>
                </a:solidFill>
                <a:latin typeface="Times New Roman"/>
              </a:rPr>
              <a:t>billion Blue Line extension; two programs run all decade</a:t>
            </a:r>
          </a:p>
        </p:txBody>
      </p:sp>
      <p:sp>
        <p:nvSpPr>
          <p:cNvPr id="3" name="pl-hd"/>
          <p:cNvSpPr txBox="1"/>
          <p:nvPr/>
        </p:nvSpPr>
        <p:spPr>
          <a:xfrm>
            <a:off x="537591" y="1001434"/>
            <a:ext cx="8234934" cy="320040"/>
          </a:xfrm>
          <a:prstGeom prst="rect">
            <a:avLst/>
          </a:prstGeom>
          <a:noFill/>
        </p:spPr>
        <p:txBody>
          <a:bodyPr wrap="square" lIns="0" tIns="0" rIns="0" bIns="0" anchor="t">
            <a:noAutofit/>
          </a:bodyPr>
          <a:lstStyle/>
          <a:p>
            <a:pPr algn="l" marL="0" indent="0">
              <a:lnSpc>
                <a:spcPts val="1320"/>
              </a:lnSpc>
              <a:spcBef>
                <a:spcPts val="0"/>
              </a:spcBef>
              <a:spcAft>
                <a:spcPts val="0"/>
              </a:spcAft>
              <a:buNone/>
            </a:pPr>
            <a:r>
              <a:rPr sz="1100" b="1" i="0">
                <a:solidFill>
                  <a:srgbClr val="000000"/>
                </a:solidFill>
                <a:latin typeface="Arial"/>
              </a:rPr>
              <a:t>Major projects: years of construction and cost</a:t>
            </a:r>
          </a:p>
          <a:p>
            <a:pPr algn="l" marL="0" indent="0">
              <a:lnSpc>
                <a:spcPts val="1200"/>
              </a:lnSpc>
              <a:spcBef>
                <a:spcPts val="0"/>
              </a:spcBef>
              <a:spcAft>
                <a:spcPts val="0"/>
              </a:spcAft>
              <a:buNone/>
            </a:pPr>
            <a:r>
              <a:rPr sz="1000" b="0" i="0">
                <a:solidFill>
                  <a:srgbClr val="000000"/>
                </a:solidFill>
                <a:latin typeface="Arial"/>
              </a:rPr>
              <a:t>bars span whole calendar years; cost in $ million, year of expenditure</a:t>
            </a:r>
          </a:p>
        </p:txBody>
      </p:sp>
      <p:sp>
        <p:nvSpPr>
          <p:cNvPr id="4" name="prog-key6"/>
          <p:cNvSpPr txBox="1"/>
          <p:nvPr/>
        </p:nvSpPr>
        <p:spPr>
          <a:xfrm>
            <a:off x="537591" y="1420346"/>
            <a:ext cx="8234934" cy="13716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1" i="0">
                <a:solidFill>
                  <a:srgbClr val="003953"/>
                </a:solidFill>
                <a:latin typeface="Arial"/>
              </a:rPr>
              <a:t>state of good repair</a:t>
            </a:r>
            <a:r>
              <a:rPr sz="900" b="1" i="0">
                <a:solidFill>
                  <a:srgbClr val="000000"/>
                </a:solidFill>
                <a:latin typeface="Arial"/>
              </a:rPr>
              <a:t>   </a:t>
            </a:r>
            <a:r>
              <a:rPr sz="900" b="1" i="0">
                <a:solidFill>
                  <a:srgbClr val="0096D7"/>
                </a:solidFill>
                <a:latin typeface="Arial"/>
              </a:rPr>
              <a:t>expansion</a:t>
            </a:r>
            <a:r>
              <a:rPr sz="900" b="1" i="0">
                <a:solidFill>
                  <a:srgbClr val="000000"/>
                </a:solidFill>
                <a:latin typeface="Arial"/>
              </a:rPr>
              <a:t>   </a:t>
            </a:r>
            <a:r>
              <a:rPr sz="900" b="1" i="0">
                <a:solidFill>
                  <a:srgbClr val="2E4B19"/>
                </a:solidFill>
                <a:latin typeface="Arial"/>
              </a:rPr>
              <a:t>fleet and electrification</a:t>
            </a:r>
            <a:r>
              <a:rPr sz="900" b="1" i="0">
                <a:solidFill>
                  <a:srgbClr val="000000"/>
                </a:solidFill>
                <a:latin typeface="Arial"/>
              </a:rPr>
              <a:t>   </a:t>
            </a:r>
            <a:r>
              <a:rPr sz="900" b="1" i="0">
                <a:solidFill>
                  <a:srgbClr val="D57883"/>
                </a:solidFill>
                <a:latin typeface="Arial"/>
              </a:rPr>
              <a:t>stations and accessibility</a:t>
            </a:r>
            <a:r>
              <a:rPr sz="900" b="1" i="0">
                <a:solidFill>
                  <a:srgbClr val="000000"/>
                </a:solidFill>
                <a:latin typeface="Arial"/>
              </a:rPr>
              <a:t>   </a:t>
            </a:r>
            <a:r>
              <a:rPr sz="900" b="1" i="0">
                <a:solidFill>
                  <a:srgbClr val="5D9732"/>
                </a:solidFill>
                <a:latin typeface="Arial"/>
              </a:rPr>
              <a:t>safety and systems</a:t>
            </a:r>
          </a:p>
        </p:txBody>
      </p:sp>
      <p:graphicFrame>
        <p:nvGraphicFramePr>
          <p:cNvPr id="5" name="c-gantt"/>
          <p:cNvGraphicFramePr>
            <a:graphicFrameLocks noGrp="1"/>
          </p:cNvGraphicFramePr>
          <p:nvPr/>
        </p:nvGraphicFramePr>
        <p:xfrm>
          <a:off x="537591" y="1656378"/>
          <a:ext cx="8234934" cy="2471686"/>
        </p:xfrm>
        <a:graphic>
          <a:graphicData uri="http://schemas.openxmlformats.org/drawingml/2006/chart">
            <c:chart xmlns:c="http://schemas.openxmlformats.org/drawingml/2006/chart" r:id="rId2"/>
          </a:graphicData>
        </a:graphic>
      </p:graphicFrame>
      <p:sp>
        <p:nvSpPr>
          <p:cNvPr id="6" name="source"/>
          <p:cNvSpPr txBox="1"/>
          <p:nvPr/>
        </p:nvSpPr>
        <p:spPr>
          <a:xfrm>
            <a:off x="537591" y="4226936"/>
            <a:ext cx="8234934" cy="274320"/>
          </a:xfrm>
          <a:prstGeom prst="rect">
            <a:avLst/>
          </a:prstGeom>
          <a:noFill/>
        </p:spPr>
        <p:txBody>
          <a:bodyPr wrap="square" lIns="0" tIns="0" rIns="0" bIns="0" anchor="t">
            <a:noAutofit/>
          </a:bodyPr>
          <a:lstStyle/>
          <a:p>
            <a:pPr algn="l" marL="0" indent="0">
              <a:lnSpc>
                <a:spcPts val="1080"/>
              </a:lnSpc>
              <a:spcBef>
                <a:spcPts val="0"/>
              </a:spcBef>
              <a:spcAft>
                <a:spcPts val="0"/>
              </a:spcAft>
              <a:buNone/>
            </a:pPr>
            <a:r>
              <a:rPr sz="900" b="0" i="0">
                <a:solidFill>
                  <a:srgbClr val="000000"/>
                </a:solidFill>
                <a:latin typeface="Arial"/>
              </a:rPr>
              <a:t>Data source: Lakeshore Regional Transit Authority, Ten-Year Capital and Ridership Outlook 2026 (fictional agency; illustrative figures)</a:t>
            </a:r>
          </a:p>
          <a:p>
            <a:pPr algn="l" marL="0" indent="0">
              <a:lnSpc>
                <a:spcPts val="1080"/>
              </a:lnSpc>
              <a:spcBef>
                <a:spcPts val="0"/>
              </a:spcBef>
              <a:spcAft>
                <a:spcPts val="0"/>
              </a:spcAft>
              <a:buNone/>
            </a:pPr>
            <a:r>
              <a:rPr sz="900" b="0" i="0">
                <a:solidFill>
                  <a:srgbClr val="000000"/>
                </a:solidFill>
                <a:latin typeface="Arial"/>
              </a:rPr>
              <a:t>Note: Expansion projects show the year they enter service. Bar colours are the capital programs of page 4.</a:t>
            </a:r>
          </a:p>
        </p:txBody>
      </p:sp>
      <p:sp>
        <p:nvSpPr>
          <p:cNvPr id="7" name="foot-fill"/>
          <p:cNvSpPr/>
          <p:nvPr/>
        </p:nvSpPr>
        <p:spPr>
          <a:xfrm>
            <a:off x="0" y="4699000"/>
            <a:ext cx="9144000" cy="444500"/>
          </a:xfrm>
          <a:prstGeom prst="rect">
            <a:avLst/>
          </a:prstGeom>
          <a:solidFill>
            <a:srgbClr val="0096D7"/>
          </a:solidFill>
          <a:ln>
            <a:noFill/>
          </a:ln>
        </p:spPr>
        <p:txBody>
          <a:bodyPr rtlCol="0" anchor="ctr"/>
          <a:lstStyle/>
          <a:p>
            <a:pPr algn="ctr"/>
          </a:p>
        </p:txBody>
      </p:sp>
      <p:pic>
        <p:nvPicPr>
          <p:cNvPr id="8" name="mark" descr="lrta-mark.png"/>
          <p:cNvPicPr>
            <a:picLocks noChangeAspect="1"/>
          </p:cNvPicPr>
          <p:nvPr/>
        </p:nvPicPr>
        <p:blipFill>
          <a:blip r:embed="rId3"/>
          <a:stretch>
            <a:fillRect/>
          </a:stretch>
        </p:blipFill>
        <p:spPr>
          <a:xfrm>
            <a:off x="110082" y="4735512"/>
            <a:ext cx="482918" cy="371475"/>
          </a:xfrm>
          <a:prstGeom prst="rect">
            <a:avLst/>
          </a:prstGeom>
        </p:spPr>
      </p:pic>
      <p:sp>
        <p:nvSpPr>
          <p:cNvPr id="9" name="foot-text"/>
          <p:cNvSpPr txBox="1"/>
          <p:nvPr/>
        </p:nvSpPr>
        <p:spPr>
          <a:xfrm>
            <a:off x="757755" y="4791710"/>
            <a:ext cx="7457253" cy="259080"/>
          </a:xfrm>
          <a:prstGeom prst="rect">
            <a:avLst/>
          </a:prstGeom>
          <a:noFill/>
        </p:spPr>
        <p:txBody>
          <a:bodyPr wrap="square" lIns="0" tIns="0" rIns="0" bIns="0" anchor="t">
            <a:noAutofit/>
          </a:bodyPr>
          <a:lstStyle/>
          <a:p>
            <a:pPr algn="l" marL="0" indent="0">
              <a:lnSpc>
                <a:spcPts val="1200"/>
              </a:lnSpc>
              <a:spcBef>
                <a:spcPts val="0"/>
              </a:spcBef>
              <a:spcAft>
                <a:spcPts val="0"/>
              </a:spcAft>
              <a:buNone/>
            </a:pPr>
            <a:r>
              <a:rPr sz="1000" b="0" i="1">
                <a:solidFill>
                  <a:srgbClr val="FFFFFF"/>
                </a:solidFill>
                <a:latin typeface="Arial"/>
              </a:rPr>
              <a:t>LRTA Ten-Year Capital and Ridership Outlook 2026</a:t>
            </a:r>
          </a:p>
          <a:p>
            <a:pPr algn="l" marL="0" indent="0">
              <a:lnSpc>
                <a:spcPts val="840"/>
              </a:lnSpc>
              <a:spcBef>
                <a:spcPts val="0"/>
              </a:spcBef>
              <a:spcAft>
                <a:spcPts val="0"/>
              </a:spcAft>
              <a:buNone/>
            </a:pPr>
            <a:r>
              <a:rPr sz="700" b="0" i="0">
                <a:solidFill>
                  <a:srgbClr val="FFFFFF"/>
                </a:solidFill>
                <a:latin typeface="Arial"/>
              </a:rPr>
              <a:t>Illustrative figures. Built in the style of a public US federal presentation; not affiliated with or endorsed by any agency.</a:t>
            </a:r>
          </a:p>
        </p:txBody>
      </p:sp>
      <p:sp>
        <p:nvSpPr>
          <p:cNvPr id="10" name="pageno"/>
          <p:cNvSpPr txBox="1"/>
          <p:nvPr/>
        </p:nvSpPr>
        <p:spPr>
          <a:xfrm>
            <a:off x="8325090" y="4814570"/>
            <a:ext cx="447435" cy="213360"/>
          </a:xfrm>
          <a:prstGeom prst="rect">
            <a:avLst/>
          </a:prstGeom>
          <a:noFill/>
        </p:spPr>
        <p:txBody>
          <a:bodyPr wrap="square" lIns="0" tIns="0" rIns="0" bIns="0" anchor="t">
            <a:noAutofit/>
          </a:bodyPr>
          <a:lstStyle/>
          <a:p>
            <a:pPr algn="r" marL="0" indent="0">
              <a:lnSpc>
                <a:spcPts val="1680"/>
              </a:lnSpc>
              <a:spcBef>
                <a:spcPts val="0"/>
              </a:spcBef>
              <a:spcAft>
                <a:spcPts val="0"/>
              </a:spcAft>
              <a:buNone/>
            </a:pPr>
            <a:r>
              <a:rPr sz="1400" b="1" i="0">
                <a:solidFill>
                  <a:srgbClr val="FFFFFF"/>
                </a:solidFill>
                <a:latin typeface="Arial"/>
              </a:rPr>
              <a:t>7</a:t>
            </a:r>
          </a:p>
        </p:txBody>
      </p:sp>
      <p:cxnSp>
        <p:nvCxnSpPr>
          <p:cNvPr id="11" name="by2030-line"/>
          <p:cNvCxnSpPr/>
          <p:nvPr/>
        </p:nvCxnSpPr>
        <p:spPr>
          <a:xfrm flipV="1">
            <a:off x="5643250" y="1878830"/>
            <a:ext cx="0" cy="2224517"/>
          </a:xfrm>
          <a:prstGeom prst="line">
            <a:avLst/>
          </a:prstGeom>
          <a:ln w="15875">
            <a:solidFill>
              <a:srgbClr val="7A2630"/>
            </a:solidFill>
            <a:prstDash val="dash"/>
          </a:ln>
        </p:spPr>
      </p:cxnSp>
      <p:sp>
        <p:nvSpPr>
          <p:cNvPr id="12" name="by2030-label"/>
          <p:cNvSpPr txBox="1"/>
          <p:nvPr/>
        </p:nvSpPr>
        <p:spPr>
          <a:xfrm>
            <a:off x="4587647" y="1642798"/>
            <a:ext cx="2111207" cy="137160"/>
          </a:xfrm>
          <a:prstGeom prst="rect">
            <a:avLst/>
          </a:prstGeom>
          <a:noFill/>
        </p:spPr>
        <p:txBody>
          <a:bodyPr wrap="square" lIns="0" tIns="0" rIns="0" bIns="0" anchor="t">
            <a:noAutofit/>
          </a:bodyPr>
          <a:lstStyle/>
          <a:p>
            <a:pPr algn="ctr" marL="0" indent="0">
              <a:lnSpc>
                <a:spcPts val="1080"/>
              </a:lnSpc>
              <a:spcBef>
                <a:spcPts val="0"/>
              </a:spcBef>
              <a:spcAft>
                <a:spcPts val="0"/>
              </a:spcAft>
              <a:buNone/>
            </a:pPr>
            <a:r>
              <a:rPr sz="900" b="1" i="0">
                <a:solidFill>
                  <a:srgbClr val="7A2630"/>
                </a:solidFill>
                <a:latin typeface="Arial"/>
              </a:rPr>
              <a:t>end of 2030: 5 of 10 projects complete</a:t>
            </a:r>
          </a:p>
        </p:txBody>
      </p:sp>
    </p:spTree>
    <p:custDataLst>
      <p:tags r:id="rId4"/>
    </p:custDataLst>
  </p:cSld>
  <p:clrMapOvr>
    <a:masterClrMapping/>
  </p:clrMapOvr>
</p:sld>
</file>

<file path=ppt/tags/tag1.xml><?xml version="1.0" encoding="utf-8"?>
<p:tagLst xmlns:p="http://schemas.openxmlformats.org/presentationml/2006/main">
  <p:tag name="pptx-skill" val="generated"/>
</p:tagLst>
</file>

<file path=ppt/tags/tag2.xml><?xml version="1.0" encoding="utf-8"?>
<p:tagLst xmlns:p="http://schemas.openxmlformats.org/presentationml/2006/main">
  <p:tag name="pptx-skill" val="generated"/>
</p:tagLst>
</file>

<file path=ppt/tags/tag3.xml><?xml version="1.0" encoding="utf-8"?>
<p:tagLst xmlns:p="http://schemas.openxmlformats.org/presentationml/2006/main">
  <p:tag name="pptx-skill" val="generated"/>
</p:tagLst>
</file>

<file path=ppt/tags/tag4.xml><?xml version="1.0" encoding="utf-8"?>
<p:tagLst xmlns:p="http://schemas.openxmlformats.org/presentationml/2006/main">
  <p:tag name="pptx-skill" val="generated"/>
</p:tagLst>
</file>

<file path=ppt/tags/tag5.xml><?xml version="1.0" encoding="utf-8"?>
<p:tagLst xmlns:p="http://schemas.openxmlformats.org/presentationml/2006/main">
  <p:tag name="pptx-skill" val="generated"/>
</p:tagLst>
</file>

<file path=ppt/tags/tag6.xml><?xml version="1.0" encoding="utf-8"?>
<p:tagLst xmlns:p="http://schemas.openxmlformats.org/presentationml/2006/main">
  <p:tag name="pptx-skill" val="generated"/>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2026-10-27T18:41:38Z</dcterms:created>
  <dcterms:modified xsi:type="dcterms:W3CDTF">2026-10-27T18:41:38Z</dcterms:modified>
  <cp:category/>
</cp:coreProperties>
</file>