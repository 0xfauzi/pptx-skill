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242.5</c:v>
                </c:pt>
                <c:pt idx="1">
                  <c:v>256.5</c:v>
                </c:pt>
                <c:pt idx="2">
                  <c:v>266.4</c:v>
                </c:pt>
                <c:pt idx="3">
                  <c:v>280.2</c:v>
                </c:pt>
                <c:pt idx="4">
                  <c:v>295.2</c:v>
                </c:pt>
                <c:pt idx="5">
                  <c:v>311.4</c:v>
                </c:pt>
                <c:pt idx="6">
                  <c:v>324.0</c:v>
                </c:pt>
                <c:pt idx="7">
                  <c:v>340.2</c:v>
                </c:pt>
                <c:pt idx="8">
                  <c:v>358.2</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376.1"/>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1012</c:v>
                </c:pt>
                <c:pt idx="1">
                  <c:v>1068</c:v>
                </c:pt>
                <c:pt idx="2">
                  <c:v>1115</c:v>
                </c:pt>
                <c:pt idx="3">
                  <c:v>1168</c:v>
                </c:pt>
                <c:pt idx="4">
                  <c:v>1226</c:v>
                </c:pt>
                <c:pt idx="5">
                  <c:v>1292</c:v>
                </c:pt>
                <c:pt idx="6">
                  <c:v>1349</c:v>
                </c:pt>
                <c:pt idx="7">
                  <c:v>1415</c:v>
                </c:pt>
                <c:pt idx="8">
                  <c:v>1498</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1572.9"/>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50</c:v>
                </c:pt>
                <c:pt idx="1">
                  <c:v>56</c:v>
                </c:pt>
                <c:pt idx="2">
                  <c:v>47</c:v>
                </c:pt>
                <c:pt idx="3">
                  <c:v>53</c:v>
                </c:pt>
                <c:pt idx="4">
                  <c:v>58</c:v>
                </c:pt>
                <c:pt idx="5">
                  <c:v>66</c:v>
                </c:pt>
                <c:pt idx="6">
                  <c:v>57</c:v>
                </c:pt>
                <c:pt idx="7">
                  <c:v>66</c:v>
                </c:pt>
                <c:pt idx="8">
                  <c:v>83</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87.2"/>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lineChart>
        <c:grouping val="standard"/>
        <c:varyColors val="0"/>
        <c:ser>
          <c:idx val="0"/>
          <c:order val="0"/>
          <c:tx>
            <c:strRef>
              <c:f>Sheet1!$B$1</c:f>
              <c:strCache>
                <c:ptCount val="1"/>
                <c:pt idx="0">
                  <c:v>trend</c:v>
                </c:pt>
              </c:strCache>
            </c:strRef>
          </c:tx>
          <c:spPr>
            <a:ln w="22225">
              <a:solidFill>
                <a:srgbClr val="2E3A9E"/>
              </a:solidFill>
            </a:ln>
          </c:spPr>
          <c:marker>
            <c:symbol val="none"/>
          </c:marker>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121</c:v>
                </c:pt>
                <c:pt idx="1">
                  <c:v>119</c:v>
                </c:pt>
                <c:pt idx="2">
                  <c:v>118</c:v>
                </c:pt>
                <c:pt idx="3">
                  <c:v>117</c:v>
                </c:pt>
                <c:pt idx="4">
                  <c:v>116</c:v>
                </c:pt>
                <c:pt idx="5">
                  <c:v>116</c:v>
                </c:pt>
                <c:pt idx="6">
                  <c:v>117</c:v>
                </c:pt>
                <c:pt idx="7">
                  <c:v>118</c:v>
                </c:pt>
                <c:pt idx="8">
                  <c:v>119</c:v>
                </c:pt>
              </c:numCache>
            </c:numRef>
          </c:val>
          <c:smooth val="0"/>
        </c:ser>
        <c:marker val="1"/>
        <c:smooth val="0"/>
        <c:axId val="2118791784"/>
        <c:axId val="2140495176"/>
      </c:lineChart>
      <c:catAx>
        <c:axId val="2118791784"/>
        <c:scaling/>
        <c:delete val="0"/>
        <c:axPos val="b"/>
        <c:majorTickMark val="none"/>
        <c:minorTickMark val="none"/>
        <c:tickLblPos val="none"/>
        <c:spPr>
          <a:ln w="9525">
            <a:solidFill>
              <a:srgbClr val="D3D7DF"/>
            </a:solidFill>
          </a:ln>
        </c:spPr>
        <c:crossAx val="2140495176"/>
        <c:crosses val="autoZero"/>
        <c:auto val="1"/>
        <c:lblAlgn val="ctr"/>
        <c:lblOffset val="100"/>
        <c:noMultiLvlLbl val="0"/>
      </c:catAx>
      <c:valAx>
        <c:axId val="2140495176"/>
        <c:scaling>
          <c:max val="123.0"/>
          <c:min val="112.0"/>
        </c:scaling>
        <c:delete/>
        <c:axPos val="l"/>
        <c:majorTickMark val="out"/>
        <c:minorTickMark val="none"/>
        <c:tickLblPos val="nextTo"/>
        <c:crossAx val="2118791784"/>
        <c:crosses val="autoZero"/>
        <c:crossBetween val="between"/>
      </c:valAx>
      <c:spPr>
        <a:noFill/>
      </c:spPr>
    </c:plotArea>
    <c:plotVisOnly val="1"/>
    <c:dispBlanksAs val="gap"/>
    <c:showDLblsOverMax val="0"/>
  </c:chart>
  <c:txPr>
    <a:bodyPr/>
    <a:lstStyle/>
    <a:p>
      <a:pPr>
        <a:defRPr sz="800" b="0" i="0">
          <a:solidFill>
            <a:srgbClr val="596070"/>
          </a:solidFill>
          <a:latin typeface="Inte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8.1</c:v>
                </c:pt>
                <c:pt idx="1">
                  <c:v>9.0</c:v>
                </c:pt>
                <c:pt idx="2">
                  <c:v>9.6</c:v>
                </c:pt>
                <c:pt idx="3">
                  <c:v>10.4</c:v>
                </c:pt>
                <c:pt idx="4">
                  <c:v>11.2</c:v>
                </c:pt>
                <c:pt idx="5">
                  <c:v>12.8</c:v>
                </c:pt>
                <c:pt idx="6">
                  <c:v>14.5</c:v>
                </c:pt>
                <c:pt idx="7">
                  <c:v>15.8</c:v>
                </c:pt>
                <c:pt idx="8">
                  <c:v>16.6</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17.4"/>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14.9</c:v>
                </c:pt>
                <c:pt idx="1">
                  <c:v>18.8</c:v>
                </c:pt>
                <c:pt idx="2">
                  <c:v>16.2</c:v>
                </c:pt>
                <c:pt idx="3">
                  <c:v>16.8</c:v>
                </c:pt>
                <c:pt idx="4">
                  <c:v>18.3</c:v>
                </c:pt>
                <c:pt idx="5">
                  <c:v>21.5</c:v>
                </c:pt>
                <c:pt idx="6">
                  <c:v>19.4</c:v>
                </c:pt>
                <c:pt idx="7">
                  <c:v>19.3</c:v>
                </c:pt>
                <c:pt idx="8">
                  <c:v>21.4</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22.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1"/>
          <c:y val="0.04"/>
          <c:w val="0.88"/>
          <c:h val="0.74"/>
        </c:manualLayout>
      </c:layout>
      <c:barChart>
        <c:barDir val="col"/>
        <c:grouping val="clustered"/>
        <c:varyColors val="0"/>
        <c:ser>
          <c:idx val="0"/>
          <c:order val="0"/>
          <c:tx>
            <c:strRef>
              <c:f>Sheet1!$B$1</c:f>
              <c:strCache>
                <c:ptCount val="1"/>
                <c:pt idx="0">
                  <c:v>value</c:v>
                </c:pt>
              </c:strCache>
            </c:strRef>
          </c:tx>
          <c:spPr>
            <a:solidFill>
              <a:srgbClr val="BCC2CF"/>
            </a:solidFill>
            <a:ln>
              <a:noFill/>
            </a:ln>
          </c:spPr>
          <c:dPt>
            <c:idx val="8"/>
            <c:spPr>
              <a:solidFill>
                <a:srgbClr val="2E3A9E"/>
              </a:solidFill>
            </c:spPr>
          </c:dPt>
          <c:dLbls>
            <c:numFmt formatCode="0.0" sourceLinked="0"/>
            <c:txPr>
              <a:bodyPr/>
              <a:lstStyle/>
              <a:p>
                <a:pPr>
                  <a:defRPr sz="800" b="1" i="0">
                    <a:solidFill>
                      <a:srgbClr val="16181D"/>
                    </a:solidFill>
                    <a:latin typeface="Inter"/>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0.0</c:formatCode>
                <c:ptCount val="9"/>
                <c:pt idx="0">
                  <c:v>242.5</c:v>
                </c:pt>
                <c:pt idx="1">
                  <c:v>256.5</c:v>
                </c:pt>
                <c:pt idx="2">
                  <c:v>266.4</c:v>
                </c:pt>
                <c:pt idx="3">
                  <c:v>280.2</c:v>
                </c:pt>
                <c:pt idx="4">
                  <c:v>295.2</c:v>
                </c:pt>
                <c:pt idx="5">
                  <c:v>311.4</c:v>
                </c:pt>
                <c:pt idx="6">
                  <c:v>324.0</c:v>
                </c:pt>
                <c:pt idx="7">
                  <c:v>340.2</c:v>
                </c:pt>
                <c:pt idx="8">
                  <c:v>358.2</c:v>
                </c:pt>
              </c:numCache>
            </c:numRef>
          </c:val>
        </c:ser>
        <c:gapWidth val="45"/>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Inter"/>
              </a:defRPr>
            </a:pPr>
          </a:p>
        </c:txPr>
        <c:crossAx val="-2113994440"/>
        <c:crosses val="autoZero"/>
        <c:auto val="1"/>
        <c:lblAlgn val="ctr"/>
        <c:lblOffset val="100"/>
        <c:noMultiLvlLbl val="0"/>
      </c:catAx>
      <c:valAx>
        <c:axId val="-2113994440"/>
        <c:scaling>
          <c:max val="4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1"/>
          <c:y val="0.04"/>
          <c:w val="0.88"/>
          <c:h val="0.74"/>
        </c:manualLayout>
      </c:layout>
      <c:barChart>
        <c:barDir val="col"/>
        <c:grouping val="clustered"/>
        <c:varyColors val="0"/>
        <c:ser>
          <c:idx val="0"/>
          <c:order val="0"/>
          <c:tx>
            <c:strRef>
              <c:f>Sheet1!$B$1</c:f>
              <c:strCache>
                <c:ptCount val="1"/>
                <c:pt idx="0">
                  <c:v>value</c:v>
                </c:pt>
              </c:strCache>
            </c:strRef>
          </c:tx>
          <c:spPr>
            <a:solidFill>
              <a:srgbClr val="BCC2CF"/>
            </a:solidFill>
            <a:ln>
              <a:noFill/>
            </a:ln>
          </c:spPr>
          <c:dPt>
            <c:idx val="8"/>
            <c:spPr>
              <a:solidFill>
                <a:srgbClr val="2E3A9E"/>
              </a:solidFill>
            </c:spPr>
          </c:dPt>
          <c:dLbls>
            <c:dLbl>
              <c:idx val="8"/>
              <c:tx>
                <c:rich>
                  <a:bodyPr/>
                  <a:lstStyle/>
                  <a:p>
                    <a:r>
                      <a:rPr sz="800" b="1" i="0">
                        <a:solidFill>
                          <a:srgbClr val="16181D"/>
                        </a:solidFill>
                        <a:latin typeface="Inter"/>
                      </a:rPr>
                      <a:t>83</a:t>
                    </a:r>
                  </a:p>
                  <a:p>
                    <a:r>
                      <a:rPr sz="800" b="1" i="0">
                        <a:solidFill>
                          <a:srgbClr val="16181D"/>
                        </a:solidFill>
                        <a:latin typeface="Inter"/>
                      </a:rPr>
                      <a:t>record</a:t>
                    </a:r>
                  </a:p>
                </c:rich>
              </c:tx>
              <c:txPr>
                <a:bodyPr/>
                <a:lstStyle/>
                <a:p>
                  <a:pPr>
                    <a:defRPr sz="800" b="1" i="0">
                      <a:solidFill>
                        <a:srgbClr val="16181D"/>
                      </a:solidFill>
                      <a:latin typeface="Inter"/>
                    </a:defRPr>
                  </a:pPr>
                </a:p>
              </c:txPr>
              <c:dLblPos val="outEnd"/>
              <c:showLegendKey val="0"/>
              <c:showVal val="1"/>
              <c:showCatName val="0"/>
              <c:showSerName val="0"/>
              <c:showPercent val="0"/>
              <c:showBubbleSize val="0"/>
            </c:dLbl>
            <c:numFmt formatCode="0" sourceLinked="0"/>
            <c:txPr>
              <a:bodyPr/>
              <a:lstStyle/>
              <a:p>
                <a:pPr>
                  <a:defRPr sz="800" b="1" i="0">
                    <a:solidFill>
                      <a:srgbClr val="16181D"/>
                    </a:solidFill>
                    <a:latin typeface="Inter"/>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50</c:v>
                </c:pt>
                <c:pt idx="1">
                  <c:v>56</c:v>
                </c:pt>
                <c:pt idx="2">
                  <c:v>47</c:v>
                </c:pt>
                <c:pt idx="3">
                  <c:v>53</c:v>
                </c:pt>
                <c:pt idx="4">
                  <c:v>58</c:v>
                </c:pt>
                <c:pt idx="5">
                  <c:v>66</c:v>
                </c:pt>
                <c:pt idx="6">
                  <c:v>57</c:v>
                </c:pt>
                <c:pt idx="7">
                  <c:v>66</c:v>
                </c:pt>
                <c:pt idx="8">
                  <c:v>83</c:v>
                </c:pt>
              </c:numCache>
            </c:numRef>
          </c:val>
        </c:ser>
        <c:gapWidth val="45"/>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Inter"/>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
          <c:y val="0.1"/>
          <c:w val="0.89"/>
          <c:h val="0.6"/>
        </c:manualLayout>
      </c:layout>
      <c:lineChart>
        <c:grouping val="standard"/>
        <c:varyColors val="0"/>
        <c:ser>
          <c:idx val="0"/>
          <c:order val="0"/>
          <c:tx>
            <c:strRef>
              <c:f>Sheet1!$B$1</c:f>
              <c:strCache>
                <c:ptCount val="1"/>
                <c:pt idx="0">
                  <c:v>Net revenue retention</c:v>
                </c:pt>
              </c:strCache>
            </c:strRef>
          </c:tx>
          <c:spPr>
            <a:ln w="25400">
              <a:solidFill>
                <a:srgbClr val="2E3A9E"/>
              </a:solidFill>
            </a:ln>
          </c:spPr>
          <c:marker>
            <c:symbol val="circle"/>
            <c:size val="5"/>
            <c:spPr>
              <a:solidFill>
                <a:srgbClr val="2E3A9E"/>
              </a:solidFill>
            </c:spPr>
          </c:marker>
          <c:dLbls>
            <c:dLbl>
              <c:idx val="5"/>
              <c:tx>
                <c:rich>
                  <a:bodyPr/>
                  <a:lstStyle/>
                  <a:p>
                    <a:r>
                      <a:rPr sz="800" b="1" i="0">
                        <a:solidFill>
                          <a:srgbClr val="2E3A9E"/>
                        </a:solidFill>
                        <a:latin typeface="Inter"/>
                      </a:rPr>
                      <a:t>116 low</a:t>
                    </a:r>
                  </a:p>
                </c:rich>
              </c:tx>
              <c:txPr>
                <a:bodyPr/>
                <a:lstStyle/>
                <a:p>
                  <a:pPr>
                    <a:defRPr sz="800" b="1" i="0">
                      <a:solidFill>
                        <a:srgbClr val="2E3A9E"/>
                      </a:solidFill>
                      <a:latin typeface="Inter"/>
                    </a:defRPr>
                  </a:pPr>
                </a:p>
              </c:txPr>
              <c:dLblPos val="b"/>
              <c:showLegendKey val="0"/>
              <c:showVal val="1"/>
              <c:showCatName val="0"/>
              <c:showSerName val="0"/>
              <c:showPercent val="0"/>
              <c:showBubbleSize val="0"/>
            </c:dLbl>
            <c:numFmt formatCode="0" sourceLinked="0"/>
            <c:txPr>
              <a:bodyPr/>
              <a:lstStyle/>
              <a:p>
                <a:pPr>
                  <a:defRPr sz="800" b="1" i="0">
                    <a:solidFill>
                      <a:srgbClr val="2E3A9E"/>
                    </a:solidFill>
                    <a:latin typeface="Inter"/>
                  </a:defRPr>
                </a:pPr>
              </a:p>
            </c:txPr>
            <c:dLblPos val="t"/>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121</c:v>
                </c:pt>
                <c:pt idx="1">
                  <c:v>119</c:v>
                </c:pt>
                <c:pt idx="2">
                  <c:v>118</c:v>
                </c:pt>
                <c:pt idx="3">
                  <c:v>117</c:v>
                </c:pt>
                <c:pt idx="4">
                  <c:v>116</c:v>
                </c:pt>
                <c:pt idx="5">
                  <c:v>116</c:v>
                </c:pt>
                <c:pt idx="6">
                  <c:v>117</c:v>
                </c:pt>
                <c:pt idx="7">
                  <c:v>118</c:v>
                </c:pt>
                <c:pt idx="8">
                  <c:v>119</c:v>
                </c:pt>
              </c:numCache>
            </c:numRef>
          </c:val>
          <c:smooth val="0"/>
        </c:ser>
        <c:marker val="1"/>
        <c:smooth val="0"/>
        <c:axId val="2118791784"/>
        <c:axId val="2140495176"/>
      </c:lineChart>
      <c:catAx>
        <c:axId val="2118791784"/>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Inter"/>
              </a:defRPr>
            </a:pPr>
          </a:p>
        </c:txPr>
        <c:crossAx val="2140495176"/>
        <c:crosses val="autoZero"/>
        <c:auto val="1"/>
        <c:lblAlgn val="ctr"/>
        <c:lblOffset val="100"/>
        <c:noMultiLvlLbl val="0"/>
      </c:catAx>
      <c:valAx>
        <c:axId val="2140495176"/>
        <c:scaling>
          <c:max val="123.0"/>
          <c:min val="113.0"/>
        </c:scaling>
        <c:delete/>
        <c:axPos val="l"/>
        <c:majorTickMark val="out"/>
        <c:minorTickMark val="none"/>
        <c:tickLblPos val="nextTo"/>
        <c:crossAx val="2118791784"/>
        <c:crosses val="autoZero"/>
        <c:crossBetween val="between"/>
      </c:valAx>
      <c:spPr>
        <a:noFill/>
      </c:spPr>
    </c:plotArea>
    <c:plotVisOnly val="1"/>
    <c:dispBlanksAs val="gap"/>
    <c:showDLblsOverMax val="0"/>
  </c:chart>
  <c:txPr>
    <a:bodyPr/>
    <a:lstStyle/>
    <a:p>
      <a:pPr>
        <a:defRPr sz="800" b="0" i="0">
          <a:solidFill>
            <a:srgbClr val="596070"/>
          </a:solidFill>
          <a:latin typeface="Inter"/>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7"/>
          <c:y val="0.04"/>
          <c:w val="0.86"/>
          <c:h val="0.86"/>
        </c:manualLayout>
      </c:layout>
      <c:lineChart>
        <c:grouping val="standard"/>
        <c:varyColors val="0"/>
        <c:ser>
          <c:idx val="0"/>
          <c:order val="0"/>
          <c:tx>
            <c:strRef>
              <c:f>Sheet1!$B$1</c:f>
              <c:strCache>
                <c:ptCount val="1"/>
                <c:pt idx="0">
                  <c:v>FY2021 cohort</c:v>
                </c:pt>
              </c:strCache>
            </c:strRef>
          </c:tx>
          <c:spPr>
            <a:ln w="19050">
              <a:solidFill>
                <a:srgbClr val="BCC2CF"/>
              </a:solidFill>
            </a:ln>
          </c:spPr>
          <c:marker>
            <c:symbol val="circle"/>
            <c:size val="5"/>
            <c:spPr>
              <a:solidFill>
                <a:srgbClr val="BCC2CF"/>
              </a:solidFill>
            </c:spPr>
          </c:marker>
          <c:dLbls>
            <c:dLbl>
              <c:idx val="4"/>
              <c:tx>
                <c:rich>
                  <a:bodyPr/>
                  <a:lstStyle/>
                  <a:p>
                    <a:r>
                      <a:rPr sz="800" b="1" i="0">
                        <a:solidFill>
                          <a:srgbClr val="596070"/>
                        </a:solidFill>
                        <a:latin typeface="Inter"/>
                      </a:rPr>
                      <a:t>FY2021 2.05x</a:t>
                    </a:r>
                  </a:p>
                </c:rich>
              </c:tx>
              <c:txPr>
                <a:bodyPr/>
                <a:lstStyle/>
                <a:p>
                  <a:pPr>
                    <a:defRPr sz="800" b="1" i="0">
                      <a:solidFill>
                        <a:srgbClr val="596070"/>
                      </a:solidFill>
                      <a:latin typeface="Inter"/>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Sheet1!$B$2:$B$6</c:f>
              <c:numCache>
                <c:formatCode>0.00</c:formatCode>
                <c:ptCount val="5"/>
                <c:pt idx="0">
                  <c:v>1.0</c:v>
                </c:pt>
                <c:pt idx="1">
                  <c:v>1.38</c:v>
                </c:pt>
                <c:pt idx="2">
                  <c:v>1.66</c:v>
                </c:pt>
                <c:pt idx="3">
                  <c:v>1.88</c:v>
                </c:pt>
                <c:pt idx="4">
                  <c:v>2.05</c:v>
                </c:pt>
              </c:numCache>
            </c:numRef>
          </c:val>
          <c:smooth val="0"/>
        </c:ser>
        <c:ser>
          <c:idx val="1"/>
          <c:order val="1"/>
          <c:tx>
            <c:strRef>
              <c:f>Sheet1!$C$1</c:f>
              <c:strCache>
                <c:ptCount val="1"/>
                <c:pt idx="0">
                  <c:v>FY2022 cohort</c:v>
                </c:pt>
              </c:strCache>
            </c:strRef>
          </c:tx>
          <c:spPr>
            <a:ln w="19050">
              <a:solidFill>
                <a:srgbClr val="BCC2CF"/>
              </a:solidFill>
            </a:ln>
          </c:spPr>
          <c:marker>
            <c:symbol val="circle"/>
            <c:size val="5"/>
            <c:spPr>
              <a:solidFill>
                <a:srgbClr val="BCC2CF"/>
              </a:solidFill>
            </c:spPr>
          </c:marker>
          <c:dLbls>
            <c:dLbl>
              <c:idx val="3"/>
              <c:tx>
                <c:rich>
                  <a:bodyPr/>
                  <a:lstStyle/>
                  <a:p>
                    <a:r>
                      <a:rPr sz="800" b="1" i="0">
                        <a:solidFill>
                          <a:srgbClr val="596070"/>
                        </a:solidFill>
                        <a:latin typeface="Inter"/>
                      </a:rPr>
                      <a:t>FY2022 1.82x</a:t>
                    </a:r>
                  </a:p>
                </c:rich>
              </c:tx>
              <c:txPr>
                <a:bodyPr/>
                <a:lstStyle/>
                <a:p>
                  <a:pPr>
                    <a:defRPr sz="800" b="1" i="0">
                      <a:solidFill>
                        <a:srgbClr val="596070"/>
                      </a:solidFill>
                      <a:latin typeface="Inter"/>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Sheet1!$C$2:$C$6</c:f>
              <c:numCache>
                <c:formatCode>0.00</c:formatCode>
                <c:ptCount val="5"/>
                <c:pt idx="0">
                  <c:v>1.0</c:v>
                </c:pt>
                <c:pt idx="1">
                  <c:v>1.35</c:v>
                </c:pt>
                <c:pt idx="2">
                  <c:v>1.62</c:v>
                </c:pt>
                <c:pt idx="3">
                  <c:v>1.82</c:v>
                </c:pt>
              </c:numCache>
            </c:numRef>
          </c:val>
          <c:smooth val="0"/>
        </c:ser>
        <c:ser>
          <c:idx val="2"/>
          <c:order val="2"/>
          <c:tx>
            <c:strRef>
              <c:f>Sheet1!$D$1</c:f>
              <c:strCache>
                <c:ptCount val="1"/>
                <c:pt idx="0">
                  <c:v>FY2023 cohort</c:v>
                </c:pt>
              </c:strCache>
            </c:strRef>
          </c:tx>
          <c:spPr>
            <a:ln w="19050">
              <a:solidFill>
                <a:srgbClr val="BCC2CF"/>
              </a:solidFill>
            </a:ln>
          </c:spPr>
          <c:marker>
            <c:symbol val="circle"/>
            <c:size val="5"/>
            <c:spPr>
              <a:solidFill>
                <a:srgbClr val="BCC2CF"/>
              </a:solidFill>
            </c:spPr>
          </c:marker>
          <c:dLbls>
            <c:dLbl>
              <c:idx val="2"/>
              <c:tx>
                <c:rich>
                  <a:bodyPr/>
                  <a:lstStyle/>
                  <a:p>
                    <a:r>
                      <a:rPr sz="800" b="1" i="0">
                        <a:solidFill>
                          <a:srgbClr val="596070"/>
                        </a:solidFill>
                        <a:latin typeface="Inter"/>
                      </a:rPr>
                      <a:t>FY2023 1.71x</a:t>
                    </a:r>
                  </a:p>
                </c:rich>
              </c:tx>
              <c:txPr>
                <a:bodyPr/>
                <a:lstStyle/>
                <a:p>
                  <a:pPr>
                    <a:defRPr sz="800" b="1" i="0">
                      <a:solidFill>
                        <a:srgbClr val="596070"/>
                      </a:solidFill>
                      <a:latin typeface="Inter"/>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Sheet1!$D$2:$D$6</c:f>
              <c:numCache>
                <c:formatCode>0.00</c:formatCode>
                <c:ptCount val="5"/>
                <c:pt idx="0">
                  <c:v>1.0</c:v>
                </c:pt>
                <c:pt idx="1">
                  <c:v>1.41</c:v>
                </c:pt>
                <c:pt idx="2">
                  <c:v>1.71</c:v>
                </c:pt>
              </c:numCache>
            </c:numRef>
          </c:val>
          <c:smooth val="0"/>
        </c:ser>
        <c:ser>
          <c:idx val="3"/>
          <c:order val="3"/>
          <c:tx>
            <c:strRef>
              <c:f>Sheet1!$E$1</c:f>
              <c:strCache>
                <c:ptCount val="1"/>
                <c:pt idx="0">
                  <c:v>FY2024 cohort</c:v>
                </c:pt>
              </c:strCache>
            </c:strRef>
          </c:tx>
          <c:spPr>
            <a:ln w="28575">
              <a:solidFill>
                <a:srgbClr val="2E3A9E"/>
              </a:solidFill>
            </a:ln>
          </c:spPr>
          <c:marker>
            <c:symbol val="circle"/>
            <c:size val="5"/>
            <c:spPr>
              <a:solidFill>
                <a:srgbClr val="2E3A9E"/>
              </a:solidFill>
            </c:spPr>
          </c:marker>
          <c:dLbls>
            <c:dLbl>
              <c:idx val="1"/>
              <c:tx>
                <c:rich>
                  <a:bodyPr/>
                  <a:lstStyle/>
                  <a:p>
                    <a:r>
                      <a:rPr sz="800" b="1" i="0">
                        <a:solidFill>
                          <a:srgbClr val="2E3A9E"/>
                        </a:solidFill>
                        <a:latin typeface="Inter"/>
                      </a:rPr>
                      <a:t>FY2024 1.47x</a:t>
                    </a:r>
                  </a:p>
                </c:rich>
              </c:tx>
              <c:txPr>
                <a:bodyPr/>
                <a:lstStyle/>
                <a:p>
                  <a:pPr>
                    <a:defRPr sz="800" b="1" i="0">
                      <a:solidFill>
                        <a:srgbClr val="2E3A9E"/>
                      </a:solidFill>
                      <a:latin typeface="Inter"/>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Sheet1!$E$2:$E$6</c:f>
              <c:numCache>
                <c:formatCode>0.00</c:formatCode>
                <c:ptCount val="5"/>
                <c:pt idx="0">
                  <c:v>1.0</c:v>
                </c:pt>
                <c:pt idx="1">
                  <c:v>1.47</c:v>
                </c:pt>
              </c:numCache>
            </c:numRef>
          </c:val>
          <c:smooth val="0"/>
        </c:ser>
        <c:marker val="1"/>
        <c:smooth val="0"/>
        <c:axId val="2118791784"/>
        <c:axId val="2140495176"/>
      </c:lineChart>
      <c:catAx>
        <c:axId val="2118791784"/>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Inter"/>
              </a:defRPr>
            </a:pPr>
          </a:p>
        </c:txPr>
        <c:crossAx val="2140495176"/>
        <c:crosses val="autoZero"/>
        <c:auto val="1"/>
        <c:lblAlgn val="ctr"/>
        <c:lblOffset val="100"/>
        <c:noMultiLvlLbl val="0"/>
      </c:catAx>
      <c:valAx>
        <c:axId val="2140495176"/>
        <c:scaling>
          <c:max val="2.2"/>
          <c:min val="0.8"/>
        </c:scaling>
        <c:delete val="0"/>
        <c:axPos val="l"/>
        <c:majorGridlines>
          <c:spPr>
            <a:ln w="6350">
              <a:solidFill>
                <a:srgbClr val="D3D7DF"/>
              </a:solidFill>
            </a:ln>
          </c:spPr>
        </c:majorGridlines>
        <c:numFmt formatCode="0.0&quot;x&quot;" sourceLinked="0"/>
        <c:majorTickMark val="none"/>
        <c:minorTickMark val="none"/>
        <c:tickLblPos val="nextTo"/>
        <c:spPr>
          <a:ln>
            <a:noFill/>
          </a:ln>
        </c:spPr>
        <c:txPr>
          <a:bodyPr/>
          <a:lstStyle/>
          <a:p>
            <a:pPr>
              <a:defRPr sz="800" b="0" i="0">
                <a:solidFill>
                  <a:srgbClr val="596070"/>
                </a:solidFill>
                <a:latin typeface="Inter"/>
              </a:defRPr>
            </a:pPr>
          </a:p>
        </c:txPr>
        <c:crossAx val="2118791784"/>
        <c:crosses val="autoZero"/>
        <c:crossBetween val="midCat"/>
        <c:majorUnit val="0.2"/>
      </c:valAx>
      <c:spPr>
        <a:noFill/>
      </c:spPr>
    </c:plotArea>
    <c:plotVisOnly val="1"/>
    <c:dispBlanksAs val="gap"/>
    <c:showDLblsOverMax val="0"/>
  </c:chart>
  <c:txPr>
    <a:bodyPr/>
    <a:lstStyle/>
    <a:p>
      <a:pPr>
        <a:defRPr sz="800" b="0" i="0">
          <a:solidFill>
            <a:srgbClr val="596070"/>
          </a:solidFill>
          <a:latin typeface="Inte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03"/>
          <c:w val="0.96"/>
          <c:h val="0.85"/>
        </c:manualLayout>
      </c:layout>
      <c:barChart>
        <c:barDir val="col"/>
        <c:grouping val="stacked"/>
        <c:varyColors val="0"/>
        <c:ser>
          <c:idx val="0"/>
          <c:order val="0"/>
          <c:tx>
            <c:strRef>
              <c:f>Sheet1!$B$1</c:f>
              <c:strCache>
                <c:ptCount val="1"/>
                <c:pt idx="0">
                  <c:v>Base</c:v>
                </c:pt>
              </c:strCache>
            </c:strRef>
          </c:tx>
          <c:spPr>
            <a:noFill/>
            <a:ln>
              <a:noFill/>
            </a:ln>
          </c:spPr>
          <c:cat>
            <c:strRef>
              <c:f>Sheet1!$A$2:$A$7</c:f>
              <c:strCache>
                <c:ptCount val="6"/>
                <c:pt idx="0">
                  <c:v>Q3 FY25 margin</c:v>
                </c:pt>
                <c:pt idx="1">
                  <c:v>Gross margin</c:v>
                </c:pt>
                <c:pt idx="2">
                  <c:v>Sales and marketing</c:v>
                </c:pt>
                <c:pt idx="3">
                  <c:v>R&amp;D</c:v>
                </c:pt>
                <c:pt idx="4">
                  <c:v>G&amp;A</c:v>
                </c:pt>
                <c:pt idx="5">
                  <c:v>Q3 FY26 margin</c:v>
                </c:pt>
              </c:strCache>
            </c:strRef>
          </c:cat>
          <c:val>
            <c:numRef>
              <c:f>Sheet1!$B$2:$B$7</c:f>
              <c:numCache>
                <c:formatCode>0.0</c:formatCode>
                <c:ptCount val="6"/>
                <c:pt idx="0">
                  <c:v>0</c:v>
                </c:pt>
                <c:pt idx="1">
                  <c:v>11.2</c:v>
                </c:pt>
                <c:pt idx="2">
                  <c:v>12.0</c:v>
                </c:pt>
                <c:pt idx="3">
                  <c:v>15.1</c:v>
                </c:pt>
                <c:pt idx="4">
                  <c:v>16.0</c:v>
                </c:pt>
                <c:pt idx="5">
                  <c:v>0</c:v>
                </c:pt>
              </c:numCache>
            </c:numRef>
          </c:val>
        </c:ser>
        <c:ser>
          <c:idx val="1"/>
          <c:order val="1"/>
          <c:tx>
            <c:strRef>
              <c:f>Sheet1!$C$1</c:f>
              <c:strCache>
                <c:ptCount val="1"/>
                <c:pt idx="0">
                  <c:v>Step</c:v>
                </c:pt>
              </c:strCache>
            </c:strRef>
          </c:tx>
          <c:spPr>
            <a:solidFill>
              <a:srgbClr val="1F7A4D"/>
            </a:solidFill>
            <a:ln>
              <a:noFill/>
            </a:ln>
          </c:spPr>
          <c:dPt>
            <c:idx val="0"/>
            <c:spPr>
              <a:solidFill>
                <a:srgbClr val="BCC2CF"/>
              </a:solidFill>
            </c:spPr>
          </c:dPt>
          <c:dPt>
            <c:idx val="5"/>
            <c:spPr>
              <a:solidFill>
                <a:srgbClr val="2E3A9E"/>
              </a:solidFill>
            </c:spPr>
          </c:dPt>
          <c:cat>
            <c:strRef>
              <c:f>Sheet1!$A$2:$A$7</c:f>
              <c:strCache>
                <c:ptCount val="6"/>
                <c:pt idx="0">
                  <c:v>Q3 FY25 margin</c:v>
                </c:pt>
                <c:pt idx="1">
                  <c:v>Gross margin</c:v>
                </c:pt>
                <c:pt idx="2">
                  <c:v>Sales and marketing</c:v>
                </c:pt>
                <c:pt idx="3">
                  <c:v>R&amp;D</c:v>
                </c:pt>
                <c:pt idx="4">
                  <c:v>G&amp;A</c:v>
                </c:pt>
                <c:pt idx="5">
                  <c:v>Q3 FY26 margin</c:v>
                </c:pt>
              </c:strCache>
            </c:strRef>
          </c:cat>
          <c:val>
            <c:numRef>
              <c:f>Sheet1!$C$2:$C$7</c:f>
              <c:numCache>
                <c:formatCode>0.0</c:formatCode>
                <c:ptCount val="6"/>
                <c:pt idx="0">
                  <c:v>11.2</c:v>
                </c:pt>
                <c:pt idx="1">
                  <c:v>0.8</c:v>
                </c:pt>
                <c:pt idx="2">
                  <c:v>3.1</c:v>
                </c:pt>
                <c:pt idx="3">
                  <c:v>0.9</c:v>
                </c:pt>
                <c:pt idx="4">
                  <c:v>0.6</c:v>
                </c:pt>
                <c:pt idx="5">
                  <c:v>16.6</c:v>
                </c:pt>
              </c:numCache>
            </c:numRef>
          </c:val>
        </c:ser>
        <c:ser>
          <c:idx val="2"/>
          <c:order val="2"/>
          <c:tx>
            <c:strRef>
              <c:f>Sheet1!$D$1</c:f>
              <c:strCache>
                <c:ptCount val="1"/>
                <c:pt idx="0">
                  <c:v>Label</c:v>
                </c:pt>
              </c:strCache>
            </c:strRef>
          </c:tx>
          <c:spPr>
            <a:noFill/>
            <a:ln>
              <a:noFill/>
            </a:ln>
          </c:spPr>
          <c:dLbls>
            <c:dLbl>
              <c:idx val="0"/>
              <c:tx>
                <c:rich>
                  <a:bodyPr/>
                  <a:lstStyle/>
                  <a:p>
                    <a:r>
                      <a:rPr sz="800" b="1" i="0">
                        <a:solidFill>
                          <a:srgbClr val="16181D"/>
                        </a:solidFill>
                        <a:latin typeface="Inter"/>
                      </a:rPr>
                      <a:t>11.2%</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dLbl>
              <c:idx val="1"/>
              <c:tx>
                <c:rich>
                  <a:bodyPr/>
                  <a:lstStyle/>
                  <a:p>
                    <a:r>
                      <a:rPr sz="800" b="1" i="0">
                        <a:solidFill>
                          <a:srgbClr val="16181D"/>
                        </a:solidFill>
                        <a:latin typeface="Inter"/>
                      </a:rPr>
                      <a:t>+0.8</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dLbl>
              <c:idx val="2"/>
              <c:tx>
                <c:rich>
                  <a:bodyPr/>
                  <a:lstStyle/>
                  <a:p>
                    <a:r>
                      <a:rPr sz="800" b="1" i="0">
                        <a:solidFill>
                          <a:srgbClr val="16181D"/>
                        </a:solidFill>
                        <a:latin typeface="Inter"/>
                      </a:rPr>
                      <a:t>+3.1</a:t>
                    </a:r>
                  </a:p>
                  <a:p>
                    <a:r>
                      <a:rPr sz="800" b="1" i="0">
                        <a:solidFill>
                          <a:srgbClr val="16181D"/>
                        </a:solidFill>
                        <a:latin typeface="Inter"/>
                      </a:rPr>
                      <a:t>57% of gain</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dLbl>
              <c:idx val="3"/>
              <c:tx>
                <c:rich>
                  <a:bodyPr/>
                  <a:lstStyle/>
                  <a:p>
                    <a:r>
                      <a:rPr sz="800" b="1" i="0">
                        <a:solidFill>
                          <a:srgbClr val="16181D"/>
                        </a:solidFill>
                        <a:latin typeface="Inter"/>
                      </a:rPr>
                      <a:t>+0.9</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dLbl>
              <c:idx val="4"/>
              <c:tx>
                <c:rich>
                  <a:bodyPr/>
                  <a:lstStyle/>
                  <a:p>
                    <a:r>
                      <a:rPr sz="800" b="1" i="0">
                        <a:solidFill>
                          <a:srgbClr val="16181D"/>
                        </a:solidFill>
                        <a:latin typeface="Inter"/>
                      </a:rPr>
                      <a:t>+0.6</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dLbl>
              <c:idx val="5"/>
              <c:tx>
                <c:rich>
                  <a:bodyPr/>
                  <a:lstStyle/>
                  <a:p>
                    <a:r>
                      <a:rPr sz="800" b="1" i="0">
                        <a:solidFill>
                          <a:srgbClr val="16181D"/>
                        </a:solidFill>
                        <a:latin typeface="Inter"/>
                      </a:rPr>
                      <a:t>16.6%</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txPr>
              <a:bodyPr/>
              <a:lstStyle/>
              <a:p>
                <a:pPr>
                  <a:defRPr sz="800" b="1" i="0">
                    <a:solidFill>
                      <a:srgbClr val="16181D"/>
                    </a:solidFill>
                    <a:latin typeface="Inter"/>
                  </a:defRPr>
                </a:pPr>
              </a:p>
            </c:txPr>
            <c:dLblPos val="inBase"/>
            <c:showLegendKey val="0"/>
            <c:showVal val="1"/>
            <c:showCatName val="0"/>
            <c:showSerName val="0"/>
            <c:showPercent val="0"/>
            <c:showBubbleSize val="0"/>
            <c:showLeaderLines val="1"/>
          </c:dLbls>
          <c:cat>
            <c:strRef>
              <c:f>Sheet1!$A$2:$A$7</c:f>
              <c:strCache>
                <c:ptCount val="6"/>
                <c:pt idx="0">
                  <c:v>Q3 FY25 margin</c:v>
                </c:pt>
                <c:pt idx="1">
                  <c:v>Gross margin</c:v>
                </c:pt>
                <c:pt idx="2">
                  <c:v>Sales and marketing</c:v>
                </c:pt>
                <c:pt idx="3">
                  <c:v>R&amp;D</c:v>
                </c:pt>
                <c:pt idx="4">
                  <c:v>G&amp;A</c:v>
                </c:pt>
                <c:pt idx="5">
                  <c:v>Q3 FY26 margin</c:v>
                </c:pt>
              </c:strCache>
            </c:strRef>
          </c:cat>
          <c:val>
            <c:numRef>
              <c:f>Sheet1!$D$2:$D$7</c:f>
              <c:numCache>
                <c:formatCode>0.0</c:formatCode>
                <c:ptCount val="6"/>
                <c:pt idx="0">
                  <c:v>0</c:v>
                </c:pt>
                <c:pt idx="1">
                  <c:v>0</c:v>
                </c:pt>
                <c:pt idx="2">
                  <c:v>0</c:v>
                </c:pt>
                <c:pt idx="3">
                  <c:v>0</c:v>
                </c:pt>
                <c:pt idx="4">
                  <c:v>0</c:v>
                </c:pt>
                <c:pt idx="5">
                  <c:v>0</c:v>
                </c:pt>
              </c:numCache>
            </c:numRef>
          </c:val>
        </c:ser>
        <c:gapWidth val="45"/>
        <c:overlap val="100"/>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Inter"/>
              </a:defRPr>
            </a:pPr>
          </a:p>
        </c:txPr>
        <c:crossAx val="-2113994440"/>
        <c:crosses val="autoZero"/>
        <c:auto val="1"/>
        <c:lblAlgn val="ctr"/>
        <c:lblOffset val="100"/>
        <c:noMultiLvlLbl val="0"/>
      </c:catAx>
      <c:valAx>
        <c:axId val="-2113994440"/>
        <c:scaling>
          <c:max val="18.5"/>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6"/>
          <c:y val="0.06"/>
          <c:w val="0.7"/>
          <c:h val="0.84"/>
        </c:manualLayout>
      </c:layout>
      <c:barChart>
        <c:barDir val="bar"/>
        <c:grouping val="stacked"/>
        <c:varyColors val="0"/>
        <c:ser>
          <c:idx val="0"/>
          <c:order val="0"/>
          <c:tx>
            <c:strRef>
              <c:f>Sheet1!$B$1</c:f>
              <c:strCache>
                <c:ptCount val="1"/>
                <c:pt idx="0">
                  <c:v>Low</c:v>
                </c:pt>
              </c:strCache>
            </c:strRef>
          </c:tx>
          <c:spPr>
            <a:noFill/>
            <a:ln>
              <a:noFill/>
            </a:ln>
          </c:spPr>
          <c:dLbls>
            <c:numFmt formatCode="#,##0.0" sourceLinked="0"/>
            <c:txPr>
              <a:bodyPr/>
              <a:lstStyle/>
              <a:p>
                <a:pPr>
                  <a:defRPr sz="800" b="1" i="0">
                    <a:solidFill>
                      <a:srgbClr val="16181D"/>
                    </a:solidFill>
                    <a:latin typeface="Inter"/>
                  </a:defRPr>
                </a:pPr>
              </a:p>
            </c:txPr>
            <c:dLblPos val="inEnd"/>
            <c:showLegendKey val="0"/>
            <c:showVal val="1"/>
            <c:showCatName val="0"/>
            <c:showSerName val="0"/>
            <c:showPercent val="0"/>
            <c:showBubbleSize val="0"/>
            <c:showLeaderLines val="1"/>
          </c:dLbls>
          <c:cat>
            <c:strRef>
              <c:f>Sheet1!$A$2:$A$5</c:f>
              <c:strCache>
                <c:ptCount val="4"/>
                <c:pt idx="0">
                  <c:v>Initial (Feb)</c:v>
                </c:pt>
                <c:pt idx="1">
                  <c:v>After Q1 (May)</c:v>
                </c:pt>
                <c:pt idx="2">
                  <c:v>After Q2 (Aug)</c:v>
                </c:pt>
                <c:pt idx="3">
                  <c:v>After Q3 (Oct)</c:v>
                </c:pt>
              </c:strCache>
            </c:strRef>
          </c:cat>
          <c:val>
            <c:numRef>
              <c:f>Sheet1!$B$2:$B$5</c:f>
              <c:numCache>
                <c:formatCode>#,##0.0</c:formatCode>
                <c:ptCount val="4"/>
                <c:pt idx="0">
                  <c:v>1355.0</c:v>
                </c:pt>
                <c:pt idx="1">
                  <c:v>1367.0</c:v>
                </c:pt>
                <c:pt idx="2">
                  <c:v>1379.0</c:v>
                </c:pt>
                <c:pt idx="3">
                  <c:v>1394.4</c:v>
                </c:pt>
              </c:numCache>
            </c:numRef>
          </c:val>
        </c:ser>
        <c:ser>
          <c:idx val="1"/>
          <c:order val="1"/>
          <c:tx>
            <c:strRef>
              <c:f>Sheet1!$C$1</c:f>
              <c:strCache>
                <c:ptCount val="1"/>
                <c:pt idx="0">
                  <c:v>Range</c:v>
                </c:pt>
              </c:strCache>
            </c:strRef>
          </c:tx>
          <c:spPr>
            <a:solidFill>
              <a:srgbClr val="BCC2CF"/>
            </a:solidFill>
            <a:ln>
              <a:noFill/>
            </a:ln>
          </c:spPr>
          <c:dPt>
            <c:idx val="3"/>
            <c:spPr>
              <a:solidFill>
                <a:srgbClr val="A9650A"/>
              </a:solidFill>
            </c:spPr>
          </c:dPt>
          <c:cat>
            <c:strRef>
              <c:f>Sheet1!$A$2:$A$5</c:f>
              <c:strCache>
                <c:ptCount val="4"/>
                <c:pt idx="0">
                  <c:v>Initial (Feb)</c:v>
                </c:pt>
                <c:pt idx="1">
                  <c:v>After Q1 (May)</c:v>
                </c:pt>
                <c:pt idx="2">
                  <c:v>After Q2 (Aug)</c:v>
                </c:pt>
                <c:pt idx="3">
                  <c:v>After Q3 (Oct)</c:v>
                </c:pt>
              </c:strCache>
            </c:strRef>
          </c:cat>
          <c:val>
            <c:numRef>
              <c:f>Sheet1!$C$2:$C$5</c:f>
              <c:numCache>
                <c:formatCode>#,##0.0</c:formatCode>
                <c:ptCount val="4"/>
                <c:pt idx="0">
                  <c:v>10.0</c:v>
                </c:pt>
                <c:pt idx="1">
                  <c:v>10.0</c:v>
                </c:pt>
                <c:pt idx="2">
                  <c:v>10.0</c:v>
                </c:pt>
                <c:pt idx="3">
                  <c:v>4.0</c:v>
                </c:pt>
              </c:numCache>
            </c:numRef>
          </c:val>
        </c:ser>
        <c:ser>
          <c:idx val="2"/>
          <c:order val="2"/>
          <c:tx>
            <c:strRef>
              <c:f>Sheet1!$D$1</c:f>
              <c:strCache>
                <c:ptCount val="1"/>
                <c:pt idx="0">
                  <c:v>High label</c:v>
                </c:pt>
              </c:strCache>
            </c:strRef>
          </c:tx>
          <c:spPr>
            <a:noFill/>
            <a:ln>
              <a:noFill/>
            </a:ln>
          </c:spPr>
          <c:dLbls>
            <c:dLbl>
              <c:idx val="0"/>
              <c:tx>
                <c:rich>
                  <a:bodyPr/>
                  <a:lstStyle/>
                  <a:p>
                    <a:r>
                      <a:rPr sz="800" b="1" i="0">
                        <a:solidFill>
                          <a:srgbClr val="16181D"/>
                        </a:solidFill>
                        <a:latin typeface="Inter"/>
                      </a:rPr>
                      <a:t>1,365.0</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dLbl>
              <c:idx val="1"/>
              <c:tx>
                <c:rich>
                  <a:bodyPr/>
                  <a:lstStyle/>
                  <a:p>
                    <a:r>
                      <a:rPr sz="800" b="1" i="0">
                        <a:solidFill>
                          <a:srgbClr val="16181D"/>
                        </a:solidFill>
                        <a:latin typeface="Inter"/>
                      </a:rPr>
                      <a:t>1,377.0</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dLbl>
              <c:idx val="2"/>
              <c:tx>
                <c:rich>
                  <a:bodyPr/>
                  <a:lstStyle/>
                  <a:p>
                    <a:r>
                      <a:rPr sz="800" b="1" i="0">
                        <a:solidFill>
                          <a:srgbClr val="16181D"/>
                        </a:solidFill>
                        <a:latin typeface="Inter"/>
                      </a:rPr>
                      <a:t>1,389.0</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dLbl>
              <c:idx val="3"/>
              <c:tx>
                <c:rich>
                  <a:bodyPr/>
                  <a:lstStyle/>
                  <a:p>
                    <a:r>
                      <a:rPr sz="800" b="1" i="0">
                        <a:solidFill>
                          <a:srgbClr val="16181D"/>
                        </a:solidFill>
                        <a:latin typeface="Inter"/>
                      </a:rPr>
                      <a:t>1,398.4</a:t>
                    </a:r>
                  </a:p>
                </c:rich>
              </c:tx>
              <c:txPr>
                <a:bodyPr/>
                <a:lstStyle/>
                <a:p>
                  <a:pPr>
                    <a:defRPr sz="800" b="1" i="0">
                      <a:solidFill>
                        <a:srgbClr val="16181D"/>
                      </a:solidFill>
                      <a:latin typeface="Inter"/>
                    </a:defRPr>
                  </a:pPr>
                </a:p>
              </c:txPr>
              <c:dLblPos val="inBase"/>
              <c:showLegendKey val="0"/>
              <c:showVal val="1"/>
              <c:showCatName val="0"/>
              <c:showSerName val="0"/>
              <c:showPercent val="0"/>
              <c:showBubbleSize val="0"/>
            </c:dLbl>
            <c:txPr>
              <a:bodyPr/>
              <a:lstStyle/>
              <a:p>
                <a:pPr>
                  <a:defRPr sz="800" b="1" i="0">
                    <a:solidFill>
                      <a:srgbClr val="16181D"/>
                    </a:solidFill>
                    <a:latin typeface="Inter"/>
                  </a:defRPr>
                </a:pPr>
              </a:p>
            </c:txPr>
            <c:dLblPos val="inBase"/>
            <c:showLegendKey val="0"/>
            <c:showVal val="1"/>
            <c:showCatName val="0"/>
            <c:showSerName val="0"/>
            <c:showPercent val="0"/>
            <c:showBubbleSize val="0"/>
            <c:showLeaderLines val="1"/>
          </c:dLbls>
          <c:cat>
            <c:strRef>
              <c:f>Sheet1!$A$2:$A$5</c:f>
              <c:strCache>
                <c:ptCount val="4"/>
                <c:pt idx="0">
                  <c:v>Initial (Feb)</c:v>
                </c:pt>
                <c:pt idx="1">
                  <c:v>After Q1 (May)</c:v>
                </c:pt>
                <c:pt idx="2">
                  <c:v>After Q2 (Aug)</c:v>
                </c:pt>
                <c:pt idx="3">
                  <c:v>After Q3 (Oct)</c:v>
                </c:pt>
              </c:strCache>
            </c:strRef>
          </c:cat>
          <c:val>
            <c:numRef>
              <c:f>Sheet1!$D$2:$D$5</c:f>
              <c:numCache>
                <c:formatCode>#,##0.0</c:formatCode>
                <c:ptCount val="4"/>
                <c:pt idx="0">
                  <c:v>5.0</c:v>
                </c:pt>
                <c:pt idx="1">
                  <c:v>5.0</c:v>
                </c:pt>
                <c:pt idx="2">
                  <c:v>5.0</c:v>
                </c:pt>
                <c:pt idx="3">
                  <c:v>5.0</c:v>
                </c:pt>
              </c:numCache>
            </c:numRef>
          </c:val>
        </c:ser>
        <c:gapWidth val="90"/>
        <c:overlap val="100"/>
        <c:axId val="-2068027336"/>
        <c:axId val="-2113994440"/>
      </c:barChart>
      <c:catAx>
        <c:axId val="-2068027336"/>
        <c:scaling>
          <c:orientation val="maxMin"/>
        </c:scaling>
        <c:delete val="0"/>
        <c:axPos val="l"/>
        <c:majorTickMark val="none"/>
        <c:minorTickMark val="none"/>
        <c:tickLblPos val="nextTo"/>
        <c:spPr>
          <a:ln w="9525">
            <a:solidFill>
              <a:srgbClr val="D3D7DF"/>
            </a:solidFill>
          </a:ln>
        </c:spPr>
        <c:txPr>
          <a:bodyPr rot="0" vert="horz"/>
          <a:lstStyle/>
          <a:p>
            <a:pPr>
              <a:defRPr sz="800" b="0" i="0">
                <a:solidFill>
                  <a:srgbClr val="596070"/>
                </a:solidFill>
                <a:latin typeface="Inter"/>
              </a:defRPr>
            </a:pPr>
          </a:p>
        </c:txPr>
        <c:crossAx val="-2113994440"/>
        <c:crosses val="autoZero"/>
        <c:auto val="1"/>
        <c:lblAlgn val="ctr"/>
        <c:lblOffset val="100"/>
        <c:noMultiLvlLbl val="0"/>
      </c:catAx>
      <c:valAx>
        <c:axId val="-2113994440"/>
        <c:scaling>
          <c:max val="1405.0"/>
          <c:min val="1340.0"/>
        </c:scaling>
        <c:delete val="0"/>
        <c:axPos val="b"/>
        <c:numFmt formatCode="#,##0" sourceLinked="0"/>
        <c:majorTickMark val="out"/>
        <c:minorTickMark val="none"/>
        <c:tickLblPos val="nextTo"/>
        <c:spPr>
          <a:ln w="9525">
            <a:solidFill>
              <a:srgbClr val="D3D7DF"/>
            </a:solidFill>
          </a:ln>
        </c:spPr>
        <c:txPr>
          <a:bodyPr/>
          <a:lstStyle/>
          <a:p>
            <a:pPr>
              <a:defRPr sz="800" b="0" i="0">
                <a:solidFill>
                  <a:srgbClr val="596070"/>
                </a:solidFill>
                <a:latin typeface="Inter"/>
              </a:defRPr>
            </a:pPr>
          </a:p>
        </c:txPr>
        <c:crossAx val="-2068027336"/>
        <c:crosses val="autoZero"/>
        <c:crossBetween val="between"/>
        <c:majorUnit val="10.0"/>
      </c:valAx>
      <c:spPr>
        <a:noFill/>
      </c:spPr>
    </c:plotArea>
    <c:dispBlanksAs val="gap"/>
  </c:chart>
  <c:txPr>
    <a:bodyPr/>
    <a:lstStyle/>
    <a:p>
      <a:pPr>
        <a:defRPr sz="800" b="0" i="0">
          <a:solidFill>
            <a:srgbClr val="596070"/>
          </a:solidFill>
          <a:latin typeface="In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Headline metrics for the quarter ended 30 September 2026, against Q3 FY25 and against the range guided in August.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Nine quarters, Q3 FY24 to Q3 FY26; Q3 FY26 in indigo, earlier quarters in slate.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Retention is trailing four quarters. The FY2024 cohort reached 1.47x its first-year ARR in year two, against 1.35-1.41x for earlier cohorts.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The bridge ties: 11.2 + 0.8 + 3.1 + 0.9 + 0.6 = 16.6. The reconciliation ties in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FY2026 guidance equals year-to-date revenue of $1,022.4M plus the Q4 range of $372.0-376.0M.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tags" Target="../tags/tag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tags" Target="../tags/tag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tags" Target="../tags/tag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tags" Target="../tags/tag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tags" Target="../tags/tag5.xml"/><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7"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Inter"/>
              </a:rPr>
              <a:t>Corvane Software (fictional company)  |  Q3 FY2026 earnings  |  Illustrative figures, non-GAAP unless stated</a:t>
            </a:r>
          </a:p>
        </p:txBody>
      </p:sp>
      <p:sp>
        <p:nvSpPr>
          <p:cNvPr id="48"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Inter"/>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Inter"/>
              </a:rPr>
              <a:t>Q3 FY2026 RESULTS  |  HIGHLIGHTS</a:t>
            </a:r>
          </a:p>
        </p:txBody>
      </p:sp>
      <p:sp>
        <p:nvSpPr>
          <p:cNvPr id="3" name="title"/>
          <p:cNvSpPr/>
          <p:nvPr/>
        </p:nvSpPr>
        <p:spPr>
          <a:xfrm>
            <a:off x="457200" y="621792"/>
            <a:ext cx="11277600" cy="5334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Inter"/>
              </a:rPr>
              <a:t>Revenue grew 21.3% to $358.2M and operating margin widened 5.4 points to 16.6%, both</a:t>
            </a:r>
            <a:br/>
            <a:r>
              <a:rPr sz="2000" b="1" i="0">
                <a:solidFill>
                  <a:srgbClr val="16181D"/>
                </a:solidFill>
                <a:latin typeface="Inter"/>
              </a:rPr>
              <a:t>above guidance</a:t>
            </a:r>
          </a:p>
        </p:txBody>
      </p:sp>
      <p:sp>
        <p:nvSpPr>
          <p:cNvPr id="4" name="tile1-fill"/>
          <p:cNvSpPr/>
          <p:nvPr/>
        </p:nvSpPr>
        <p:spPr>
          <a:xfrm>
            <a:off x="457200" y="1264920"/>
            <a:ext cx="1788160" cy="2846324"/>
          </a:xfrm>
          <a:prstGeom prst="rect">
            <a:avLst/>
          </a:prstGeom>
          <a:solidFill>
            <a:srgbClr val="F0F2F6"/>
          </a:solidFill>
          <a:ln>
            <a:noFill/>
          </a:ln>
        </p:spPr>
        <p:txBody>
          <a:bodyPr rtlCol="0" anchor="ctr"/>
          <a:lstStyle/>
          <a:p>
            <a:pPr algn="ctr"/>
          </a:p>
        </p:txBody>
      </p:sp>
      <p:sp>
        <p:nvSpPr>
          <p:cNvPr id="5" name="t1l"/>
          <p:cNvSpPr/>
          <p:nvPr/>
        </p:nvSpPr>
        <p:spPr>
          <a:xfrm>
            <a:off x="566928"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Total revenue</a:t>
            </a:r>
          </a:p>
        </p:txBody>
      </p:sp>
      <p:sp>
        <p:nvSpPr>
          <p:cNvPr id="6" name="t1v"/>
          <p:cNvSpPr/>
          <p:nvPr/>
        </p:nvSpPr>
        <p:spPr>
          <a:xfrm>
            <a:off x="566928"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Inter"/>
              </a:rPr>
              <a:t>$358.2M</a:t>
            </a:r>
          </a:p>
        </p:txBody>
      </p:sp>
      <p:sp>
        <p:nvSpPr>
          <p:cNvPr id="7" name="t1c"/>
          <p:cNvSpPr/>
          <p:nvPr/>
        </p:nvSpPr>
        <p:spPr>
          <a:xfrm>
            <a:off x="566928"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Inter"/>
              </a:rPr>
              <a:t>+21.3% year on year</a:t>
            </a:r>
          </a:p>
        </p:txBody>
      </p:sp>
      <p:graphicFrame>
        <p:nvGraphicFramePr>
          <p:cNvPr id="8" name="sp1"/>
          <p:cNvGraphicFramePr>
            <a:graphicFrameLocks noGrp="1"/>
          </p:cNvGraphicFramePr>
          <p:nvPr/>
        </p:nvGraphicFramePr>
        <p:xfrm>
          <a:off x="566928" y="1980184"/>
          <a:ext cx="1568704" cy="2021332"/>
        </p:xfrm>
        <a:graphic>
          <a:graphicData uri="http://schemas.openxmlformats.org/drawingml/2006/chart">
            <c:chart xmlns:c="http://schemas.openxmlformats.org/drawingml/2006/chart" r:id="rId2"/>
          </a:graphicData>
        </a:graphic>
      </p:graphicFrame>
      <p:sp>
        <p:nvSpPr>
          <p:cNvPr id="9" name="tile2-fill"/>
          <p:cNvSpPr/>
          <p:nvPr/>
        </p:nvSpPr>
        <p:spPr>
          <a:xfrm>
            <a:off x="2355088" y="1264920"/>
            <a:ext cx="1788160" cy="2846324"/>
          </a:xfrm>
          <a:prstGeom prst="rect">
            <a:avLst/>
          </a:prstGeom>
          <a:solidFill>
            <a:srgbClr val="F0F2F6"/>
          </a:solidFill>
          <a:ln>
            <a:noFill/>
          </a:ln>
        </p:spPr>
        <p:txBody>
          <a:bodyPr rtlCol="0" anchor="ctr"/>
          <a:lstStyle/>
          <a:p>
            <a:pPr algn="ctr"/>
          </a:p>
        </p:txBody>
      </p:sp>
      <p:sp>
        <p:nvSpPr>
          <p:cNvPr id="10" name="t2l"/>
          <p:cNvSpPr/>
          <p:nvPr/>
        </p:nvSpPr>
        <p:spPr>
          <a:xfrm>
            <a:off x="2464816"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Ending ARR</a:t>
            </a:r>
          </a:p>
        </p:txBody>
      </p:sp>
      <p:sp>
        <p:nvSpPr>
          <p:cNvPr id="11" name="t2v"/>
          <p:cNvSpPr/>
          <p:nvPr/>
        </p:nvSpPr>
        <p:spPr>
          <a:xfrm>
            <a:off x="2464816"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Inter"/>
              </a:rPr>
              <a:t>$1,498M</a:t>
            </a:r>
          </a:p>
        </p:txBody>
      </p:sp>
      <p:sp>
        <p:nvSpPr>
          <p:cNvPr id="12" name="t2c"/>
          <p:cNvSpPr/>
          <p:nvPr/>
        </p:nvSpPr>
        <p:spPr>
          <a:xfrm>
            <a:off x="2464816"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Inter"/>
              </a:rPr>
              <a:t>+22.2% year on year</a:t>
            </a:r>
          </a:p>
        </p:txBody>
      </p:sp>
      <p:graphicFrame>
        <p:nvGraphicFramePr>
          <p:cNvPr id="13" name="sp2"/>
          <p:cNvGraphicFramePr>
            <a:graphicFrameLocks noGrp="1"/>
          </p:cNvGraphicFramePr>
          <p:nvPr/>
        </p:nvGraphicFramePr>
        <p:xfrm>
          <a:off x="2464816" y="1980184"/>
          <a:ext cx="1568704" cy="2021332"/>
        </p:xfrm>
        <a:graphic>
          <a:graphicData uri="http://schemas.openxmlformats.org/drawingml/2006/chart">
            <c:chart xmlns:c="http://schemas.openxmlformats.org/drawingml/2006/chart" r:id="rId3"/>
          </a:graphicData>
        </a:graphic>
      </p:graphicFrame>
      <p:sp>
        <p:nvSpPr>
          <p:cNvPr id="14" name="tile3-fill"/>
          <p:cNvSpPr/>
          <p:nvPr/>
        </p:nvSpPr>
        <p:spPr>
          <a:xfrm>
            <a:off x="4252976" y="1264920"/>
            <a:ext cx="1788160" cy="2846324"/>
          </a:xfrm>
          <a:prstGeom prst="rect">
            <a:avLst/>
          </a:prstGeom>
          <a:solidFill>
            <a:srgbClr val="F0F2F6"/>
          </a:solidFill>
          <a:ln>
            <a:noFill/>
          </a:ln>
        </p:spPr>
        <p:txBody>
          <a:bodyPr rtlCol="0" anchor="ctr"/>
          <a:lstStyle/>
          <a:p>
            <a:pPr algn="ctr"/>
          </a:p>
        </p:txBody>
      </p:sp>
      <p:sp>
        <p:nvSpPr>
          <p:cNvPr id="15" name="t3l"/>
          <p:cNvSpPr/>
          <p:nvPr/>
        </p:nvSpPr>
        <p:spPr>
          <a:xfrm>
            <a:off x="4362704"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Net new ARR</a:t>
            </a:r>
          </a:p>
        </p:txBody>
      </p:sp>
      <p:sp>
        <p:nvSpPr>
          <p:cNvPr id="16" name="t3v"/>
          <p:cNvSpPr/>
          <p:nvPr/>
        </p:nvSpPr>
        <p:spPr>
          <a:xfrm>
            <a:off x="4362704"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Inter"/>
              </a:rPr>
              <a:t>$83M</a:t>
            </a:r>
          </a:p>
        </p:txBody>
      </p:sp>
      <p:sp>
        <p:nvSpPr>
          <p:cNvPr id="17" name="t3c"/>
          <p:cNvSpPr/>
          <p:nvPr/>
        </p:nvSpPr>
        <p:spPr>
          <a:xfrm>
            <a:off x="4362704"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Inter"/>
              </a:rPr>
              <a:t>Record; +43.1% year on year</a:t>
            </a:r>
          </a:p>
        </p:txBody>
      </p:sp>
      <p:graphicFrame>
        <p:nvGraphicFramePr>
          <p:cNvPr id="18" name="sp3"/>
          <p:cNvGraphicFramePr>
            <a:graphicFrameLocks noGrp="1"/>
          </p:cNvGraphicFramePr>
          <p:nvPr/>
        </p:nvGraphicFramePr>
        <p:xfrm>
          <a:off x="4362704" y="1980184"/>
          <a:ext cx="1568704" cy="2021332"/>
        </p:xfrm>
        <a:graphic>
          <a:graphicData uri="http://schemas.openxmlformats.org/drawingml/2006/chart">
            <c:chart xmlns:c="http://schemas.openxmlformats.org/drawingml/2006/chart" r:id="rId4"/>
          </a:graphicData>
        </a:graphic>
      </p:graphicFrame>
      <p:sp>
        <p:nvSpPr>
          <p:cNvPr id="19" name="tile4-fill"/>
          <p:cNvSpPr/>
          <p:nvPr/>
        </p:nvSpPr>
        <p:spPr>
          <a:xfrm>
            <a:off x="6150864" y="1264920"/>
            <a:ext cx="1788160" cy="2846324"/>
          </a:xfrm>
          <a:prstGeom prst="rect">
            <a:avLst/>
          </a:prstGeom>
          <a:solidFill>
            <a:srgbClr val="F0F2F6"/>
          </a:solidFill>
          <a:ln>
            <a:noFill/>
          </a:ln>
        </p:spPr>
        <p:txBody>
          <a:bodyPr rtlCol="0" anchor="ctr"/>
          <a:lstStyle/>
          <a:p>
            <a:pPr algn="ctr"/>
          </a:p>
        </p:txBody>
      </p:sp>
      <p:sp>
        <p:nvSpPr>
          <p:cNvPr id="20" name="t4l"/>
          <p:cNvSpPr/>
          <p:nvPr/>
        </p:nvSpPr>
        <p:spPr>
          <a:xfrm>
            <a:off x="6260592"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Net revenue retention</a:t>
            </a:r>
          </a:p>
        </p:txBody>
      </p:sp>
      <p:sp>
        <p:nvSpPr>
          <p:cNvPr id="21" name="t4v"/>
          <p:cNvSpPr/>
          <p:nvPr/>
        </p:nvSpPr>
        <p:spPr>
          <a:xfrm>
            <a:off x="6260592"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Inter"/>
              </a:rPr>
              <a:t>119%</a:t>
            </a:r>
          </a:p>
        </p:txBody>
      </p:sp>
      <p:sp>
        <p:nvSpPr>
          <p:cNvPr id="22" name="t4c"/>
          <p:cNvSpPr/>
          <p:nvPr/>
        </p:nvSpPr>
        <p:spPr>
          <a:xfrm>
            <a:off x="6260592"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Inter"/>
              </a:rPr>
              <a:t>+3 pts from the 116% low</a:t>
            </a:r>
          </a:p>
        </p:txBody>
      </p:sp>
      <p:graphicFrame>
        <p:nvGraphicFramePr>
          <p:cNvPr id="23" name="sp4"/>
          <p:cNvGraphicFramePr>
            <a:graphicFrameLocks noGrp="1"/>
          </p:cNvGraphicFramePr>
          <p:nvPr/>
        </p:nvGraphicFramePr>
        <p:xfrm>
          <a:off x="6260592" y="1980184"/>
          <a:ext cx="1568704" cy="2021332"/>
        </p:xfrm>
        <a:graphic>
          <a:graphicData uri="http://schemas.openxmlformats.org/drawingml/2006/chart">
            <c:chart xmlns:c="http://schemas.openxmlformats.org/drawingml/2006/chart" r:id="rId5"/>
          </a:graphicData>
        </a:graphic>
      </p:graphicFrame>
      <p:sp>
        <p:nvSpPr>
          <p:cNvPr id="24" name="tile5-fill"/>
          <p:cNvSpPr/>
          <p:nvPr/>
        </p:nvSpPr>
        <p:spPr>
          <a:xfrm>
            <a:off x="8048752" y="1264920"/>
            <a:ext cx="1788160" cy="2846324"/>
          </a:xfrm>
          <a:prstGeom prst="rect">
            <a:avLst/>
          </a:prstGeom>
          <a:solidFill>
            <a:srgbClr val="F0F2F6"/>
          </a:solidFill>
          <a:ln>
            <a:noFill/>
          </a:ln>
        </p:spPr>
        <p:txBody>
          <a:bodyPr rtlCol="0" anchor="ctr"/>
          <a:lstStyle/>
          <a:p>
            <a:pPr algn="ctr"/>
          </a:p>
        </p:txBody>
      </p:sp>
      <p:sp>
        <p:nvSpPr>
          <p:cNvPr id="25" name="t5l"/>
          <p:cNvSpPr/>
          <p:nvPr/>
        </p:nvSpPr>
        <p:spPr>
          <a:xfrm>
            <a:off x="8158480"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Operating margin</a:t>
            </a:r>
          </a:p>
        </p:txBody>
      </p:sp>
      <p:sp>
        <p:nvSpPr>
          <p:cNvPr id="26" name="t5v"/>
          <p:cNvSpPr/>
          <p:nvPr/>
        </p:nvSpPr>
        <p:spPr>
          <a:xfrm>
            <a:off x="8158480"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Inter"/>
              </a:rPr>
              <a:t>16.6%</a:t>
            </a:r>
          </a:p>
        </p:txBody>
      </p:sp>
      <p:sp>
        <p:nvSpPr>
          <p:cNvPr id="27" name="t5c"/>
          <p:cNvSpPr/>
          <p:nvPr/>
        </p:nvSpPr>
        <p:spPr>
          <a:xfrm>
            <a:off x="8158480"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Inter"/>
              </a:rPr>
              <a:t>+5.4 pts year on year</a:t>
            </a:r>
          </a:p>
        </p:txBody>
      </p:sp>
      <p:graphicFrame>
        <p:nvGraphicFramePr>
          <p:cNvPr id="28" name="sp5"/>
          <p:cNvGraphicFramePr>
            <a:graphicFrameLocks noGrp="1"/>
          </p:cNvGraphicFramePr>
          <p:nvPr/>
        </p:nvGraphicFramePr>
        <p:xfrm>
          <a:off x="8158480" y="1980184"/>
          <a:ext cx="1568704" cy="2021332"/>
        </p:xfrm>
        <a:graphic>
          <a:graphicData uri="http://schemas.openxmlformats.org/drawingml/2006/chart">
            <c:chart xmlns:c="http://schemas.openxmlformats.org/drawingml/2006/chart" r:id="rId6"/>
          </a:graphicData>
        </a:graphic>
      </p:graphicFrame>
      <p:sp>
        <p:nvSpPr>
          <p:cNvPr id="29" name="tile6-fill"/>
          <p:cNvSpPr/>
          <p:nvPr/>
        </p:nvSpPr>
        <p:spPr>
          <a:xfrm>
            <a:off x="9946640" y="1264920"/>
            <a:ext cx="1788160" cy="2846324"/>
          </a:xfrm>
          <a:prstGeom prst="rect">
            <a:avLst/>
          </a:prstGeom>
          <a:solidFill>
            <a:srgbClr val="F0F2F6"/>
          </a:solidFill>
          <a:ln>
            <a:noFill/>
          </a:ln>
        </p:spPr>
        <p:txBody>
          <a:bodyPr rtlCol="0" anchor="ctr"/>
          <a:lstStyle/>
          <a:p>
            <a:pPr algn="ctr"/>
          </a:p>
        </p:txBody>
      </p:sp>
      <p:sp>
        <p:nvSpPr>
          <p:cNvPr id="30" name="t6l"/>
          <p:cNvSpPr/>
          <p:nvPr/>
        </p:nvSpPr>
        <p:spPr>
          <a:xfrm>
            <a:off x="10056368"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Free cash flow margin</a:t>
            </a:r>
          </a:p>
        </p:txBody>
      </p:sp>
      <p:sp>
        <p:nvSpPr>
          <p:cNvPr id="31" name="t6v"/>
          <p:cNvSpPr/>
          <p:nvPr/>
        </p:nvSpPr>
        <p:spPr>
          <a:xfrm>
            <a:off x="10056368"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Inter"/>
              </a:rPr>
              <a:t>21.4%</a:t>
            </a:r>
          </a:p>
        </p:txBody>
      </p:sp>
      <p:sp>
        <p:nvSpPr>
          <p:cNvPr id="32" name="t6c"/>
          <p:cNvSpPr/>
          <p:nvPr/>
        </p:nvSpPr>
        <p:spPr>
          <a:xfrm>
            <a:off x="10056368"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Inter"/>
              </a:rPr>
              <a:t>+3.1 pts year on year</a:t>
            </a:r>
          </a:p>
        </p:txBody>
      </p:sp>
      <p:graphicFrame>
        <p:nvGraphicFramePr>
          <p:cNvPr id="33" name="sp6"/>
          <p:cNvGraphicFramePr>
            <a:graphicFrameLocks noGrp="1"/>
          </p:cNvGraphicFramePr>
          <p:nvPr/>
        </p:nvGraphicFramePr>
        <p:xfrm>
          <a:off x="10056368" y="1980184"/>
          <a:ext cx="1568704" cy="2021332"/>
        </p:xfrm>
        <a:graphic>
          <a:graphicData uri="http://schemas.openxmlformats.org/drawingml/2006/chart">
            <c:chart xmlns:c="http://schemas.openxmlformats.org/drawingml/2006/chart" r:id="rId7"/>
          </a:graphicData>
        </a:graphic>
      </p:graphicFrame>
      <p:sp>
        <p:nvSpPr>
          <p:cNvPr id="34" name="m_h"/>
          <p:cNvSpPr/>
          <p:nvPr/>
        </p:nvSpPr>
        <p:spPr>
          <a:xfrm>
            <a:off x="457200" y="4294124"/>
            <a:ext cx="419100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The quarter against last year</a:t>
            </a:r>
          </a:p>
        </p:txBody>
      </p:sp>
      <p:sp>
        <p:nvSpPr>
          <p:cNvPr id="35" name="m_u"/>
          <p:cNvSpPr/>
          <p:nvPr/>
        </p:nvSpPr>
        <p:spPr>
          <a:xfrm>
            <a:off x="457200" y="4489196"/>
            <a:ext cx="41910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Q3 FY26 in indigo; GAAP margin and stock compensation as reported</a:t>
            </a:r>
          </a:p>
        </p:txBody>
      </p:sp>
      <p:graphicFrame>
        <p:nvGraphicFramePr>
          <p:cNvPr id="36" name="metrics"/>
          <p:cNvGraphicFramePr>
            <a:graphicFrameLocks noGrp="1"/>
          </p:cNvGraphicFramePr>
          <p:nvPr/>
        </p:nvGraphicFramePr>
        <p:xfrm>
          <a:off x="457200" y="4638548"/>
          <a:ext cx="4191000" cy="1538224"/>
        </p:xfrm>
        <a:graphic>
          <a:graphicData uri="http://schemas.openxmlformats.org/drawingml/2006/table">
            <a:tbl>
              <a:tblPr firstRow="0" bandRow="0" lastRow="0" firstCol="0" lastCol="0" bandCol="0"/>
              <a:tblGrid>
                <a:gridCol w="2487061"/>
                <a:gridCol w="582124"/>
                <a:gridCol w="583341"/>
                <a:gridCol w="538474"/>
              </a:tblGrid>
              <a:tr h="192278">
                <a:tc>
                  <a:txBody>
                    <a:bodyPr wrap="square"/>
                    <a:lstStyle/>
                    <a:p>
                      <a:pPr algn="l"/>
                      <a:r>
                        <a:rPr sz="900" b="1" i="0">
                          <a:solidFill>
                            <a:srgbClr val="16181D"/>
                          </a:solidFill>
                          <a:latin typeface="Inter"/>
                        </a:rPr>
                        <a:t>Metric</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 FY25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 FY26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Change</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Subscription revenue ($M)</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280.3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2E3A9E"/>
                          </a:solidFill>
                          <a:latin typeface="Inter"/>
                        </a:rPr>
                        <a:t>342.8</a:t>
                      </a:r>
                      <a:endParaRPr sz="900" b="1" i="0">
                        <a:solidFill>
                          <a:srgbClr val="2E3A9E"/>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+22.3%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Remaining performance obligations ($M)</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1,384</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Inter"/>
                        </a:rPr>
                        <a:t>1,741</a:t>
                      </a:r>
                      <a:endParaRPr sz="900" b="1"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+25.8%</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Customers above $100K ARR</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1,779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Inter"/>
                        </a:rPr>
                        <a:t>2,148</a:t>
                      </a:r>
                      <a:endParaRPr sz="900" b="1"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+20.7%</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Customers above $1M ARR</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81</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Inter"/>
                        </a:rPr>
                        <a:t>109</a:t>
                      </a:r>
                      <a:endParaRPr sz="900" b="1"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+34.6%</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GAAP operating margin (%)</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(8.9)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Inter"/>
                        </a:rPr>
                        <a:t>(0.4)</a:t>
                      </a:r>
                      <a:endParaRPr sz="900" b="1"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+8.5 pts</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Stock-based compensation (% of revenue)</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16.2</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Inter"/>
                        </a:rPr>
                        <a:t>14.6</a:t>
                      </a:r>
                      <a:endParaRPr sz="900" b="1"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(1.6) pts</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Rule of 40 (%)</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40.0</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2E3A9E"/>
                          </a:solidFill>
                          <a:latin typeface="Inter"/>
                        </a:rPr>
                        <a:t>42.7</a:t>
                      </a:r>
                      <a:endParaRPr sz="900" b="1" i="0">
                        <a:solidFill>
                          <a:srgbClr val="2E3A9E"/>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+2.7 pts</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37" name="s_h"/>
          <p:cNvSpPr/>
          <p:nvPr/>
        </p:nvSpPr>
        <p:spPr>
          <a:xfrm>
            <a:off x="4922520" y="4294124"/>
            <a:ext cx="335280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Against Q3 guidance</a:t>
            </a:r>
          </a:p>
        </p:txBody>
      </p:sp>
      <p:sp>
        <p:nvSpPr>
          <p:cNvPr id="38" name="s_u"/>
          <p:cNvSpPr/>
          <p:nvPr/>
        </p:nvSpPr>
        <p:spPr>
          <a:xfrm>
            <a:off x="4922520" y="4489196"/>
            <a:ext cx="33528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guided in August 2026 (amber); beat against the high end in green</a:t>
            </a:r>
          </a:p>
        </p:txBody>
      </p:sp>
      <p:graphicFrame>
        <p:nvGraphicFramePr>
          <p:cNvPr id="39" name="score"/>
          <p:cNvGraphicFramePr>
            <a:graphicFrameLocks noGrp="1"/>
          </p:cNvGraphicFramePr>
          <p:nvPr/>
        </p:nvGraphicFramePr>
        <p:xfrm>
          <a:off x="4922520" y="4638548"/>
          <a:ext cx="3352800" cy="769112"/>
        </p:xfrm>
        <a:graphic>
          <a:graphicData uri="http://schemas.openxmlformats.org/drawingml/2006/table">
            <a:tbl>
              <a:tblPr firstRow="0" bandRow="0" lastRow="0" firstCol="0" lastCol="0" bandCol="0"/>
              <a:tblGrid>
                <a:gridCol w="1378302"/>
                <a:gridCol w="777776"/>
                <a:gridCol w="451527"/>
                <a:gridCol w="745195"/>
              </a:tblGrid>
              <a:tr h="192278">
                <a:tc>
                  <a:txBody>
                    <a:bodyPr wrap="square"/>
                    <a:lstStyle/>
                    <a:p>
                      <a:pPr algn="l"/>
                      <a:r>
                        <a:rPr sz="900" b="1" i="0">
                          <a:solidFill>
                            <a:srgbClr val="16181D"/>
                          </a:solidFill>
                          <a:latin typeface="Inter"/>
                        </a:rPr>
                        <a:t>Metric</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Guidance</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Actual</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vs high end</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Revenue ($M)</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A9650A"/>
                          </a:solidFill>
                          <a:latin typeface="Inter"/>
                        </a:rPr>
                        <a:t>350.0-354.0</a:t>
                      </a:r>
                      <a:endParaRPr sz="900" b="0" i="0">
                        <a:solidFill>
                          <a:srgbClr val="A9650A"/>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2E3A9E"/>
                          </a:solidFill>
                          <a:latin typeface="Inter"/>
                        </a:rPr>
                        <a:t>358.2</a:t>
                      </a:r>
                      <a:endParaRPr sz="900" b="1" i="0">
                        <a:solidFill>
                          <a:srgbClr val="2E3A9E"/>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1F7A4D"/>
                          </a:solidFill>
                          <a:latin typeface="Inter"/>
                        </a:rPr>
                        <a:t>+4.2</a:t>
                      </a:r>
                      <a:endParaRPr sz="900" b="1" i="0">
                        <a:solidFill>
                          <a:srgbClr val="1F7A4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Operating income ($M)</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A9650A"/>
                          </a:solidFill>
                          <a:latin typeface="Inter"/>
                        </a:rPr>
                        <a:t>52.0-54.0</a:t>
                      </a:r>
                      <a:endParaRPr sz="900" b="0"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Inter"/>
                        </a:rPr>
                        <a:t>59.5</a:t>
                      </a:r>
                      <a:endParaRPr sz="900" b="1"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F7A4D"/>
                          </a:solidFill>
                          <a:latin typeface="Inter"/>
                        </a:rPr>
                        <a:t>+5.5</a:t>
                      </a:r>
                      <a:endParaRPr sz="900" b="1" i="0">
                        <a:solidFill>
                          <a:srgbClr val="1F7A4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Operating margin (%)</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A9650A"/>
                          </a:solidFill>
                          <a:latin typeface="Inter"/>
                        </a:rPr>
                        <a:t>14.9-15.3</a:t>
                      </a:r>
                      <a:endParaRPr sz="900" b="0" i="0">
                        <a:solidFill>
                          <a:srgbClr val="A9650A"/>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2E3A9E"/>
                          </a:solidFill>
                          <a:latin typeface="Inter"/>
                        </a:rPr>
                        <a:t>16.6</a:t>
                      </a:r>
                      <a:endParaRPr sz="900" b="1" i="0">
                        <a:solidFill>
                          <a:srgbClr val="2E3A9E"/>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F7A4D"/>
                          </a:solidFill>
                          <a:latin typeface="Inter"/>
                        </a:rPr>
                        <a:t>+1.3 pts</a:t>
                      </a:r>
                      <a:endParaRPr sz="900" b="1" i="0">
                        <a:solidFill>
                          <a:srgbClr val="1F7A4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40" name="s_fn"/>
          <p:cNvSpPr/>
          <p:nvPr/>
        </p:nvSpPr>
        <p:spPr>
          <a:xfrm>
            <a:off x="4922520" y="5435092"/>
            <a:ext cx="3352800" cy="2286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Operating income and margin are non-GAAP; guided margin is the guided</a:t>
            </a:r>
            <a:br/>
            <a:r>
              <a:rPr sz="750" b="0" i="0">
                <a:solidFill>
                  <a:srgbClr val="596070"/>
                </a:solidFill>
                <a:latin typeface="Inter"/>
              </a:rPr>
              <a:t>income over guided revenue at each end of the range.</a:t>
            </a:r>
          </a:p>
        </p:txBody>
      </p:sp>
      <p:sp>
        <p:nvSpPr>
          <p:cNvPr id="41" name="n_h"/>
          <p:cNvSpPr/>
          <p:nvPr/>
        </p:nvSpPr>
        <p:spPr>
          <a:xfrm>
            <a:off x="8549640" y="4294124"/>
            <a:ext cx="3185160"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Inter"/>
              </a:rPr>
              <a:t>What drove the quarter</a:t>
            </a:r>
          </a:p>
        </p:txBody>
      </p:sp>
      <p:sp>
        <p:nvSpPr>
          <p:cNvPr id="42" name="n1"/>
          <p:cNvSpPr/>
          <p:nvPr/>
        </p:nvSpPr>
        <p:spPr>
          <a:xfrm>
            <a:off x="8549640" y="4501388"/>
            <a:ext cx="3185160" cy="4762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Net new ARR of $83M was a record, $17M above</a:t>
            </a:r>
            <a:br/>
            <a:r>
              <a:rPr sz="1000" b="0" i="0">
                <a:solidFill>
                  <a:srgbClr val="16181D"/>
                </a:solidFill>
                <a:latin typeface="Inter"/>
              </a:rPr>
              <a:t>the prior high, as customers above $1M ARR rose</a:t>
            </a:r>
            <a:br/>
            <a:r>
              <a:rPr sz="1000" b="0" i="0">
                <a:solidFill>
                  <a:srgbClr val="16181D"/>
                </a:solidFill>
                <a:latin typeface="Inter"/>
              </a:rPr>
              <a:t>34.6% to 109.</a:t>
            </a:r>
          </a:p>
        </p:txBody>
      </p:sp>
      <p:sp>
        <p:nvSpPr>
          <p:cNvPr id="43" name="n2"/>
          <p:cNvSpPr/>
          <p:nvPr/>
        </p:nvSpPr>
        <p:spPr>
          <a:xfrm>
            <a:off x="8549640" y="5032502"/>
            <a:ext cx="318516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Net revenue retention rose for a third quarter, to</a:t>
            </a:r>
            <a:br/>
            <a:r>
              <a:rPr sz="1000" b="0" i="0">
                <a:solidFill>
                  <a:srgbClr val="16181D"/>
                </a:solidFill>
                <a:latin typeface="Inter"/>
              </a:rPr>
              <a:t>119% from 116%.</a:t>
            </a:r>
          </a:p>
        </p:txBody>
      </p:sp>
      <p:sp>
        <p:nvSpPr>
          <p:cNvPr id="44" name="n3"/>
          <p:cNvSpPr/>
          <p:nvPr/>
        </p:nvSpPr>
        <p:spPr>
          <a:xfrm>
            <a:off x="8549640" y="5417566"/>
            <a:ext cx="318516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Sales and marketing fell to 35.8% of revenue from</a:t>
            </a:r>
            <a:br/>
            <a:r>
              <a:rPr sz="1000" b="0" i="0">
                <a:solidFill>
                  <a:srgbClr val="16181D"/>
                </a:solidFill>
                <a:latin typeface="Inter"/>
              </a:rPr>
              <a:t>38.9%, 3.1 of the 5.4 points of margin gained.</a:t>
            </a:r>
          </a:p>
        </p:txBody>
      </p:sp>
      <p:sp>
        <p:nvSpPr>
          <p:cNvPr id="45" name="n4"/>
          <p:cNvSpPr/>
          <p:nvPr/>
        </p:nvSpPr>
        <p:spPr>
          <a:xfrm>
            <a:off x="8549640" y="5802630"/>
            <a:ext cx="318516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FY2026 revenue guidance raised to $1,394.4-</a:t>
            </a:r>
            <a:br/>
            <a:r>
              <a:rPr sz="1000" b="0" i="0">
                <a:solidFill>
                  <a:srgbClr val="16181D"/>
                </a:solidFill>
                <a:latin typeface="Inter"/>
              </a:rPr>
              <a:t>1,398.4M.</a:t>
            </a:r>
          </a:p>
        </p:txBody>
      </p:sp>
      <p:sp>
        <p:nvSpPr>
          <p:cNvPr id="46"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Source: Corvane Software management accounts (fictional; illustrative figures). Non-GAAP unless stated; fiscal year ends December. Bars: nine quarters, Q3 FY24 to Q3 FY26; Q3 FY26 in indigo.</a:t>
            </a:r>
          </a:p>
        </p:txBody>
      </p:sp>
    </p:spTree>
    <p:custDataLst>
      <p:tags r:id="rId8"/>
    </p:custData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9"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Inter"/>
              </a:rPr>
              <a:t>Corvane Software (fictional company)  |  Q3 FY2026 earnings  |  Illustrative figures, non-GAAP unless stated</a:t>
            </a:r>
          </a:p>
        </p:txBody>
      </p:sp>
      <p:sp>
        <p:nvSpPr>
          <p:cNvPr id="50"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Inter"/>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Inter"/>
              </a:rPr>
              <a:t>Q3 FY2026 RESULTS  |  REVENUE AND ARR</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Inter"/>
              </a:rPr>
              <a:t>ARR grew 22.2% to $1,498M on a record $83M of net new ARR</a:t>
            </a:r>
          </a:p>
        </p:txBody>
      </p:sp>
      <p:sp>
        <p:nvSpPr>
          <p:cNvPr id="4" name="r_h"/>
          <p:cNvSpPr/>
          <p:nvPr/>
        </p:nvSpPr>
        <p:spPr>
          <a:xfrm>
            <a:off x="457200" y="998220"/>
            <a:ext cx="39736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Total revenue</a:t>
            </a:r>
          </a:p>
        </p:txBody>
      </p:sp>
      <p:sp>
        <p:nvSpPr>
          <p:cNvPr id="5" name="r_u"/>
          <p:cNvSpPr/>
          <p:nvPr/>
        </p:nvSpPr>
        <p:spPr>
          <a:xfrm>
            <a:off x="457200" y="1193292"/>
            <a:ext cx="39736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$M by fiscal quarter; growth on the same quarter a year before beneath</a:t>
            </a:r>
          </a:p>
        </p:txBody>
      </p:sp>
      <p:graphicFrame>
        <p:nvGraphicFramePr>
          <p:cNvPr id="6" name="rev"/>
          <p:cNvGraphicFramePr>
            <a:graphicFrameLocks noGrp="1"/>
          </p:cNvGraphicFramePr>
          <p:nvPr/>
        </p:nvGraphicFramePr>
        <p:xfrm>
          <a:off x="457200" y="1342644"/>
          <a:ext cx="3973689" cy="4834128"/>
        </p:xfrm>
        <a:graphic>
          <a:graphicData uri="http://schemas.openxmlformats.org/drawingml/2006/chart">
            <c:chart xmlns:c="http://schemas.openxmlformats.org/drawingml/2006/chart" r:id="rId2"/>
          </a:graphicData>
        </a:graphic>
      </p:graphicFrame>
      <p:sp>
        <p:nvSpPr>
          <p:cNvPr id="7" name="a_h"/>
          <p:cNvSpPr/>
          <p:nvPr/>
        </p:nvSpPr>
        <p:spPr>
          <a:xfrm>
            <a:off x="4705209" y="998220"/>
            <a:ext cx="39736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Net new ARR</a:t>
            </a:r>
          </a:p>
        </p:txBody>
      </p:sp>
      <p:sp>
        <p:nvSpPr>
          <p:cNvPr id="8" name="a_u"/>
          <p:cNvSpPr/>
          <p:nvPr/>
        </p:nvSpPr>
        <p:spPr>
          <a:xfrm>
            <a:off x="4705209" y="1193292"/>
            <a:ext cx="39736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$M added in the quarter; ending ARR ($M) and its growth beneath</a:t>
            </a:r>
          </a:p>
        </p:txBody>
      </p:sp>
      <p:graphicFrame>
        <p:nvGraphicFramePr>
          <p:cNvPr id="9" name="nn"/>
          <p:cNvGraphicFramePr>
            <a:graphicFrameLocks noGrp="1"/>
          </p:cNvGraphicFramePr>
          <p:nvPr/>
        </p:nvGraphicFramePr>
        <p:xfrm>
          <a:off x="4705209" y="1342644"/>
          <a:ext cx="3973689" cy="4834128"/>
        </p:xfrm>
        <a:graphic>
          <a:graphicData uri="http://schemas.openxmlformats.org/drawingml/2006/chart">
            <c:chart xmlns:c="http://schemas.openxmlformats.org/drawingml/2006/chart" r:id="rId3"/>
          </a:graphicData>
        </a:graphic>
      </p:graphicFrame>
      <p:sp>
        <p:nvSpPr>
          <p:cNvPr id="10" name="n_h"/>
          <p:cNvSpPr/>
          <p:nvPr/>
        </p:nvSpPr>
        <p:spPr>
          <a:xfrm>
            <a:off x="8953218" y="998220"/>
            <a:ext cx="2781582"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Inter"/>
              </a:rPr>
              <a:t>What moved</a:t>
            </a:r>
          </a:p>
        </p:txBody>
      </p:sp>
      <p:sp>
        <p:nvSpPr>
          <p:cNvPr id="11" name="n1"/>
          <p:cNvSpPr/>
          <p:nvPr/>
        </p:nvSpPr>
        <p:spPr>
          <a:xfrm>
            <a:off x="8953218" y="1205484"/>
            <a:ext cx="2781582" cy="4762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Net new ARR of $83M was 43.1% above Q3</a:t>
            </a:r>
            <a:br/>
            <a:r>
              <a:rPr sz="1000" b="0" i="0">
                <a:solidFill>
                  <a:srgbClr val="16181D"/>
                </a:solidFill>
                <a:latin typeface="Inter"/>
              </a:rPr>
              <a:t>FY25's $58M and $17M above the prior</a:t>
            </a:r>
            <a:br/>
            <a:r>
              <a:rPr sz="1000" b="0" i="0">
                <a:solidFill>
                  <a:srgbClr val="16181D"/>
                </a:solidFill>
                <a:latin typeface="Inter"/>
              </a:rPr>
              <a:t>record of $66M.</a:t>
            </a:r>
          </a:p>
        </p:txBody>
      </p:sp>
      <p:sp>
        <p:nvSpPr>
          <p:cNvPr id="12" name="n2"/>
          <p:cNvSpPr/>
          <p:nvPr/>
        </p:nvSpPr>
        <p:spPr>
          <a:xfrm>
            <a:off x="8953218" y="1736598"/>
            <a:ext cx="2781582"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ARR growth of 22.2% ran 0.9 points ahead</a:t>
            </a:r>
            <a:br/>
            <a:r>
              <a:rPr sz="1000" b="0" i="0">
                <a:solidFill>
                  <a:srgbClr val="16181D"/>
                </a:solidFill>
                <a:latin typeface="Inter"/>
              </a:rPr>
              <a:t>of revenue growth.</a:t>
            </a:r>
          </a:p>
        </p:txBody>
      </p:sp>
      <p:sp>
        <p:nvSpPr>
          <p:cNvPr id="13" name="n3"/>
          <p:cNvSpPr/>
          <p:nvPr/>
        </p:nvSpPr>
        <p:spPr>
          <a:xfrm>
            <a:off x="8953218" y="2121662"/>
            <a:ext cx="2781582" cy="4762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ARR growth rose to 22.2% after four</a:t>
            </a:r>
            <a:br/>
            <a:r>
              <a:rPr sz="1000" b="0" i="0">
                <a:solidFill>
                  <a:srgbClr val="16181D"/>
                </a:solidFill>
                <a:latin typeface="Inter"/>
              </a:rPr>
              <a:t>quarters at 21.0-21.1%; revenue growth held</a:t>
            </a:r>
            <a:br/>
            <a:r>
              <a:rPr sz="1000" b="0" i="0">
                <a:solidFill>
                  <a:srgbClr val="16181D"/>
                </a:solidFill>
                <a:latin typeface="Inter"/>
              </a:rPr>
              <a:t>at 21.3-21.7% for five quarters.</a:t>
            </a:r>
          </a:p>
        </p:txBody>
      </p:sp>
      <p:sp>
        <p:nvSpPr>
          <p:cNvPr id="14" name="x_h"/>
          <p:cNvSpPr/>
          <p:nvPr/>
        </p:nvSpPr>
        <p:spPr>
          <a:xfrm>
            <a:off x="8953218" y="2652776"/>
            <a:ext cx="2781582"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Revenue by type</a:t>
            </a:r>
          </a:p>
        </p:txBody>
      </p:sp>
      <p:sp>
        <p:nvSpPr>
          <p:cNvPr id="15" name="x_u"/>
          <p:cNvSpPr/>
          <p:nvPr/>
        </p:nvSpPr>
        <p:spPr>
          <a:xfrm>
            <a:off x="8953218" y="2875280"/>
            <a:ext cx="2781582"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subscription 95.7% of revenue in Q3 FY26</a:t>
            </a:r>
          </a:p>
        </p:txBody>
      </p:sp>
      <p:graphicFrame>
        <p:nvGraphicFramePr>
          <p:cNvPr id="16" name="mix"/>
          <p:cNvGraphicFramePr>
            <a:graphicFrameLocks noGrp="1"/>
          </p:cNvGraphicFramePr>
          <p:nvPr/>
        </p:nvGraphicFramePr>
        <p:xfrm>
          <a:off x="8953218" y="3052064"/>
          <a:ext cx="2781582" cy="769112"/>
        </p:xfrm>
        <a:graphic>
          <a:graphicData uri="http://schemas.openxmlformats.org/drawingml/2006/table">
            <a:tbl>
              <a:tblPr firstRow="0" bandRow="0" lastRow="0" firstCol="0" lastCol="0" bandCol="0"/>
              <a:tblGrid>
                <a:gridCol w="938569"/>
                <a:gridCol w="630602"/>
                <a:gridCol w="631921"/>
                <a:gridCol w="580490"/>
              </a:tblGrid>
              <a:tr h="192278">
                <a:tc>
                  <a:txBody>
                    <a:bodyPr wrap="square"/>
                    <a:lstStyle/>
                    <a:p>
                      <a:pPr algn="l"/>
                      <a:r>
                        <a:rPr sz="900" b="1" i="0">
                          <a:solidFill>
                            <a:srgbClr val="16181D"/>
                          </a:solidFill>
                          <a:latin typeface="Inter"/>
                        </a:rPr>
                        <a:t>$M</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 FY25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 FY26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Y/Y (%)</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Subscription</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280.3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Inter"/>
                        </a:rPr>
                        <a:t>342.8</a:t>
                      </a:r>
                      <a:endParaRPr sz="900" b="0" i="0">
                        <a:solidFill>
                          <a:srgbClr val="2E3A9E"/>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22.3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Services</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14.9</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Inter"/>
                        </a:rPr>
                        <a:t>15.4</a:t>
                      </a:r>
                      <a:endParaRPr sz="900" b="0" i="0">
                        <a:solidFill>
                          <a:srgbClr val="2E3A9E"/>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3.4</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Inter"/>
                        </a:rPr>
                        <a:t>Total revenue</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295.2</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Inter"/>
                        </a:rPr>
                        <a:t>358.2</a:t>
                      </a:r>
                      <a:endParaRPr sz="900" b="0" i="0">
                        <a:solidFill>
                          <a:srgbClr val="2E3A9E"/>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21.3</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7" name="n_fn"/>
          <p:cNvSpPr/>
          <p:nvPr/>
        </p:nvSpPr>
        <p:spPr>
          <a:xfrm>
            <a:off x="8953218" y="3876040"/>
            <a:ext cx="2781582" cy="3429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ARR: annualised value of subscription contracts in force at</a:t>
            </a:r>
            <a:br/>
            <a:r>
              <a:rPr sz="750" b="0" i="0">
                <a:solidFill>
                  <a:srgbClr val="596070"/>
                </a:solidFill>
                <a:latin typeface="Inter"/>
              </a:rPr>
              <a:t>quarter end. Net new ARR: the change in ARR over the</a:t>
            </a:r>
            <a:br/>
            <a:r>
              <a:rPr sz="750" b="0" i="0">
                <a:solidFill>
                  <a:srgbClr val="596070"/>
                </a:solidFill>
                <a:latin typeface="Inter"/>
              </a:rPr>
              <a:t>quarter.</a:t>
            </a:r>
          </a:p>
        </p:txBody>
      </p:sp>
      <p:sp>
        <p:nvSpPr>
          <p:cNvPr id="18"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Source: Corvane Software management accounts (fictional; illustrative figures). Non-GAAP unless stated; fiscal year ends December.</a:t>
            </a:r>
          </a:p>
        </p:txBody>
      </p:sp>
      <p:sp>
        <p:nvSpPr>
          <p:cNvPr id="19" name="rev_g-0-text"/>
          <p:cNvSpPr/>
          <p:nvPr/>
        </p:nvSpPr>
        <p:spPr>
          <a:xfrm>
            <a:off x="919687" y="5357104"/>
            <a:ext cx="337777"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27.0%</a:t>
            </a:r>
          </a:p>
        </p:txBody>
      </p:sp>
      <p:sp>
        <p:nvSpPr>
          <p:cNvPr id="20" name="rev_g-1-text"/>
          <p:cNvSpPr/>
          <p:nvPr/>
        </p:nvSpPr>
        <p:spPr>
          <a:xfrm>
            <a:off x="1301106" y="5357104"/>
            <a:ext cx="352015"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25.0%</a:t>
            </a:r>
          </a:p>
        </p:txBody>
      </p:sp>
      <p:sp>
        <p:nvSpPr>
          <p:cNvPr id="21" name="rev_g-2-text"/>
          <p:cNvSpPr/>
          <p:nvPr/>
        </p:nvSpPr>
        <p:spPr>
          <a:xfrm>
            <a:off x="1688851" y="5357104"/>
            <a:ext cx="353602"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24.0%</a:t>
            </a:r>
          </a:p>
        </p:txBody>
      </p:sp>
      <p:sp>
        <p:nvSpPr>
          <p:cNvPr id="22" name="rev_g-3-text"/>
          <p:cNvSpPr/>
          <p:nvPr/>
        </p:nvSpPr>
        <p:spPr>
          <a:xfrm>
            <a:off x="2077463" y="5357104"/>
            <a:ext cx="35345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23.0%</a:t>
            </a:r>
          </a:p>
        </p:txBody>
      </p:sp>
      <p:sp>
        <p:nvSpPr>
          <p:cNvPr id="23" name="rev_g-4-text"/>
          <p:cNvSpPr/>
          <p:nvPr/>
        </p:nvSpPr>
        <p:spPr>
          <a:xfrm>
            <a:off x="2478305" y="5357104"/>
            <a:ext cx="328847"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21.7%</a:t>
            </a:r>
          </a:p>
        </p:txBody>
      </p:sp>
      <p:sp>
        <p:nvSpPr>
          <p:cNvPr id="24" name="rev_g-5-text"/>
          <p:cNvSpPr/>
          <p:nvPr/>
        </p:nvSpPr>
        <p:spPr>
          <a:xfrm>
            <a:off x="2862056" y="5357104"/>
            <a:ext cx="338422"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21.4%</a:t>
            </a:r>
          </a:p>
        </p:txBody>
      </p:sp>
      <p:sp>
        <p:nvSpPr>
          <p:cNvPr id="25" name="rev_g-6-text"/>
          <p:cNvSpPr/>
          <p:nvPr/>
        </p:nvSpPr>
        <p:spPr>
          <a:xfrm>
            <a:off x="3253199" y="5357104"/>
            <a:ext cx="333213"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21.6%</a:t>
            </a:r>
          </a:p>
        </p:txBody>
      </p:sp>
      <p:sp>
        <p:nvSpPr>
          <p:cNvPr id="26" name="rev_g-7-text"/>
          <p:cNvSpPr/>
          <p:nvPr/>
        </p:nvSpPr>
        <p:spPr>
          <a:xfrm>
            <a:off x="3639133" y="5357104"/>
            <a:ext cx="338422"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21.4%</a:t>
            </a:r>
          </a:p>
        </p:txBody>
      </p:sp>
      <p:sp>
        <p:nvSpPr>
          <p:cNvPr id="27" name="rev_g-8-text"/>
          <p:cNvSpPr/>
          <p:nvPr/>
        </p:nvSpPr>
        <p:spPr>
          <a:xfrm>
            <a:off x="4022562" y="5357104"/>
            <a:ext cx="348641"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Inter"/>
              </a:rPr>
              <a:t>21.3%</a:t>
            </a:r>
          </a:p>
        </p:txBody>
      </p:sp>
      <p:sp>
        <p:nvSpPr>
          <p:cNvPr id="28" name="rev_g-label"/>
          <p:cNvSpPr/>
          <p:nvPr/>
        </p:nvSpPr>
        <p:spPr>
          <a:xfrm>
            <a:off x="679312" y="5357104"/>
            <a:ext cx="214994"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Inter"/>
              </a:rPr>
              <a:t>Y/Y</a:t>
            </a:r>
          </a:p>
        </p:txBody>
      </p:sp>
      <p:sp>
        <p:nvSpPr>
          <p:cNvPr id="29" name="arr_r-0-text"/>
          <p:cNvSpPr/>
          <p:nvPr/>
        </p:nvSpPr>
        <p:spPr>
          <a:xfrm>
            <a:off x="5198652" y="5357104"/>
            <a:ext cx="27586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1,012</a:t>
            </a:r>
          </a:p>
        </p:txBody>
      </p:sp>
      <p:sp>
        <p:nvSpPr>
          <p:cNvPr id="30" name="arr_r-1-text"/>
          <p:cNvSpPr/>
          <p:nvPr/>
        </p:nvSpPr>
        <p:spPr>
          <a:xfrm>
            <a:off x="5575904" y="5357104"/>
            <a:ext cx="298437"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1,068</a:t>
            </a:r>
          </a:p>
        </p:txBody>
      </p:sp>
      <p:sp>
        <p:nvSpPr>
          <p:cNvPr id="31" name="arr_r-2-text"/>
          <p:cNvSpPr/>
          <p:nvPr/>
        </p:nvSpPr>
        <p:spPr>
          <a:xfrm>
            <a:off x="5990314" y="5357104"/>
            <a:ext cx="24669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1,115</a:t>
            </a:r>
          </a:p>
        </p:txBody>
      </p:sp>
      <p:sp>
        <p:nvSpPr>
          <p:cNvPr id="32" name="arr_r-3-text"/>
          <p:cNvSpPr/>
          <p:nvPr/>
        </p:nvSpPr>
        <p:spPr>
          <a:xfrm>
            <a:off x="6367467" y="5357104"/>
            <a:ext cx="269465"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1,168</a:t>
            </a:r>
          </a:p>
        </p:txBody>
      </p:sp>
      <p:sp>
        <p:nvSpPr>
          <p:cNvPr id="33" name="arr_r-4-text"/>
          <p:cNvSpPr/>
          <p:nvPr/>
        </p:nvSpPr>
        <p:spPr>
          <a:xfrm>
            <a:off x="6741743" y="5357104"/>
            <a:ext cx="29799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1,226</a:t>
            </a:r>
          </a:p>
        </p:txBody>
      </p:sp>
      <p:sp>
        <p:nvSpPr>
          <p:cNvPr id="34" name="arr_r-5-text"/>
          <p:cNvSpPr/>
          <p:nvPr/>
        </p:nvSpPr>
        <p:spPr>
          <a:xfrm>
            <a:off x="7130281" y="5357104"/>
            <a:ext cx="29799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1,292</a:t>
            </a:r>
          </a:p>
        </p:txBody>
      </p:sp>
      <p:sp>
        <p:nvSpPr>
          <p:cNvPr id="35" name="arr_r-6-text"/>
          <p:cNvSpPr/>
          <p:nvPr/>
        </p:nvSpPr>
        <p:spPr>
          <a:xfrm>
            <a:off x="7517951" y="5357104"/>
            <a:ext cx="299727"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1,349</a:t>
            </a:r>
          </a:p>
        </p:txBody>
      </p:sp>
      <p:sp>
        <p:nvSpPr>
          <p:cNvPr id="36" name="arr_r-7-text"/>
          <p:cNvSpPr/>
          <p:nvPr/>
        </p:nvSpPr>
        <p:spPr>
          <a:xfrm>
            <a:off x="7917454" y="5357104"/>
            <a:ext cx="277799"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1,415</a:t>
            </a:r>
          </a:p>
        </p:txBody>
      </p:sp>
      <p:sp>
        <p:nvSpPr>
          <p:cNvPr id="37" name="arr_r-8-text"/>
          <p:cNvSpPr/>
          <p:nvPr/>
        </p:nvSpPr>
        <p:spPr>
          <a:xfrm>
            <a:off x="8285379" y="5357104"/>
            <a:ext cx="319025"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Inter"/>
              </a:rPr>
              <a:t>1,498</a:t>
            </a:r>
          </a:p>
        </p:txBody>
      </p:sp>
      <p:sp>
        <p:nvSpPr>
          <p:cNvPr id="38" name="arr_r-label"/>
          <p:cNvSpPr/>
          <p:nvPr/>
        </p:nvSpPr>
        <p:spPr>
          <a:xfrm>
            <a:off x="4900979" y="5357104"/>
            <a:ext cx="241336"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Inter"/>
              </a:rPr>
              <a:t>ARR</a:t>
            </a:r>
          </a:p>
        </p:txBody>
      </p:sp>
      <p:sp>
        <p:nvSpPr>
          <p:cNvPr id="39" name="arr_g-0-text"/>
          <p:cNvSpPr/>
          <p:nvPr/>
        </p:nvSpPr>
        <p:spPr>
          <a:xfrm>
            <a:off x="5160899" y="5506456"/>
            <a:ext cx="35137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26.5%</a:t>
            </a:r>
          </a:p>
        </p:txBody>
      </p:sp>
      <p:sp>
        <p:nvSpPr>
          <p:cNvPr id="40" name="arr_g-1-text"/>
          <p:cNvSpPr/>
          <p:nvPr/>
        </p:nvSpPr>
        <p:spPr>
          <a:xfrm>
            <a:off x="5548619" y="5506456"/>
            <a:ext cx="353007"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26.2%</a:t>
            </a:r>
          </a:p>
        </p:txBody>
      </p:sp>
      <p:sp>
        <p:nvSpPr>
          <p:cNvPr id="41" name="arr_g-2-text"/>
          <p:cNvSpPr/>
          <p:nvPr/>
        </p:nvSpPr>
        <p:spPr>
          <a:xfrm>
            <a:off x="5937604" y="5506456"/>
            <a:ext cx="35211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24.3%</a:t>
            </a:r>
          </a:p>
        </p:txBody>
      </p:sp>
      <p:sp>
        <p:nvSpPr>
          <p:cNvPr id="42" name="arr_g-3-text"/>
          <p:cNvSpPr/>
          <p:nvPr/>
        </p:nvSpPr>
        <p:spPr>
          <a:xfrm>
            <a:off x="6332988" y="5506456"/>
            <a:ext cx="338422"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21.4%</a:t>
            </a:r>
          </a:p>
        </p:txBody>
      </p:sp>
      <p:sp>
        <p:nvSpPr>
          <p:cNvPr id="43" name="arr_g-4-text"/>
          <p:cNvSpPr/>
          <p:nvPr/>
        </p:nvSpPr>
        <p:spPr>
          <a:xfrm>
            <a:off x="6738072" y="5506456"/>
            <a:ext cx="305332"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21.1%</a:t>
            </a:r>
          </a:p>
        </p:txBody>
      </p:sp>
      <p:sp>
        <p:nvSpPr>
          <p:cNvPr id="44" name="arr_g-5-text"/>
          <p:cNvSpPr/>
          <p:nvPr/>
        </p:nvSpPr>
        <p:spPr>
          <a:xfrm>
            <a:off x="7112124" y="5506456"/>
            <a:ext cx="33430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21.0%</a:t>
            </a:r>
          </a:p>
        </p:txBody>
      </p:sp>
      <p:sp>
        <p:nvSpPr>
          <p:cNvPr id="45" name="arr_g-6-text"/>
          <p:cNvSpPr/>
          <p:nvPr/>
        </p:nvSpPr>
        <p:spPr>
          <a:xfrm>
            <a:off x="7500663" y="5506456"/>
            <a:ext cx="33430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21.0%</a:t>
            </a:r>
          </a:p>
        </p:txBody>
      </p:sp>
      <p:sp>
        <p:nvSpPr>
          <p:cNvPr id="46" name="arr_g-7-text"/>
          <p:cNvSpPr/>
          <p:nvPr/>
        </p:nvSpPr>
        <p:spPr>
          <a:xfrm>
            <a:off x="7903687" y="5506456"/>
            <a:ext cx="305332"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21.1%</a:t>
            </a:r>
          </a:p>
        </p:txBody>
      </p:sp>
      <p:sp>
        <p:nvSpPr>
          <p:cNvPr id="47" name="arr_g-8-text"/>
          <p:cNvSpPr/>
          <p:nvPr/>
        </p:nvSpPr>
        <p:spPr>
          <a:xfrm>
            <a:off x="8260103" y="5506456"/>
            <a:ext cx="369577"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Inter"/>
              </a:rPr>
              <a:t>22.2%</a:t>
            </a:r>
          </a:p>
        </p:txBody>
      </p:sp>
      <p:sp>
        <p:nvSpPr>
          <p:cNvPr id="48" name="arr_g-label"/>
          <p:cNvSpPr/>
          <p:nvPr/>
        </p:nvSpPr>
        <p:spPr>
          <a:xfrm>
            <a:off x="4927321" y="5506456"/>
            <a:ext cx="214994"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Inter"/>
              </a:rPr>
              <a:t>Y/Y</a:t>
            </a:r>
          </a:p>
        </p:txBody>
      </p:sp>
    </p:spTree>
    <p:custDataLst>
      <p:tags r:id="rId4"/>
    </p:custData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Inter"/>
              </a:rPr>
              <a:t>Corvane Software (fictional company)  |  Q3 FY2026 earnings  |  Illustrative figures, non-GAAP unless stated</a:t>
            </a:r>
          </a:p>
        </p:txBody>
      </p:sp>
      <p:sp>
        <p:nvSpPr>
          <p:cNvPr id="26"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Inter"/>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Inter"/>
              </a:rPr>
              <a:t>Q3 FY2026 RESULTS  |  UNIT ECONOMICS AND COHORTS</a:t>
            </a:r>
          </a:p>
        </p:txBody>
      </p:sp>
      <p:sp>
        <p:nvSpPr>
          <p:cNvPr id="3" name="title"/>
          <p:cNvSpPr/>
          <p:nvPr/>
        </p:nvSpPr>
        <p:spPr>
          <a:xfrm>
            <a:off x="457200" y="621792"/>
            <a:ext cx="11277600" cy="5334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Inter"/>
              </a:rPr>
              <a:t>Net revenue retention rose for a third quarter to 119%, and the FY2024 cohort expanded</a:t>
            </a:r>
            <a:br/>
            <a:r>
              <a:rPr sz="2000" b="1" i="0">
                <a:solidFill>
                  <a:srgbClr val="16181D"/>
                </a:solidFill>
                <a:latin typeface="Inter"/>
              </a:rPr>
              <a:t>fastest in its second year</a:t>
            </a:r>
          </a:p>
        </p:txBody>
      </p:sp>
      <p:sp>
        <p:nvSpPr>
          <p:cNvPr id="4" name="r_h"/>
          <p:cNvSpPr/>
          <p:nvPr/>
        </p:nvSpPr>
        <p:spPr>
          <a:xfrm>
            <a:off x="457200" y="1264920"/>
            <a:ext cx="5763623"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Net and gross revenue retention</a:t>
            </a:r>
          </a:p>
        </p:txBody>
      </p:sp>
      <p:sp>
        <p:nvSpPr>
          <p:cNvPr id="5" name="r_u"/>
          <p:cNvSpPr/>
          <p:nvPr/>
        </p:nvSpPr>
        <p:spPr>
          <a:xfrm>
            <a:off x="457200" y="1459992"/>
            <a:ext cx="5763623"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net retention (%, trailing four quarters) plotted; gross retention (GRR, %) beneath</a:t>
            </a:r>
          </a:p>
        </p:txBody>
      </p:sp>
      <p:graphicFrame>
        <p:nvGraphicFramePr>
          <p:cNvPr id="6" name="nrr"/>
          <p:cNvGraphicFramePr>
            <a:graphicFrameLocks noGrp="1"/>
          </p:cNvGraphicFramePr>
          <p:nvPr/>
        </p:nvGraphicFramePr>
        <p:xfrm>
          <a:off x="457200" y="1609344"/>
          <a:ext cx="5763623" cy="2657348"/>
        </p:xfrm>
        <a:graphic>
          <a:graphicData uri="http://schemas.openxmlformats.org/drawingml/2006/chart">
            <c:chart xmlns:c="http://schemas.openxmlformats.org/drawingml/2006/chart" r:id="rId2"/>
          </a:graphicData>
        </a:graphic>
      </p:graphicFrame>
      <p:sp>
        <p:nvSpPr>
          <p:cNvPr id="7" name="u_h"/>
          <p:cNvSpPr/>
          <p:nvPr/>
        </p:nvSpPr>
        <p:spPr>
          <a:xfrm>
            <a:off x="457200" y="4294124"/>
            <a:ext cx="5763623"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Unit economics</a:t>
            </a:r>
          </a:p>
        </p:txBody>
      </p:sp>
      <p:sp>
        <p:nvSpPr>
          <p:cNvPr id="8" name="u_u"/>
          <p:cNvSpPr/>
          <p:nvPr/>
        </p:nvSpPr>
        <p:spPr>
          <a:xfrm>
            <a:off x="457200" y="4489196"/>
            <a:ext cx="5763623"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non-GAAP, last five quarters; Q3 FY26 in indigo</a:t>
            </a:r>
          </a:p>
        </p:txBody>
      </p:sp>
      <p:graphicFrame>
        <p:nvGraphicFramePr>
          <p:cNvPr id="9" name="ue"/>
          <p:cNvGraphicFramePr>
            <a:graphicFrameLocks noGrp="1"/>
          </p:cNvGraphicFramePr>
          <p:nvPr/>
        </p:nvGraphicFramePr>
        <p:xfrm>
          <a:off x="457200" y="4638548"/>
          <a:ext cx="5763623" cy="1538224"/>
        </p:xfrm>
        <a:graphic>
          <a:graphicData uri="http://schemas.openxmlformats.org/drawingml/2006/table">
            <a:tbl>
              <a:tblPr firstRow="0" bandRow="0" lastRow="0" firstCol="0" lastCol="0" bandCol="0"/>
              <a:tblGrid>
                <a:gridCol w="2826528"/>
                <a:gridCol w="592835"/>
                <a:gridCol w="597781"/>
                <a:gridCol w="560020"/>
                <a:gridCol w="591972"/>
                <a:gridCol w="594487"/>
              </a:tblGrid>
              <a:tr h="192278">
                <a:tc>
                  <a:txBody>
                    <a:bodyPr wrap="square"/>
                    <a:lstStyle/>
                    <a:p>
                      <a:pPr algn="l"/>
                      <a:r>
                        <a:rPr sz="900" b="1" i="0">
                          <a:solidFill>
                            <a:srgbClr val="16181D"/>
                          </a:solidFill>
                          <a:latin typeface="Inter"/>
                        </a:rPr>
                        <a:t>Metric</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Q4'25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Q1'26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Q2'26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Gross margin (%)</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79.6</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79.9</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80.1</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80.3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Inter"/>
                        </a:rPr>
                        <a:t>80.4</a:t>
                      </a:r>
                      <a:endParaRPr sz="900" b="0" i="0">
                        <a:solidFill>
                          <a:srgbClr val="2E3A9E"/>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Sales and marketing (% of revenue)</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38.9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38.1</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37.0</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36.2</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35.8</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Inter"/>
                        </a:rPr>
                        <a:t>CAC payback (months)</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28.8</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26.1</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31.2</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27.1</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22.2</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Inter"/>
                        </a:rPr>
                        <a:t>ARR magic number (x)</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0.52</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0.57</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0.48</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0.55</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Inter"/>
                        </a:rPr>
                        <a:t>0.67</a:t>
                      </a:r>
                      <a:endParaRPr sz="900" b="1"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Free cash flow margin (%)</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18.3</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21.5</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19.4</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19.3</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21.4</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Rule of 40 (%)</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40.0</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42.9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41.0</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40.7</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42.7</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Customers above $100K ARR</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1,779</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1,858</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1,931</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2,032</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Inter"/>
                        </a:rPr>
                        <a:t>2,148</a:t>
                      </a:r>
                      <a:endParaRPr sz="900" b="0" i="0">
                        <a:solidFill>
                          <a:srgbClr val="2E3A9E"/>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0" name="c_h"/>
          <p:cNvSpPr/>
          <p:nvPr/>
        </p:nvSpPr>
        <p:spPr>
          <a:xfrm>
            <a:off x="6495143" y="1264920"/>
            <a:ext cx="5239657"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ARR by annual cohort, as a multiple of first-year ARR</a:t>
            </a:r>
          </a:p>
        </p:txBody>
      </p:sp>
      <p:sp>
        <p:nvSpPr>
          <p:cNvPr id="11" name="c_u"/>
          <p:cNvSpPr/>
          <p:nvPr/>
        </p:nvSpPr>
        <p:spPr>
          <a:xfrm>
            <a:off x="6495143" y="1459992"/>
            <a:ext cx="5239657"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x, by years since the cohort landed; FY2024 cohort in indigo</a:t>
            </a:r>
          </a:p>
        </p:txBody>
      </p:sp>
      <p:graphicFrame>
        <p:nvGraphicFramePr>
          <p:cNvPr id="12" name="coh"/>
          <p:cNvGraphicFramePr>
            <a:graphicFrameLocks noGrp="1"/>
          </p:cNvGraphicFramePr>
          <p:nvPr/>
        </p:nvGraphicFramePr>
        <p:xfrm>
          <a:off x="6495143" y="1609344"/>
          <a:ext cx="5239657" cy="4197096"/>
        </p:xfrm>
        <a:graphic>
          <a:graphicData uri="http://schemas.openxmlformats.org/drawingml/2006/chart">
            <c:chart xmlns:c="http://schemas.openxmlformats.org/drawingml/2006/chart" r:id="rId3"/>
          </a:graphicData>
        </a:graphic>
      </p:graphicFrame>
      <p:sp>
        <p:nvSpPr>
          <p:cNvPr id="13" name="c_fn"/>
          <p:cNvSpPr/>
          <p:nvPr/>
        </p:nvSpPr>
        <p:spPr>
          <a:xfrm>
            <a:off x="6495143" y="5833872"/>
            <a:ext cx="5239657" cy="3429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A cohort is the customers landed in a fiscal year; its ARR is indexed to the end of that year. The FY2025 cohort has</a:t>
            </a:r>
            <a:br/>
            <a:r>
              <a:rPr sz="750" b="0" i="0">
                <a:solidFill>
                  <a:srgbClr val="596070"/>
                </a:solidFill>
                <a:latin typeface="Inter"/>
              </a:rPr>
              <a:t>one year and is not drawn. CAC payback: prior-quarter sales and marketing over net new ARR times gross margin,</a:t>
            </a:r>
            <a:br/>
            <a:r>
              <a:rPr sz="750" b="0" i="0">
                <a:solidFill>
                  <a:srgbClr val="596070"/>
                </a:solidFill>
                <a:latin typeface="Inter"/>
              </a:rPr>
              <a:t>in months. ARR magic number: net new ARR over prior-quarter sales and marketing.</a:t>
            </a:r>
          </a:p>
        </p:txBody>
      </p:sp>
      <p:sp>
        <p:nvSpPr>
          <p:cNvPr id="14"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Source: Corvane Software management accounts (fictional; illustrative figures). Non-GAAP unless stated; fiscal year ends December.</a:t>
            </a:r>
          </a:p>
        </p:txBody>
      </p:sp>
      <p:sp>
        <p:nvSpPr>
          <p:cNvPr id="15" name="grr-0-text"/>
          <p:cNvSpPr/>
          <p:nvPr/>
        </p:nvSpPr>
        <p:spPr>
          <a:xfrm>
            <a:off x="1235427" y="3713328"/>
            <a:ext cx="16622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93</a:t>
            </a:r>
          </a:p>
        </p:txBody>
      </p:sp>
      <p:sp>
        <p:nvSpPr>
          <p:cNvPr id="16" name="grr-1-text"/>
          <p:cNvSpPr/>
          <p:nvPr/>
        </p:nvSpPr>
        <p:spPr>
          <a:xfrm>
            <a:off x="1805386" y="3713328"/>
            <a:ext cx="16622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93</a:t>
            </a:r>
          </a:p>
        </p:txBody>
      </p:sp>
      <p:sp>
        <p:nvSpPr>
          <p:cNvPr id="17" name="grr-2-text"/>
          <p:cNvSpPr/>
          <p:nvPr/>
        </p:nvSpPr>
        <p:spPr>
          <a:xfrm>
            <a:off x="2375741" y="3713328"/>
            <a:ext cx="16543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92</a:t>
            </a:r>
          </a:p>
        </p:txBody>
      </p:sp>
      <p:sp>
        <p:nvSpPr>
          <p:cNvPr id="18" name="grr-3-text"/>
          <p:cNvSpPr/>
          <p:nvPr/>
        </p:nvSpPr>
        <p:spPr>
          <a:xfrm>
            <a:off x="2945699" y="3713328"/>
            <a:ext cx="16543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92</a:t>
            </a:r>
          </a:p>
        </p:txBody>
      </p:sp>
      <p:sp>
        <p:nvSpPr>
          <p:cNvPr id="19" name="grr-4-text"/>
          <p:cNvSpPr/>
          <p:nvPr/>
        </p:nvSpPr>
        <p:spPr>
          <a:xfrm>
            <a:off x="3515658" y="3713328"/>
            <a:ext cx="165434"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92</a:t>
            </a:r>
          </a:p>
        </p:txBody>
      </p:sp>
      <p:sp>
        <p:nvSpPr>
          <p:cNvPr id="20" name="grr-5-text"/>
          <p:cNvSpPr/>
          <p:nvPr/>
        </p:nvSpPr>
        <p:spPr>
          <a:xfrm>
            <a:off x="4085219" y="3713328"/>
            <a:ext cx="16622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93</a:t>
            </a:r>
          </a:p>
        </p:txBody>
      </p:sp>
      <p:sp>
        <p:nvSpPr>
          <p:cNvPr id="21" name="grr-6-text"/>
          <p:cNvSpPr/>
          <p:nvPr/>
        </p:nvSpPr>
        <p:spPr>
          <a:xfrm>
            <a:off x="4655177" y="3713328"/>
            <a:ext cx="16622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93</a:t>
            </a:r>
          </a:p>
        </p:txBody>
      </p:sp>
      <p:sp>
        <p:nvSpPr>
          <p:cNvPr id="22" name="grr-7-text"/>
          <p:cNvSpPr/>
          <p:nvPr/>
        </p:nvSpPr>
        <p:spPr>
          <a:xfrm>
            <a:off x="5225135" y="3713328"/>
            <a:ext cx="16622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93</a:t>
            </a:r>
          </a:p>
        </p:txBody>
      </p:sp>
      <p:sp>
        <p:nvSpPr>
          <p:cNvPr id="23" name="grr-8-text"/>
          <p:cNvSpPr/>
          <p:nvPr/>
        </p:nvSpPr>
        <p:spPr>
          <a:xfrm>
            <a:off x="5793655" y="3713328"/>
            <a:ext cx="169105"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Inter"/>
              </a:rPr>
              <a:t>94</a:t>
            </a:r>
          </a:p>
        </p:txBody>
      </p:sp>
      <p:sp>
        <p:nvSpPr>
          <p:cNvPr id="24" name="grr-label"/>
          <p:cNvSpPr/>
          <p:nvPr/>
        </p:nvSpPr>
        <p:spPr>
          <a:xfrm>
            <a:off x="786521" y="3713328"/>
            <a:ext cx="247041"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Inter"/>
              </a:rPr>
              <a:t>GRR</a:t>
            </a:r>
          </a:p>
        </p:txBody>
      </p:sp>
    </p:spTree>
    <p:custDataLst>
      <p:tags r:id="rId4"/>
    </p:custData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Inter"/>
              </a:rPr>
              <a:t>Corvane Software (fictional company)  |  Q3 FY2026 earnings  |  Illustrative figures, non-GAAP unless stated</a:t>
            </a:r>
          </a:p>
        </p:txBody>
      </p:sp>
      <p:sp>
        <p:nvSpPr>
          <p:cNvPr id="19"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Inter"/>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Inter"/>
              </a:rPr>
              <a:t>Q3 FY2026 RESULTS  |  MARGIN</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Inter"/>
              </a:rPr>
              <a:t>Operating margin widened 5.4 points to 16.6%, 3.1 of them from sales and marketing</a:t>
            </a:r>
          </a:p>
        </p:txBody>
      </p:sp>
      <p:sp>
        <p:nvSpPr>
          <p:cNvPr id="4" name="b_h"/>
          <p:cNvSpPr/>
          <p:nvPr/>
        </p:nvSpPr>
        <p:spPr>
          <a:xfrm>
            <a:off x="457200" y="998220"/>
            <a:ext cx="60017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Operating margin bridge, Q3 FY25 to Q3 FY26</a:t>
            </a:r>
          </a:p>
        </p:txBody>
      </p:sp>
      <p:sp>
        <p:nvSpPr>
          <p:cNvPr id="5" name="b_u"/>
          <p:cNvSpPr/>
          <p:nvPr/>
        </p:nvSpPr>
        <p:spPr>
          <a:xfrm>
            <a:off x="457200" y="1193292"/>
            <a:ext cx="60017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 of revenue; each step is the fall in that cost line's share of revenue (gross margin: its rise)</a:t>
            </a:r>
          </a:p>
        </p:txBody>
      </p:sp>
      <p:graphicFrame>
        <p:nvGraphicFramePr>
          <p:cNvPr id="6" name="bridge"/>
          <p:cNvGraphicFramePr>
            <a:graphicFrameLocks noGrp="1"/>
          </p:cNvGraphicFramePr>
          <p:nvPr/>
        </p:nvGraphicFramePr>
        <p:xfrm>
          <a:off x="457200" y="1342644"/>
          <a:ext cx="6001789" cy="4834128"/>
        </p:xfrm>
        <a:graphic>
          <a:graphicData uri="http://schemas.openxmlformats.org/drawingml/2006/chart">
            <c:chart xmlns:c="http://schemas.openxmlformats.org/drawingml/2006/chart" r:id="rId2"/>
          </a:graphicData>
        </a:graphic>
      </p:graphicFrame>
      <p:sp>
        <p:nvSpPr>
          <p:cNvPr id="7" name="s_h"/>
          <p:cNvSpPr/>
          <p:nvPr/>
        </p:nvSpPr>
        <p:spPr>
          <a:xfrm>
            <a:off x="6733309" y="998220"/>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Cost structure</a:t>
            </a:r>
          </a:p>
        </p:txBody>
      </p:sp>
      <p:sp>
        <p:nvSpPr>
          <p:cNvPr id="8" name="s_u"/>
          <p:cNvSpPr/>
          <p:nvPr/>
        </p:nvSpPr>
        <p:spPr>
          <a:xfrm>
            <a:off x="6733309" y="1193292"/>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 of revenue, last five quarters</a:t>
            </a:r>
          </a:p>
        </p:txBody>
      </p:sp>
      <p:graphicFrame>
        <p:nvGraphicFramePr>
          <p:cNvPr id="9" name="cs"/>
          <p:cNvGraphicFramePr>
            <a:graphicFrameLocks noGrp="1"/>
          </p:cNvGraphicFramePr>
          <p:nvPr/>
        </p:nvGraphicFramePr>
        <p:xfrm>
          <a:off x="6733309" y="1342644"/>
          <a:ext cx="5001491" cy="1153668"/>
        </p:xfrm>
        <a:graphic>
          <a:graphicData uri="http://schemas.openxmlformats.org/drawingml/2006/table">
            <a:tbl>
              <a:tblPr firstRow="0" bandRow="0" lastRow="0" firstCol="0" lastCol="0" bandCol="0"/>
              <a:tblGrid>
                <a:gridCol w="2128394"/>
                <a:gridCol w="579918"/>
                <a:gridCol w="584756"/>
                <a:gridCol w="547818"/>
                <a:gridCol w="579073"/>
                <a:gridCol w="581532"/>
              </a:tblGrid>
              <a:tr h="192278">
                <a:tc>
                  <a:txBody>
                    <a:bodyPr wrap="square"/>
                    <a:lstStyle/>
                    <a:p>
                      <a:pPr algn="l"/>
                      <a:r>
                        <a:rPr sz="900" b="1" i="0">
                          <a:solidFill>
                            <a:srgbClr val="16181D"/>
                          </a:solidFill>
                          <a:latin typeface="Inter"/>
                        </a:rPr>
                        <a:t>% of revenue</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Q4'25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Q1'26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Q2'26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Gross margin</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79.6</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79.9</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80.1</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80.3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Inter"/>
                        </a:rPr>
                        <a:t>80.4</a:t>
                      </a:r>
                      <a:endParaRPr sz="900" b="0" i="0">
                        <a:solidFill>
                          <a:srgbClr val="2E3A9E"/>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Sales and marketing</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38.9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38.1</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37.0</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36.2</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35.8</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Research and development</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20.4</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20.1</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19.9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19.7</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19.5</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General and administrative</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9.1</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8.9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8.7</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8.6</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8.5</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Inter"/>
                        </a:rPr>
                        <a:t>Operating margin</a:t>
                      </a:r>
                      <a:endParaRPr sz="900" b="1"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Inter"/>
                        </a:rPr>
                        <a:t>11.2</a:t>
                      </a:r>
                      <a:endParaRPr sz="900" b="1"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Inter"/>
                        </a:rPr>
                        <a:t>12.8</a:t>
                      </a:r>
                      <a:endParaRPr sz="900" b="1"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Inter"/>
                        </a:rPr>
                        <a:t>14.5</a:t>
                      </a:r>
                      <a:endParaRPr sz="900" b="1"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Inter"/>
                        </a:rPr>
                        <a:t>15.8</a:t>
                      </a:r>
                      <a:endParaRPr sz="900" b="1"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Inter"/>
                        </a:rPr>
                        <a:t>16.6</a:t>
                      </a:r>
                      <a:endParaRPr sz="900" b="1"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0" name="g_h"/>
          <p:cNvSpPr/>
          <p:nvPr/>
        </p:nvSpPr>
        <p:spPr>
          <a:xfrm>
            <a:off x="6733309" y="2606040"/>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GAAP to non-GAAP operating income</a:t>
            </a:r>
          </a:p>
        </p:txBody>
      </p:sp>
      <p:sp>
        <p:nvSpPr>
          <p:cNvPr id="11" name="g_u"/>
          <p:cNvSpPr/>
          <p:nvPr/>
        </p:nvSpPr>
        <p:spPr>
          <a:xfrm>
            <a:off x="6733309" y="2801112"/>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$M, last five quarters</a:t>
            </a:r>
          </a:p>
        </p:txBody>
      </p:sp>
      <p:graphicFrame>
        <p:nvGraphicFramePr>
          <p:cNvPr id="12" name="rec"/>
          <p:cNvGraphicFramePr>
            <a:graphicFrameLocks noGrp="1"/>
          </p:cNvGraphicFramePr>
          <p:nvPr/>
        </p:nvGraphicFramePr>
        <p:xfrm>
          <a:off x="6733309" y="2950464"/>
          <a:ext cx="5001491" cy="1345946"/>
        </p:xfrm>
        <a:graphic>
          <a:graphicData uri="http://schemas.openxmlformats.org/drawingml/2006/table">
            <a:tbl>
              <a:tblPr firstRow="0" bandRow="0" lastRow="0" firstCol="0" lastCol="0" bandCol="0"/>
              <a:tblGrid>
                <a:gridCol w="2464280"/>
                <a:gridCol w="512121"/>
                <a:gridCol w="516393"/>
                <a:gridCol w="483774"/>
                <a:gridCol w="511375"/>
                <a:gridCol w="513548"/>
              </a:tblGrid>
              <a:tr h="192278">
                <a:tc>
                  <a:txBody>
                    <a:bodyPr wrap="square"/>
                    <a:lstStyle/>
                    <a:p>
                      <a:pPr algn="l"/>
                      <a:r>
                        <a:rPr sz="900" b="1" i="0">
                          <a:solidFill>
                            <a:srgbClr val="16181D"/>
                          </a:solidFill>
                          <a:latin typeface="Inter"/>
                        </a:rPr>
                        <a:t>$M</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Q4'25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Q1'26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Q2'26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GAAP operating income (loss)</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(26.3)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(17.3)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(12.5)</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(7.0)</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Inter"/>
                        </a:rPr>
                        <a:t>(1.3)</a:t>
                      </a:r>
                      <a:endParaRPr sz="900" b="0" i="0">
                        <a:solidFill>
                          <a:srgbClr val="2E3A9E"/>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Stock-based compensation</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47.9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49.6</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50.2</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51.4</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52.3</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Amortization of acquired intangibles</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6.4</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6.4</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6.2</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6.1</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6.1</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Employer payroll tax on equity</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1.9</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1.2</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3.1</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Inter"/>
                        </a:rPr>
                        <a:t>2.2</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2.4</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Restructuring</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3.2</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0.0</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0.0</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1.1</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Inter"/>
                        </a:rPr>
                        <a:t>0.0</a:t>
                      </a:r>
                      <a:endParaRPr sz="900" b="0" i="0">
                        <a:solidFill>
                          <a:srgbClr val="2E3A9E"/>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Inter"/>
                        </a:rPr>
                        <a:t>Non-GAAP operating income</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33.1</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39.9</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47.0</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53.8</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Inter"/>
                        </a:rPr>
                        <a:t>59.5</a:t>
                      </a:r>
                      <a:endParaRPr sz="900" b="0" i="0">
                        <a:solidFill>
                          <a:srgbClr val="2E3A9E"/>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3" name="f_h"/>
          <p:cNvSpPr/>
          <p:nvPr/>
        </p:nvSpPr>
        <p:spPr>
          <a:xfrm>
            <a:off x="6733309" y="4406138"/>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Free cash flow</a:t>
            </a:r>
          </a:p>
        </p:txBody>
      </p:sp>
      <p:sp>
        <p:nvSpPr>
          <p:cNvPr id="14" name="f_u"/>
          <p:cNvSpPr/>
          <p:nvPr/>
        </p:nvSpPr>
        <p:spPr>
          <a:xfrm>
            <a:off x="6733309" y="4601210"/>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$M; margin 18.3% in Q3 FY25 and 21.4% in Q3 FY26</a:t>
            </a:r>
          </a:p>
        </p:txBody>
      </p:sp>
      <p:graphicFrame>
        <p:nvGraphicFramePr>
          <p:cNvPr id="15" name="fcf"/>
          <p:cNvGraphicFramePr>
            <a:graphicFrameLocks noGrp="1"/>
          </p:cNvGraphicFramePr>
          <p:nvPr/>
        </p:nvGraphicFramePr>
        <p:xfrm>
          <a:off x="6733309" y="4750562"/>
          <a:ext cx="5001491" cy="769112"/>
        </p:xfrm>
        <a:graphic>
          <a:graphicData uri="http://schemas.openxmlformats.org/drawingml/2006/table">
            <a:tbl>
              <a:tblPr firstRow="0" bandRow="0" lastRow="0" firstCol="0" lastCol="0" bandCol="0"/>
              <a:tblGrid>
                <a:gridCol w="1788046"/>
                <a:gridCol w="648615"/>
                <a:gridCol w="654026"/>
                <a:gridCol w="612712"/>
                <a:gridCol w="647670"/>
                <a:gridCol w="650422"/>
              </a:tblGrid>
              <a:tr h="192278">
                <a:tc>
                  <a:txBody>
                    <a:bodyPr wrap="square"/>
                    <a:lstStyle/>
                    <a:p>
                      <a:pPr algn="l"/>
                      <a:r>
                        <a:rPr sz="900" b="1" i="0">
                          <a:solidFill>
                            <a:srgbClr val="16181D"/>
                          </a:solidFill>
                          <a:latin typeface="Inter"/>
                        </a:rPr>
                        <a:t>$M</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Q4'25</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Q1'26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Q2'26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Operating cash flow</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61.2</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74.8</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70.3</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Inter"/>
                        </a:rPr>
                        <a:t>73.9</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Inter"/>
                        </a:rPr>
                        <a:t>86.5</a:t>
                      </a:r>
                      <a:endParaRPr sz="900" b="0" i="0">
                        <a:solidFill>
                          <a:srgbClr val="2E3A9E"/>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Capital expenditure</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(7.1)</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(8.0)</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(7.4)</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Inter"/>
                        </a:rPr>
                        <a:t>(8.3)</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Inter"/>
                        </a:rPr>
                        <a:t>(9.8)</a:t>
                      </a:r>
                      <a:endParaRPr sz="900" b="0" i="0">
                        <a:solidFill>
                          <a:srgbClr val="2E3A9E"/>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Inter"/>
                        </a:rPr>
                        <a:t>Free cash flow</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54.1</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66.8</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62.9</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Inter"/>
                        </a:rPr>
                        <a:t>65.6</a:t>
                      </a:r>
                      <a:endParaRPr sz="900" b="1" i="0">
                        <a:solidFill>
                          <a:srgbClr val="16181D"/>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Inter"/>
                        </a:rPr>
                        <a:t>76.7</a:t>
                      </a:r>
                      <a:endParaRPr sz="900" b="0" i="0">
                        <a:solidFill>
                          <a:srgbClr val="2E3A9E"/>
                        </a:solidFill>
                        <a:latin typeface="Inter"/>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6" name="g_fn"/>
          <p:cNvSpPr/>
          <p:nvPr/>
        </p:nvSpPr>
        <p:spPr>
          <a:xfrm>
            <a:off x="6733309" y="5547106"/>
            <a:ext cx="500149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GAAP operating margin rose from (8.9)% to (0.4)% of revenue. Negatives in parentheses.</a:t>
            </a:r>
          </a:p>
        </p:txBody>
      </p:sp>
      <p:sp>
        <p:nvSpPr>
          <p:cNvPr id="17"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Source: Corvane Software management accounts (fictional; illustrative figures). Non-GAAP except the GAAP line of the reconciliation; fiscal year ends December.</a:t>
            </a:r>
          </a:p>
        </p:txBody>
      </p:sp>
    </p:spTree>
    <p:custDataLst>
      <p:tags r:id="rId3"/>
    </p:custData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Inter"/>
              </a:rPr>
              <a:t>Corvane Software (fictional company)  |  Q3 FY2026 earnings  |  Illustrative figures, non-GAAP unless stated</a:t>
            </a:r>
          </a:p>
        </p:txBody>
      </p:sp>
      <p:sp>
        <p:nvSpPr>
          <p:cNvPr id="27"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Inter"/>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Inter"/>
              </a:rPr>
              <a:t>Q3 FY2026 RESULTS  |  OUTLOOK</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Inter"/>
              </a:rPr>
              <a:t>FY2026 revenue guidance raised a third time, to $1,394.4-1,398.4M, 20.9-21.3% growth</a:t>
            </a:r>
          </a:p>
        </p:txBody>
      </p:sp>
      <p:sp>
        <p:nvSpPr>
          <p:cNvPr id="4" name="g_h"/>
          <p:cNvSpPr/>
          <p:nvPr/>
        </p:nvSpPr>
        <p:spPr>
          <a:xfrm>
            <a:off x="457200" y="998220"/>
            <a:ext cx="69776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Guidance</a:t>
            </a:r>
          </a:p>
        </p:txBody>
      </p:sp>
      <p:sp>
        <p:nvSpPr>
          <p:cNvPr id="5" name="g_u"/>
          <p:cNvSpPr/>
          <p:nvPr/>
        </p:nvSpPr>
        <p:spPr>
          <a:xfrm>
            <a:off x="457200" y="1193292"/>
            <a:ext cx="69776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issued 26 October 2026; non-GAAP; new guidance in amber, August's in grey</a:t>
            </a:r>
          </a:p>
        </p:txBody>
      </p:sp>
      <p:graphicFrame>
        <p:nvGraphicFramePr>
          <p:cNvPr id="6" name="guide"/>
          <p:cNvGraphicFramePr>
            <a:graphicFrameLocks noGrp="1"/>
          </p:cNvGraphicFramePr>
          <p:nvPr/>
        </p:nvGraphicFramePr>
        <p:xfrm>
          <a:off x="457200" y="1342644"/>
          <a:ext cx="6977690" cy="961390"/>
        </p:xfrm>
        <a:graphic>
          <a:graphicData uri="http://schemas.openxmlformats.org/drawingml/2006/table">
            <a:tbl>
              <a:tblPr firstRow="0" bandRow="0" lastRow="0" firstCol="0" lastCol="0" bandCol="0"/>
              <a:tblGrid>
                <a:gridCol w="2311846"/>
                <a:gridCol w="1276297"/>
                <a:gridCol w="1602014"/>
                <a:gridCol w="1787533"/>
              </a:tblGrid>
              <a:tr h="192278">
                <a:tc>
                  <a:txBody>
                    <a:bodyPr wrap="square"/>
                    <a:lstStyle/>
                    <a:p>
                      <a:pPr algn="l"/>
                      <a:r>
                        <a:rPr sz="900" b="1" i="0">
                          <a:solidFill>
                            <a:srgbClr val="16181D"/>
                          </a:solidFill>
                          <a:latin typeface="Inter"/>
                        </a:rPr>
                        <a:t>Metric</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Q4 FY26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FY2026 now</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FY2026 in August</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Revenue ($M)</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Inter"/>
                        </a:rPr>
                        <a:t>372.0-376.0</a:t>
                      </a:r>
                      <a:endParaRPr sz="900" b="1" i="0">
                        <a:solidFill>
                          <a:srgbClr val="A9650A"/>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Inter"/>
                        </a:rPr>
                        <a:t>1,394.4-1,398.4</a:t>
                      </a:r>
                      <a:endParaRPr sz="900" b="1" i="0">
                        <a:solidFill>
                          <a:srgbClr val="A9650A"/>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596070"/>
                          </a:solidFill>
                          <a:latin typeface="Inter"/>
                        </a:rPr>
                        <a:t>1,379.0-1,389.0</a:t>
                      </a:r>
                      <a:endParaRPr sz="900" b="0" i="0">
                        <a:solidFill>
                          <a:srgbClr val="596070"/>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Growth year on year (%)</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Inter"/>
                        </a:rPr>
                        <a:t>19.5-20.7</a:t>
                      </a:r>
                      <a:endParaRPr sz="900" b="1"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Inter"/>
                        </a:rPr>
                        <a:t>20.9-21.3</a:t>
                      </a:r>
                      <a:endParaRPr sz="900" b="1"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Inter"/>
                        </a:rPr>
                        <a:t>19.6-20.4</a:t>
                      </a:r>
                      <a:endParaRPr sz="900" b="0" i="0">
                        <a:solidFill>
                          <a:srgbClr val="596070"/>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Operating income ($M)</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Inter"/>
                        </a:rPr>
                        <a:t>61.0-63.0</a:t>
                      </a:r>
                      <a:endParaRPr sz="900" b="1"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Inter"/>
                        </a:rPr>
                        <a:t>221.3-223.3</a:t>
                      </a:r>
                      <a:endParaRPr sz="900" b="1"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Inter"/>
                        </a:rPr>
                        <a:t>214.0-218.0</a:t>
                      </a:r>
                      <a:endParaRPr sz="900" b="0" i="0">
                        <a:solidFill>
                          <a:srgbClr val="596070"/>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Operating margin (%)</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Inter"/>
                        </a:rPr>
                        <a:t>16.4-16.8</a:t>
                      </a:r>
                      <a:endParaRPr sz="900" b="1" i="0">
                        <a:solidFill>
                          <a:srgbClr val="A9650A"/>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Inter"/>
                        </a:rPr>
                        <a:t>15.9-16.0</a:t>
                      </a:r>
                      <a:endParaRPr sz="900" b="1" i="0">
                        <a:solidFill>
                          <a:srgbClr val="A9650A"/>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596070"/>
                          </a:solidFill>
                          <a:latin typeface="Inter"/>
                        </a:rPr>
                        <a:t>15.5-15.7</a:t>
                      </a:r>
                      <a:endParaRPr sz="900" b="0" i="0">
                        <a:solidFill>
                          <a:srgbClr val="596070"/>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7" name="r_h"/>
          <p:cNvSpPr/>
          <p:nvPr/>
        </p:nvSpPr>
        <p:spPr>
          <a:xfrm>
            <a:off x="457200" y="2413762"/>
            <a:ext cx="69776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FY2026 revenue guidance at each update</a:t>
            </a:r>
          </a:p>
        </p:txBody>
      </p:sp>
      <p:sp>
        <p:nvSpPr>
          <p:cNvPr id="8" name="r_u"/>
          <p:cNvSpPr/>
          <p:nvPr/>
        </p:nvSpPr>
        <p:spPr>
          <a:xfrm>
            <a:off x="457200" y="2608834"/>
            <a:ext cx="69776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$M, low to high; the current range in amber, superseded ranges in slate</a:t>
            </a:r>
          </a:p>
        </p:txBody>
      </p:sp>
      <p:graphicFrame>
        <p:nvGraphicFramePr>
          <p:cNvPr id="9" name="rng"/>
          <p:cNvGraphicFramePr>
            <a:graphicFrameLocks noGrp="1"/>
          </p:cNvGraphicFramePr>
          <p:nvPr/>
        </p:nvGraphicFramePr>
        <p:xfrm>
          <a:off x="457200" y="2758186"/>
          <a:ext cx="6977690" cy="3418586"/>
        </p:xfrm>
        <a:graphic>
          <a:graphicData uri="http://schemas.openxmlformats.org/drawingml/2006/chart">
            <c:chart xmlns:c="http://schemas.openxmlformats.org/drawingml/2006/chart" r:id="rId2"/>
          </a:graphicData>
        </a:graphic>
      </p:graphicFrame>
      <p:sp>
        <p:nvSpPr>
          <p:cNvPr id="10" name="n_h"/>
          <p:cNvSpPr/>
          <p:nvPr/>
        </p:nvSpPr>
        <p:spPr>
          <a:xfrm>
            <a:off x="7709210" y="998220"/>
            <a:ext cx="4025590"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Inter"/>
              </a:rPr>
              <a:t>What the guidance assumes</a:t>
            </a:r>
          </a:p>
        </p:txBody>
      </p:sp>
      <p:sp>
        <p:nvSpPr>
          <p:cNvPr id="11" name="n1"/>
          <p:cNvSpPr/>
          <p:nvPr/>
        </p:nvSpPr>
        <p:spPr>
          <a:xfrm>
            <a:off x="7709210" y="1205484"/>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The full-year midpoint of $1,396.4M is $12.4M above August's</a:t>
            </a:r>
            <a:br/>
            <a:r>
              <a:rPr sz="1000" b="0" i="0">
                <a:solidFill>
                  <a:srgbClr val="16181D"/>
                </a:solidFill>
                <a:latin typeface="Inter"/>
              </a:rPr>
              <a:t>and $36.4M (2.7%) above the initial $1,360.0M.</a:t>
            </a:r>
          </a:p>
        </p:txBody>
      </p:sp>
      <p:sp>
        <p:nvSpPr>
          <p:cNvPr id="12" name="n2"/>
          <p:cNvSpPr/>
          <p:nvPr/>
        </p:nvSpPr>
        <p:spPr>
          <a:xfrm>
            <a:off x="7709210" y="1590548"/>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Q4 growth of 19.5-20.7% assumes net new ARR returns to its</a:t>
            </a:r>
            <a:br/>
            <a:r>
              <a:rPr sz="1000" b="0" i="0">
                <a:solidFill>
                  <a:srgbClr val="16181D"/>
                </a:solidFill>
                <a:latin typeface="Inter"/>
              </a:rPr>
              <a:t>usual range after Q3's record.</a:t>
            </a:r>
          </a:p>
        </p:txBody>
      </p:sp>
      <p:sp>
        <p:nvSpPr>
          <p:cNvPr id="13" name="n3"/>
          <p:cNvSpPr/>
          <p:nvPr/>
        </p:nvSpPr>
        <p:spPr>
          <a:xfrm>
            <a:off x="7709210" y="1975612"/>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Full-year operating margin of 15.9-16.0%, up from 15.5-15.7%</a:t>
            </a:r>
            <a:br/>
            <a:r>
              <a:rPr sz="1000" b="0" i="0">
                <a:solidFill>
                  <a:srgbClr val="16181D"/>
                </a:solidFill>
                <a:latin typeface="Inter"/>
              </a:rPr>
              <a:t>guided in August.</a:t>
            </a:r>
          </a:p>
        </p:txBody>
      </p:sp>
      <p:sp>
        <p:nvSpPr>
          <p:cNvPr id="14" name="n4"/>
          <p:cNvSpPr/>
          <p:nvPr/>
        </p:nvSpPr>
        <p:spPr>
          <a:xfrm>
            <a:off x="7709210" y="2360676"/>
            <a:ext cx="4025590" cy="1841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Inter"/>
              <a:buChar char="•"/>
            </a:pPr>
            <a:r>
              <a:rPr sz="1000" b="0" i="0">
                <a:solidFill>
                  <a:srgbClr val="16181D"/>
                </a:solidFill>
                <a:latin typeface="Inter"/>
              </a:rPr>
              <a:t>Exchange rates as of October 2026; no acquisitions.</a:t>
            </a:r>
          </a:p>
        </p:txBody>
      </p:sp>
      <p:sp>
        <p:nvSpPr>
          <p:cNvPr id="15" name="t_h"/>
          <p:cNvSpPr/>
          <p:nvPr/>
        </p:nvSpPr>
        <p:spPr>
          <a:xfrm>
            <a:off x="7709210" y="2599690"/>
            <a:ext cx="40255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Inter"/>
              </a:rPr>
              <a:t>Long-term target model</a:t>
            </a:r>
          </a:p>
        </p:txBody>
      </p:sp>
      <p:sp>
        <p:nvSpPr>
          <p:cNvPr id="16" name="t_u"/>
          <p:cNvSpPr/>
          <p:nvPr/>
        </p:nvSpPr>
        <p:spPr>
          <a:xfrm>
            <a:off x="7709210" y="2822194"/>
            <a:ext cx="40255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Inter"/>
              </a:rPr>
              <a:t>% of revenue, non-GAAP; targets (amber) are forward-looking</a:t>
            </a:r>
          </a:p>
        </p:txBody>
      </p:sp>
      <p:graphicFrame>
        <p:nvGraphicFramePr>
          <p:cNvPr id="17" name="lt"/>
          <p:cNvGraphicFramePr>
            <a:graphicFrameLocks noGrp="1"/>
          </p:cNvGraphicFramePr>
          <p:nvPr/>
        </p:nvGraphicFramePr>
        <p:xfrm>
          <a:off x="7709210" y="2998978"/>
          <a:ext cx="4025590" cy="1345946"/>
        </p:xfrm>
        <a:graphic>
          <a:graphicData uri="http://schemas.openxmlformats.org/drawingml/2006/table">
            <a:tbl>
              <a:tblPr firstRow="0" bandRow="0" lastRow="0" firstCol="0" lastCol="0" bandCol="0"/>
              <a:tblGrid>
                <a:gridCol w="2447938"/>
                <a:gridCol w="888763"/>
                <a:gridCol w="688889"/>
              </a:tblGrid>
              <a:tr h="192278">
                <a:tc>
                  <a:txBody>
                    <a:bodyPr wrap="square"/>
                    <a:lstStyle/>
                    <a:p>
                      <a:pPr algn="l"/>
                      <a:r>
                        <a:rPr sz="900" b="1" i="0">
                          <a:solidFill>
                            <a:srgbClr val="16181D"/>
                          </a:solidFill>
                          <a:latin typeface="Inter"/>
                        </a:rPr>
                        <a:t>% of revenue</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Q3 FY26</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Inter"/>
                        </a:rPr>
                        <a:t>Target</a:t>
                      </a:r>
                      <a:endParaRPr sz="900" b="1" i="0">
                        <a:solidFill>
                          <a:srgbClr val="16181D"/>
                        </a:solidFill>
                        <a:latin typeface="Inter"/>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Inter"/>
                        </a:rPr>
                        <a:t>Gross margin</a:t>
                      </a:r>
                      <a:endParaRPr sz="900" b="0" i="0">
                        <a:solidFill>
                          <a:srgbClr val="16181D"/>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Inter"/>
                        </a:rPr>
                        <a:t>80.4</a:t>
                      </a:r>
                      <a:endParaRPr sz="900" b="0" i="0">
                        <a:solidFill>
                          <a:srgbClr val="2E3A9E"/>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Inter"/>
                        </a:rPr>
                        <a:t>80-82</a:t>
                      </a:r>
                      <a:endParaRPr sz="900" b="1" i="0">
                        <a:solidFill>
                          <a:srgbClr val="A9650A"/>
                        </a:solidFill>
                        <a:latin typeface="Inter"/>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Inter"/>
                        </a:rPr>
                        <a:t>Sales and marketing</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35.8</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Inter"/>
                        </a:rPr>
                        <a:t>28-30</a:t>
                      </a:r>
                      <a:endParaRPr sz="900" b="1"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Research and development</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19.5</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Inter"/>
                        </a:rPr>
                        <a:t>15-17</a:t>
                      </a:r>
                      <a:endParaRPr sz="900" b="1"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General and administrative</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8.5</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Inter"/>
                        </a:rPr>
                        <a:t>6-7</a:t>
                      </a:r>
                      <a:endParaRPr sz="900" b="1"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Operating margin</a:t>
                      </a:r>
                      <a:endParaRPr sz="900" b="0" i="0">
                        <a:solidFill>
                          <a:srgbClr val="16181D"/>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Inter"/>
                        </a:rPr>
                        <a:t>16.6</a:t>
                      </a:r>
                      <a:endParaRPr sz="900" b="0" i="0">
                        <a:solidFill>
                          <a:srgbClr val="2E3A9E"/>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Inter"/>
                        </a:rPr>
                        <a:t>25-28</a:t>
                      </a:r>
                      <a:endParaRPr sz="900" b="1" i="0">
                        <a:solidFill>
                          <a:srgbClr val="A9650A"/>
                        </a:solidFill>
                        <a:latin typeface="Inter"/>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Inter"/>
                        </a:rPr>
                        <a:t>Free cash flow margin</a:t>
                      </a:r>
                      <a:endParaRPr sz="900" b="0" i="0">
                        <a:solidFill>
                          <a:srgbClr val="16181D"/>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Inter"/>
                        </a:rPr>
                        <a:t>21.4</a:t>
                      </a:r>
                      <a:endParaRPr sz="900" b="0" i="0">
                        <a:solidFill>
                          <a:srgbClr val="2E3A9E"/>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Inter"/>
                        </a:rPr>
                        <a:t>28-30</a:t>
                      </a:r>
                      <a:endParaRPr sz="900" b="1" i="0">
                        <a:solidFill>
                          <a:srgbClr val="A9650A"/>
                        </a:solidFill>
                        <a:latin typeface="Inter"/>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8" name="t_fn"/>
          <p:cNvSpPr/>
          <p:nvPr/>
        </p:nvSpPr>
        <p:spPr>
          <a:xfrm>
            <a:off x="7709210" y="4399788"/>
            <a:ext cx="402559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Operating margin is 8.4 points below the low end of its target.</a:t>
            </a:r>
          </a:p>
        </p:txBody>
      </p:sp>
      <p:sp>
        <p:nvSpPr>
          <p:cNvPr id="19" name="n_fn"/>
          <p:cNvSpPr/>
          <p:nvPr/>
        </p:nvSpPr>
        <p:spPr>
          <a:xfrm>
            <a:off x="7709210" y="4568952"/>
            <a:ext cx="4025590" cy="2286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Forward-looking statements: guidance reflects expectations at the date issued and is</a:t>
            </a:r>
            <a:br/>
            <a:r>
              <a:rPr sz="750" b="0" i="0">
                <a:solidFill>
                  <a:srgbClr val="596070"/>
                </a:solidFill>
                <a:latin typeface="Inter"/>
              </a:rPr>
              <a:t>subject to risk. Corvane Software is fictional; every figure is illustrative.</a:t>
            </a:r>
          </a:p>
        </p:txBody>
      </p:sp>
      <p:sp>
        <p:nvSpPr>
          <p:cNvPr id="20"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Inter"/>
              </a:rPr>
              <a:t>Source: Corvane Software management accounts (fictional; illustrative figures). Non-GAAP unless stated; fiscal year ends December.</a:t>
            </a:r>
          </a:p>
        </p:txBody>
      </p:sp>
      <p:sp>
        <p:nvSpPr>
          <p:cNvPr id="21" name="mid-0-text"/>
          <p:cNvSpPr/>
          <p:nvPr/>
        </p:nvSpPr>
        <p:spPr>
          <a:xfrm>
            <a:off x="6568336" y="3261293"/>
            <a:ext cx="41243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Inter"/>
              </a:rPr>
              <a:t>1,360.0</a:t>
            </a:r>
          </a:p>
        </p:txBody>
      </p:sp>
      <p:sp>
        <p:nvSpPr>
          <p:cNvPr id="22" name="mid-1-text"/>
          <p:cNvSpPr/>
          <p:nvPr/>
        </p:nvSpPr>
        <p:spPr>
          <a:xfrm>
            <a:off x="6576769" y="3979196"/>
            <a:ext cx="404006"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Inter"/>
              </a:rPr>
              <a:t>1,372.0</a:t>
            </a:r>
          </a:p>
        </p:txBody>
      </p:sp>
      <p:sp>
        <p:nvSpPr>
          <p:cNvPr id="23" name="mid-2-text"/>
          <p:cNvSpPr/>
          <p:nvPr/>
        </p:nvSpPr>
        <p:spPr>
          <a:xfrm>
            <a:off x="6568435" y="4697099"/>
            <a:ext cx="412340"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Inter"/>
              </a:rPr>
              <a:t>1,384.0</a:t>
            </a:r>
          </a:p>
        </p:txBody>
      </p:sp>
      <p:sp>
        <p:nvSpPr>
          <p:cNvPr id="24" name="mid-3-text"/>
          <p:cNvSpPr/>
          <p:nvPr/>
        </p:nvSpPr>
        <p:spPr>
          <a:xfrm>
            <a:off x="6567741" y="5415002"/>
            <a:ext cx="413034"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A9650A"/>
                </a:solidFill>
                <a:latin typeface="Inter"/>
              </a:rPr>
              <a:t>1,396.4</a:t>
            </a:r>
          </a:p>
        </p:txBody>
      </p:sp>
      <p:sp>
        <p:nvSpPr>
          <p:cNvPr id="25" name="mid-label"/>
          <p:cNvSpPr/>
          <p:nvPr/>
        </p:nvSpPr>
        <p:spPr>
          <a:xfrm>
            <a:off x="6544226" y="2841381"/>
            <a:ext cx="460064"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0" i="0">
                <a:solidFill>
                  <a:srgbClr val="596070"/>
                </a:solidFill>
                <a:latin typeface="Inter"/>
              </a:rPr>
              <a:t>Midpoint</a:t>
            </a:r>
          </a:p>
        </p:txBody>
      </p:sp>
    </p:spTree>
    <p:custDataLst>
      <p:tags r:id="rId3"/>
    </p:custDataLst>
  </p:cSld>
  <p:clrMapOvr>
    <a:masterClrMapping/>
  </p:clrMapOvr>
</p:sld>
</file>

<file path=ppt/tags/tag1.xml><?xml version="1.0" encoding="utf-8"?>
<p:tagLst xmlns:p="http://schemas.openxmlformats.org/presentationml/2006/main">
  <p:tag name="pptx-skill" val="generated"/>
</p:tagLst>
</file>

<file path=ppt/tags/tag2.xml><?xml version="1.0" encoding="utf-8"?>
<p:tagLst xmlns:p="http://schemas.openxmlformats.org/presentationml/2006/main">
  <p:tag name="pptx-skill" val="generated"/>
</p:tagLst>
</file>

<file path=ppt/tags/tag3.xml><?xml version="1.0" encoding="utf-8"?>
<p:tagLst xmlns:p="http://schemas.openxmlformats.org/presentationml/2006/main">
  <p:tag name="pptx-skill" val="generated"/>
</p:tagLst>
</file>

<file path=ppt/tags/tag4.xml><?xml version="1.0" encoding="utf-8"?>
<p:tagLst xmlns:p="http://schemas.openxmlformats.org/presentationml/2006/main">
  <p:tag name="pptx-skill" val="generated"/>
</p:tagLst>
</file>

<file path=ppt/tags/tag5.xml><?xml version="1.0" encoding="utf-8"?>
<p:tagLst xmlns:p="http://schemas.openxmlformats.org/presentationml/2006/main">
  <p:tag name="pptx-skill" val="generated"/>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