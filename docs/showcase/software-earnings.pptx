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04"/>
          <c:w val="1.0"/>
          <c:h val="0.94"/>
        </c:manualLayout>
      </c:layout>
      <c:barChart>
        <c:barDir val="col"/>
        <c:grouping val="clustered"/>
        <c:varyColors val="0"/>
        <c:ser>
          <c:idx val="0"/>
          <c:order val="0"/>
          <c:tx>
            <c:strRef>
              <c:f>Sheet1!$B$1</c:f>
              <c:strCache>
                <c:ptCount val="1"/>
                <c:pt idx="0">
                  <c:v>trend</c:v>
                </c:pt>
              </c:strCache>
            </c:strRef>
          </c:tx>
          <c:spPr>
            <a:solidFill>
              <a:srgbClr val="BCC2CF"/>
            </a:solidFill>
            <a:ln>
              <a:noFill/>
            </a:ln>
          </c:spPr>
          <c:dPt>
            <c:idx val="8"/>
            <c:spPr>
              <a:solidFill>
                <a:srgbClr val="2E3A9E"/>
              </a:solidFill>
            </c:spPr>
          </c:dPt>
          <c:dLbls>
            <c:dLbl>
              <c:idx val="7"/>
              <c:delete val="1"/>
            </c:dLbl>
            <c:dLbl>
              <c:idx val="6"/>
              <c:delete val="1"/>
            </c:dLbl>
            <c:dLbl>
              <c:idx val="5"/>
              <c:delete val="1"/>
            </c:dLbl>
            <c:dLbl>
              <c:idx val="4"/>
              <c:delete val="1"/>
            </c:dLbl>
            <c:dLbl>
              <c:idx val="3"/>
              <c:delete val="1"/>
            </c:dLbl>
            <c:dLbl>
              <c:idx val="2"/>
              <c:delete val="1"/>
            </c:dLbl>
            <c:dLbl>
              <c:idx val="1"/>
              <c:delete val="1"/>
            </c:dLbl>
            <c:dLbl>
              <c:idx val="8"/>
              <c:numFmt formatCode="0.0" sourceLinked="0"/>
              <c:spPr/>
              <c:txPr>
                <a:bodyPr/>
                <a:lstStyle/>
                <a:p>
                  <a:pPr>
                    <a:defRPr sz="800" b="1" i="0">
                      <a:solidFill>
                        <a:srgbClr val="2E3A9E"/>
                      </a:solidFill>
                      <a:latin typeface="Arial"/>
                    </a:defRPr>
                  </a:pPr>
                </a:p>
              </c:txPr>
              <c:dLblPos val="outEnd"/>
              <c:showLegendKey val="0"/>
              <c:showVal val="1"/>
              <c:showCatName val="0"/>
              <c:showSerName val="0"/>
              <c:showPercent val="0"/>
              <c:showBubbleSize val="0"/>
            </c:dLbl>
            <c:numFmt formatCode="0.0" sourceLinked="0"/>
            <c:txPr>
              <a:bodyPr/>
              <a:lstStyle/>
              <a:p>
                <a:pPr>
                  <a:defRPr sz="800" b="1" i="0">
                    <a:solidFill>
                      <a:srgbClr val="16181D"/>
                    </a:solidFill>
                    <a:latin typeface="Arial"/>
                  </a:defRPr>
                </a:pPr>
              </a:p>
            </c:txPr>
            <c:dLblPos val="outEnd"/>
            <c:showLegendKey val="0"/>
            <c:showVal val="1"/>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c:formatCode>
                <c:ptCount val="9"/>
                <c:pt idx="0">
                  <c:v>242.5</c:v>
                </c:pt>
                <c:pt idx="1">
                  <c:v>256.5</c:v>
                </c:pt>
                <c:pt idx="2">
                  <c:v>266.4</c:v>
                </c:pt>
                <c:pt idx="3">
                  <c:v>280.2</c:v>
                </c:pt>
                <c:pt idx="4">
                  <c:v>295.2</c:v>
                </c:pt>
                <c:pt idx="5">
                  <c:v>311.4</c:v>
                </c:pt>
                <c:pt idx="6">
                  <c:v>324.0</c:v>
                </c:pt>
                <c:pt idx="7">
                  <c:v>340.2</c:v>
                </c:pt>
                <c:pt idx="8">
                  <c:v>358.2</c:v>
                </c:pt>
              </c:numCache>
            </c:numRef>
          </c:val>
        </c:ser>
        <c:gapWidth val="40"/>
        <c:axId val="-2068027336"/>
        <c:axId val="-2113994440"/>
      </c:barChart>
      <c:catAx>
        <c:axId val="-2068027336"/>
        <c:scaling/>
        <c:delete val="0"/>
        <c:axPos val="b"/>
        <c:majorTickMark val="none"/>
        <c:minorTickMark val="none"/>
        <c:tickLblPos val="none"/>
        <c:spPr>
          <a:ln w="9525">
            <a:solidFill>
              <a:srgbClr val="D3D7DF"/>
            </a:solidFill>
          </a:ln>
        </c:spPr>
        <c:crossAx val="-2113994440"/>
        <c:crosses val="autoZero"/>
        <c:auto val="1"/>
        <c:lblAlgn val="ctr"/>
        <c:lblOffset val="100"/>
        <c:noMultiLvlLbl val="0"/>
      </c:catAx>
      <c:valAx>
        <c:axId val="-2113994440"/>
        <c:scaling>
          <c:max val="422.7"/>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800" b="0" i="0">
          <a:solidFill>
            <a:srgbClr val="59607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04"/>
          <c:w val="1.0"/>
          <c:h val="0.94"/>
        </c:manualLayout>
      </c:layout>
      <c:barChart>
        <c:barDir val="col"/>
        <c:grouping val="clustered"/>
        <c:varyColors val="0"/>
        <c:ser>
          <c:idx val="0"/>
          <c:order val="0"/>
          <c:tx>
            <c:strRef>
              <c:f>Sheet1!$B$1</c:f>
              <c:strCache>
                <c:ptCount val="1"/>
                <c:pt idx="0">
                  <c:v>trend</c:v>
                </c:pt>
              </c:strCache>
            </c:strRef>
          </c:tx>
          <c:spPr>
            <a:solidFill>
              <a:srgbClr val="BCC2CF"/>
            </a:solidFill>
            <a:ln>
              <a:noFill/>
            </a:ln>
          </c:spPr>
          <c:dPt>
            <c:idx val="8"/>
            <c:spPr>
              <a:solidFill>
                <a:srgbClr val="2E3A9E"/>
              </a:solidFill>
            </c:spPr>
          </c:dPt>
          <c:dLbls>
            <c:dLbl>
              <c:idx val="7"/>
              <c:delete val="1"/>
            </c:dLbl>
            <c:dLbl>
              <c:idx val="6"/>
              <c:delete val="1"/>
            </c:dLbl>
            <c:dLbl>
              <c:idx val="5"/>
              <c:delete val="1"/>
            </c:dLbl>
            <c:dLbl>
              <c:idx val="4"/>
              <c:delete val="1"/>
            </c:dLbl>
            <c:dLbl>
              <c:idx val="3"/>
              <c:delete val="1"/>
            </c:dLbl>
            <c:dLbl>
              <c:idx val="2"/>
              <c:delete val="1"/>
            </c:dLbl>
            <c:dLbl>
              <c:idx val="1"/>
              <c:delete val="1"/>
            </c:dLbl>
            <c:dLbl>
              <c:idx val="8"/>
              <c:numFmt formatCode="#,##0" sourceLinked="0"/>
              <c:spPr/>
              <c:txPr>
                <a:bodyPr/>
                <a:lstStyle/>
                <a:p>
                  <a:pPr>
                    <a:defRPr sz="800" b="1" i="0">
                      <a:solidFill>
                        <a:srgbClr val="2E3A9E"/>
                      </a:solidFill>
                      <a:latin typeface="Arial"/>
                    </a:defRPr>
                  </a:pPr>
                </a:p>
              </c:txPr>
              <c:dLblPos val="outEnd"/>
              <c:showLegendKey val="0"/>
              <c:showVal val="1"/>
              <c:showCatName val="0"/>
              <c:showSerName val="0"/>
              <c:showPercent val="0"/>
              <c:showBubbleSize val="0"/>
            </c:dLbl>
            <c:numFmt formatCode="#,##0" sourceLinked="0"/>
            <c:txPr>
              <a:bodyPr/>
              <a:lstStyle/>
              <a:p>
                <a:pPr>
                  <a:defRPr sz="800" b="1" i="0">
                    <a:solidFill>
                      <a:srgbClr val="16181D"/>
                    </a:solidFill>
                    <a:latin typeface="Arial"/>
                  </a:defRPr>
                </a:pPr>
              </a:p>
            </c:txPr>
            <c:dLblPos val="outEnd"/>
            <c:showLegendKey val="0"/>
            <c:showVal val="1"/>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c:formatCode>
                <c:ptCount val="9"/>
                <c:pt idx="0">
                  <c:v>1012</c:v>
                </c:pt>
                <c:pt idx="1">
                  <c:v>1068</c:v>
                </c:pt>
                <c:pt idx="2">
                  <c:v>1115</c:v>
                </c:pt>
                <c:pt idx="3">
                  <c:v>1168</c:v>
                </c:pt>
                <c:pt idx="4">
                  <c:v>1226</c:v>
                </c:pt>
                <c:pt idx="5">
                  <c:v>1292</c:v>
                </c:pt>
                <c:pt idx="6">
                  <c:v>1349</c:v>
                </c:pt>
                <c:pt idx="7">
                  <c:v>1415</c:v>
                </c:pt>
                <c:pt idx="8">
                  <c:v>1498</c:v>
                </c:pt>
              </c:numCache>
            </c:numRef>
          </c:val>
        </c:ser>
        <c:gapWidth val="40"/>
        <c:axId val="-2068027336"/>
        <c:axId val="-2113994440"/>
      </c:barChart>
      <c:catAx>
        <c:axId val="-2068027336"/>
        <c:scaling/>
        <c:delete val="0"/>
        <c:axPos val="b"/>
        <c:majorTickMark val="none"/>
        <c:minorTickMark val="none"/>
        <c:tickLblPos val="none"/>
        <c:spPr>
          <a:ln w="9525">
            <a:solidFill>
              <a:srgbClr val="D3D7DF"/>
            </a:solidFill>
          </a:ln>
        </c:spPr>
        <c:crossAx val="-2113994440"/>
        <c:crosses val="autoZero"/>
        <c:auto val="1"/>
        <c:lblAlgn val="ctr"/>
        <c:lblOffset val="100"/>
        <c:noMultiLvlLbl val="0"/>
      </c:catAx>
      <c:valAx>
        <c:axId val="-2113994440"/>
        <c:scaling>
          <c:max val="1767.6"/>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800" b="0" i="0">
          <a:solidFill>
            <a:srgbClr val="59607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04"/>
          <c:w val="1.0"/>
          <c:h val="0.94"/>
        </c:manualLayout>
      </c:layout>
      <c:barChart>
        <c:barDir val="col"/>
        <c:grouping val="clustered"/>
        <c:varyColors val="0"/>
        <c:ser>
          <c:idx val="0"/>
          <c:order val="0"/>
          <c:tx>
            <c:strRef>
              <c:f>Sheet1!$B$1</c:f>
              <c:strCache>
                <c:ptCount val="1"/>
                <c:pt idx="0">
                  <c:v>trend</c:v>
                </c:pt>
              </c:strCache>
            </c:strRef>
          </c:tx>
          <c:spPr>
            <a:solidFill>
              <a:srgbClr val="BCC2CF"/>
            </a:solidFill>
            <a:ln>
              <a:noFill/>
            </a:ln>
          </c:spPr>
          <c:dPt>
            <c:idx val="8"/>
            <c:spPr>
              <a:solidFill>
                <a:srgbClr val="2E3A9E"/>
              </a:solidFill>
            </c:spPr>
          </c:dPt>
          <c:dLbls>
            <c:dLbl>
              <c:idx val="7"/>
              <c:delete val="1"/>
            </c:dLbl>
            <c:dLbl>
              <c:idx val="6"/>
              <c:delete val="1"/>
            </c:dLbl>
            <c:dLbl>
              <c:idx val="5"/>
              <c:delete val="1"/>
            </c:dLbl>
            <c:dLbl>
              <c:idx val="4"/>
              <c:delete val="1"/>
            </c:dLbl>
            <c:dLbl>
              <c:idx val="3"/>
              <c:delete val="1"/>
            </c:dLbl>
            <c:dLbl>
              <c:idx val="2"/>
              <c:delete val="1"/>
            </c:dLbl>
            <c:dLbl>
              <c:idx val="1"/>
              <c:delete val="1"/>
            </c:dLbl>
            <c:dLbl>
              <c:idx val="8"/>
              <c:numFmt formatCode="0" sourceLinked="0"/>
              <c:spPr/>
              <c:txPr>
                <a:bodyPr/>
                <a:lstStyle/>
                <a:p>
                  <a:pPr>
                    <a:defRPr sz="800" b="1" i="0">
                      <a:solidFill>
                        <a:srgbClr val="2E3A9E"/>
                      </a:solidFill>
                      <a:latin typeface="Arial"/>
                    </a:defRPr>
                  </a:pPr>
                </a:p>
              </c:txPr>
              <c:dLblPos val="outEnd"/>
              <c:showLegendKey val="0"/>
              <c:showVal val="1"/>
              <c:showCatName val="0"/>
              <c:showSerName val="0"/>
              <c:showPercent val="0"/>
              <c:showBubbleSize val="0"/>
            </c:dLbl>
            <c:numFmt formatCode="0" sourceLinked="0"/>
            <c:txPr>
              <a:bodyPr/>
              <a:lstStyle/>
              <a:p>
                <a:pPr>
                  <a:defRPr sz="800" b="1" i="0">
                    <a:solidFill>
                      <a:srgbClr val="16181D"/>
                    </a:solidFill>
                    <a:latin typeface="Arial"/>
                  </a:defRPr>
                </a:pPr>
              </a:p>
            </c:txPr>
            <c:dLblPos val="outEnd"/>
            <c:showLegendKey val="0"/>
            <c:showVal val="1"/>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c:formatCode>
                <c:ptCount val="9"/>
                <c:pt idx="0">
                  <c:v>50</c:v>
                </c:pt>
                <c:pt idx="1">
                  <c:v>56</c:v>
                </c:pt>
                <c:pt idx="2">
                  <c:v>47</c:v>
                </c:pt>
                <c:pt idx="3">
                  <c:v>53</c:v>
                </c:pt>
                <c:pt idx="4">
                  <c:v>58</c:v>
                </c:pt>
                <c:pt idx="5">
                  <c:v>66</c:v>
                </c:pt>
                <c:pt idx="6">
                  <c:v>57</c:v>
                </c:pt>
                <c:pt idx="7">
                  <c:v>66</c:v>
                </c:pt>
                <c:pt idx="8">
                  <c:v>83</c:v>
                </c:pt>
              </c:numCache>
            </c:numRef>
          </c:val>
        </c:ser>
        <c:gapWidth val="40"/>
        <c:axId val="-2068027336"/>
        <c:axId val="-2113994440"/>
      </c:barChart>
      <c:catAx>
        <c:axId val="-2068027336"/>
        <c:scaling/>
        <c:delete val="0"/>
        <c:axPos val="b"/>
        <c:majorTickMark val="none"/>
        <c:minorTickMark val="none"/>
        <c:tickLblPos val="none"/>
        <c:spPr>
          <a:ln w="9525">
            <a:solidFill>
              <a:srgbClr val="D3D7DF"/>
            </a:solidFill>
          </a:ln>
        </c:spPr>
        <c:crossAx val="-2113994440"/>
        <c:crosses val="autoZero"/>
        <c:auto val="1"/>
        <c:lblAlgn val="ctr"/>
        <c:lblOffset val="100"/>
        <c:noMultiLvlLbl val="0"/>
      </c:catAx>
      <c:valAx>
        <c:axId val="-2113994440"/>
        <c:scaling>
          <c:max val="97.9"/>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800" b="0" i="0">
          <a:solidFill>
            <a:srgbClr val="596070"/>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04"/>
          <c:w val="1.0"/>
          <c:h val="0.94"/>
        </c:manualLayout>
      </c:layout>
      <c:lineChart>
        <c:grouping val="standard"/>
        <c:varyColors val="0"/>
        <c:ser>
          <c:idx val="0"/>
          <c:order val="0"/>
          <c:tx>
            <c:strRef>
              <c:f>Sheet1!$B$1</c:f>
              <c:strCache>
                <c:ptCount val="1"/>
                <c:pt idx="0">
                  <c:v>trend</c:v>
                </c:pt>
              </c:strCache>
            </c:strRef>
          </c:tx>
          <c:spPr>
            <a:ln w="22225">
              <a:solidFill>
                <a:srgbClr val="2E3A9E"/>
              </a:solidFill>
            </a:ln>
          </c:spPr>
          <c:marker>
            <c:symbol val="none"/>
          </c:marker>
          <c:dLbls>
            <c:dLbl>
              <c:idx val="7"/>
              <c:delete val="1"/>
            </c:dLbl>
            <c:dLbl>
              <c:idx val="6"/>
              <c:delete val="1"/>
            </c:dLbl>
            <c:dLbl>
              <c:idx val="5"/>
              <c:delete val="1"/>
            </c:dLbl>
            <c:dLbl>
              <c:idx val="3"/>
              <c:delete val="1"/>
            </c:dLbl>
            <c:dLbl>
              <c:idx val="2"/>
              <c:delete val="1"/>
            </c:dLbl>
            <c:dLbl>
              <c:idx val="1"/>
              <c:delete val="1"/>
            </c:dLbl>
            <c:numFmt formatCode="0" sourceLinked="0"/>
            <c:txPr>
              <a:bodyPr/>
              <a:lstStyle/>
              <a:p>
                <a:pPr>
                  <a:defRPr sz="800" b="1" i="0">
                    <a:solidFill>
                      <a:srgbClr val="16181D"/>
                    </a:solidFill>
                    <a:latin typeface="Arial"/>
                  </a:defRPr>
                </a:pPr>
              </a:p>
            </c:txPr>
            <c:dLblPos val="t"/>
            <c:showLegendKey val="0"/>
            <c:showVal val="1"/>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c:formatCode>
                <c:ptCount val="9"/>
                <c:pt idx="0">
                  <c:v>121</c:v>
                </c:pt>
                <c:pt idx="1">
                  <c:v>119</c:v>
                </c:pt>
                <c:pt idx="2">
                  <c:v>118</c:v>
                </c:pt>
                <c:pt idx="3">
                  <c:v>117</c:v>
                </c:pt>
                <c:pt idx="4">
                  <c:v>116</c:v>
                </c:pt>
                <c:pt idx="5">
                  <c:v>116</c:v>
                </c:pt>
                <c:pt idx="6">
                  <c:v>117</c:v>
                </c:pt>
                <c:pt idx="7">
                  <c:v>118</c:v>
                </c:pt>
                <c:pt idx="8">
                  <c:v>119</c:v>
                </c:pt>
              </c:numCache>
            </c:numRef>
          </c:val>
          <c:smooth val="0"/>
        </c:ser>
        <c:marker val="1"/>
        <c:smooth val="0"/>
        <c:axId val="2118791784"/>
        <c:axId val="2140495176"/>
      </c:lineChart>
      <c:catAx>
        <c:axId val="2118791784"/>
        <c:scaling/>
        <c:delete val="0"/>
        <c:axPos val="b"/>
        <c:majorTickMark val="none"/>
        <c:minorTickMark val="none"/>
        <c:tickLblPos val="none"/>
        <c:spPr>
          <a:ln w="9525">
            <a:solidFill>
              <a:srgbClr val="D3D7DF"/>
            </a:solidFill>
          </a:ln>
        </c:spPr>
        <c:crossAx val="2140495176"/>
        <c:crosses val="autoZero"/>
        <c:auto val="1"/>
        <c:lblAlgn val="ctr"/>
        <c:lblOffset val="100"/>
        <c:noMultiLvlLbl val="0"/>
      </c:catAx>
      <c:valAx>
        <c:axId val="2140495176"/>
        <c:scaling>
          <c:max val="124.0"/>
          <c:min val="110.0"/>
        </c:scaling>
        <c:delete/>
        <c:axPos val="l"/>
        <c:majorTickMark val="out"/>
        <c:minorTickMark val="none"/>
        <c:tickLblPos val="nextTo"/>
        <c:crossAx val="2118791784"/>
        <c:crosses val="autoZero"/>
        <c:crossBetween val="between"/>
      </c:valAx>
      <c:spPr>
        <a:noFill/>
      </c:spPr>
    </c:plotArea>
    <c:plotVisOnly val="1"/>
    <c:dispBlanksAs val="gap"/>
    <c:showDLblsOverMax val="0"/>
  </c:chart>
  <c:txPr>
    <a:bodyPr/>
    <a:lstStyle/>
    <a:p>
      <a:pPr>
        <a:defRPr sz="800" b="0" i="0">
          <a:solidFill>
            <a:srgbClr val="596070"/>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04"/>
          <c:w val="1.0"/>
          <c:h val="0.94"/>
        </c:manualLayout>
      </c:layout>
      <c:barChart>
        <c:barDir val="col"/>
        <c:grouping val="clustered"/>
        <c:varyColors val="0"/>
        <c:ser>
          <c:idx val="0"/>
          <c:order val="0"/>
          <c:tx>
            <c:strRef>
              <c:f>Sheet1!$B$1</c:f>
              <c:strCache>
                <c:ptCount val="1"/>
                <c:pt idx="0">
                  <c:v>trend</c:v>
                </c:pt>
              </c:strCache>
            </c:strRef>
          </c:tx>
          <c:spPr>
            <a:solidFill>
              <a:srgbClr val="BCC2CF"/>
            </a:solidFill>
            <a:ln>
              <a:noFill/>
            </a:ln>
          </c:spPr>
          <c:dPt>
            <c:idx val="8"/>
            <c:spPr>
              <a:solidFill>
                <a:srgbClr val="2E3A9E"/>
              </a:solidFill>
            </c:spPr>
          </c:dPt>
          <c:dLbls>
            <c:dLbl>
              <c:idx val="7"/>
              <c:delete val="1"/>
            </c:dLbl>
            <c:dLbl>
              <c:idx val="6"/>
              <c:delete val="1"/>
            </c:dLbl>
            <c:dLbl>
              <c:idx val="5"/>
              <c:delete val="1"/>
            </c:dLbl>
            <c:dLbl>
              <c:idx val="4"/>
              <c:delete val="1"/>
            </c:dLbl>
            <c:dLbl>
              <c:idx val="3"/>
              <c:delete val="1"/>
            </c:dLbl>
            <c:dLbl>
              <c:idx val="2"/>
              <c:delete val="1"/>
            </c:dLbl>
            <c:dLbl>
              <c:idx val="1"/>
              <c:delete val="1"/>
            </c:dLbl>
            <c:dLbl>
              <c:idx val="8"/>
              <c:numFmt formatCode="0.0" sourceLinked="0"/>
              <c:spPr/>
              <c:txPr>
                <a:bodyPr/>
                <a:lstStyle/>
                <a:p>
                  <a:pPr>
                    <a:defRPr sz="800" b="1" i="0">
                      <a:solidFill>
                        <a:srgbClr val="2E3A9E"/>
                      </a:solidFill>
                      <a:latin typeface="Arial"/>
                    </a:defRPr>
                  </a:pPr>
                </a:p>
              </c:txPr>
              <c:dLblPos val="outEnd"/>
              <c:showLegendKey val="0"/>
              <c:showVal val="1"/>
              <c:showCatName val="0"/>
              <c:showSerName val="0"/>
              <c:showPercent val="0"/>
              <c:showBubbleSize val="0"/>
            </c:dLbl>
            <c:numFmt formatCode="0.0" sourceLinked="0"/>
            <c:txPr>
              <a:bodyPr/>
              <a:lstStyle/>
              <a:p>
                <a:pPr>
                  <a:defRPr sz="800" b="1" i="0">
                    <a:solidFill>
                      <a:srgbClr val="16181D"/>
                    </a:solidFill>
                    <a:latin typeface="Arial"/>
                  </a:defRPr>
                </a:pPr>
              </a:p>
            </c:txPr>
            <c:dLblPos val="outEnd"/>
            <c:showLegendKey val="0"/>
            <c:showVal val="1"/>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c:formatCode>
                <c:ptCount val="9"/>
                <c:pt idx="0">
                  <c:v>8.1</c:v>
                </c:pt>
                <c:pt idx="1">
                  <c:v>9.0</c:v>
                </c:pt>
                <c:pt idx="2">
                  <c:v>9.6</c:v>
                </c:pt>
                <c:pt idx="3">
                  <c:v>10.4</c:v>
                </c:pt>
                <c:pt idx="4">
                  <c:v>11.2</c:v>
                </c:pt>
                <c:pt idx="5">
                  <c:v>12.8</c:v>
                </c:pt>
                <c:pt idx="6">
                  <c:v>14.5</c:v>
                </c:pt>
                <c:pt idx="7">
                  <c:v>15.8</c:v>
                </c:pt>
                <c:pt idx="8">
                  <c:v>16.6</c:v>
                </c:pt>
              </c:numCache>
            </c:numRef>
          </c:val>
        </c:ser>
        <c:gapWidth val="40"/>
        <c:axId val="-2068027336"/>
        <c:axId val="-2113994440"/>
      </c:barChart>
      <c:catAx>
        <c:axId val="-2068027336"/>
        <c:scaling/>
        <c:delete val="0"/>
        <c:axPos val="b"/>
        <c:majorTickMark val="none"/>
        <c:minorTickMark val="none"/>
        <c:tickLblPos val="none"/>
        <c:spPr>
          <a:ln w="9525">
            <a:solidFill>
              <a:srgbClr val="D3D7DF"/>
            </a:solidFill>
          </a:ln>
        </c:spPr>
        <c:crossAx val="-2113994440"/>
        <c:crosses val="autoZero"/>
        <c:auto val="1"/>
        <c:lblAlgn val="ctr"/>
        <c:lblOffset val="100"/>
        <c:noMultiLvlLbl val="0"/>
      </c:catAx>
      <c:valAx>
        <c:axId val="-2113994440"/>
        <c:scaling>
          <c:max val="19.6"/>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800" b="0" i="0">
          <a:solidFill>
            <a:srgbClr val="596070"/>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04"/>
          <c:w val="1.0"/>
          <c:h val="0.94"/>
        </c:manualLayout>
      </c:layout>
      <c:barChart>
        <c:barDir val="col"/>
        <c:grouping val="clustered"/>
        <c:varyColors val="0"/>
        <c:ser>
          <c:idx val="0"/>
          <c:order val="0"/>
          <c:tx>
            <c:strRef>
              <c:f>Sheet1!$B$1</c:f>
              <c:strCache>
                <c:ptCount val="1"/>
                <c:pt idx="0">
                  <c:v>trend</c:v>
                </c:pt>
              </c:strCache>
            </c:strRef>
          </c:tx>
          <c:spPr>
            <a:solidFill>
              <a:srgbClr val="BCC2CF"/>
            </a:solidFill>
            <a:ln>
              <a:noFill/>
            </a:ln>
          </c:spPr>
          <c:dPt>
            <c:idx val="8"/>
            <c:spPr>
              <a:solidFill>
                <a:srgbClr val="2E3A9E"/>
              </a:solidFill>
            </c:spPr>
          </c:dPt>
          <c:dLbls>
            <c:dLbl>
              <c:idx val="7"/>
              <c:delete val="1"/>
            </c:dLbl>
            <c:dLbl>
              <c:idx val="6"/>
              <c:delete val="1"/>
            </c:dLbl>
            <c:dLbl>
              <c:idx val="5"/>
              <c:delete val="1"/>
            </c:dLbl>
            <c:dLbl>
              <c:idx val="4"/>
              <c:delete val="1"/>
            </c:dLbl>
            <c:dLbl>
              <c:idx val="3"/>
              <c:delete val="1"/>
            </c:dLbl>
            <c:dLbl>
              <c:idx val="2"/>
              <c:delete val="1"/>
            </c:dLbl>
            <c:dLbl>
              <c:idx val="1"/>
              <c:delete val="1"/>
            </c:dLbl>
            <c:dLbl>
              <c:idx val="8"/>
              <c:numFmt formatCode="0.0" sourceLinked="0"/>
              <c:spPr/>
              <c:txPr>
                <a:bodyPr/>
                <a:lstStyle/>
                <a:p>
                  <a:pPr>
                    <a:defRPr sz="800" b="1" i="0">
                      <a:solidFill>
                        <a:srgbClr val="2E3A9E"/>
                      </a:solidFill>
                      <a:latin typeface="Arial"/>
                    </a:defRPr>
                  </a:pPr>
                </a:p>
              </c:txPr>
              <c:dLblPos val="outEnd"/>
              <c:showLegendKey val="0"/>
              <c:showVal val="1"/>
              <c:showCatName val="0"/>
              <c:showSerName val="0"/>
              <c:showPercent val="0"/>
              <c:showBubbleSize val="0"/>
            </c:dLbl>
            <c:numFmt formatCode="0.0" sourceLinked="0"/>
            <c:txPr>
              <a:bodyPr/>
              <a:lstStyle/>
              <a:p>
                <a:pPr>
                  <a:defRPr sz="800" b="1" i="0">
                    <a:solidFill>
                      <a:srgbClr val="16181D"/>
                    </a:solidFill>
                    <a:latin typeface="Arial"/>
                  </a:defRPr>
                </a:pPr>
              </a:p>
            </c:txPr>
            <c:dLblPos val="outEnd"/>
            <c:showLegendKey val="0"/>
            <c:showVal val="1"/>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c:formatCode>
                <c:ptCount val="9"/>
                <c:pt idx="0">
                  <c:v>14.9</c:v>
                </c:pt>
                <c:pt idx="1">
                  <c:v>18.8</c:v>
                </c:pt>
                <c:pt idx="2">
                  <c:v>16.2</c:v>
                </c:pt>
                <c:pt idx="3">
                  <c:v>16.8</c:v>
                </c:pt>
                <c:pt idx="4">
                  <c:v>18.3</c:v>
                </c:pt>
                <c:pt idx="5">
                  <c:v>21.5</c:v>
                </c:pt>
                <c:pt idx="6">
                  <c:v>19.4</c:v>
                </c:pt>
                <c:pt idx="7">
                  <c:v>19.3</c:v>
                </c:pt>
                <c:pt idx="8">
                  <c:v>21.4</c:v>
                </c:pt>
              </c:numCache>
            </c:numRef>
          </c:val>
        </c:ser>
        <c:gapWidth val="40"/>
        <c:axId val="-2068027336"/>
        <c:axId val="-2113994440"/>
      </c:barChart>
      <c:catAx>
        <c:axId val="-2068027336"/>
        <c:scaling/>
        <c:delete val="0"/>
        <c:axPos val="b"/>
        <c:majorTickMark val="none"/>
        <c:minorTickMark val="none"/>
        <c:tickLblPos val="none"/>
        <c:spPr>
          <a:ln w="9525">
            <a:solidFill>
              <a:srgbClr val="D3D7DF"/>
            </a:solidFill>
          </a:ln>
        </c:spPr>
        <c:crossAx val="-2113994440"/>
        <c:crosses val="autoZero"/>
        <c:auto val="1"/>
        <c:lblAlgn val="ctr"/>
        <c:lblOffset val="100"/>
        <c:noMultiLvlLbl val="0"/>
      </c:catAx>
      <c:valAx>
        <c:axId val="-2113994440"/>
        <c:scaling>
          <c:max val="25.4"/>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800" b="0" i="0">
          <a:solidFill>
            <a:srgbClr val="596070"/>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1"/>
          <c:y val="0.04"/>
          <c:w val="0.88"/>
          <c:h val="0.74"/>
        </c:manualLayout>
      </c:layout>
      <c:barChart>
        <c:barDir val="col"/>
        <c:grouping val="clustered"/>
        <c:varyColors val="0"/>
        <c:ser>
          <c:idx val="0"/>
          <c:order val="0"/>
          <c:tx>
            <c:strRef>
              <c:f>Sheet1!$B$1</c:f>
              <c:strCache>
                <c:ptCount val="1"/>
                <c:pt idx="0">
                  <c:v>value</c:v>
                </c:pt>
              </c:strCache>
            </c:strRef>
          </c:tx>
          <c:spPr>
            <a:solidFill>
              <a:srgbClr val="BCC2CF"/>
            </a:solidFill>
            <a:ln>
              <a:noFill/>
            </a:ln>
          </c:spPr>
          <c:dPt>
            <c:idx val="8"/>
            <c:spPr>
              <a:solidFill>
                <a:srgbClr val="2E3A9E"/>
              </a:solidFill>
            </c:spPr>
          </c:dPt>
          <c:dLbls>
            <c:numFmt formatCode="0.0" sourceLinked="0"/>
            <c:txPr>
              <a:bodyPr/>
              <a:lstStyle/>
              <a:p>
                <a:pPr>
                  <a:defRPr sz="800" b="1" i="0">
                    <a:solidFill>
                      <a:srgbClr val="16181D"/>
                    </a:solidFill>
                    <a:latin typeface="Arial"/>
                  </a:defRPr>
                </a:pPr>
              </a:p>
            </c:txPr>
            <c:dLblPos val="outEnd"/>
            <c:showLegendKey val="0"/>
            <c:showVal val="1"/>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0.0</c:formatCode>
                <c:ptCount val="9"/>
                <c:pt idx="0">
                  <c:v>242.5</c:v>
                </c:pt>
                <c:pt idx="1">
                  <c:v>256.5</c:v>
                </c:pt>
                <c:pt idx="2">
                  <c:v>266.4</c:v>
                </c:pt>
                <c:pt idx="3">
                  <c:v>280.2</c:v>
                </c:pt>
                <c:pt idx="4">
                  <c:v>295.2</c:v>
                </c:pt>
                <c:pt idx="5">
                  <c:v>311.4</c:v>
                </c:pt>
                <c:pt idx="6">
                  <c:v>324.0</c:v>
                </c:pt>
                <c:pt idx="7">
                  <c:v>340.2</c:v>
                </c:pt>
                <c:pt idx="8">
                  <c:v>358.2</c:v>
                </c:pt>
              </c:numCache>
            </c:numRef>
          </c:val>
        </c:ser>
        <c:gapWidth val="45"/>
        <c:axId val="-2068027336"/>
        <c:axId val="-2113994440"/>
      </c:barChart>
      <c:catAx>
        <c:axId val="-2068027336"/>
        <c:scaling/>
        <c:delete val="0"/>
        <c:axPos val="b"/>
        <c:majorTickMark val="none"/>
        <c:minorTickMark val="none"/>
        <c:tickLblPos val="nextTo"/>
        <c:spPr>
          <a:ln w="9525">
            <a:solidFill>
              <a:srgbClr val="D3D7DF"/>
            </a:solidFill>
          </a:ln>
        </c:spPr>
        <c:txPr>
          <a:bodyPr rot="0" vert="horz"/>
          <a:lstStyle/>
          <a:p>
            <a:pPr>
              <a:defRPr sz="800" b="0" i="0">
                <a:solidFill>
                  <a:srgbClr val="596070"/>
                </a:solidFill>
                <a:latin typeface="Arial"/>
              </a:defRPr>
            </a:pPr>
          </a:p>
        </c:txPr>
        <c:crossAx val="-2113994440"/>
        <c:crosses val="autoZero"/>
        <c:auto val="1"/>
        <c:lblAlgn val="ctr"/>
        <c:lblOffset val="100"/>
        <c:noMultiLvlLbl val="0"/>
      </c:catAx>
      <c:valAx>
        <c:axId val="-2113994440"/>
        <c:scaling>
          <c:max val="400.0"/>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800" b="0" i="0">
          <a:solidFill>
            <a:srgbClr val="596070"/>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1"/>
          <c:y val="0.04"/>
          <c:w val="0.88"/>
          <c:h val="0.74"/>
        </c:manualLayout>
      </c:layout>
      <c:barChart>
        <c:barDir val="col"/>
        <c:grouping val="clustered"/>
        <c:varyColors val="0"/>
        <c:ser>
          <c:idx val="0"/>
          <c:order val="0"/>
          <c:tx>
            <c:strRef>
              <c:f>Sheet1!$B$1</c:f>
              <c:strCache>
                <c:ptCount val="1"/>
                <c:pt idx="0">
                  <c:v>value</c:v>
                </c:pt>
              </c:strCache>
            </c:strRef>
          </c:tx>
          <c:spPr>
            <a:solidFill>
              <a:srgbClr val="BCC2CF"/>
            </a:solidFill>
            <a:ln>
              <a:noFill/>
            </a:ln>
          </c:spPr>
          <c:dPt>
            <c:idx val="8"/>
            <c:spPr>
              <a:solidFill>
                <a:srgbClr val="2E3A9E"/>
              </a:solidFill>
            </c:spPr>
          </c:dPt>
          <c:dLbls>
            <c:dLbl>
              <c:idx val="8"/>
              <c:tx>
                <c:rich>
                  <a:bodyPr/>
                  <a:lstStyle/>
                  <a:p>
                    <a:r>
                      <a:rPr sz="800" b="1" i="0">
                        <a:solidFill>
                          <a:srgbClr val="16181D"/>
                        </a:solidFill>
                        <a:latin typeface="Arial"/>
                      </a:rPr>
                      <a:t>83</a:t>
                    </a:r>
                  </a:p>
                  <a:p>
                    <a:r>
                      <a:rPr sz="800" b="1" i="0">
                        <a:solidFill>
                          <a:srgbClr val="16181D"/>
                        </a:solidFill>
                        <a:latin typeface="Arial"/>
                      </a:rPr>
                      <a:t>record</a:t>
                    </a:r>
                  </a:p>
                </c:rich>
              </c:tx>
              <c:txPr>
                <a:bodyPr/>
                <a:lstStyle/>
                <a:p>
                  <a:pPr>
                    <a:defRPr sz="800" b="1" i="0">
                      <a:solidFill>
                        <a:srgbClr val="16181D"/>
                      </a:solidFill>
                      <a:latin typeface="Arial"/>
                    </a:defRPr>
                  </a:pPr>
                </a:p>
              </c:txPr>
              <c:dLblPos val="outEnd"/>
              <c:showLegendKey val="0"/>
              <c:showVal val="1"/>
              <c:showCatName val="0"/>
              <c:showSerName val="0"/>
              <c:showPercent val="0"/>
              <c:showBubbleSize val="0"/>
            </c:dLbl>
            <c:numFmt formatCode="0" sourceLinked="0"/>
            <c:txPr>
              <a:bodyPr/>
              <a:lstStyle/>
              <a:p>
                <a:pPr>
                  <a:defRPr sz="800" b="1" i="0">
                    <a:solidFill>
                      <a:srgbClr val="16181D"/>
                    </a:solidFill>
                    <a:latin typeface="Arial"/>
                  </a:defRPr>
                </a:pPr>
              </a:p>
            </c:txPr>
            <c:dLblPos val="outEnd"/>
            <c:showLegendKey val="0"/>
            <c:showVal val="1"/>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c:formatCode>
                <c:ptCount val="9"/>
                <c:pt idx="0">
                  <c:v>50</c:v>
                </c:pt>
                <c:pt idx="1">
                  <c:v>56</c:v>
                </c:pt>
                <c:pt idx="2">
                  <c:v>47</c:v>
                </c:pt>
                <c:pt idx="3">
                  <c:v>53</c:v>
                </c:pt>
                <c:pt idx="4">
                  <c:v>58</c:v>
                </c:pt>
                <c:pt idx="5">
                  <c:v>66</c:v>
                </c:pt>
                <c:pt idx="6">
                  <c:v>57</c:v>
                </c:pt>
                <c:pt idx="7">
                  <c:v>66</c:v>
                </c:pt>
                <c:pt idx="8">
                  <c:v>83</c:v>
                </c:pt>
              </c:numCache>
            </c:numRef>
          </c:val>
        </c:ser>
        <c:gapWidth val="45"/>
        <c:axId val="-2068027336"/>
        <c:axId val="-2113994440"/>
      </c:barChart>
      <c:catAx>
        <c:axId val="-2068027336"/>
        <c:scaling/>
        <c:delete val="0"/>
        <c:axPos val="b"/>
        <c:majorTickMark val="none"/>
        <c:minorTickMark val="none"/>
        <c:tickLblPos val="nextTo"/>
        <c:spPr>
          <a:ln w="9525">
            <a:solidFill>
              <a:srgbClr val="D3D7DF"/>
            </a:solidFill>
          </a:ln>
        </c:spPr>
        <c:txPr>
          <a:bodyPr rot="0" vert="horz"/>
          <a:lstStyle/>
          <a:p>
            <a:pPr>
              <a:defRPr sz="800" b="0" i="0">
                <a:solidFill>
                  <a:srgbClr val="596070"/>
                </a:solidFill>
                <a:latin typeface="Arial"/>
              </a:defRPr>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800" b="0" i="0">
          <a:solidFill>
            <a:srgbClr val="596070"/>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6"/>
          <c:y val="0.06"/>
          <c:w val="0.7"/>
          <c:h val="0.78"/>
        </c:manualLayout>
      </c:layout>
      <c:lineChart>
        <c:grouping val="standard"/>
        <c:varyColors val="0"/>
        <c:ser>
          <c:idx val="0"/>
          <c:order val="0"/>
          <c:tx>
            <c:strRef>
              <c:f>Sheet1!$B$1</c:f>
              <c:strCache>
                <c:ptCount val="1"/>
                <c:pt idx="0">
                  <c:v>ARR</c:v>
                </c:pt>
              </c:strCache>
            </c:strRef>
          </c:tx>
          <c:spPr>
            <a:ln w="25400">
              <a:solidFill>
                <a:srgbClr val="2E3A9E"/>
              </a:solidFill>
            </a:ln>
          </c:spPr>
          <c:marker>
            <c:symbol val="none"/>
          </c:marker>
          <c:dLbls>
            <c:dLbl>
              <c:idx val="0"/>
              <c:tx>
                <c:rich>
                  <a:bodyPr/>
                  <a:lstStyle/>
                  <a:p>
                    <a:r>
                      <a:rPr sz="800" b="1" i="0">
                        <a:solidFill>
                          <a:srgbClr val="2E3A9E"/>
                        </a:solidFill>
                        <a:latin typeface="Arial"/>
                      </a:rPr>
                      <a:t>26.5</a:t>
                    </a:r>
                  </a:p>
                </c:rich>
              </c:tx>
              <c:txPr>
                <a:bodyPr/>
                <a:lstStyle/>
                <a:p>
                  <a:pPr>
                    <a:defRPr sz="800" b="1" i="0">
                      <a:solidFill>
                        <a:srgbClr val="2E3A9E"/>
                      </a:solidFill>
                      <a:latin typeface="Arial"/>
                    </a:defRPr>
                  </a:pPr>
                </a:p>
              </c:txPr>
              <c:dLblPos val="b"/>
              <c:showLegendKey val="0"/>
              <c:showVal val="1"/>
              <c:showCatName val="0"/>
              <c:showSerName val="0"/>
              <c:showPercent val="0"/>
              <c:showBubbleSize val="0"/>
            </c:dLbl>
            <c:dLbl>
              <c:idx val="8"/>
              <c:tx>
                <c:rich>
                  <a:bodyPr/>
                  <a:lstStyle/>
                  <a:p>
                    <a:r>
                      <a:rPr sz="800" b="1" i="0">
                        <a:solidFill>
                          <a:srgbClr val="2E3A9E"/>
                        </a:solidFill>
                        <a:latin typeface="Arial"/>
                      </a:rPr>
                      <a:t>ARR 22.2</a:t>
                    </a:r>
                  </a:p>
                </c:rich>
              </c:tx>
              <c:txPr>
                <a:bodyPr/>
                <a:lstStyle/>
                <a:p>
                  <a:pPr>
                    <a:defRPr sz="800" b="1" i="0">
                      <a:solidFill>
                        <a:srgbClr val="2E3A9E"/>
                      </a:solidFill>
                      <a:latin typeface="Arial"/>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0.0</c:formatCode>
                <c:ptCount val="9"/>
                <c:pt idx="0">
                  <c:v>26.5</c:v>
                </c:pt>
                <c:pt idx="1">
                  <c:v>26.2</c:v>
                </c:pt>
                <c:pt idx="2">
                  <c:v>24.3</c:v>
                </c:pt>
                <c:pt idx="3">
                  <c:v>21.4</c:v>
                </c:pt>
                <c:pt idx="4">
                  <c:v>21.1</c:v>
                </c:pt>
                <c:pt idx="5">
                  <c:v>21.0</c:v>
                </c:pt>
                <c:pt idx="6">
                  <c:v>21.0</c:v>
                </c:pt>
                <c:pt idx="7">
                  <c:v>21.1</c:v>
                </c:pt>
                <c:pt idx="8">
                  <c:v>22.2</c:v>
                </c:pt>
              </c:numCache>
            </c:numRef>
          </c:val>
          <c:smooth val="0"/>
        </c:ser>
        <c:ser>
          <c:idx val="1"/>
          <c:order val="1"/>
          <c:tx>
            <c:strRef>
              <c:f>Sheet1!$C$1</c:f>
              <c:strCache>
                <c:ptCount val="1"/>
                <c:pt idx="0">
                  <c:v>Revenue</c:v>
                </c:pt>
              </c:strCache>
            </c:strRef>
          </c:tx>
          <c:spPr>
            <a:ln w="19050">
              <a:solidFill>
                <a:srgbClr val="BCC2CF"/>
              </a:solidFill>
            </a:ln>
          </c:spPr>
          <c:marker>
            <c:symbol val="none"/>
          </c:marker>
          <c:dLbls>
            <c:dLbl>
              <c:idx val="0"/>
              <c:tx>
                <c:rich>
                  <a:bodyPr/>
                  <a:lstStyle/>
                  <a:p>
                    <a:r>
                      <a:rPr sz="800" b="1" i="0">
                        <a:solidFill>
                          <a:srgbClr val="596070"/>
                        </a:solidFill>
                        <a:latin typeface="Arial"/>
                      </a:rPr>
                      <a:t>27.0</a:t>
                    </a:r>
                  </a:p>
                </c:rich>
              </c:tx>
              <c:txPr>
                <a:bodyPr/>
                <a:lstStyle/>
                <a:p>
                  <a:pPr>
                    <a:defRPr sz="800" b="1" i="0">
                      <a:solidFill>
                        <a:srgbClr val="596070"/>
                      </a:solidFill>
                      <a:latin typeface="Arial"/>
                    </a:defRPr>
                  </a:pPr>
                </a:p>
              </c:txPr>
              <c:dLblPos val="t"/>
              <c:showLegendKey val="0"/>
              <c:showVal val="1"/>
              <c:showCatName val="0"/>
              <c:showSerName val="0"/>
              <c:showPercent val="0"/>
              <c:showBubbleSize val="0"/>
            </c:dLbl>
            <c:dLbl>
              <c:idx val="8"/>
              <c:tx>
                <c:rich>
                  <a:bodyPr/>
                  <a:lstStyle/>
                  <a:p>
                    <a:r>
                      <a:rPr sz="800" b="1" i="0">
                        <a:solidFill>
                          <a:srgbClr val="596070"/>
                        </a:solidFill>
                        <a:latin typeface="Arial"/>
                      </a:rPr>
                      <a:t>Revenue 21.3</a:t>
                    </a:r>
                  </a:p>
                </c:rich>
              </c:tx>
              <c:txPr>
                <a:bodyPr/>
                <a:lstStyle/>
                <a:p>
                  <a:pPr>
                    <a:defRPr sz="800" b="1" i="0">
                      <a:solidFill>
                        <a:srgbClr val="596070"/>
                      </a:solidFill>
                      <a:latin typeface="Arial"/>
                    </a:defRPr>
                  </a:pPr>
                </a:p>
              </c:txPr>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Sheet1!$C$2:$C$10</c:f>
              <c:numCache>
                <c:formatCode>0.0</c:formatCode>
                <c:ptCount val="9"/>
                <c:pt idx="0">
                  <c:v>27.0</c:v>
                </c:pt>
                <c:pt idx="1">
                  <c:v>25.0</c:v>
                </c:pt>
                <c:pt idx="2">
                  <c:v>24.0</c:v>
                </c:pt>
                <c:pt idx="3">
                  <c:v>23.0</c:v>
                </c:pt>
                <c:pt idx="4">
                  <c:v>21.7</c:v>
                </c:pt>
                <c:pt idx="5">
                  <c:v>21.4</c:v>
                </c:pt>
                <c:pt idx="6">
                  <c:v>21.6</c:v>
                </c:pt>
                <c:pt idx="7">
                  <c:v>21.4</c:v>
                </c:pt>
                <c:pt idx="8">
                  <c:v>21.3</c:v>
                </c:pt>
              </c:numCache>
            </c:numRef>
          </c:val>
          <c:smooth val="0"/>
        </c:ser>
        <c:marker val="1"/>
        <c:smooth val="0"/>
        <c:axId val="2118791784"/>
        <c:axId val="2140495176"/>
      </c:lineChart>
      <c:catAx>
        <c:axId val="2118791784"/>
        <c:scaling/>
        <c:delete val="0"/>
        <c:axPos val="b"/>
        <c:majorTickMark val="none"/>
        <c:minorTickMark val="none"/>
        <c:tickLblPos val="none"/>
        <c:spPr>
          <a:ln w="9525">
            <a:solidFill>
              <a:srgbClr val="D3D7DF"/>
            </a:solidFill>
          </a:ln>
        </c:spPr>
        <c:txPr>
          <a:bodyPr rot="0" vert="horz"/>
          <a:lstStyle/>
          <a:p>
            <a:pPr>
              <a:defRPr/>
            </a:pPr>
          </a:p>
        </c:txPr>
        <c:crossAx val="2140495176"/>
        <c:crosses val="autoZero"/>
        <c:auto val="1"/>
        <c:lblAlgn val="ctr"/>
        <c:lblOffset val="100"/>
        <c:noMultiLvlLbl val="0"/>
      </c:catAx>
      <c:valAx>
        <c:axId val="2140495176"/>
        <c:scaling>
          <c:max val="28.5"/>
          <c:min val="19.0"/>
        </c:scaling>
        <c:delete/>
        <c:axPos val="l"/>
        <c:majorTickMark val="out"/>
        <c:minorTickMark val="none"/>
        <c:tickLblPos val="nextTo"/>
        <c:crossAx val="2118791784"/>
        <c:crosses val="autoZero"/>
        <c:crossBetween val="midCat"/>
      </c:valAx>
      <c:spPr>
        <a:noFill/>
      </c:spPr>
    </c:plotArea>
    <c:plotVisOnly val="1"/>
    <c:dispBlanksAs val="gap"/>
    <c:showDLblsOverMax val="0"/>
  </c:chart>
  <c:txPr>
    <a:bodyPr/>
    <a:lstStyle/>
    <a:p>
      <a:pPr>
        <a:defRPr sz="800" b="0" i="0">
          <a:solidFill>
            <a:srgbClr val="596070"/>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
          <c:y val="0.1"/>
          <c:w val="0.89"/>
          <c:h val="0.6"/>
        </c:manualLayout>
      </c:layout>
      <c:lineChart>
        <c:grouping val="standard"/>
        <c:varyColors val="0"/>
        <c:ser>
          <c:idx val="0"/>
          <c:order val="0"/>
          <c:tx>
            <c:strRef>
              <c:f>Sheet1!$B$1</c:f>
              <c:strCache>
                <c:ptCount val="1"/>
                <c:pt idx="0">
                  <c:v>Net revenue retention</c:v>
                </c:pt>
              </c:strCache>
            </c:strRef>
          </c:tx>
          <c:spPr>
            <a:ln w="25400">
              <a:solidFill>
                <a:srgbClr val="2E3A9E"/>
              </a:solidFill>
            </a:ln>
          </c:spPr>
          <c:marker>
            <c:symbol val="circle"/>
            <c:size val="5"/>
            <c:spPr>
              <a:solidFill>
                <a:srgbClr val="2E3A9E"/>
              </a:solidFill>
            </c:spPr>
          </c:marker>
          <c:dLbls>
            <c:dLbl>
              <c:idx val="5"/>
              <c:tx>
                <c:rich>
                  <a:bodyPr/>
                  <a:lstStyle/>
                  <a:p>
                    <a:r>
                      <a:rPr sz="800" b="1" i="0">
                        <a:solidFill>
                          <a:srgbClr val="2E3A9E"/>
                        </a:solidFill>
                        <a:latin typeface="Arial"/>
                      </a:rPr>
                      <a:t>116 low</a:t>
                    </a:r>
                  </a:p>
                </c:rich>
              </c:tx>
              <c:txPr>
                <a:bodyPr/>
                <a:lstStyle/>
                <a:p>
                  <a:pPr>
                    <a:defRPr sz="800" b="1" i="0">
                      <a:solidFill>
                        <a:srgbClr val="2E3A9E"/>
                      </a:solidFill>
                      <a:latin typeface="Arial"/>
                    </a:defRPr>
                  </a:pPr>
                </a:p>
              </c:txPr>
              <c:dLblPos val="b"/>
              <c:showLegendKey val="0"/>
              <c:showVal val="1"/>
              <c:showCatName val="0"/>
              <c:showSerName val="0"/>
              <c:showPercent val="0"/>
              <c:showBubbleSize val="0"/>
            </c:dLbl>
            <c:numFmt formatCode="0" sourceLinked="0"/>
            <c:txPr>
              <a:bodyPr/>
              <a:lstStyle/>
              <a:p>
                <a:pPr>
                  <a:defRPr sz="800" b="1" i="0">
                    <a:solidFill>
                      <a:srgbClr val="2E3A9E"/>
                    </a:solidFill>
                    <a:latin typeface="Arial"/>
                  </a:defRPr>
                </a:pPr>
              </a:p>
            </c:txPr>
            <c:dLblPos val="t"/>
            <c:showLegendKey val="0"/>
            <c:showVal val="1"/>
            <c:showCatName val="0"/>
            <c:showSerName val="0"/>
            <c:showPercent val="0"/>
            <c:showBubbleSize val="0"/>
            <c:showLeaderLines val="1"/>
          </c:dLbls>
          <c:cat>
            <c:strRef>
              <c:f>Sheet1!$A$2:$A$10</c:f>
              <c:strCache>
                <c:ptCount val="9"/>
                <c:pt idx="0">
                  <c:v>Q3'24</c:v>
                </c:pt>
                <c:pt idx="1">
                  <c:v>Q4'24</c:v>
                </c:pt>
                <c:pt idx="2">
                  <c:v>Q1'25</c:v>
                </c:pt>
                <c:pt idx="3">
                  <c:v>Q2'25</c:v>
                </c:pt>
                <c:pt idx="4">
                  <c:v>Q3'25</c:v>
                </c:pt>
                <c:pt idx="5">
                  <c:v>Q4'25</c:v>
                </c:pt>
                <c:pt idx="6">
                  <c:v>Q1'26</c:v>
                </c:pt>
                <c:pt idx="7">
                  <c:v>Q2'26</c:v>
                </c:pt>
                <c:pt idx="8">
                  <c:v>Q3'26</c:v>
                </c:pt>
              </c:strCache>
            </c:strRef>
          </c:cat>
          <c:val>
            <c:numRef>
              <c:f>Sheet1!$B$2:$B$10</c:f>
              <c:numCache>
                <c:formatCode>0</c:formatCode>
                <c:ptCount val="9"/>
                <c:pt idx="0">
                  <c:v>121</c:v>
                </c:pt>
                <c:pt idx="1">
                  <c:v>119</c:v>
                </c:pt>
                <c:pt idx="2">
                  <c:v>118</c:v>
                </c:pt>
                <c:pt idx="3">
                  <c:v>117</c:v>
                </c:pt>
                <c:pt idx="4">
                  <c:v>116</c:v>
                </c:pt>
                <c:pt idx="5">
                  <c:v>116</c:v>
                </c:pt>
                <c:pt idx="6">
                  <c:v>117</c:v>
                </c:pt>
                <c:pt idx="7">
                  <c:v>118</c:v>
                </c:pt>
                <c:pt idx="8">
                  <c:v>119</c:v>
                </c:pt>
              </c:numCache>
            </c:numRef>
          </c:val>
          <c:smooth val="0"/>
        </c:ser>
        <c:marker val="1"/>
        <c:smooth val="0"/>
        <c:axId val="2118791784"/>
        <c:axId val="2140495176"/>
      </c:lineChart>
      <c:catAx>
        <c:axId val="2118791784"/>
        <c:scaling/>
        <c:delete val="0"/>
        <c:axPos val="b"/>
        <c:majorTickMark val="none"/>
        <c:minorTickMark val="none"/>
        <c:tickLblPos val="nextTo"/>
        <c:spPr>
          <a:ln w="9525">
            <a:solidFill>
              <a:srgbClr val="D3D7DF"/>
            </a:solidFill>
          </a:ln>
        </c:spPr>
        <c:txPr>
          <a:bodyPr rot="0" vert="horz"/>
          <a:lstStyle/>
          <a:p>
            <a:pPr>
              <a:defRPr sz="800" b="0" i="0">
                <a:solidFill>
                  <a:srgbClr val="596070"/>
                </a:solidFill>
                <a:latin typeface="Arial"/>
              </a:defRPr>
            </a:pPr>
          </a:p>
        </c:txPr>
        <c:crossAx val="2140495176"/>
        <c:crosses val="autoZero"/>
        <c:auto val="1"/>
        <c:lblAlgn val="ctr"/>
        <c:lblOffset val="100"/>
        <c:noMultiLvlLbl val="0"/>
      </c:catAx>
      <c:valAx>
        <c:axId val="2140495176"/>
        <c:scaling>
          <c:max val="123.0"/>
          <c:min val="113.0"/>
        </c:scaling>
        <c:delete/>
        <c:axPos val="l"/>
        <c:majorTickMark val="out"/>
        <c:minorTickMark val="none"/>
        <c:tickLblPos val="nextTo"/>
        <c:crossAx val="2118791784"/>
        <c:crosses val="autoZero"/>
        <c:crossBetween val="between"/>
      </c:valAx>
      <c:spPr>
        <a:noFill/>
      </c:spPr>
    </c:plotArea>
    <c:plotVisOnly val="1"/>
    <c:dispBlanksAs val="gap"/>
    <c:showDLblsOverMax val="0"/>
  </c:chart>
  <c:txPr>
    <a:bodyPr/>
    <a:lstStyle/>
    <a:p>
      <a:pPr>
        <a:defRPr sz="800" b="0" i="0">
          <a:solidFill>
            <a:srgbClr val="596070"/>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7"/>
          <c:y val="0.04"/>
          <c:w val="0.86"/>
          <c:h val="0.86"/>
        </c:manualLayout>
      </c:layout>
      <c:lineChart>
        <c:grouping val="standard"/>
        <c:varyColors val="0"/>
        <c:ser>
          <c:idx val="0"/>
          <c:order val="0"/>
          <c:tx>
            <c:strRef>
              <c:f>Sheet1!$B$1</c:f>
              <c:strCache>
                <c:ptCount val="1"/>
                <c:pt idx="0">
                  <c:v>FY2021 cohort</c:v>
                </c:pt>
              </c:strCache>
            </c:strRef>
          </c:tx>
          <c:spPr>
            <a:ln w="19050">
              <a:solidFill>
                <a:srgbClr val="BCC2CF"/>
              </a:solidFill>
            </a:ln>
          </c:spPr>
          <c:marker>
            <c:symbol val="circle"/>
            <c:size val="5"/>
            <c:spPr>
              <a:solidFill>
                <a:srgbClr val="BCC2CF"/>
              </a:solidFill>
            </c:spPr>
          </c:marker>
          <c:dLbls>
            <c:dLbl>
              <c:idx val="4"/>
              <c:tx>
                <c:rich>
                  <a:bodyPr/>
                  <a:lstStyle/>
                  <a:p>
                    <a:r>
                      <a:rPr sz="800" b="1" i="0">
                        <a:solidFill>
                          <a:srgbClr val="596070"/>
                        </a:solidFill>
                        <a:latin typeface="Arial"/>
                      </a:rPr>
                      <a:t>FY2021 2.05x</a:t>
                    </a:r>
                  </a:p>
                </c:rich>
              </c:tx>
              <c:txPr>
                <a:bodyPr/>
                <a:lstStyle/>
                <a:p>
                  <a:pPr>
                    <a:defRPr sz="800" b="1" i="0">
                      <a:solidFill>
                        <a:srgbClr val="596070"/>
                      </a:solidFill>
                      <a:latin typeface="Arial"/>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Year 1</c:v>
                </c:pt>
                <c:pt idx="1">
                  <c:v>Year 2</c:v>
                </c:pt>
                <c:pt idx="2">
                  <c:v>Year 3</c:v>
                </c:pt>
                <c:pt idx="3">
                  <c:v>Year 4</c:v>
                </c:pt>
                <c:pt idx="4">
                  <c:v>Year 5</c:v>
                </c:pt>
              </c:strCache>
            </c:strRef>
          </c:cat>
          <c:val>
            <c:numRef>
              <c:f>Sheet1!$B$2:$B$6</c:f>
              <c:numCache>
                <c:formatCode>0.00</c:formatCode>
                <c:ptCount val="5"/>
                <c:pt idx="0">
                  <c:v>1.0</c:v>
                </c:pt>
                <c:pt idx="1">
                  <c:v>1.38</c:v>
                </c:pt>
                <c:pt idx="2">
                  <c:v>1.66</c:v>
                </c:pt>
                <c:pt idx="3">
                  <c:v>1.88</c:v>
                </c:pt>
                <c:pt idx="4">
                  <c:v>2.05</c:v>
                </c:pt>
              </c:numCache>
            </c:numRef>
          </c:val>
          <c:smooth val="0"/>
        </c:ser>
        <c:ser>
          <c:idx val="1"/>
          <c:order val="1"/>
          <c:tx>
            <c:strRef>
              <c:f>Sheet1!$C$1</c:f>
              <c:strCache>
                <c:ptCount val="1"/>
                <c:pt idx="0">
                  <c:v>FY2022 cohort</c:v>
                </c:pt>
              </c:strCache>
            </c:strRef>
          </c:tx>
          <c:spPr>
            <a:ln w="19050">
              <a:solidFill>
                <a:srgbClr val="BCC2CF"/>
              </a:solidFill>
            </a:ln>
          </c:spPr>
          <c:marker>
            <c:symbol val="circle"/>
            <c:size val="5"/>
            <c:spPr>
              <a:solidFill>
                <a:srgbClr val="BCC2CF"/>
              </a:solidFill>
            </c:spPr>
          </c:marker>
          <c:dLbls>
            <c:dLbl>
              <c:idx val="3"/>
              <c:tx>
                <c:rich>
                  <a:bodyPr/>
                  <a:lstStyle/>
                  <a:p>
                    <a:r>
                      <a:rPr sz="800" b="1" i="0">
                        <a:solidFill>
                          <a:srgbClr val="596070"/>
                        </a:solidFill>
                        <a:latin typeface="Arial"/>
                      </a:rPr>
                      <a:t>FY2022 1.82x</a:t>
                    </a:r>
                  </a:p>
                </c:rich>
              </c:tx>
              <c:txPr>
                <a:bodyPr/>
                <a:lstStyle/>
                <a:p>
                  <a:pPr>
                    <a:defRPr sz="800" b="1" i="0">
                      <a:solidFill>
                        <a:srgbClr val="596070"/>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Year 1</c:v>
                </c:pt>
                <c:pt idx="1">
                  <c:v>Year 2</c:v>
                </c:pt>
                <c:pt idx="2">
                  <c:v>Year 3</c:v>
                </c:pt>
                <c:pt idx="3">
                  <c:v>Year 4</c:v>
                </c:pt>
                <c:pt idx="4">
                  <c:v>Year 5</c:v>
                </c:pt>
              </c:strCache>
            </c:strRef>
          </c:cat>
          <c:val>
            <c:numRef>
              <c:f>Sheet1!$C$2:$C$6</c:f>
              <c:numCache>
                <c:formatCode>0.00</c:formatCode>
                <c:ptCount val="5"/>
                <c:pt idx="0">
                  <c:v>1.0</c:v>
                </c:pt>
                <c:pt idx="1">
                  <c:v>1.35</c:v>
                </c:pt>
                <c:pt idx="2">
                  <c:v>1.62</c:v>
                </c:pt>
                <c:pt idx="3">
                  <c:v>1.82</c:v>
                </c:pt>
              </c:numCache>
            </c:numRef>
          </c:val>
          <c:smooth val="0"/>
        </c:ser>
        <c:ser>
          <c:idx val="2"/>
          <c:order val="2"/>
          <c:tx>
            <c:strRef>
              <c:f>Sheet1!$D$1</c:f>
              <c:strCache>
                <c:ptCount val="1"/>
                <c:pt idx="0">
                  <c:v>FY2023 cohort</c:v>
                </c:pt>
              </c:strCache>
            </c:strRef>
          </c:tx>
          <c:spPr>
            <a:ln w="19050">
              <a:solidFill>
                <a:srgbClr val="BCC2CF"/>
              </a:solidFill>
            </a:ln>
          </c:spPr>
          <c:marker>
            <c:symbol val="circle"/>
            <c:size val="5"/>
            <c:spPr>
              <a:solidFill>
                <a:srgbClr val="BCC2CF"/>
              </a:solidFill>
            </c:spPr>
          </c:marker>
          <c:dLbls>
            <c:dLbl>
              <c:idx val="2"/>
              <c:tx>
                <c:rich>
                  <a:bodyPr/>
                  <a:lstStyle/>
                  <a:p>
                    <a:r>
                      <a:rPr sz="800" b="1" i="0">
                        <a:solidFill>
                          <a:srgbClr val="596070"/>
                        </a:solidFill>
                        <a:latin typeface="Arial"/>
                      </a:rPr>
                      <a:t>FY2023 1.71x</a:t>
                    </a:r>
                  </a:p>
                </c:rich>
              </c:tx>
              <c:txPr>
                <a:bodyPr/>
                <a:lstStyle/>
                <a:p>
                  <a:pPr>
                    <a:defRPr sz="800" b="1" i="0">
                      <a:solidFill>
                        <a:srgbClr val="596070"/>
                      </a:solidFill>
                      <a:latin typeface="Arial"/>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Year 1</c:v>
                </c:pt>
                <c:pt idx="1">
                  <c:v>Year 2</c:v>
                </c:pt>
                <c:pt idx="2">
                  <c:v>Year 3</c:v>
                </c:pt>
                <c:pt idx="3">
                  <c:v>Year 4</c:v>
                </c:pt>
                <c:pt idx="4">
                  <c:v>Year 5</c:v>
                </c:pt>
              </c:strCache>
            </c:strRef>
          </c:cat>
          <c:val>
            <c:numRef>
              <c:f>Sheet1!$D$2:$D$6</c:f>
              <c:numCache>
                <c:formatCode>0.00</c:formatCode>
                <c:ptCount val="5"/>
                <c:pt idx="0">
                  <c:v>1.0</c:v>
                </c:pt>
                <c:pt idx="1">
                  <c:v>1.41</c:v>
                </c:pt>
                <c:pt idx="2">
                  <c:v>1.71</c:v>
                </c:pt>
              </c:numCache>
            </c:numRef>
          </c:val>
          <c:smooth val="0"/>
        </c:ser>
        <c:ser>
          <c:idx val="3"/>
          <c:order val="3"/>
          <c:tx>
            <c:strRef>
              <c:f>Sheet1!$E$1</c:f>
              <c:strCache>
                <c:ptCount val="1"/>
                <c:pt idx="0">
                  <c:v>FY2024 cohort</c:v>
                </c:pt>
              </c:strCache>
            </c:strRef>
          </c:tx>
          <c:spPr>
            <a:ln w="28575">
              <a:solidFill>
                <a:srgbClr val="2E3A9E"/>
              </a:solidFill>
            </a:ln>
          </c:spPr>
          <c:marker>
            <c:symbol val="circle"/>
            <c:size val="5"/>
            <c:spPr>
              <a:solidFill>
                <a:srgbClr val="2E3A9E"/>
              </a:solidFill>
            </c:spPr>
          </c:marker>
          <c:dLbls>
            <c:dLbl>
              <c:idx val="1"/>
              <c:tx>
                <c:rich>
                  <a:bodyPr/>
                  <a:lstStyle/>
                  <a:p>
                    <a:r>
                      <a:rPr sz="800" b="1" i="0">
                        <a:solidFill>
                          <a:srgbClr val="2E3A9E"/>
                        </a:solidFill>
                        <a:latin typeface="Arial"/>
                      </a:rPr>
                      <a:t>FY2024 1.47x</a:t>
                    </a:r>
                  </a:p>
                </c:rich>
              </c:tx>
              <c:txPr>
                <a:bodyPr/>
                <a:lstStyle/>
                <a:p>
                  <a:pPr>
                    <a:defRPr sz="800" b="1" i="0">
                      <a:solidFill>
                        <a:srgbClr val="2E3A9E"/>
                      </a:solidFill>
                      <a:latin typeface="Arial"/>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Year 1</c:v>
                </c:pt>
                <c:pt idx="1">
                  <c:v>Year 2</c:v>
                </c:pt>
                <c:pt idx="2">
                  <c:v>Year 3</c:v>
                </c:pt>
                <c:pt idx="3">
                  <c:v>Year 4</c:v>
                </c:pt>
                <c:pt idx="4">
                  <c:v>Year 5</c:v>
                </c:pt>
              </c:strCache>
            </c:strRef>
          </c:cat>
          <c:val>
            <c:numRef>
              <c:f>Sheet1!$E$2:$E$6</c:f>
              <c:numCache>
                <c:formatCode>0.00</c:formatCode>
                <c:ptCount val="5"/>
                <c:pt idx="0">
                  <c:v>1.0</c:v>
                </c:pt>
                <c:pt idx="1">
                  <c:v>1.47</c:v>
                </c:pt>
              </c:numCache>
            </c:numRef>
          </c:val>
          <c:smooth val="0"/>
        </c:ser>
        <c:marker val="1"/>
        <c:smooth val="0"/>
        <c:axId val="2118791784"/>
        <c:axId val="2140495176"/>
      </c:lineChart>
      <c:catAx>
        <c:axId val="2118791784"/>
        <c:scaling/>
        <c:delete val="0"/>
        <c:axPos val="b"/>
        <c:majorTickMark val="none"/>
        <c:minorTickMark val="none"/>
        <c:tickLblPos val="nextTo"/>
        <c:spPr>
          <a:ln w="9525">
            <a:solidFill>
              <a:srgbClr val="D3D7DF"/>
            </a:solidFill>
          </a:ln>
        </c:spPr>
        <c:txPr>
          <a:bodyPr rot="0" vert="horz"/>
          <a:lstStyle/>
          <a:p>
            <a:pPr>
              <a:defRPr sz="800" b="0" i="0">
                <a:solidFill>
                  <a:srgbClr val="596070"/>
                </a:solidFill>
                <a:latin typeface="Arial"/>
              </a:defRPr>
            </a:pPr>
          </a:p>
        </c:txPr>
        <c:crossAx val="2140495176"/>
        <c:crosses val="autoZero"/>
        <c:auto val="1"/>
        <c:lblAlgn val="ctr"/>
        <c:lblOffset val="100"/>
        <c:noMultiLvlLbl val="0"/>
      </c:catAx>
      <c:valAx>
        <c:axId val="2140495176"/>
        <c:scaling>
          <c:max val="2.2"/>
          <c:min val="0.8"/>
        </c:scaling>
        <c:delete val="0"/>
        <c:axPos val="l"/>
        <c:majorGridlines>
          <c:spPr>
            <a:ln w="6350">
              <a:solidFill>
                <a:srgbClr val="D3D7DF"/>
              </a:solidFill>
            </a:ln>
          </c:spPr>
        </c:majorGridlines>
        <c:numFmt formatCode="0.0&quot;x&quot;" sourceLinked="0"/>
        <c:majorTickMark val="none"/>
        <c:minorTickMark val="none"/>
        <c:tickLblPos val="nextTo"/>
        <c:spPr>
          <a:ln>
            <a:noFill/>
          </a:ln>
        </c:spPr>
        <c:txPr>
          <a:bodyPr/>
          <a:lstStyle/>
          <a:p>
            <a:pPr>
              <a:defRPr sz="800" b="0" i="0">
                <a:solidFill>
                  <a:srgbClr val="596070"/>
                </a:solidFill>
                <a:latin typeface="Arial"/>
              </a:defRPr>
            </a:pPr>
          </a:p>
        </c:txPr>
        <c:crossAx val="2118791784"/>
        <c:crosses val="autoZero"/>
        <c:crossBetween val="midCat"/>
        <c:majorUnit val="0.2"/>
      </c:valAx>
      <c:spPr>
        <a:noFill/>
      </c:spPr>
    </c:plotArea>
    <c:plotVisOnly val="1"/>
    <c:dispBlanksAs val="gap"/>
    <c:showDLblsOverMax val="0"/>
  </c:chart>
  <c:txPr>
    <a:bodyPr/>
    <a:lstStyle/>
    <a:p>
      <a:pPr>
        <a:defRPr sz="800" b="0" i="0">
          <a:solidFill>
            <a:srgbClr val="596070"/>
          </a:solidFill>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03"/>
          <c:w val="0.96"/>
          <c:h val="0.85"/>
        </c:manualLayout>
      </c:layout>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Q3 FY25 margin</c:v>
                </c:pt>
                <c:pt idx="1">
                  <c:v>Gross margin</c:v>
                </c:pt>
                <c:pt idx="2">
                  <c:v>Sales and marketing</c:v>
                </c:pt>
                <c:pt idx="3">
                  <c:v>R&amp;D</c:v>
                </c:pt>
                <c:pt idx="4">
                  <c:v>G&amp;A</c:v>
                </c:pt>
                <c:pt idx="5">
                  <c:v>Q3 FY26 margin</c:v>
                </c:pt>
              </c:strCache>
            </c:strRef>
          </c:cat>
          <c:val>
            <c:numRef>
              <c:f>Sheet1!$B$2:$B$7</c:f>
              <c:numCache>
                <c:formatCode>0.0</c:formatCode>
                <c:ptCount val="6"/>
                <c:pt idx="0">
                  <c:v>0</c:v>
                </c:pt>
                <c:pt idx="1">
                  <c:v>11.2</c:v>
                </c:pt>
                <c:pt idx="2">
                  <c:v>12.0</c:v>
                </c:pt>
                <c:pt idx="3">
                  <c:v>15.1</c:v>
                </c:pt>
                <c:pt idx="4">
                  <c:v>16.0</c:v>
                </c:pt>
                <c:pt idx="5">
                  <c:v>0</c:v>
                </c:pt>
              </c:numCache>
            </c:numRef>
          </c:val>
        </c:ser>
        <c:ser>
          <c:idx val="1"/>
          <c:order val="1"/>
          <c:tx>
            <c:strRef>
              <c:f>Sheet1!$C$1</c:f>
              <c:strCache>
                <c:ptCount val="1"/>
                <c:pt idx="0">
                  <c:v>Step</c:v>
                </c:pt>
              </c:strCache>
            </c:strRef>
          </c:tx>
          <c:spPr>
            <a:solidFill>
              <a:srgbClr val="1F7A4D"/>
            </a:solidFill>
            <a:ln>
              <a:noFill/>
            </a:ln>
          </c:spPr>
          <c:dPt>
            <c:idx val="0"/>
            <c:spPr>
              <a:solidFill>
                <a:srgbClr val="BCC2CF"/>
              </a:solidFill>
            </c:spPr>
          </c:dPt>
          <c:dPt>
            <c:idx val="5"/>
            <c:spPr>
              <a:solidFill>
                <a:srgbClr val="2E3A9E"/>
              </a:solidFill>
            </c:spPr>
          </c:dPt>
          <c:cat>
            <c:strRef>
              <c:f>Sheet1!$A$2:$A$7</c:f>
              <c:strCache>
                <c:ptCount val="6"/>
                <c:pt idx="0">
                  <c:v>Q3 FY25 margin</c:v>
                </c:pt>
                <c:pt idx="1">
                  <c:v>Gross margin</c:v>
                </c:pt>
                <c:pt idx="2">
                  <c:v>Sales and marketing</c:v>
                </c:pt>
                <c:pt idx="3">
                  <c:v>R&amp;D</c:v>
                </c:pt>
                <c:pt idx="4">
                  <c:v>G&amp;A</c:v>
                </c:pt>
                <c:pt idx="5">
                  <c:v>Q3 FY26 margin</c:v>
                </c:pt>
              </c:strCache>
            </c:strRef>
          </c:cat>
          <c:val>
            <c:numRef>
              <c:f>Sheet1!$C$2:$C$7</c:f>
              <c:numCache>
                <c:formatCode>0.0</c:formatCode>
                <c:ptCount val="6"/>
                <c:pt idx="0">
                  <c:v>11.2</c:v>
                </c:pt>
                <c:pt idx="1">
                  <c:v>0.8</c:v>
                </c:pt>
                <c:pt idx="2">
                  <c:v>3.1</c:v>
                </c:pt>
                <c:pt idx="3">
                  <c:v>0.9</c:v>
                </c:pt>
                <c:pt idx="4">
                  <c:v>0.6</c:v>
                </c:pt>
                <c:pt idx="5">
                  <c:v>16.6</c:v>
                </c:pt>
              </c:numCache>
            </c:numRef>
          </c:val>
        </c:ser>
        <c:ser>
          <c:idx val="2"/>
          <c:order val="2"/>
          <c:tx>
            <c:strRef>
              <c:f>Sheet1!$D$1</c:f>
              <c:strCache>
                <c:ptCount val="1"/>
                <c:pt idx="0">
                  <c:v>Label</c:v>
                </c:pt>
              </c:strCache>
            </c:strRef>
          </c:tx>
          <c:spPr>
            <a:noFill/>
            <a:ln>
              <a:noFill/>
            </a:ln>
          </c:spPr>
          <c:dLbls>
            <c:dLbl>
              <c:idx val="0"/>
              <c:tx>
                <c:rich>
                  <a:bodyPr/>
                  <a:lstStyle/>
                  <a:p>
                    <a:r>
                      <a:rPr sz="800" b="1" i="0">
                        <a:solidFill>
                          <a:srgbClr val="16181D"/>
                        </a:solidFill>
                        <a:latin typeface="Arial"/>
                      </a:rPr>
                      <a:t>11.2%</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dLbl>
              <c:idx val="1"/>
              <c:tx>
                <c:rich>
                  <a:bodyPr/>
                  <a:lstStyle/>
                  <a:p>
                    <a:r>
                      <a:rPr sz="800" b="1" i="0">
                        <a:solidFill>
                          <a:srgbClr val="16181D"/>
                        </a:solidFill>
                        <a:latin typeface="Arial"/>
                      </a:rPr>
                      <a:t>+0.8</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dLbl>
              <c:idx val="2"/>
              <c:tx>
                <c:rich>
                  <a:bodyPr/>
                  <a:lstStyle/>
                  <a:p>
                    <a:r>
                      <a:rPr sz="800" b="1" i="0">
                        <a:solidFill>
                          <a:srgbClr val="16181D"/>
                        </a:solidFill>
                        <a:latin typeface="Arial"/>
                      </a:rPr>
                      <a:t>+3.1</a:t>
                    </a:r>
                  </a:p>
                  <a:p>
                    <a:r>
                      <a:rPr sz="800" b="1" i="0">
                        <a:solidFill>
                          <a:srgbClr val="16181D"/>
                        </a:solidFill>
                        <a:latin typeface="Arial"/>
                      </a:rPr>
                      <a:t>57% of gain</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dLbl>
              <c:idx val="3"/>
              <c:tx>
                <c:rich>
                  <a:bodyPr/>
                  <a:lstStyle/>
                  <a:p>
                    <a:r>
                      <a:rPr sz="800" b="1" i="0">
                        <a:solidFill>
                          <a:srgbClr val="16181D"/>
                        </a:solidFill>
                        <a:latin typeface="Arial"/>
                      </a:rPr>
                      <a:t>+0.9</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dLbl>
              <c:idx val="4"/>
              <c:tx>
                <c:rich>
                  <a:bodyPr/>
                  <a:lstStyle/>
                  <a:p>
                    <a:r>
                      <a:rPr sz="800" b="1" i="0">
                        <a:solidFill>
                          <a:srgbClr val="16181D"/>
                        </a:solidFill>
                        <a:latin typeface="Arial"/>
                      </a:rPr>
                      <a:t>+0.6</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dLbl>
              <c:idx val="5"/>
              <c:tx>
                <c:rich>
                  <a:bodyPr/>
                  <a:lstStyle/>
                  <a:p>
                    <a:r>
                      <a:rPr sz="800" b="1" i="0">
                        <a:solidFill>
                          <a:srgbClr val="16181D"/>
                        </a:solidFill>
                        <a:latin typeface="Arial"/>
                      </a:rPr>
                      <a:t>16.6%</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txPr>
              <a:bodyPr/>
              <a:lstStyle/>
              <a:p>
                <a:pPr>
                  <a:defRPr sz="800" b="1" i="0">
                    <a:solidFill>
                      <a:srgbClr val="16181D"/>
                    </a:solidFill>
                    <a:latin typeface="Arial"/>
                  </a:defRPr>
                </a:pPr>
              </a:p>
            </c:txPr>
            <c:dLblPos val="inBase"/>
            <c:showLegendKey val="0"/>
            <c:showVal val="1"/>
            <c:showCatName val="0"/>
            <c:showSerName val="0"/>
            <c:showPercent val="0"/>
            <c:showBubbleSize val="0"/>
            <c:showLeaderLines val="1"/>
          </c:dLbls>
          <c:cat>
            <c:strRef>
              <c:f>Sheet1!$A$2:$A$7</c:f>
              <c:strCache>
                <c:ptCount val="6"/>
                <c:pt idx="0">
                  <c:v>Q3 FY25 margin</c:v>
                </c:pt>
                <c:pt idx="1">
                  <c:v>Gross margin</c:v>
                </c:pt>
                <c:pt idx="2">
                  <c:v>Sales and marketing</c:v>
                </c:pt>
                <c:pt idx="3">
                  <c:v>R&amp;D</c:v>
                </c:pt>
                <c:pt idx="4">
                  <c:v>G&amp;A</c:v>
                </c:pt>
                <c:pt idx="5">
                  <c:v>Q3 FY26 margin</c:v>
                </c:pt>
              </c:strCache>
            </c:strRef>
          </c:cat>
          <c:val>
            <c:numRef>
              <c:f>Sheet1!$D$2:$D$7</c:f>
              <c:numCache>
                <c:formatCode>0.0</c:formatCode>
                <c:ptCount val="6"/>
                <c:pt idx="0">
                  <c:v>0</c:v>
                </c:pt>
                <c:pt idx="1">
                  <c:v>0</c:v>
                </c:pt>
                <c:pt idx="2">
                  <c:v>0</c:v>
                </c:pt>
                <c:pt idx="3">
                  <c:v>0</c:v>
                </c:pt>
                <c:pt idx="4">
                  <c:v>0</c:v>
                </c:pt>
                <c:pt idx="5">
                  <c:v>0</c:v>
                </c:pt>
              </c:numCache>
            </c:numRef>
          </c:val>
        </c:ser>
        <c:gapWidth val="45"/>
        <c:overlap val="100"/>
        <c:axId val="-2068027336"/>
        <c:axId val="-2113994440"/>
      </c:barChart>
      <c:catAx>
        <c:axId val="-2068027336"/>
        <c:scaling/>
        <c:delete val="0"/>
        <c:axPos val="b"/>
        <c:majorTickMark val="none"/>
        <c:minorTickMark val="none"/>
        <c:tickLblPos val="nextTo"/>
        <c:spPr>
          <a:ln w="9525">
            <a:solidFill>
              <a:srgbClr val="D3D7DF"/>
            </a:solidFill>
          </a:ln>
        </c:spPr>
        <c:txPr>
          <a:bodyPr rot="0" vert="horz"/>
          <a:lstStyle/>
          <a:p>
            <a:pPr>
              <a:defRPr sz="800" b="0" i="0">
                <a:solidFill>
                  <a:srgbClr val="596070"/>
                </a:solidFill>
                <a:latin typeface="Arial"/>
              </a:defRPr>
            </a:pPr>
          </a:p>
        </c:txPr>
        <c:crossAx val="-2113994440"/>
        <c:crosses val="autoZero"/>
        <c:auto val="1"/>
        <c:lblAlgn val="ctr"/>
        <c:lblOffset val="100"/>
        <c:noMultiLvlLbl val="0"/>
      </c:catAx>
      <c:valAx>
        <c:axId val="-2113994440"/>
        <c:scaling>
          <c:max val="17.6"/>
          <c:min val="8.0"/>
        </c:scaling>
        <c:delete/>
        <c:axPos val="l"/>
        <c:majorTickMark val="out"/>
        <c:minorTickMark val="none"/>
        <c:tickLblPos val="nextTo"/>
        <c:crossAx val="-2068027336"/>
        <c:crosses val="autoZero"/>
        <c:crossBetween val="between"/>
      </c:valAx>
      <c:spPr>
        <a:noFill/>
      </c:spPr>
    </c:plotArea>
    <c:dispBlanksAs val="gap"/>
  </c:chart>
  <c:txPr>
    <a:bodyPr/>
    <a:lstStyle/>
    <a:p>
      <a:pPr>
        <a:defRPr sz="800" b="0" i="0">
          <a:solidFill>
            <a:srgbClr val="596070"/>
          </a:solidFill>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6"/>
          <c:y val="0.06"/>
          <c:w val="0.7"/>
          <c:h val="0.84"/>
        </c:manualLayout>
      </c:layout>
      <c:barChart>
        <c:barDir val="bar"/>
        <c:grouping val="stacked"/>
        <c:varyColors val="0"/>
        <c:ser>
          <c:idx val="0"/>
          <c:order val="0"/>
          <c:tx>
            <c:strRef>
              <c:f>Sheet1!$B$1</c:f>
              <c:strCache>
                <c:ptCount val="1"/>
                <c:pt idx="0">
                  <c:v>Low</c:v>
                </c:pt>
              </c:strCache>
            </c:strRef>
          </c:tx>
          <c:spPr>
            <a:noFill/>
            <a:ln>
              <a:noFill/>
            </a:ln>
          </c:spPr>
          <c:dLbls>
            <c:numFmt formatCode="#,##0.0" sourceLinked="0"/>
            <c:txPr>
              <a:bodyPr/>
              <a:lstStyle/>
              <a:p>
                <a:pPr>
                  <a:defRPr sz="800" b="1" i="0">
                    <a:solidFill>
                      <a:srgbClr val="16181D"/>
                    </a:solidFill>
                    <a:latin typeface="Arial"/>
                  </a:defRPr>
                </a:pPr>
              </a:p>
            </c:txPr>
            <c:dLblPos val="inEnd"/>
            <c:showLegendKey val="0"/>
            <c:showVal val="1"/>
            <c:showCatName val="0"/>
            <c:showSerName val="0"/>
            <c:showPercent val="0"/>
            <c:showBubbleSize val="0"/>
            <c:showLeaderLines val="1"/>
          </c:dLbls>
          <c:cat>
            <c:strRef>
              <c:f>Sheet1!$A$2:$A$5</c:f>
              <c:strCache>
                <c:ptCount val="4"/>
                <c:pt idx="0">
                  <c:v>Initial (Feb)</c:v>
                </c:pt>
                <c:pt idx="1">
                  <c:v>After Q1 (May)</c:v>
                </c:pt>
                <c:pt idx="2">
                  <c:v>After Q2 (Aug)</c:v>
                </c:pt>
                <c:pt idx="3">
                  <c:v>After Q3 (Oct)</c:v>
                </c:pt>
              </c:strCache>
            </c:strRef>
          </c:cat>
          <c:val>
            <c:numRef>
              <c:f>Sheet1!$B$2:$B$5</c:f>
              <c:numCache>
                <c:formatCode>#,##0.0</c:formatCode>
                <c:ptCount val="4"/>
                <c:pt idx="0">
                  <c:v>1355.0</c:v>
                </c:pt>
                <c:pt idx="1">
                  <c:v>1367.0</c:v>
                </c:pt>
                <c:pt idx="2">
                  <c:v>1379.0</c:v>
                </c:pt>
                <c:pt idx="3">
                  <c:v>1394.4</c:v>
                </c:pt>
              </c:numCache>
            </c:numRef>
          </c:val>
        </c:ser>
        <c:ser>
          <c:idx val="1"/>
          <c:order val="1"/>
          <c:tx>
            <c:strRef>
              <c:f>Sheet1!$C$1</c:f>
              <c:strCache>
                <c:ptCount val="1"/>
                <c:pt idx="0">
                  <c:v>Range</c:v>
                </c:pt>
              </c:strCache>
            </c:strRef>
          </c:tx>
          <c:spPr>
            <a:solidFill>
              <a:srgbClr val="BCC2CF"/>
            </a:solidFill>
            <a:ln>
              <a:noFill/>
            </a:ln>
          </c:spPr>
          <c:dPt>
            <c:idx val="3"/>
            <c:spPr>
              <a:solidFill>
                <a:srgbClr val="A9650A"/>
              </a:solidFill>
            </c:spPr>
          </c:dPt>
          <c:cat>
            <c:strRef>
              <c:f>Sheet1!$A$2:$A$5</c:f>
              <c:strCache>
                <c:ptCount val="4"/>
                <c:pt idx="0">
                  <c:v>Initial (Feb)</c:v>
                </c:pt>
                <c:pt idx="1">
                  <c:v>After Q1 (May)</c:v>
                </c:pt>
                <c:pt idx="2">
                  <c:v>After Q2 (Aug)</c:v>
                </c:pt>
                <c:pt idx="3">
                  <c:v>After Q3 (Oct)</c:v>
                </c:pt>
              </c:strCache>
            </c:strRef>
          </c:cat>
          <c:val>
            <c:numRef>
              <c:f>Sheet1!$C$2:$C$5</c:f>
              <c:numCache>
                <c:formatCode>#,##0.0</c:formatCode>
                <c:ptCount val="4"/>
                <c:pt idx="0">
                  <c:v>10.0</c:v>
                </c:pt>
                <c:pt idx="1">
                  <c:v>10.0</c:v>
                </c:pt>
                <c:pt idx="2">
                  <c:v>10.0</c:v>
                </c:pt>
                <c:pt idx="3">
                  <c:v>4.0</c:v>
                </c:pt>
              </c:numCache>
            </c:numRef>
          </c:val>
        </c:ser>
        <c:ser>
          <c:idx val="2"/>
          <c:order val="2"/>
          <c:tx>
            <c:strRef>
              <c:f>Sheet1!$D$1</c:f>
              <c:strCache>
                <c:ptCount val="1"/>
                <c:pt idx="0">
                  <c:v>High label</c:v>
                </c:pt>
              </c:strCache>
            </c:strRef>
          </c:tx>
          <c:spPr>
            <a:noFill/>
            <a:ln>
              <a:noFill/>
            </a:ln>
          </c:spPr>
          <c:dLbls>
            <c:dLbl>
              <c:idx val="0"/>
              <c:tx>
                <c:rich>
                  <a:bodyPr/>
                  <a:lstStyle/>
                  <a:p>
                    <a:r>
                      <a:rPr sz="800" b="1" i="0">
                        <a:solidFill>
                          <a:srgbClr val="16181D"/>
                        </a:solidFill>
                        <a:latin typeface="Arial"/>
                      </a:rPr>
                      <a:t>1,365.0</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dLbl>
              <c:idx val="1"/>
              <c:tx>
                <c:rich>
                  <a:bodyPr/>
                  <a:lstStyle/>
                  <a:p>
                    <a:r>
                      <a:rPr sz="800" b="1" i="0">
                        <a:solidFill>
                          <a:srgbClr val="16181D"/>
                        </a:solidFill>
                        <a:latin typeface="Arial"/>
                      </a:rPr>
                      <a:t>1,377.0</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dLbl>
              <c:idx val="2"/>
              <c:tx>
                <c:rich>
                  <a:bodyPr/>
                  <a:lstStyle/>
                  <a:p>
                    <a:r>
                      <a:rPr sz="800" b="1" i="0">
                        <a:solidFill>
                          <a:srgbClr val="16181D"/>
                        </a:solidFill>
                        <a:latin typeface="Arial"/>
                      </a:rPr>
                      <a:t>1,389.0</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dLbl>
              <c:idx val="3"/>
              <c:tx>
                <c:rich>
                  <a:bodyPr/>
                  <a:lstStyle/>
                  <a:p>
                    <a:r>
                      <a:rPr sz="800" b="1" i="0">
                        <a:solidFill>
                          <a:srgbClr val="16181D"/>
                        </a:solidFill>
                        <a:latin typeface="Arial"/>
                      </a:rPr>
                      <a:t>1,398.4</a:t>
                    </a:r>
                  </a:p>
                </c:rich>
              </c:tx>
              <c:txPr>
                <a:bodyPr/>
                <a:lstStyle/>
                <a:p>
                  <a:pPr>
                    <a:defRPr sz="800" b="1" i="0">
                      <a:solidFill>
                        <a:srgbClr val="16181D"/>
                      </a:solidFill>
                      <a:latin typeface="Arial"/>
                    </a:defRPr>
                  </a:pPr>
                </a:p>
              </c:txPr>
              <c:dLblPos val="inBase"/>
              <c:showLegendKey val="0"/>
              <c:showVal val="1"/>
              <c:showCatName val="0"/>
              <c:showSerName val="0"/>
              <c:showPercent val="0"/>
              <c:showBubbleSize val="0"/>
            </c:dLbl>
            <c:txPr>
              <a:bodyPr/>
              <a:lstStyle/>
              <a:p>
                <a:pPr>
                  <a:defRPr sz="800" b="1" i="0">
                    <a:solidFill>
                      <a:srgbClr val="16181D"/>
                    </a:solidFill>
                    <a:latin typeface="Arial"/>
                  </a:defRPr>
                </a:pPr>
              </a:p>
            </c:txPr>
            <c:dLblPos val="inBase"/>
            <c:showLegendKey val="0"/>
            <c:showVal val="1"/>
            <c:showCatName val="0"/>
            <c:showSerName val="0"/>
            <c:showPercent val="0"/>
            <c:showBubbleSize val="0"/>
            <c:showLeaderLines val="1"/>
          </c:dLbls>
          <c:cat>
            <c:strRef>
              <c:f>Sheet1!$A$2:$A$5</c:f>
              <c:strCache>
                <c:ptCount val="4"/>
                <c:pt idx="0">
                  <c:v>Initial (Feb)</c:v>
                </c:pt>
                <c:pt idx="1">
                  <c:v>After Q1 (May)</c:v>
                </c:pt>
                <c:pt idx="2">
                  <c:v>After Q2 (Aug)</c:v>
                </c:pt>
                <c:pt idx="3">
                  <c:v>After Q3 (Oct)</c:v>
                </c:pt>
              </c:strCache>
            </c:strRef>
          </c:cat>
          <c:val>
            <c:numRef>
              <c:f>Sheet1!$D$2:$D$5</c:f>
              <c:numCache>
                <c:formatCode>#,##0.0</c:formatCode>
                <c:ptCount val="4"/>
                <c:pt idx="0">
                  <c:v>5.0</c:v>
                </c:pt>
                <c:pt idx="1">
                  <c:v>5.0</c:v>
                </c:pt>
                <c:pt idx="2">
                  <c:v>5.0</c:v>
                </c:pt>
                <c:pt idx="3">
                  <c:v>5.0</c:v>
                </c:pt>
              </c:numCache>
            </c:numRef>
          </c:val>
        </c:ser>
        <c:gapWidth val="90"/>
        <c:overlap val="100"/>
        <c:axId val="-2068027336"/>
        <c:axId val="-2113994440"/>
      </c:barChart>
      <c:catAx>
        <c:axId val="-2068027336"/>
        <c:scaling>
          <c:orientation val="maxMin"/>
        </c:scaling>
        <c:delete val="0"/>
        <c:axPos val="l"/>
        <c:majorTickMark val="none"/>
        <c:minorTickMark val="none"/>
        <c:tickLblPos val="nextTo"/>
        <c:spPr>
          <a:ln w="9525">
            <a:solidFill>
              <a:srgbClr val="D3D7DF"/>
            </a:solidFill>
          </a:ln>
        </c:spPr>
        <c:txPr>
          <a:bodyPr rot="0" vert="horz"/>
          <a:lstStyle/>
          <a:p>
            <a:pPr>
              <a:defRPr sz="800" b="0" i="0">
                <a:solidFill>
                  <a:srgbClr val="596070"/>
                </a:solidFill>
                <a:latin typeface="Arial"/>
              </a:defRPr>
            </a:pPr>
          </a:p>
        </c:txPr>
        <c:crossAx val="-2113994440"/>
        <c:crosses val="autoZero"/>
        <c:auto val="1"/>
        <c:lblAlgn val="ctr"/>
        <c:lblOffset val="100"/>
        <c:noMultiLvlLbl val="0"/>
      </c:catAx>
      <c:valAx>
        <c:axId val="-2113994440"/>
        <c:scaling>
          <c:max val="1405.0"/>
          <c:min val="1340.0"/>
        </c:scaling>
        <c:delete val="0"/>
        <c:axPos val="b"/>
        <c:numFmt formatCode="#,##0" sourceLinked="0"/>
        <c:majorTickMark val="out"/>
        <c:minorTickMark val="none"/>
        <c:tickLblPos val="nextTo"/>
        <c:spPr>
          <a:ln w="9525">
            <a:solidFill>
              <a:srgbClr val="D3D7DF"/>
            </a:solidFill>
          </a:ln>
        </c:spPr>
        <c:txPr>
          <a:bodyPr/>
          <a:lstStyle/>
          <a:p>
            <a:pPr>
              <a:defRPr sz="800" b="0" i="0">
                <a:solidFill>
                  <a:srgbClr val="596070"/>
                </a:solidFill>
                <a:latin typeface="Arial"/>
              </a:defRPr>
            </a:pPr>
          </a:p>
        </c:txPr>
        <c:crossAx val="-2068027336"/>
        <c:crosses val="autoZero"/>
        <c:crossBetween val="between"/>
        <c:majorUnit val="10.0"/>
      </c:valAx>
      <c:spPr>
        <a:noFill/>
      </c:spPr>
    </c:plotArea>
    <c:dispBlanksAs val="gap"/>
  </c:chart>
  <c:txPr>
    <a:bodyPr/>
    <a:lstStyle/>
    <a:p>
      <a:pPr>
        <a:defRPr sz="800" b="0" i="0">
          <a:solidFill>
            <a:srgbClr val="59607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Corvane Software is a fictional company and every figure on this page is invented for this example, computed by figures.py. Headline metrics for the quarter ended 30 September 2026, against Q3 FY25 and against the range guided in August.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Corvane Software is a fictional company and every figure on this page is invented for this example, computed by figures.py. Nine quarters, Q3 FY24 to Q3 FY26; Q3 FY26 in indigo, earlier quarters in slate.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Corvane Software is a fictional company and every figure on this page is invented for this example, computed by figures.py. Retention is trailing four quarters. The FY2024 cohort reached 1.47x its first-year ARR in year two, against 1.35-1.41x for earlier cohorts.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Corvane Software is a fictional company and every figure on this page is invented for this example, computed by figures.py. The bridge ties: 11.2 + 0.8 + 3.1 + 0.9 + 0.6 = 16.6. The reconciliation ties in every quarter.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Corvane Software is a fictional company and every figure on this page is invented for this example, computed by figures.py. FY2026 guidance equals year-to-date revenue of $1,022.4M plus the Q4 range of $372.0-376.0M.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tags" Target="../tags/tag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tags" Target="../tags/tag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chart" Target="../charts/chart11.xml"/><Relationship Id="rId4" Type="http://schemas.openxmlformats.org/officeDocument/2006/relationships/tags" Target="../tags/tag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tags" Target="../tags/tag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 Id="rId3" Type="http://schemas.openxmlformats.org/officeDocument/2006/relationships/tags" Target="../tags/tag5.xml"/><Relationship Id="rId4"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 name="chrome-1"/>
          <p:cNvSpPr txBox="1"/>
          <p:nvPr/>
        </p:nvSpPr>
        <p:spPr>
          <a:xfrm>
            <a:off x="457200" y="6510528"/>
            <a:ext cx="7315200" cy="182880"/>
          </a:xfrm>
          <a:prstGeom prst="rect">
            <a:avLst/>
          </a:prstGeom>
          <a:noFill/>
        </p:spPr>
        <p:txBody>
          <a:bodyPr wrap="none" lIns="0" tIns="0" rIns="0" bIns="0" anchor="t">
            <a:noAutofit/>
          </a:bodyPr>
          <a:lstStyle/>
          <a:p>
            <a:r>
              <a:rPr sz="750" b="0">
                <a:solidFill>
                  <a:srgbClr val="596070"/>
                </a:solidFill>
                <a:latin typeface="Arial"/>
              </a:rPr>
              <a:t>Corvane Software (fictional company)  |  Q3 FY2026 earnings  |  Illustrative figures, non-GAAP unless stated</a:t>
            </a:r>
          </a:p>
        </p:txBody>
      </p:sp>
      <p:sp>
        <p:nvSpPr>
          <p:cNvPr id="51" name="chrome-2"/>
          <p:cNvSpPr txBox="1"/>
          <p:nvPr/>
        </p:nvSpPr>
        <p:spPr>
          <a:xfrm>
            <a:off x="11274552" y="6510528"/>
            <a:ext cx="457200" cy="182880"/>
          </a:xfrm>
          <a:prstGeom prst="rect">
            <a:avLst/>
          </a:prstGeom>
          <a:noFill/>
        </p:spPr>
        <p:txBody>
          <a:bodyPr wrap="none" lIns="0" tIns="0" rIns="0" bIns="0" anchor="t">
            <a:noAutofit/>
          </a:bodyPr>
          <a:lstStyle/>
          <a:p>
            <a:pPr algn="r"/>
            <a:fld id="{B6F15528-21DE-4FAA-801E-634DDDAF5B2F}" type="slidenum">
              <a:rPr sz="750">
                <a:solidFill>
                  <a:srgbClr val="596070"/>
                </a:solidFill>
                <a:latin typeface="Arial"/>
              </a:rPr>
              <a:t>1</a:t>
            </a:fld>
          </a:p>
        </p:txBody>
      </p:sp>
      <p:sp>
        <p:nvSpPr>
          <p:cNvPr id="2" name="kicker"/>
          <p:cNvSpPr/>
          <p:nvPr/>
        </p:nvSpPr>
        <p:spPr>
          <a:xfrm>
            <a:off x="457200" y="457200"/>
            <a:ext cx="11277600"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2E3A9E"/>
                </a:solidFill>
                <a:latin typeface="Arial"/>
              </a:rPr>
              <a:t>Q3 FY2026 RESULTS  |  HIGHLIGHTS</a:t>
            </a:r>
          </a:p>
        </p:txBody>
      </p:sp>
      <p:sp>
        <p:nvSpPr>
          <p:cNvPr id="3" name="title"/>
          <p:cNvSpPr/>
          <p:nvPr/>
        </p:nvSpPr>
        <p:spPr>
          <a:xfrm>
            <a:off x="457200" y="621792"/>
            <a:ext cx="11277600" cy="533400"/>
          </a:xfrm>
          <a:prstGeom prst="rect">
            <a:avLst/>
          </a:prstGeom>
          <a:noFill/>
        </p:spPr>
        <p:txBody>
          <a:bodyPr wrap="square" lIns="0" tIns="0" rIns="0" bIns="0" anchor="t">
            <a:noAutofit/>
          </a:bodyPr>
          <a:lstStyle/>
          <a:p>
            <a:pPr algn="l" marL="0" indent="0">
              <a:lnSpc>
                <a:spcPts val="2100"/>
              </a:lnSpc>
              <a:spcBef>
                <a:spcPts val="0"/>
              </a:spcBef>
              <a:spcAft>
                <a:spcPts val="0"/>
              </a:spcAft>
              <a:buNone/>
            </a:pPr>
            <a:r>
              <a:rPr sz="2000" b="1" i="0">
                <a:solidFill>
                  <a:srgbClr val="16181D"/>
                </a:solidFill>
                <a:latin typeface="Arial"/>
              </a:rPr>
              <a:t>Revenue grew 21.3% to $358.2M and operating margin widened 5.4 points to 16.6%, both</a:t>
            </a:r>
            <a:br/>
            <a:r>
              <a:rPr sz="2000" b="1" i="0">
                <a:solidFill>
                  <a:srgbClr val="16181D"/>
                </a:solidFill>
                <a:latin typeface="Arial"/>
              </a:rPr>
              <a:t>above guidance</a:t>
            </a:r>
          </a:p>
        </p:txBody>
      </p:sp>
      <p:sp>
        <p:nvSpPr>
          <p:cNvPr id="4" name="tile1-fill"/>
          <p:cNvSpPr/>
          <p:nvPr/>
        </p:nvSpPr>
        <p:spPr>
          <a:xfrm>
            <a:off x="457200" y="1264920"/>
            <a:ext cx="1788160" cy="1758188"/>
          </a:xfrm>
          <a:prstGeom prst="rect">
            <a:avLst/>
          </a:prstGeom>
          <a:solidFill>
            <a:srgbClr val="F0F2F6"/>
          </a:solidFill>
          <a:ln>
            <a:noFill/>
          </a:ln>
        </p:spPr>
        <p:txBody>
          <a:bodyPr rtlCol="0" anchor="ctr"/>
          <a:lstStyle/>
          <a:p>
            <a:pPr algn="ctr"/>
          </a:p>
        </p:txBody>
      </p:sp>
      <p:sp>
        <p:nvSpPr>
          <p:cNvPr id="5" name="t1l"/>
          <p:cNvSpPr/>
          <p:nvPr/>
        </p:nvSpPr>
        <p:spPr>
          <a:xfrm>
            <a:off x="566928" y="1374648"/>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Total revenue</a:t>
            </a:r>
          </a:p>
        </p:txBody>
      </p:sp>
      <p:sp>
        <p:nvSpPr>
          <p:cNvPr id="6" name="t1v"/>
          <p:cNvSpPr/>
          <p:nvPr/>
        </p:nvSpPr>
        <p:spPr>
          <a:xfrm>
            <a:off x="566928" y="1524000"/>
            <a:ext cx="1568704" cy="279400"/>
          </a:xfrm>
          <a:prstGeom prst="rect">
            <a:avLst/>
          </a:prstGeom>
          <a:noFill/>
        </p:spPr>
        <p:txBody>
          <a:bodyPr wrap="square" lIns="0" tIns="0" rIns="0" bIns="0" anchor="t">
            <a:noAutofit/>
          </a:bodyPr>
          <a:lstStyle/>
          <a:p>
            <a:pPr algn="l" marL="0" indent="0">
              <a:lnSpc>
                <a:spcPts val="2200"/>
              </a:lnSpc>
              <a:spcBef>
                <a:spcPts val="0"/>
              </a:spcBef>
              <a:spcAft>
                <a:spcPts val="0"/>
              </a:spcAft>
              <a:buNone/>
            </a:pPr>
            <a:r>
              <a:rPr sz="2200" b="1" i="0">
                <a:solidFill>
                  <a:srgbClr val="2E3A9E"/>
                </a:solidFill>
                <a:latin typeface="Arial"/>
              </a:rPr>
              <a:t>$358.2M</a:t>
            </a:r>
          </a:p>
        </p:txBody>
      </p:sp>
      <p:sp>
        <p:nvSpPr>
          <p:cNvPr id="7" name="t1c"/>
          <p:cNvSpPr/>
          <p:nvPr/>
        </p:nvSpPr>
        <p:spPr>
          <a:xfrm>
            <a:off x="566928" y="1830832"/>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16181D"/>
                </a:solidFill>
                <a:latin typeface="Arial"/>
              </a:rPr>
              <a:t>+21.3% year on year</a:t>
            </a:r>
          </a:p>
        </p:txBody>
      </p:sp>
      <p:graphicFrame>
        <p:nvGraphicFramePr>
          <p:cNvPr id="8" name="sp1"/>
          <p:cNvGraphicFramePr>
            <a:graphicFrameLocks noGrp="1"/>
          </p:cNvGraphicFramePr>
          <p:nvPr/>
        </p:nvGraphicFramePr>
        <p:xfrm>
          <a:off x="566928" y="1980184"/>
          <a:ext cx="1568704" cy="933196"/>
        </p:xfrm>
        <a:graphic>
          <a:graphicData uri="http://schemas.openxmlformats.org/drawingml/2006/chart">
            <c:chart xmlns:c="http://schemas.openxmlformats.org/drawingml/2006/chart" r:id="rId2"/>
          </a:graphicData>
        </a:graphic>
      </p:graphicFrame>
      <p:sp>
        <p:nvSpPr>
          <p:cNvPr id="9" name="tile2-fill"/>
          <p:cNvSpPr/>
          <p:nvPr/>
        </p:nvSpPr>
        <p:spPr>
          <a:xfrm>
            <a:off x="2355088" y="1264920"/>
            <a:ext cx="1788160" cy="1758188"/>
          </a:xfrm>
          <a:prstGeom prst="rect">
            <a:avLst/>
          </a:prstGeom>
          <a:solidFill>
            <a:srgbClr val="F0F2F6"/>
          </a:solidFill>
          <a:ln>
            <a:noFill/>
          </a:ln>
        </p:spPr>
        <p:txBody>
          <a:bodyPr rtlCol="0" anchor="ctr"/>
          <a:lstStyle/>
          <a:p>
            <a:pPr algn="ctr"/>
          </a:p>
        </p:txBody>
      </p:sp>
      <p:sp>
        <p:nvSpPr>
          <p:cNvPr id="10" name="t2l"/>
          <p:cNvSpPr/>
          <p:nvPr/>
        </p:nvSpPr>
        <p:spPr>
          <a:xfrm>
            <a:off x="2464816" y="1374648"/>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Ending ARR</a:t>
            </a:r>
          </a:p>
        </p:txBody>
      </p:sp>
      <p:sp>
        <p:nvSpPr>
          <p:cNvPr id="11" name="t2v"/>
          <p:cNvSpPr/>
          <p:nvPr/>
        </p:nvSpPr>
        <p:spPr>
          <a:xfrm>
            <a:off x="2464816" y="1524000"/>
            <a:ext cx="1568704" cy="279400"/>
          </a:xfrm>
          <a:prstGeom prst="rect">
            <a:avLst/>
          </a:prstGeom>
          <a:noFill/>
        </p:spPr>
        <p:txBody>
          <a:bodyPr wrap="square" lIns="0" tIns="0" rIns="0" bIns="0" anchor="t">
            <a:noAutofit/>
          </a:bodyPr>
          <a:lstStyle/>
          <a:p>
            <a:pPr algn="l" marL="0" indent="0">
              <a:lnSpc>
                <a:spcPts val="2200"/>
              </a:lnSpc>
              <a:spcBef>
                <a:spcPts val="0"/>
              </a:spcBef>
              <a:spcAft>
                <a:spcPts val="0"/>
              </a:spcAft>
              <a:buNone/>
            </a:pPr>
            <a:r>
              <a:rPr sz="2200" b="1" i="0">
                <a:solidFill>
                  <a:srgbClr val="2E3A9E"/>
                </a:solidFill>
                <a:latin typeface="Arial"/>
              </a:rPr>
              <a:t>$1,498M</a:t>
            </a:r>
          </a:p>
        </p:txBody>
      </p:sp>
      <p:sp>
        <p:nvSpPr>
          <p:cNvPr id="12" name="t2c"/>
          <p:cNvSpPr/>
          <p:nvPr/>
        </p:nvSpPr>
        <p:spPr>
          <a:xfrm>
            <a:off x="2464816" y="1830832"/>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16181D"/>
                </a:solidFill>
                <a:latin typeface="Arial"/>
              </a:rPr>
              <a:t>+22.2% year on year</a:t>
            </a:r>
          </a:p>
        </p:txBody>
      </p:sp>
      <p:graphicFrame>
        <p:nvGraphicFramePr>
          <p:cNvPr id="13" name="sp2"/>
          <p:cNvGraphicFramePr>
            <a:graphicFrameLocks noGrp="1"/>
          </p:cNvGraphicFramePr>
          <p:nvPr/>
        </p:nvGraphicFramePr>
        <p:xfrm>
          <a:off x="2464816" y="1980184"/>
          <a:ext cx="1568704" cy="933196"/>
        </p:xfrm>
        <a:graphic>
          <a:graphicData uri="http://schemas.openxmlformats.org/drawingml/2006/chart">
            <c:chart xmlns:c="http://schemas.openxmlformats.org/drawingml/2006/chart" r:id="rId3"/>
          </a:graphicData>
        </a:graphic>
      </p:graphicFrame>
      <p:sp>
        <p:nvSpPr>
          <p:cNvPr id="14" name="tile3-fill"/>
          <p:cNvSpPr/>
          <p:nvPr/>
        </p:nvSpPr>
        <p:spPr>
          <a:xfrm>
            <a:off x="4252976" y="1264920"/>
            <a:ext cx="1788160" cy="1758188"/>
          </a:xfrm>
          <a:prstGeom prst="rect">
            <a:avLst/>
          </a:prstGeom>
          <a:solidFill>
            <a:srgbClr val="F0F2F6"/>
          </a:solidFill>
          <a:ln>
            <a:noFill/>
          </a:ln>
        </p:spPr>
        <p:txBody>
          <a:bodyPr rtlCol="0" anchor="ctr"/>
          <a:lstStyle/>
          <a:p>
            <a:pPr algn="ctr"/>
          </a:p>
        </p:txBody>
      </p:sp>
      <p:sp>
        <p:nvSpPr>
          <p:cNvPr id="15" name="t3l"/>
          <p:cNvSpPr/>
          <p:nvPr/>
        </p:nvSpPr>
        <p:spPr>
          <a:xfrm>
            <a:off x="4362704" y="1374648"/>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Net new ARR</a:t>
            </a:r>
          </a:p>
        </p:txBody>
      </p:sp>
      <p:sp>
        <p:nvSpPr>
          <p:cNvPr id="16" name="t3v"/>
          <p:cNvSpPr/>
          <p:nvPr/>
        </p:nvSpPr>
        <p:spPr>
          <a:xfrm>
            <a:off x="4362704" y="1524000"/>
            <a:ext cx="1568704" cy="279400"/>
          </a:xfrm>
          <a:prstGeom prst="rect">
            <a:avLst/>
          </a:prstGeom>
          <a:noFill/>
        </p:spPr>
        <p:txBody>
          <a:bodyPr wrap="square" lIns="0" tIns="0" rIns="0" bIns="0" anchor="t">
            <a:noAutofit/>
          </a:bodyPr>
          <a:lstStyle/>
          <a:p>
            <a:pPr algn="l" marL="0" indent="0">
              <a:lnSpc>
                <a:spcPts val="2200"/>
              </a:lnSpc>
              <a:spcBef>
                <a:spcPts val="0"/>
              </a:spcBef>
              <a:spcAft>
                <a:spcPts val="0"/>
              </a:spcAft>
              <a:buNone/>
            </a:pPr>
            <a:r>
              <a:rPr sz="2200" b="1" i="0">
                <a:solidFill>
                  <a:srgbClr val="2E3A9E"/>
                </a:solidFill>
                <a:latin typeface="Arial"/>
              </a:rPr>
              <a:t>$83M</a:t>
            </a:r>
          </a:p>
        </p:txBody>
      </p:sp>
      <p:sp>
        <p:nvSpPr>
          <p:cNvPr id="17" name="t3c"/>
          <p:cNvSpPr/>
          <p:nvPr/>
        </p:nvSpPr>
        <p:spPr>
          <a:xfrm>
            <a:off x="4362704" y="1830832"/>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16181D"/>
                </a:solidFill>
                <a:latin typeface="Arial"/>
              </a:rPr>
              <a:t>Record; +43.1% year on year</a:t>
            </a:r>
          </a:p>
        </p:txBody>
      </p:sp>
      <p:graphicFrame>
        <p:nvGraphicFramePr>
          <p:cNvPr id="18" name="sp3"/>
          <p:cNvGraphicFramePr>
            <a:graphicFrameLocks noGrp="1"/>
          </p:cNvGraphicFramePr>
          <p:nvPr/>
        </p:nvGraphicFramePr>
        <p:xfrm>
          <a:off x="4362704" y="1980184"/>
          <a:ext cx="1568704" cy="933196"/>
        </p:xfrm>
        <a:graphic>
          <a:graphicData uri="http://schemas.openxmlformats.org/drawingml/2006/chart">
            <c:chart xmlns:c="http://schemas.openxmlformats.org/drawingml/2006/chart" r:id="rId4"/>
          </a:graphicData>
        </a:graphic>
      </p:graphicFrame>
      <p:sp>
        <p:nvSpPr>
          <p:cNvPr id="19" name="tile4-fill"/>
          <p:cNvSpPr/>
          <p:nvPr/>
        </p:nvSpPr>
        <p:spPr>
          <a:xfrm>
            <a:off x="6150864" y="1264920"/>
            <a:ext cx="1788160" cy="1758188"/>
          </a:xfrm>
          <a:prstGeom prst="rect">
            <a:avLst/>
          </a:prstGeom>
          <a:solidFill>
            <a:srgbClr val="F0F2F6"/>
          </a:solidFill>
          <a:ln>
            <a:noFill/>
          </a:ln>
        </p:spPr>
        <p:txBody>
          <a:bodyPr rtlCol="0" anchor="ctr"/>
          <a:lstStyle/>
          <a:p>
            <a:pPr algn="ctr"/>
          </a:p>
        </p:txBody>
      </p:sp>
      <p:sp>
        <p:nvSpPr>
          <p:cNvPr id="20" name="t4l"/>
          <p:cNvSpPr/>
          <p:nvPr/>
        </p:nvSpPr>
        <p:spPr>
          <a:xfrm>
            <a:off x="6260592" y="1374648"/>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Net revenue retention</a:t>
            </a:r>
          </a:p>
        </p:txBody>
      </p:sp>
      <p:sp>
        <p:nvSpPr>
          <p:cNvPr id="21" name="t4v"/>
          <p:cNvSpPr/>
          <p:nvPr/>
        </p:nvSpPr>
        <p:spPr>
          <a:xfrm>
            <a:off x="6260592" y="1524000"/>
            <a:ext cx="1568704" cy="279400"/>
          </a:xfrm>
          <a:prstGeom prst="rect">
            <a:avLst/>
          </a:prstGeom>
          <a:noFill/>
        </p:spPr>
        <p:txBody>
          <a:bodyPr wrap="square" lIns="0" tIns="0" rIns="0" bIns="0" anchor="t">
            <a:noAutofit/>
          </a:bodyPr>
          <a:lstStyle/>
          <a:p>
            <a:pPr algn="l" marL="0" indent="0">
              <a:lnSpc>
                <a:spcPts val="2200"/>
              </a:lnSpc>
              <a:spcBef>
                <a:spcPts val="0"/>
              </a:spcBef>
              <a:spcAft>
                <a:spcPts val="0"/>
              </a:spcAft>
              <a:buNone/>
            </a:pPr>
            <a:r>
              <a:rPr sz="2200" b="1" i="0">
                <a:solidFill>
                  <a:srgbClr val="2E3A9E"/>
                </a:solidFill>
                <a:latin typeface="Arial"/>
              </a:rPr>
              <a:t>119%</a:t>
            </a:r>
          </a:p>
        </p:txBody>
      </p:sp>
      <p:sp>
        <p:nvSpPr>
          <p:cNvPr id="22" name="t4c"/>
          <p:cNvSpPr/>
          <p:nvPr/>
        </p:nvSpPr>
        <p:spPr>
          <a:xfrm>
            <a:off x="6260592" y="1830832"/>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16181D"/>
                </a:solidFill>
                <a:latin typeface="Arial"/>
              </a:rPr>
              <a:t>+3 pts from the 116% low</a:t>
            </a:r>
          </a:p>
        </p:txBody>
      </p:sp>
      <p:graphicFrame>
        <p:nvGraphicFramePr>
          <p:cNvPr id="23" name="sp4"/>
          <p:cNvGraphicFramePr>
            <a:graphicFrameLocks noGrp="1"/>
          </p:cNvGraphicFramePr>
          <p:nvPr/>
        </p:nvGraphicFramePr>
        <p:xfrm>
          <a:off x="6260592" y="1980184"/>
          <a:ext cx="1568704" cy="933196"/>
        </p:xfrm>
        <a:graphic>
          <a:graphicData uri="http://schemas.openxmlformats.org/drawingml/2006/chart">
            <c:chart xmlns:c="http://schemas.openxmlformats.org/drawingml/2006/chart" r:id="rId5"/>
          </a:graphicData>
        </a:graphic>
      </p:graphicFrame>
      <p:sp>
        <p:nvSpPr>
          <p:cNvPr id="24" name="tile5-fill"/>
          <p:cNvSpPr/>
          <p:nvPr/>
        </p:nvSpPr>
        <p:spPr>
          <a:xfrm>
            <a:off x="8048752" y="1264920"/>
            <a:ext cx="1788160" cy="1758188"/>
          </a:xfrm>
          <a:prstGeom prst="rect">
            <a:avLst/>
          </a:prstGeom>
          <a:solidFill>
            <a:srgbClr val="F0F2F6"/>
          </a:solidFill>
          <a:ln>
            <a:noFill/>
          </a:ln>
        </p:spPr>
        <p:txBody>
          <a:bodyPr rtlCol="0" anchor="ctr"/>
          <a:lstStyle/>
          <a:p>
            <a:pPr algn="ctr"/>
          </a:p>
        </p:txBody>
      </p:sp>
      <p:sp>
        <p:nvSpPr>
          <p:cNvPr id="25" name="t5l"/>
          <p:cNvSpPr/>
          <p:nvPr/>
        </p:nvSpPr>
        <p:spPr>
          <a:xfrm>
            <a:off x="8158480" y="1374648"/>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Operating margin</a:t>
            </a:r>
          </a:p>
        </p:txBody>
      </p:sp>
      <p:sp>
        <p:nvSpPr>
          <p:cNvPr id="26" name="t5v"/>
          <p:cNvSpPr/>
          <p:nvPr/>
        </p:nvSpPr>
        <p:spPr>
          <a:xfrm>
            <a:off x="8158480" y="1524000"/>
            <a:ext cx="1568704" cy="279400"/>
          </a:xfrm>
          <a:prstGeom prst="rect">
            <a:avLst/>
          </a:prstGeom>
          <a:noFill/>
        </p:spPr>
        <p:txBody>
          <a:bodyPr wrap="square" lIns="0" tIns="0" rIns="0" bIns="0" anchor="t">
            <a:noAutofit/>
          </a:bodyPr>
          <a:lstStyle/>
          <a:p>
            <a:pPr algn="l" marL="0" indent="0">
              <a:lnSpc>
                <a:spcPts val="2200"/>
              </a:lnSpc>
              <a:spcBef>
                <a:spcPts val="0"/>
              </a:spcBef>
              <a:spcAft>
                <a:spcPts val="0"/>
              </a:spcAft>
              <a:buNone/>
            </a:pPr>
            <a:r>
              <a:rPr sz="2200" b="1" i="0">
                <a:solidFill>
                  <a:srgbClr val="2E3A9E"/>
                </a:solidFill>
                <a:latin typeface="Arial"/>
              </a:rPr>
              <a:t>16.6%</a:t>
            </a:r>
          </a:p>
        </p:txBody>
      </p:sp>
      <p:sp>
        <p:nvSpPr>
          <p:cNvPr id="27" name="t5c"/>
          <p:cNvSpPr/>
          <p:nvPr/>
        </p:nvSpPr>
        <p:spPr>
          <a:xfrm>
            <a:off x="8158480" y="1830832"/>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16181D"/>
                </a:solidFill>
                <a:latin typeface="Arial"/>
              </a:rPr>
              <a:t>+5.4 pts year on year</a:t>
            </a:r>
          </a:p>
        </p:txBody>
      </p:sp>
      <p:graphicFrame>
        <p:nvGraphicFramePr>
          <p:cNvPr id="28" name="sp5"/>
          <p:cNvGraphicFramePr>
            <a:graphicFrameLocks noGrp="1"/>
          </p:cNvGraphicFramePr>
          <p:nvPr/>
        </p:nvGraphicFramePr>
        <p:xfrm>
          <a:off x="8158480" y="1980184"/>
          <a:ext cx="1568704" cy="933196"/>
        </p:xfrm>
        <a:graphic>
          <a:graphicData uri="http://schemas.openxmlformats.org/drawingml/2006/chart">
            <c:chart xmlns:c="http://schemas.openxmlformats.org/drawingml/2006/chart" r:id="rId6"/>
          </a:graphicData>
        </a:graphic>
      </p:graphicFrame>
      <p:sp>
        <p:nvSpPr>
          <p:cNvPr id="29" name="tile6-fill"/>
          <p:cNvSpPr/>
          <p:nvPr/>
        </p:nvSpPr>
        <p:spPr>
          <a:xfrm>
            <a:off x="9946640" y="1264920"/>
            <a:ext cx="1788160" cy="1758188"/>
          </a:xfrm>
          <a:prstGeom prst="rect">
            <a:avLst/>
          </a:prstGeom>
          <a:solidFill>
            <a:srgbClr val="F0F2F6"/>
          </a:solidFill>
          <a:ln>
            <a:noFill/>
          </a:ln>
        </p:spPr>
        <p:txBody>
          <a:bodyPr rtlCol="0" anchor="ctr"/>
          <a:lstStyle/>
          <a:p>
            <a:pPr algn="ctr"/>
          </a:p>
        </p:txBody>
      </p:sp>
      <p:sp>
        <p:nvSpPr>
          <p:cNvPr id="30" name="t6l"/>
          <p:cNvSpPr/>
          <p:nvPr/>
        </p:nvSpPr>
        <p:spPr>
          <a:xfrm>
            <a:off x="10056368" y="1374648"/>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Free cash flow margin</a:t>
            </a:r>
          </a:p>
        </p:txBody>
      </p:sp>
      <p:sp>
        <p:nvSpPr>
          <p:cNvPr id="31" name="t6v"/>
          <p:cNvSpPr/>
          <p:nvPr/>
        </p:nvSpPr>
        <p:spPr>
          <a:xfrm>
            <a:off x="10056368" y="1524000"/>
            <a:ext cx="1568704" cy="279400"/>
          </a:xfrm>
          <a:prstGeom prst="rect">
            <a:avLst/>
          </a:prstGeom>
          <a:noFill/>
        </p:spPr>
        <p:txBody>
          <a:bodyPr wrap="square" lIns="0" tIns="0" rIns="0" bIns="0" anchor="t">
            <a:noAutofit/>
          </a:bodyPr>
          <a:lstStyle/>
          <a:p>
            <a:pPr algn="l" marL="0" indent="0">
              <a:lnSpc>
                <a:spcPts val="2200"/>
              </a:lnSpc>
              <a:spcBef>
                <a:spcPts val="0"/>
              </a:spcBef>
              <a:spcAft>
                <a:spcPts val="0"/>
              </a:spcAft>
              <a:buNone/>
            </a:pPr>
            <a:r>
              <a:rPr sz="2200" b="1" i="0">
                <a:solidFill>
                  <a:srgbClr val="2E3A9E"/>
                </a:solidFill>
                <a:latin typeface="Arial"/>
              </a:rPr>
              <a:t>21.4%</a:t>
            </a:r>
          </a:p>
        </p:txBody>
      </p:sp>
      <p:sp>
        <p:nvSpPr>
          <p:cNvPr id="32" name="t6c"/>
          <p:cNvSpPr/>
          <p:nvPr/>
        </p:nvSpPr>
        <p:spPr>
          <a:xfrm>
            <a:off x="10056368" y="1830832"/>
            <a:ext cx="1568704"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16181D"/>
                </a:solidFill>
                <a:latin typeface="Arial"/>
              </a:rPr>
              <a:t>+3.1 pts year on year</a:t>
            </a:r>
          </a:p>
        </p:txBody>
      </p:sp>
      <p:graphicFrame>
        <p:nvGraphicFramePr>
          <p:cNvPr id="33" name="sp6"/>
          <p:cNvGraphicFramePr>
            <a:graphicFrameLocks noGrp="1"/>
          </p:cNvGraphicFramePr>
          <p:nvPr/>
        </p:nvGraphicFramePr>
        <p:xfrm>
          <a:off x="10056368" y="1980184"/>
          <a:ext cx="1568704" cy="933196"/>
        </p:xfrm>
        <a:graphic>
          <a:graphicData uri="http://schemas.openxmlformats.org/drawingml/2006/chart">
            <c:chart xmlns:c="http://schemas.openxmlformats.org/drawingml/2006/chart" r:id="rId7"/>
          </a:graphicData>
        </a:graphic>
      </p:graphicFrame>
      <p:sp>
        <p:nvSpPr>
          <p:cNvPr id="34" name="t_u"/>
          <p:cNvSpPr/>
          <p:nvPr/>
        </p:nvSpPr>
        <p:spPr>
          <a:xfrm>
            <a:off x="457200" y="3205988"/>
            <a:ext cx="11277600"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Bars and line: nine quarters, Q3 FY24 to Q3 FY26, the first and last labelled (and the low on retention); Q3 FY26 in indigo</a:t>
            </a:r>
          </a:p>
        </p:txBody>
      </p:sp>
      <p:sp>
        <p:nvSpPr>
          <p:cNvPr id="35" name="m_h"/>
          <p:cNvSpPr/>
          <p:nvPr/>
        </p:nvSpPr>
        <p:spPr>
          <a:xfrm>
            <a:off x="457200" y="3510788"/>
            <a:ext cx="4191000"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The quarter against last year</a:t>
            </a:r>
          </a:p>
        </p:txBody>
      </p:sp>
      <p:sp>
        <p:nvSpPr>
          <p:cNvPr id="36" name="m_u"/>
          <p:cNvSpPr/>
          <p:nvPr/>
        </p:nvSpPr>
        <p:spPr>
          <a:xfrm>
            <a:off x="457200" y="3705860"/>
            <a:ext cx="4191000"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Q3 FY26 in indigo; GAAP margin and stock compensation as reported</a:t>
            </a:r>
          </a:p>
        </p:txBody>
      </p:sp>
      <p:graphicFrame>
        <p:nvGraphicFramePr>
          <p:cNvPr id="37" name="metrics"/>
          <p:cNvGraphicFramePr>
            <a:graphicFrameLocks noGrp="1"/>
          </p:cNvGraphicFramePr>
          <p:nvPr/>
        </p:nvGraphicFramePr>
        <p:xfrm>
          <a:off x="457200" y="3855212"/>
          <a:ext cx="4191000" cy="1538224"/>
        </p:xfrm>
        <a:graphic>
          <a:graphicData uri="http://schemas.openxmlformats.org/drawingml/2006/table">
            <a:tbl>
              <a:tblPr firstRow="0" bandRow="0" lastRow="0" firstCol="0" lastCol="0" bandCol="0"/>
              <a:tblGrid>
                <a:gridCol w="2468725"/>
                <a:gridCol w="588145"/>
                <a:gridCol w="588145"/>
                <a:gridCol w="545985"/>
              </a:tblGrid>
              <a:tr h="192278">
                <a:tc>
                  <a:txBody>
                    <a:bodyPr wrap="square"/>
                    <a:lstStyle/>
                    <a:p>
                      <a:pPr algn="l"/>
                      <a:r>
                        <a:rPr sz="900" b="1" i="0">
                          <a:solidFill>
                            <a:srgbClr val="16181D"/>
                          </a:solidFill>
                          <a:latin typeface="Arial"/>
                        </a:rPr>
                        <a:t>Metric</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 FY25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 FY26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Change</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Subscription revenue ($M)</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280.3</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1" i="0">
                          <a:solidFill>
                            <a:srgbClr val="2E3A9E"/>
                          </a:solidFill>
                          <a:latin typeface="Arial"/>
                        </a:rPr>
                        <a:t>342.8</a:t>
                      </a:r>
                      <a:endParaRPr sz="900" b="1" i="0">
                        <a:solidFill>
                          <a:srgbClr val="2E3A9E"/>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+22.3%</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Remaining performance obligations ($M)</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1,384</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2E3A9E"/>
                          </a:solidFill>
                          <a:latin typeface="Arial"/>
                        </a:rPr>
                        <a:t>1,741</a:t>
                      </a:r>
                      <a:endParaRPr sz="900" b="1"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+25.8%</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Customers above $100K ARR</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1,779</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2E3A9E"/>
                          </a:solidFill>
                          <a:latin typeface="Arial"/>
                        </a:rPr>
                        <a:t>2,148</a:t>
                      </a:r>
                      <a:endParaRPr sz="900" b="1"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+20.7%</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Customers above $1M ARR</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81</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2E3A9E"/>
                          </a:solidFill>
                          <a:latin typeface="Arial"/>
                        </a:rPr>
                        <a:t>109</a:t>
                      </a:r>
                      <a:endParaRPr sz="900" b="1"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+34.6%</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GAAP operating margin (%)</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(8.9)</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2E3A9E"/>
                          </a:solidFill>
                          <a:latin typeface="Arial"/>
                        </a:rPr>
                        <a:t>(0.4)</a:t>
                      </a:r>
                      <a:endParaRPr sz="900" b="1"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+8.5 pts</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Stock-based compensation (% of revenue)</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16.2</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2E3A9E"/>
                          </a:solidFill>
                          <a:latin typeface="Arial"/>
                        </a:rPr>
                        <a:t>14.6</a:t>
                      </a:r>
                      <a:endParaRPr sz="900" b="1"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(1.6) pts</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Rule of 40 (%)</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40.0</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2E3A9E"/>
                          </a:solidFill>
                          <a:latin typeface="Arial"/>
                        </a:rPr>
                        <a:t>42.7</a:t>
                      </a:r>
                      <a:endParaRPr sz="900" b="1" i="0">
                        <a:solidFill>
                          <a:srgbClr val="2E3A9E"/>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+2.7 pts</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bl>
          </a:graphicData>
        </a:graphic>
      </p:graphicFrame>
      <p:sp>
        <p:nvSpPr>
          <p:cNvPr id="38" name="s_h"/>
          <p:cNvSpPr/>
          <p:nvPr/>
        </p:nvSpPr>
        <p:spPr>
          <a:xfrm>
            <a:off x="4922520" y="3510788"/>
            <a:ext cx="3352800"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Against Q3 guidance</a:t>
            </a:r>
          </a:p>
        </p:txBody>
      </p:sp>
      <p:sp>
        <p:nvSpPr>
          <p:cNvPr id="39" name="s_u"/>
          <p:cNvSpPr/>
          <p:nvPr/>
        </p:nvSpPr>
        <p:spPr>
          <a:xfrm>
            <a:off x="4922520" y="3705860"/>
            <a:ext cx="3352800"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guided in August 2026 (grey); beat against the high end in green</a:t>
            </a:r>
          </a:p>
        </p:txBody>
      </p:sp>
      <p:graphicFrame>
        <p:nvGraphicFramePr>
          <p:cNvPr id="40" name="score"/>
          <p:cNvGraphicFramePr>
            <a:graphicFrameLocks noGrp="1"/>
          </p:cNvGraphicFramePr>
          <p:nvPr/>
        </p:nvGraphicFramePr>
        <p:xfrm>
          <a:off x="4922520" y="3855212"/>
          <a:ext cx="3352800" cy="769112"/>
        </p:xfrm>
        <a:graphic>
          <a:graphicData uri="http://schemas.openxmlformats.org/drawingml/2006/table">
            <a:tbl>
              <a:tblPr firstRow="0" bandRow="0" lastRow="0" firstCol="0" lastCol="0" bandCol="0"/>
              <a:tblGrid>
                <a:gridCol w="1361302"/>
                <a:gridCol w="749868"/>
                <a:gridCol w="464459"/>
                <a:gridCol w="777171"/>
              </a:tblGrid>
              <a:tr h="192278">
                <a:tc>
                  <a:txBody>
                    <a:bodyPr wrap="square"/>
                    <a:lstStyle/>
                    <a:p>
                      <a:pPr algn="l"/>
                      <a:r>
                        <a:rPr sz="900" b="1" i="0">
                          <a:solidFill>
                            <a:srgbClr val="16181D"/>
                          </a:solidFill>
                          <a:latin typeface="Arial"/>
                        </a:rPr>
                        <a:t>Metric</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Guidance</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Actual</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vs high end</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Revenue ($M)</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596070"/>
                          </a:solidFill>
                          <a:latin typeface="Arial"/>
                        </a:rPr>
                        <a:t>350.0-354.0</a:t>
                      </a:r>
                      <a:endParaRPr sz="900" b="0" i="0">
                        <a:solidFill>
                          <a:srgbClr val="596070"/>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1" i="0">
                          <a:solidFill>
                            <a:srgbClr val="2E3A9E"/>
                          </a:solidFill>
                          <a:latin typeface="Arial"/>
                        </a:rPr>
                        <a:t>358.2</a:t>
                      </a:r>
                      <a:endParaRPr sz="900" b="1" i="0">
                        <a:solidFill>
                          <a:srgbClr val="2E3A9E"/>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1" i="0">
                          <a:solidFill>
                            <a:srgbClr val="1F7A4D"/>
                          </a:solidFill>
                          <a:latin typeface="Arial"/>
                        </a:rPr>
                        <a:t>+4.2</a:t>
                      </a:r>
                      <a:endParaRPr sz="900" b="1" i="0">
                        <a:solidFill>
                          <a:srgbClr val="1F7A4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Operating income ($M)</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596070"/>
                          </a:solidFill>
                          <a:latin typeface="Arial"/>
                        </a:rPr>
                        <a:t>52.0-54.0</a:t>
                      </a:r>
                      <a:endParaRPr sz="900" b="0" i="0">
                        <a:solidFill>
                          <a:srgbClr val="596070"/>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2E3A9E"/>
                          </a:solidFill>
                          <a:latin typeface="Arial"/>
                        </a:rPr>
                        <a:t>59.5</a:t>
                      </a:r>
                      <a:endParaRPr sz="900" b="1"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F7A4D"/>
                          </a:solidFill>
                          <a:latin typeface="Arial"/>
                        </a:rPr>
                        <a:t>+5.5</a:t>
                      </a:r>
                      <a:endParaRPr sz="900" b="1" i="0">
                        <a:solidFill>
                          <a:srgbClr val="1F7A4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Operating margin (%)</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596070"/>
                          </a:solidFill>
                          <a:latin typeface="Arial"/>
                        </a:rPr>
                        <a:t>14.9-15.3</a:t>
                      </a:r>
                      <a:endParaRPr sz="900" b="0" i="0">
                        <a:solidFill>
                          <a:srgbClr val="596070"/>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2E3A9E"/>
                          </a:solidFill>
                          <a:latin typeface="Arial"/>
                        </a:rPr>
                        <a:t>16.6</a:t>
                      </a:r>
                      <a:endParaRPr sz="900" b="1" i="0">
                        <a:solidFill>
                          <a:srgbClr val="2E3A9E"/>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1F7A4D"/>
                          </a:solidFill>
                          <a:latin typeface="Arial"/>
                        </a:rPr>
                        <a:t>+1.3 pts</a:t>
                      </a:r>
                      <a:endParaRPr sz="900" b="1" i="0">
                        <a:solidFill>
                          <a:srgbClr val="1F7A4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bl>
          </a:graphicData>
        </a:graphic>
      </p:graphicFrame>
      <p:sp>
        <p:nvSpPr>
          <p:cNvPr id="41" name="s_fn"/>
          <p:cNvSpPr/>
          <p:nvPr/>
        </p:nvSpPr>
        <p:spPr>
          <a:xfrm>
            <a:off x="4922520" y="4651756"/>
            <a:ext cx="3352800" cy="2286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Operating income and margin are non-GAAP; guided margin is the guided</a:t>
            </a:r>
            <a:br/>
            <a:r>
              <a:rPr sz="750" b="0" i="0">
                <a:solidFill>
                  <a:srgbClr val="596070"/>
                </a:solidFill>
                <a:latin typeface="Arial"/>
              </a:rPr>
              <a:t>income over guided revenue at each end of the range.</a:t>
            </a:r>
          </a:p>
        </p:txBody>
      </p:sp>
      <p:sp>
        <p:nvSpPr>
          <p:cNvPr id="42" name="g_h"/>
          <p:cNvSpPr/>
          <p:nvPr/>
        </p:nvSpPr>
        <p:spPr>
          <a:xfrm>
            <a:off x="4922520" y="5063236"/>
            <a:ext cx="3352800"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FY2026 guidance, raised</a:t>
            </a:r>
          </a:p>
        </p:txBody>
      </p:sp>
      <p:sp>
        <p:nvSpPr>
          <p:cNvPr id="43" name="g_u"/>
          <p:cNvSpPr/>
          <p:nvPr/>
        </p:nvSpPr>
        <p:spPr>
          <a:xfrm>
            <a:off x="4922520" y="5258308"/>
            <a:ext cx="3352800"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issued 26 October 2026; new guidance in amber, August's in grey</a:t>
            </a:r>
          </a:p>
        </p:txBody>
      </p:sp>
      <p:graphicFrame>
        <p:nvGraphicFramePr>
          <p:cNvPr id="44" name="fyg"/>
          <p:cNvGraphicFramePr>
            <a:graphicFrameLocks noGrp="1"/>
          </p:cNvGraphicFramePr>
          <p:nvPr/>
        </p:nvGraphicFramePr>
        <p:xfrm>
          <a:off x="4922520" y="5407660"/>
          <a:ext cx="3352800" cy="769112"/>
        </p:xfrm>
        <a:graphic>
          <a:graphicData uri="http://schemas.openxmlformats.org/drawingml/2006/table">
            <a:tbl>
              <a:tblPr firstRow="0" bandRow="0" lastRow="0" firstCol="0" lastCol="0" bandCol="0"/>
              <a:tblGrid>
                <a:gridCol w="1440854"/>
                <a:gridCol w="955972"/>
                <a:gridCol w="955974"/>
              </a:tblGrid>
              <a:tr h="192278">
                <a:tc>
                  <a:txBody>
                    <a:bodyPr wrap="square"/>
                    <a:lstStyle/>
                    <a:p>
                      <a:pPr algn="l"/>
                      <a:r>
                        <a:rPr sz="900" b="1" i="0">
                          <a:solidFill>
                            <a:srgbClr val="16181D"/>
                          </a:solidFill>
                          <a:latin typeface="Arial"/>
                        </a:rPr>
                        <a:t>Metric</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Now</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August</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Revenue ($M)</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1" i="0">
                          <a:solidFill>
                            <a:srgbClr val="A9650A"/>
                          </a:solidFill>
                          <a:latin typeface="Arial"/>
                        </a:rPr>
                        <a:t>1,394.4-1,398.4</a:t>
                      </a:r>
                      <a:endParaRPr sz="900" b="1" i="0">
                        <a:solidFill>
                          <a:srgbClr val="A9650A"/>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596070"/>
                          </a:solidFill>
                          <a:latin typeface="Arial"/>
                        </a:rPr>
                        <a:t>1,379.0-1,389.0</a:t>
                      </a:r>
                      <a:endParaRPr sz="900" b="0" i="0">
                        <a:solidFill>
                          <a:srgbClr val="596070"/>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Growth year on year (%)</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A9650A"/>
                          </a:solidFill>
                          <a:latin typeface="Arial"/>
                        </a:rPr>
                        <a:t>20.9-21.3</a:t>
                      </a:r>
                      <a:endParaRPr sz="900" b="1" i="0">
                        <a:solidFill>
                          <a:srgbClr val="A9650A"/>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596070"/>
                          </a:solidFill>
                          <a:latin typeface="Arial"/>
                        </a:rPr>
                        <a:t>19.6-20.4</a:t>
                      </a:r>
                      <a:endParaRPr sz="900" b="0" i="0">
                        <a:solidFill>
                          <a:srgbClr val="596070"/>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Operating margin (%)</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A9650A"/>
                          </a:solidFill>
                          <a:latin typeface="Arial"/>
                        </a:rPr>
                        <a:t>15.9-16.0</a:t>
                      </a:r>
                      <a:endParaRPr sz="900" b="1" i="0">
                        <a:solidFill>
                          <a:srgbClr val="A9650A"/>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596070"/>
                          </a:solidFill>
                          <a:latin typeface="Arial"/>
                        </a:rPr>
                        <a:t>15.5-15.7</a:t>
                      </a:r>
                      <a:endParaRPr sz="900" b="0" i="0">
                        <a:solidFill>
                          <a:srgbClr val="596070"/>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bl>
          </a:graphicData>
        </a:graphic>
      </p:graphicFrame>
      <p:sp>
        <p:nvSpPr>
          <p:cNvPr id="45" name="n_h"/>
          <p:cNvSpPr/>
          <p:nvPr/>
        </p:nvSpPr>
        <p:spPr>
          <a:xfrm>
            <a:off x="8549640" y="3510788"/>
            <a:ext cx="3185160" cy="15240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1" i="0">
                <a:solidFill>
                  <a:srgbClr val="16181D"/>
                </a:solidFill>
                <a:latin typeface="Arial"/>
              </a:rPr>
              <a:t>What drove the quarter</a:t>
            </a:r>
          </a:p>
        </p:txBody>
      </p:sp>
      <p:sp>
        <p:nvSpPr>
          <p:cNvPr id="46" name="n1"/>
          <p:cNvSpPr/>
          <p:nvPr/>
        </p:nvSpPr>
        <p:spPr>
          <a:xfrm>
            <a:off x="8549640" y="3718052"/>
            <a:ext cx="3185160" cy="47625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Net new ARR of $83M was a record, $17M above the</a:t>
            </a:r>
            <a:br/>
            <a:r>
              <a:rPr sz="1000" b="0" i="0">
                <a:solidFill>
                  <a:srgbClr val="16181D"/>
                </a:solidFill>
                <a:latin typeface="Arial"/>
              </a:rPr>
              <a:t>prior high, as customers above $1M ARR rose 34.6%</a:t>
            </a:r>
            <a:br/>
            <a:r>
              <a:rPr sz="1000" b="0" i="0">
                <a:solidFill>
                  <a:srgbClr val="16181D"/>
                </a:solidFill>
                <a:latin typeface="Arial"/>
              </a:rPr>
              <a:t>to 109.</a:t>
            </a:r>
          </a:p>
        </p:txBody>
      </p:sp>
      <p:sp>
        <p:nvSpPr>
          <p:cNvPr id="47" name="n2"/>
          <p:cNvSpPr/>
          <p:nvPr/>
        </p:nvSpPr>
        <p:spPr>
          <a:xfrm>
            <a:off x="8549640" y="4249166"/>
            <a:ext cx="3185160" cy="33020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Net revenue retention rose for a third quarter, to 119%</a:t>
            </a:r>
            <a:br/>
            <a:r>
              <a:rPr sz="1000" b="0" i="0">
                <a:solidFill>
                  <a:srgbClr val="16181D"/>
                </a:solidFill>
                <a:latin typeface="Arial"/>
              </a:rPr>
              <a:t>from 116%.</a:t>
            </a:r>
          </a:p>
        </p:txBody>
      </p:sp>
      <p:sp>
        <p:nvSpPr>
          <p:cNvPr id="48" name="n3"/>
          <p:cNvSpPr/>
          <p:nvPr/>
        </p:nvSpPr>
        <p:spPr>
          <a:xfrm>
            <a:off x="8549640" y="4634230"/>
            <a:ext cx="3185160" cy="33020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Sales and marketing fell to 35.8% of revenue from</a:t>
            </a:r>
            <a:br/>
            <a:r>
              <a:rPr sz="1000" b="0" i="0">
                <a:solidFill>
                  <a:srgbClr val="16181D"/>
                </a:solidFill>
                <a:latin typeface="Arial"/>
              </a:rPr>
              <a:t>38.9%, 3.1 of the 5.4 points of margin gained.</a:t>
            </a:r>
          </a:p>
        </p:txBody>
      </p:sp>
      <p:sp>
        <p:nvSpPr>
          <p:cNvPr id="49" name="source"/>
          <p:cNvSpPr/>
          <p:nvPr/>
        </p:nvSpPr>
        <p:spPr>
          <a:xfrm>
            <a:off x="457200" y="6286500"/>
            <a:ext cx="112776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Source: Corvane Software management accounts (fictional; illustrative figures). Non-GAAP unless stated; fiscal year ends December.</a:t>
            </a:r>
          </a:p>
        </p:txBody>
      </p:sp>
    </p:spTree>
    <p:custDataLst>
      <p:tags r:id="rId8"/>
    </p:custData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 name="chrome-1"/>
          <p:cNvSpPr txBox="1"/>
          <p:nvPr/>
        </p:nvSpPr>
        <p:spPr>
          <a:xfrm>
            <a:off x="457200" y="6510528"/>
            <a:ext cx="7315200" cy="182880"/>
          </a:xfrm>
          <a:prstGeom prst="rect">
            <a:avLst/>
          </a:prstGeom>
          <a:noFill/>
        </p:spPr>
        <p:txBody>
          <a:bodyPr wrap="none" lIns="0" tIns="0" rIns="0" bIns="0" anchor="t">
            <a:noAutofit/>
          </a:bodyPr>
          <a:lstStyle/>
          <a:p>
            <a:r>
              <a:rPr sz="750" b="0">
                <a:solidFill>
                  <a:srgbClr val="596070"/>
                </a:solidFill>
                <a:latin typeface="Arial"/>
              </a:rPr>
              <a:t>Corvane Software (fictional company)  |  Q3 FY2026 earnings  |  Illustrative figures, non-GAAP unless stated</a:t>
            </a:r>
          </a:p>
        </p:txBody>
      </p:sp>
      <p:sp>
        <p:nvSpPr>
          <p:cNvPr id="53" name="chrome-2"/>
          <p:cNvSpPr txBox="1"/>
          <p:nvPr/>
        </p:nvSpPr>
        <p:spPr>
          <a:xfrm>
            <a:off x="11274552" y="6510528"/>
            <a:ext cx="457200" cy="182880"/>
          </a:xfrm>
          <a:prstGeom prst="rect">
            <a:avLst/>
          </a:prstGeom>
          <a:noFill/>
        </p:spPr>
        <p:txBody>
          <a:bodyPr wrap="none" lIns="0" tIns="0" rIns="0" bIns="0" anchor="t">
            <a:noAutofit/>
          </a:bodyPr>
          <a:lstStyle/>
          <a:p>
            <a:pPr algn="r"/>
            <a:fld id="{B6F15528-21DE-4FAA-801E-634DDDAF5B2F}" type="slidenum">
              <a:rPr sz="750">
                <a:solidFill>
                  <a:srgbClr val="596070"/>
                </a:solidFill>
                <a:latin typeface="Arial"/>
              </a:rPr>
              <a:t>1</a:t>
            </a:fld>
          </a:p>
        </p:txBody>
      </p:sp>
      <p:sp>
        <p:nvSpPr>
          <p:cNvPr id="2" name="kicker"/>
          <p:cNvSpPr/>
          <p:nvPr/>
        </p:nvSpPr>
        <p:spPr>
          <a:xfrm>
            <a:off x="457200" y="457200"/>
            <a:ext cx="11277600"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2E3A9E"/>
                </a:solidFill>
                <a:latin typeface="Arial"/>
              </a:rPr>
              <a:t>Q3 FY2026 RESULTS  |  REVENUE AND ARR</a:t>
            </a:r>
          </a:p>
        </p:txBody>
      </p:sp>
      <p:sp>
        <p:nvSpPr>
          <p:cNvPr id="3" name="title"/>
          <p:cNvSpPr/>
          <p:nvPr/>
        </p:nvSpPr>
        <p:spPr>
          <a:xfrm>
            <a:off x="457200" y="621792"/>
            <a:ext cx="11277600" cy="266700"/>
          </a:xfrm>
          <a:prstGeom prst="rect">
            <a:avLst/>
          </a:prstGeom>
          <a:noFill/>
        </p:spPr>
        <p:txBody>
          <a:bodyPr wrap="square" lIns="0" tIns="0" rIns="0" bIns="0" anchor="t">
            <a:noAutofit/>
          </a:bodyPr>
          <a:lstStyle/>
          <a:p>
            <a:pPr algn="l" marL="0" indent="0">
              <a:lnSpc>
                <a:spcPts val="2100"/>
              </a:lnSpc>
              <a:spcBef>
                <a:spcPts val="0"/>
              </a:spcBef>
              <a:spcAft>
                <a:spcPts val="0"/>
              </a:spcAft>
              <a:buNone/>
            </a:pPr>
            <a:r>
              <a:rPr sz="2000" b="1" i="0">
                <a:solidFill>
                  <a:srgbClr val="16181D"/>
                </a:solidFill>
                <a:latin typeface="Arial"/>
              </a:rPr>
              <a:t>ARR grew 22.2% to $1,498M on a record $83M of net new ARR</a:t>
            </a:r>
          </a:p>
        </p:txBody>
      </p:sp>
      <p:sp>
        <p:nvSpPr>
          <p:cNvPr id="4" name="r_h"/>
          <p:cNvSpPr/>
          <p:nvPr/>
        </p:nvSpPr>
        <p:spPr>
          <a:xfrm>
            <a:off x="457200" y="998220"/>
            <a:ext cx="3973689"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Total revenue</a:t>
            </a:r>
          </a:p>
        </p:txBody>
      </p:sp>
      <p:sp>
        <p:nvSpPr>
          <p:cNvPr id="5" name="r_u"/>
          <p:cNvSpPr/>
          <p:nvPr/>
        </p:nvSpPr>
        <p:spPr>
          <a:xfrm>
            <a:off x="457200" y="1193292"/>
            <a:ext cx="3973689"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$M by fiscal quarter; growth on the same quarter a year before beneath</a:t>
            </a:r>
          </a:p>
        </p:txBody>
      </p:sp>
      <p:graphicFrame>
        <p:nvGraphicFramePr>
          <p:cNvPr id="6" name="rev"/>
          <p:cNvGraphicFramePr>
            <a:graphicFrameLocks noGrp="1"/>
          </p:cNvGraphicFramePr>
          <p:nvPr/>
        </p:nvGraphicFramePr>
        <p:xfrm>
          <a:off x="457200" y="1342644"/>
          <a:ext cx="3973689" cy="4834128"/>
        </p:xfrm>
        <a:graphic>
          <a:graphicData uri="http://schemas.openxmlformats.org/drawingml/2006/chart">
            <c:chart xmlns:c="http://schemas.openxmlformats.org/drawingml/2006/chart" r:id="rId2"/>
          </a:graphicData>
        </a:graphic>
      </p:graphicFrame>
      <p:sp>
        <p:nvSpPr>
          <p:cNvPr id="7" name="a_h"/>
          <p:cNvSpPr/>
          <p:nvPr/>
        </p:nvSpPr>
        <p:spPr>
          <a:xfrm>
            <a:off x="4705209" y="998220"/>
            <a:ext cx="3973689"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Net new ARR</a:t>
            </a:r>
          </a:p>
        </p:txBody>
      </p:sp>
      <p:sp>
        <p:nvSpPr>
          <p:cNvPr id="8" name="a_u"/>
          <p:cNvSpPr/>
          <p:nvPr/>
        </p:nvSpPr>
        <p:spPr>
          <a:xfrm>
            <a:off x="4705209" y="1193292"/>
            <a:ext cx="3973689"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$M added in the quarter; ending ARR ($M) and its growth beneath</a:t>
            </a:r>
          </a:p>
        </p:txBody>
      </p:sp>
      <p:graphicFrame>
        <p:nvGraphicFramePr>
          <p:cNvPr id="9" name="nn"/>
          <p:cNvGraphicFramePr>
            <a:graphicFrameLocks noGrp="1"/>
          </p:cNvGraphicFramePr>
          <p:nvPr/>
        </p:nvGraphicFramePr>
        <p:xfrm>
          <a:off x="4705209" y="1342644"/>
          <a:ext cx="3973689" cy="4834128"/>
        </p:xfrm>
        <a:graphic>
          <a:graphicData uri="http://schemas.openxmlformats.org/drawingml/2006/chart">
            <c:chart xmlns:c="http://schemas.openxmlformats.org/drawingml/2006/chart" r:id="rId3"/>
          </a:graphicData>
        </a:graphic>
      </p:graphicFrame>
      <p:sp>
        <p:nvSpPr>
          <p:cNvPr id="10" name="n_h"/>
          <p:cNvSpPr/>
          <p:nvPr/>
        </p:nvSpPr>
        <p:spPr>
          <a:xfrm>
            <a:off x="8953218" y="998220"/>
            <a:ext cx="2781582" cy="15240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1" i="0">
                <a:solidFill>
                  <a:srgbClr val="16181D"/>
                </a:solidFill>
                <a:latin typeface="Arial"/>
              </a:rPr>
              <a:t>What moved</a:t>
            </a:r>
          </a:p>
        </p:txBody>
      </p:sp>
      <p:sp>
        <p:nvSpPr>
          <p:cNvPr id="11" name="n1"/>
          <p:cNvSpPr/>
          <p:nvPr/>
        </p:nvSpPr>
        <p:spPr>
          <a:xfrm>
            <a:off x="8953218" y="1205484"/>
            <a:ext cx="2781582" cy="47625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Net new ARR of $83M was 43.1% above Q3</a:t>
            </a:r>
            <a:br/>
            <a:r>
              <a:rPr sz="1000" b="0" i="0">
                <a:solidFill>
                  <a:srgbClr val="16181D"/>
                </a:solidFill>
                <a:latin typeface="Arial"/>
              </a:rPr>
              <a:t>FY25's $58M and $17M above the prior record</a:t>
            </a:r>
            <a:br/>
            <a:r>
              <a:rPr sz="1000" b="0" i="0">
                <a:solidFill>
                  <a:srgbClr val="16181D"/>
                </a:solidFill>
                <a:latin typeface="Arial"/>
              </a:rPr>
              <a:t>of $66M.</a:t>
            </a:r>
          </a:p>
        </p:txBody>
      </p:sp>
      <p:sp>
        <p:nvSpPr>
          <p:cNvPr id="12" name="n2"/>
          <p:cNvSpPr/>
          <p:nvPr/>
        </p:nvSpPr>
        <p:spPr>
          <a:xfrm>
            <a:off x="8953218" y="1736598"/>
            <a:ext cx="2781582" cy="33020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ARR growth of 22.2% ran 0.9 points ahead of</a:t>
            </a:r>
            <a:br/>
            <a:r>
              <a:rPr sz="1000" b="0" i="0">
                <a:solidFill>
                  <a:srgbClr val="16181D"/>
                </a:solidFill>
                <a:latin typeface="Arial"/>
              </a:rPr>
              <a:t>revenue growth.</a:t>
            </a:r>
          </a:p>
        </p:txBody>
      </p:sp>
      <p:sp>
        <p:nvSpPr>
          <p:cNvPr id="13" name="n3"/>
          <p:cNvSpPr/>
          <p:nvPr/>
        </p:nvSpPr>
        <p:spPr>
          <a:xfrm>
            <a:off x="8953218" y="2121662"/>
            <a:ext cx="2781582" cy="62230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ARR growth rose to 22.2% after four quarters</a:t>
            </a:r>
            <a:br/>
            <a:r>
              <a:rPr sz="1000" b="0" i="0">
                <a:solidFill>
                  <a:srgbClr val="16181D"/>
                </a:solidFill>
                <a:latin typeface="Arial"/>
              </a:rPr>
              <a:t>between 21.0% and 21.1%; revenue growth</a:t>
            </a:r>
            <a:br/>
            <a:r>
              <a:rPr sz="1000" b="0" i="0">
                <a:solidFill>
                  <a:srgbClr val="16181D"/>
                </a:solidFill>
                <a:latin typeface="Arial"/>
              </a:rPr>
              <a:t>held between 21.3% and 21.7% for five</a:t>
            </a:r>
            <a:br/>
            <a:r>
              <a:rPr sz="1000" b="0" i="0">
                <a:solidFill>
                  <a:srgbClr val="16181D"/>
                </a:solidFill>
                <a:latin typeface="Arial"/>
              </a:rPr>
              <a:t>quarters.</a:t>
            </a:r>
          </a:p>
        </p:txBody>
      </p:sp>
      <p:sp>
        <p:nvSpPr>
          <p:cNvPr id="14" name="x_h"/>
          <p:cNvSpPr/>
          <p:nvPr/>
        </p:nvSpPr>
        <p:spPr>
          <a:xfrm>
            <a:off x="8953218" y="2798826"/>
            <a:ext cx="2781582"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Revenue by type</a:t>
            </a:r>
          </a:p>
        </p:txBody>
      </p:sp>
      <p:sp>
        <p:nvSpPr>
          <p:cNvPr id="15" name="x_u"/>
          <p:cNvSpPr/>
          <p:nvPr/>
        </p:nvSpPr>
        <p:spPr>
          <a:xfrm>
            <a:off x="8953218" y="3021330"/>
            <a:ext cx="2781582"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subscription 95.7% of revenue in Q3 FY26</a:t>
            </a:r>
          </a:p>
        </p:txBody>
      </p:sp>
      <p:graphicFrame>
        <p:nvGraphicFramePr>
          <p:cNvPr id="16" name="mix"/>
          <p:cNvGraphicFramePr>
            <a:graphicFrameLocks noGrp="1"/>
          </p:cNvGraphicFramePr>
          <p:nvPr/>
        </p:nvGraphicFramePr>
        <p:xfrm>
          <a:off x="8953218" y="3198114"/>
          <a:ext cx="2781582" cy="769112"/>
        </p:xfrm>
        <a:graphic>
          <a:graphicData uri="http://schemas.openxmlformats.org/drawingml/2006/table">
            <a:tbl>
              <a:tblPr firstRow="0" bandRow="0" lastRow="0" firstCol="0" lastCol="0" bandCol="0"/>
              <a:tblGrid>
                <a:gridCol w="961942"/>
                <a:gridCol w="632579"/>
                <a:gridCol w="632579"/>
                <a:gridCol w="554482"/>
              </a:tblGrid>
              <a:tr h="192278">
                <a:tc>
                  <a:txBody>
                    <a:bodyPr wrap="square"/>
                    <a:lstStyle/>
                    <a:p>
                      <a:pPr algn="l"/>
                      <a:r>
                        <a:rPr sz="900" b="1" i="0">
                          <a:solidFill>
                            <a:srgbClr val="16181D"/>
                          </a:solidFill>
                          <a:latin typeface="Arial"/>
                        </a:rPr>
                        <a:t>$M</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 FY25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 FY26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Y/Y (%)</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Subscription</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280.3</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2E3A9E"/>
                          </a:solidFill>
                          <a:latin typeface="Arial"/>
                        </a:rPr>
                        <a:t>342.8</a:t>
                      </a:r>
                      <a:endParaRPr sz="900" b="0" i="0">
                        <a:solidFill>
                          <a:srgbClr val="2E3A9E"/>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22.3</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Services</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14.9</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2E3A9E"/>
                          </a:solidFill>
                          <a:latin typeface="Arial"/>
                        </a:rPr>
                        <a:t>15.4</a:t>
                      </a:r>
                      <a:endParaRPr sz="900" b="0" i="0">
                        <a:solidFill>
                          <a:srgbClr val="2E3A9E"/>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3.4</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r h="192278">
                <a:tc>
                  <a:txBody>
                    <a:bodyPr wrap="square"/>
                    <a:lstStyle/>
                    <a:p>
                      <a:pPr algn="l"/>
                      <a:r>
                        <a:rPr sz="900" b="1" i="0">
                          <a:solidFill>
                            <a:srgbClr val="16181D"/>
                          </a:solidFill>
                          <a:latin typeface="Arial"/>
                        </a:rPr>
                        <a:t>Total revenue</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295.2</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0" i="0">
                          <a:solidFill>
                            <a:srgbClr val="2E3A9E"/>
                          </a:solidFill>
                          <a:latin typeface="Arial"/>
                        </a:rPr>
                        <a:t>358.2</a:t>
                      </a:r>
                      <a:endParaRPr sz="900" b="0" i="0">
                        <a:solidFill>
                          <a:srgbClr val="2E3A9E"/>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21.3</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r>
            </a:tbl>
          </a:graphicData>
        </a:graphic>
      </p:graphicFrame>
      <p:sp>
        <p:nvSpPr>
          <p:cNvPr id="17" name="n_fn"/>
          <p:cNvSpPr/>
          <p:nvPr/>
        </p:nvSpPr>
        <p:spPr>
          <a:xfrm>
            <a:off x="8953218" y="4022090"/>
            <a:ext cx="2781582" cy="2286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ARR: annualised value of subscription contracts in force at</a:t>
            </a:r>
            <a:br/>
            <a:r>
              <a:rPr sz="750" b="0" i="0">
                <a:solidFill>
                  <a:srgbClr val="596070"/>
                </a:solidFill>
                <a:latin typeface="Arial"/>
              </a:rPr>
              <a:t>quarter end. Net new ARR: the change in ARR over the quarter.</a:t>
            </a:r>
          </a:p>
        </p:txBody>
      </p:sp>
      <p:sp>
        <p:nvSpPr>
          <p:cNvPr id="18" name="y_h"/>
          <p:cNvSpPr/>
          <p:nvPr/>
        </p:nvSpPr>
        <p:spPr>
          <a:xfrm>
            <a:off x="8953218" y="4305554"/>
            <a:ext cx="2781582"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ARR growth against revenue growth</a:t>
            </a:r>
          </a:p>
        </p:txBody>
      </p:sp>
      <p:sp>
        <p:nvSpPr>
          <p:cNvPr id="19" name="y_u"/>
          <p:cNvSpPr/>
          <p:nvPr/>
        </p:nvSpPr>
        <p:spPr>
          <a:xfrm>
            <a:off x="8953218" y="4528058"/>
            <a:ext cx="2781582" cy="24384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Y/Y (%), Q3'24 to Q3'26; ARR ahead after five quarters</a:t>
            </a:r>
            <a:br/>
            <a:r>
              <a:rPr sz="800" b="0" i="0">
                <a:solidFill>
                  <a:srgbClr val="596070"/>
                </a:solidFill>
                <a:latin typeface="Arial"/>
              </a:rPr>
              <a:t>behind</a:t>
            </a:r>
          </a:p>
        </p:txBody>
      </p:sp>
      <p:graphicFrame>
        <p:nvGraphicFramePr>
          <p:cNvPr id="20" name="gx"/>
          <p:cNvGraphicFramePr>
            <a:graphicFrameLocks noGrp="1"/>
          </p:cNvGraphicFramePr>
          <p:nvPr/>
        </p:nvGraphicFramePr>
        <p:xfrm>
          <a:off x="8953218" y="4826762"/>
          <a:ext cx="2781582" cy="1350010"/>
        </p:xfrm>
        <a:graphic>
          <a:graphicData uri="http://schemas.openxmlformats.org/drawingml/2006/chart">
            <c:chart xmlns:c="http://schemas.openxmlformats.org/drawingml/2006/chart" r:id="rId4"/>
          </a:graphicData>
        </a:graphic>
      </p:graphicFrame>
      <p:sp>
        <p:nvSpPr>
          <p:cNvPr id="21" name="source"/>
          <p:cNvSpPr/>
          <p:nvPr/>
        </p:nvSpPr>
        <p:spPr>
          <a:xfrm>
            <a:off x="457200" y="6286500"/>
            <a:ext cx="112776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Source: Corvane Software management accounts (fictional; illustrative figures). Non-GAAP unless stated; fiscal year ends December.</a:t>
            </a:r>
          </a:p>
        </p:txBody>
      </p:sp>
      <p:sp>
        <p:nvSpPr>
          <p:cNvPr id="22" name="rev_g-0-text"/>
          <p:cNvSpPr/>
          <p:nvPr/>
        </p:nvSpPr>
        <p:spPr>
          <a:xfrm>
            <a:off x="924300" y="5357104"/>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27.0%</a:t>
            </a:r>
          </a:p>
        </p:txBody>
      </p:sp>
      <p:sp>
        <p:nvSpPr>
          <p:cNvPr id="23" name="rev_g-1-text"/>
          <p:cNvSpPr/>
          <p:nvPr/>
        </p:nvSpPr>
        <p:spPr>
          <a:xfrm>
            <a:off x="1312839" y="5357104"/>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25.0%</a:t>
            </a:r>
          </a:p>
        </p:txBody>
      </p:sp>
      <p:sp>
        <p:nvSpPr>
          <p:cNvPr id="24" name="rev_g-2-text"/>
          <p:cNvSpPr/>
          <p:nvPr/>
        </p:nvSpPr>
        <p:spPr>
          <a:xfrm>
            <a:off x="1701377" y="5357104"/>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24.0%</a:t>
            </a:r>
          </a:p>
        </p:txBody>
      </p:sp>
      <p:sp>
        <p:nvSpPr>
          <p:cNvPr id="25" name="rev_g-3-text"/>
          <p:cNvSpPr/>
          <p:nvPr/>
        </p:nvSpPr>
        <p:spPr>
          <a:xfrm>
            <a:off x="2089915" y="5357104"/>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23.0%</a:t>
            </a:r>
          </a:p>
        </p:txBody>
      </p:sp>
      <p:sp>
        <p:nvSpPr>
          <p:cNvPr id="26" name="rev_g-4-text"/>
          <p:cNvSpPr/>
          <p:nvPr/>
        </p:nvSpPr>
        <p:spPr>
          <a:xfrm>
            <a:off x="2478454" y="5357104"/>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21.7%</a:t>
            </a:r>
          </a:p>
        </p:txBody>
      </p:sp>
      <p:sp>
        <p:nvSpPr>
          <p:cNvPr id="27" name="rev_g-5-text"/>
          <p:cNvSpPr/>
          <p:nvPr/>
        </p:nvSpPr>
        <p:spPr>
          <a:xfrm>
            <a:off x="2866992" y="5357104"/>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21.4%</a:t>
            </a:r>
          </a:p>
        </p:txBody>
      </p:sp>
      <p:sp>
        <p:nvSpPr>
          <p:cNvPr id="28" name="rev_g-6-text"/>
          <p:cNvSpPr/>
          <p:nvPr/>
        </p:nvSpPr>
        <p:spPr>
          <a:xfrm>
            <a:off x="3255531" y="5357104"/>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21.6%</a:t>
            </a:r>
          </a:p>
        </p:txBody>
      </p:sp>
      <p:sp>
        <p:nvSpPr>
          <p:cNvPr id="29" name="rev_g-7-text"/>
          <p:cNvSpPr/>
          <p:nvPr/>
        </p:nvSpPr>
        <p:spPr>
          <a:xfrm>
            <a:off x="3644069" y="5357104"/>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21.4%</a:t>
            </a:r>
          </a:p>
        </p:txBody>
      </p:sp>
      <p:sp>
        <p:nvSpPr>
          <p:cNvPr id="30" name="rev_g-8-text"/>
          <p:cNvSpPr/>
          <p:nvPr/>
        </p:nvSpPr>
        <p:spPr>
          <a:xfrm>
            <a:off x="4032608" y="5357104"/>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1" i="0">
                <a:solidFill>
                  <a:srgbClr val="2E3A9E"/>
                </a:solidFill>
                <a:latin typeface="Arial"/>
              </a:rPr>
              <a:t>21.3%</a:t>
            </a:r>
          </a:p>
        </p:txBody>
      </p:sp>
      <p:sp>
        <p:nvSpPr>
          <p:cNvPr id="31" name="rev_g-label"/>
          <p:cNvSpPr/>
          <p:nvPr/>
        </p:nvSpPr>
        <p:spPr>
          <a:xfrm>
            <a:off x="690077" y="5357104"/>
            <a:ext cx="204229" cy="121920"/>
          </a:xfrm>
          <a:prstGeom prst="rect">
            <a:avLst/>
          </a:prstGeom>
          <a:noFill/>
        </p:spPr>
        <p:txBody>
          <a:bodyPr wrap="square" lIns="0" tIns="0" rIns="0" bIns="0" anchor="ctr">
            <a:noAutofit/>
          </a:bodyPr>
          <a:lstStyle/>
          <a:p>
            <a:pPr algn="l" marL="0" indent="0">
              <a:lnSpc>
                <a:spcPts val="960"/>
              </a:lnSpc>
              <a:spcBef>
                <a:spcPts val="0"/>
              </a:spcBef>
              <a:spcAft>
                <a:spcPts val="0"/>
              </a:spcAft>
              <a:buNone/>
            </a:pPr>
            <a:r>
              <a:rPr sz="800" b="0" i="0">
                <a:solidFill>
                  <a:srgbClr val="596070"/>
                </a:solidFill>
                <a:latin typeface="Arial"/>
              </a:rPr>
              <a:t>Y/Y</a:t>
            </a:r>
          </a:p>
        </p:txBody>
      </p:sp>
      <p:sp>
        <p:nvSpPr>
          <p:cNvPr id="32" name="arr_r-0-text"/>
          <p:cNvSpPr/>
          <p:nvPr/>
        </p:nvSpPr>
        <p:spPr>
          <a:xfrm>
            <a:off x="5189226" y="5357104"/>
            <a:ext cx="294716"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1,012</a:t>
            </a:r>
          </a:p>
        </p:txBody>
      </p:sp>
      <p:sp>
        <p:nvSpPr>
          <p:cNvPr id="33" name="arr_r-1-text"/>
          <p:cNvSpPr/>
          <p:nvPr/>
        </p:nvSpPr>
        <p:spPr>
          <a:xfrm>
            <a:off x="5577765" y="5357104"/>
            <a:ext cx="294716"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1,068</a:t>
            </a:r>
          </a:p>
        </p:txBody>
      </p:sp>
      <p:sp>
        <p:nvSpPr>
          <p:cNvPr id="34" name="arr_r-2-text"/>
          <p:cNvSpPr/>
          <p:nvPr/>
        </p:nvSpPr>
        <p:spPr>
          <a:xfrm>
            <a:off x="5970073" y="5357104"/>
            <a:ext cx="287175"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1,115</a:t>
            </a:r>
          </a:p>
        </p:txBody>
      </p:sp>
      <p:sp>
        <p:nvSpPr>
          <p:cNvPr id="35" name="arr_r-3-text"/>
          <p:cNvSpPr/>
          <p:nvPr/>
        </p:nvSpPr>
        <p:spPr>
          <a:xfrm>
            <a:off x="6354841" y="5357104"/>
            <a:ext cx="294716"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1,168</a:t>
            </a:r>
          </a:p>
        </p:txBody>
      </p:sp>
      <p:sp>
        <p:nvSpPr>
          <p:cNvPr id="36" name="arr_r-4-text"/>
          <p:cNvSpPr/>
          <p:nvPr/>
        </p:nvSpPr>
        <p:spPr>
          <a:xfrm>
            <a:off x="6743380" y="5357104"/>
            <a:ext cx="294716"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1,226</a:t>
            </a:r>
          </a:p>
        </p:txBody>
      </p:sp>
      <p:sp>
        <p:nvSpPr>
          <p:cNvPr id="37" name="arr_r-5-text"/>
          <p:cNvSpPr/>
          <p:nvPr/>
        </p:nvSpPr>
        <p:spPr>
          <a:xfrm>
            <a:off x="7131918" y="5357104"/>
            <a:ext cx="294716"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1,292</a:t>
            </a:r>
          </a:p>
        </p:txBody>
      </p:sp>
      <p:sp>
        <p:nvSpPr>
          <p:cNvPr id="38" name="arr_r-6-text"/>
          <p:cNvSpPr/>
          <p:nvPr/>
        </p:nvSpPr>
        <p:spPr>
          <a:xfrm>
            <a:off x="7520457" y="5357104"/>
            <a:ext cx="294716"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1,349</a:t>
            </a:r>
          </a:p>
        </p:txBody>
      </p:sp>
      <p:sp>
        <p:nvSpPr>
          <p:cNvPr id="39" name="arr_r-7-text"/>
          <p:cNvSpPr/>
          <p:nvPr/>
        </p:nvSpPr>
        <p:spPr>
          <a:xfrm>
            <a:off x="7908995" y="5357104"/>
            <a:ext cx="294716"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1,415</a:t>
            </a:r>
          </a:p>
        </p:txBody>
      </p:sp>
      <p:sp>
        <p:nvSpPr>
          <p:cNvPr id="40" name="arr_r-8-text"/>
          <p:cNvSpPr/>
          <p:nvPr/>
        </p:nvSpPr>
        <p:spPr>
          <a:xfrm>
            <a:off x="8297534" y="5357104"/>
            <a:ext cx="294716"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1" i="0">
                <a:solidFill>
                  <a:srgbClr val="2E3A9E"/>
                </a:solidFill>
                <a:latin typeface="Arial"/>
              </a:rPr>
              <a:t>1,498</a:t>
            </a:r>
          </a:p>
        </p:txBody>
      </p:sp>
      <p:sp>
        <p:nvSpPr>
          <p:cNvPr id="41" name="arr_r-label"/>
          <p:cNvSpPr/>
          <p:nvPr/>
        </p:nvSpPr>
        <p:spPr>
          <a:xfrm>
            <a:off x="4887336" y="5357104"/>
            <a:ext cx="254979" cy="121920"/>
          </a:xfrm>
          <a:prstGeom prst="rect">
            <a:avLst/>
          </a:prstGeom>
          <a:noFill/>
        </p:spPr>
        <p:txBody>
          <a:bodyPr wrap="square" lIns="0" tIns="0" rIns="0" bIns="0" anchor="ctr">
            <a:noAutofit/>
          </a:bodyPr>
          <a:lstStyle/>
          <a:p>
            <a:pPr algn="l" marL="0" indent="0">
              <a:lnSpc>
                <a:spcPts val="960"/>
              </a:lnSpc>
              <a:spcBef>
                <a:spcPts val="0"/>
              </a:spcBef>
              <a:spcAft>
                <a:spcPts val="0"/>
              </a:spcAft>
              <a:buNone/>
            </a:pPr>
            <a:r>
              <a:rPr sz="800" b="0" i="0">
                <a:solidFill>
                  <a:srgbClr val="596070"/>
                </a:solidFill>
                <a:latin typeface="Arial"/>
              </a:rPr>
              <a:t>ARR</a:t>
            </a:r>
          </a:p>
        </p:txBody>
      </p:sp>
      <p:sp>
        <p:nvSpPr>
          <p:cNvPr id="42" name="arr_g-0-text"/>
          <p:cNvSpPr/>
          <p:nvPr/>
        </p:nvSpPr>
        <p:spPr>
          <a:xfrm>
            <a:off x="5172309" y="5506456"/>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26.5%</a:t>
            </a:r>
          </a:p>
        </p:txBody>
      </p:sp>
      <p:sp>
        <p:nvSpPr>
          <p:cNvPr id="43" name="arr_g-1-text"/>
          <p:cNvSpPr/>
          <p:nvPr/>
        </p:nvSpPr>
        <p:spPr>
          <a:xfrm>
            <a:off x="5560848" y="5506456"/>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26.2%</a:t>
            </a:r>
          </a:p>
        </p:txBody>
      </p:sp>
      <p:sp>
        <p:nvSpPr>
          <p:cNvPr id="44" name="arr_g-2-text"/>
          <p:cNvSpPr/>
          <p:nvPr/>
        </p:nvSpPr>
        <p:spPr>
          <a:xfrm>
            <a:off x="5949386" y="5506456"/>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24.3%</a:t>
            </a:r>
          </a:p>
        </p:txBody>
      </p:sp>
      <p:sp>
        <p:nvSpPr>
          <p:cNvPr id="45" name="arr_g-3-text"/>
          <p:cNvSpPr/>
          <p:nvPr/>
        </p:nvSpPr>
        <p:spPr>
          <a:xfrm>
            <a:off x="6337924" y="5506456"/>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21.4%</a:t>
            </a:r>
          </a:p>
        </p:txBody>
      </p:sp>
      <p:sp>
        <p:nvSpPr>
          <p:cNvPr id="46" name="arr_g-4-text"/>
          <p:cNvSpPr/>
          <p:nvPr/>
        </p:nvSpPr>
        <p:spPr>
          <a:xfrm>
            <a:off x="6726463" y="5506456"/>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21.1%</a:t>
            </a:r>
          </a:p>
        </p:txBody>
      </p:sp>
      <p:sp>
        <p:nvSpPr>
          <p:cNvPr id="47" name="arr_g-5-text"/>
          <p:cNvSpPr/>
          <p:nvPr/>
        </p:nvSpPr>
        <p:spPr>
          <a:xfrm>
            <a:off x="7115001" y="5506456"/>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21.0%</a:t>
            </a:r>
          </a:p>
        </p:txBody>
      </p:sp>
      <p:sp>
        <p:nvSpPr>
          <p:cNvPr id="48" name="arr_g-6-text"/>
          <p:cNvSpPr/>
          <p:nvPr/>
        </p:nvSpPr>
        <p:spPr>
          <a:xfrm>
            <a:off x="7503540" y="5506456"/>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21.0%</a:t>
            </a:r>
          </a:p>
        </p:txBody>
      </p:sp>
      <p:sp>
        <p:nvSpPr>
          <p:cNvPr id="49" name="arr_g-7-text"/>
          <p:cNvSpPr/>
          <p:nvPr/>
        </p:nvSpPr>
        <p:spPr>
          <a:xfrm>
            <a:off x="7892078" y="5506456"/>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21.1%</a:t>
            </a:r>
          </a:p>
        </p:txBody>
      </p:sp>
      <p:sp>
        <p:nvSpPr>
          <p:cNvPr id="50" name="arr_g-8-text"/>
          <p:cNvSpPr/>
          <p:nvPr/>
        </p:nvSpPr>
        <p:spPr>
          <a:xfrm>
            <a:off x="8280617" y="5506456"/>
            <a:ext cx="328550"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1" i="0">
                <a:solidFill>
                  <a:srgbClr val="2E3A9E"/>
                </a:solidFill>
                <a:latin typeface="Arial"/>
              </a:rPr>
              <a:t>22.2%</a:t>
            </a:r>
          </a:p>
        </p:txBody>
      </p:sp>
      <p:sp>
        <p:nvSpPr>
          <p:cNvPr id="51" name="arr_g-label"/>
          <p:cNvSpPr/>
          <p:nvPr/>
        </p:nvSpPr>
        <p:spPr>
          <a:xfrm>
            <a:off x="4938086" y="5506456"/>
            <a:ext cx="204229" cy="121920"/>
          </a:xfrm>
          <a:prstGeom prst="rect">
            <a:avLst/>
          </a:prstGeom>
          <a:noFill/>
        </p:spPr>
        <p:txBody>
          <a:bodyPr wrap="square" lIns="0" tIns="0" rIns="0" bIns="0" anchor="ctr">
            <a:noAutofit/>
          </a:bodyPr>
          <a:lstStyle/>
          <a:p>
            <a:pPr algn="l" marL="0" indent="0">
              <a:lnSpc>
                <a:spcPts val="960"/>
              </a:lnSpc>
              <a:spcBef>
                <a:spcPts val="0"/>
              </a:spcBef>
              <a:spcAft>
                <a:spcPts val="0"/>
              </a:spcAft>
              <a:buNone/>
            </a:pPr>
            <a:r>
              <a:rPr sz="800" b="0" i="0">
                <a:solidFill>
                  <a:srgbClr val="596070"/>
                </a:solidFill>
                <a:latin typeface="Arial"/>
              </a:rPr>
              <a:t>Y/Y</a:t>
            </a:r>
          </a:p>
        </p:txBody>
      </p:sp>
    </p:spTree>
    <p:custDataLst>
      <p:tags r:id="rId5"/>
    </p:custData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chrome-1"/>
          <p:cNvSpPr txBox="1"/>
          <p:nvPr/>
        </p:nvSpPr>
        <p:spPr>
          <a:xfrm>
            <a:off x="457200" y="6510528"/>
            <a:ext cx="7315200" cy="182880"/>
          </a:xfrm>
          <a:prstGeom prst="rect">
            <a:avLst/>
          </a:prstGeom>
          <a:noFill/>
        </p:spPr>
        <p:txBody>
          <a:bodyPr wrap="none" lIns="0" tIns="0" rIns="0" bIns="0" anchor="t">
            <a:noAutofit/>
          </a:bodyPr>
          <a:lstStyle/>
          <a:p>
            <a:r>
              <a:rPr sz="750" b="0">
                <a:solidFill>
                  <a:srgbClr val="596070"/>
                </a:solidFill>
                <a:latin typeface="Arial"/>
              </a:rPr>
              <a:t>Corvane Software (fictional company)  |  Q3 FY2026 earnings  |  Illustrative figures, non-GAAP unless stated</a:t>
            </a:r>
          </a:p>
        </p:txBody>
      </p:sp>
      <p:sp>
        <p:nvSpPr>
          <p:cNvPr id="26" name="chrome-2"/>
          <p:cNvSpPr txBox="1"/>
          <p:nvPr/>
        </p:nvSpPr>
        <p:spPr>
          <a:xfrm>
            <a:off x="11274552" y="6510528"/>
            <a:ext cx="457200" cy="182880"/>
          </a:xfrm>
          <a:prstGeom prst="rect">
            <a:avLst/>
          </a:prstGeom>
          <a:noFill/>
        </p:spPr>
        <p:txBody>
          <a:bodyPr wrap="none" lIns="0" tIns="0" rIns="0" bIns="0" anchor="t">
            <a:noAutofit/>
          </a:bodyPr>
          <a:lstStyle/>
          <a:p>
            <a:pPr algn="r"/>
            <a:fld id="{B6F15528-21DE-4FAA-801E-634DDDAF5B2F}" type="slidenum">
              <a:rPr sz="750">
                <a:solidFill>
                  <a:srgbClr val="596070"/>
                </a:solidFill>
                <a:latin typeface="Arial"/>
              </a:rPr>
              <a:t>1</a:t>
            </a:fld>
          </a:p>
        </p:txBody>
      </p:sp>
      <p:sp>
        <p:nvSpPr>
          <p:cNvPr id="2" name="kicker"/>
          <p:cNvSpPr/>
          <p:nvPr/>
        </p:nvSpPr>
        <p:spPr>
          <a:xfrm>
            <a:off x="457200" y="457200"/>
            <a:ext cx="11277600"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2E3A9E"/>
                </a:solidFill>
                <a:latin typeface="Arial"/>
              </a:rPr>
              <a:t>Q3 FY2026 RESULTS  |  UNIT ECONOMICS AND COHORTS</a:t>
            </a:r>
          </a:p>
        </p:txBody>
      </p:sp>
      <p:sp>
        <p:nvSpPr>
          <p:cNvPr id="3" name="title"/>
          <p:cNvSpPr/>
          <p:nvPr/>
        </p:nvSpPr>
        <p:spPr>
          <a:xfrm>
            <a:off x="457200" y="621792"/>
            <a:ext cx="11277600" cy="533400"/>
          </a:xfrm>
          <a:prstGeom prst="rect">
            <a:avLst/>
          </a:prstGeom>
          <a:noFill/>
        </p:spPr>
        <p:txBody>
          <a:bodyPr wrap="square" lIns="0" tIns="0" rIns="0" bIns="0" anchor="t">
            <a:noAutofit/>
          </a:bodyPr>
          <a:lstStyle/>
          <a:p>
            <a:pPr algn="l" marL="0" indent="0">
              <a:lnSpc>
                <a:spcPts val="2100"/>
              </a:lnSpc>
              <a:spcBef>
                <a:spcPts val="0"/>
              </a:spcBef>
              <a:spcAft>
                <a:spcPts val="0"/>
              </a:spcAft>
              <a:buNone/>
            </a:pPr>
            <a:r>
              <a:rPr sz="2000" b="1" i="0">
                <a:solidFill>
                  <a:srgbClr val="16181D"/>
                </a:solidFill>
                <a:latin typeface="Arial"/>
              </a:rPr>
              <a:t>Net revenue retention rose for a third quarter to 119%, and the FY2024 cohort expanded</a:t>
            </a:r>
            <a:br/>
            <a:r>
              <a:rPr sz="2000" b="1" i="0">
                <a:solidFill>
                  <a:srgbClr val="16181D"/>
                </a:solidFill>
                <a:latin typeface="Arial"/>
              </a:rPr>
              <a:t>fastest in its second year</a:t>
            </a:r>
          </a:p>
        </p:txBody>
      </p:sp>
      <p:sp>
        <p:nvSpPr>
          <p:cNvPr id="4" name="r_h"/>
          <p:cNvSpPr/>
          <p:nvPr/>
        </p:nvSpPr>
        <p:spPr>
          <a:xfrm>
            <a:off x="457200" y="1264920"/>
            <a:ext cx="5763623"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Net and gross revenue retention</a:t>
            </a:r>
          </a:p>
        </p:txBody>
      </p:sp>
      <p:sp>
        <p:nvSpPr>
          <p:cNvPr id="5" name="r_u"/>
          <p:cNvSpPr/>
          <p:nvPr/>
        </p:nvSpPr>
        <p:spPr>
          <a:xfrm>
            <a:off x="457200" y="1459992"/>
            <a:ext cx="5763623"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net retention (%, trailing four quarters) plotted; gross retention (GRR, %) beneath</a:t>
            </a:r>
          </a:p>
        </p:txBody>
      </p:sp>
      <p:graphicFrame>
        <p:nvGraphicFramePr>
          <p:cNvPr id="6" name="nrr"/>
          <p:cNvGraphicFramePr>
            <a:graphicFrameLocks noGrp="1"/>
          </p:cNvGraphicFramePr>
          <p:nvPr/>
        </p:nvGraphicFramePr>
        <p:xfrm>
          <a:off x="457200" y="1609344"/>
          <a:ext cx="5763623" cy="2657348"/>
        </p:xfrm>
        <a:graphic>
          <a:graphicData uri="http://schemas.openxmlformats.org/drawingml/2006/chart">
            <c:chart xmlns:c="http://schemas.openxmlformats.org/drawingml/2006/chart" r:id="rId2"/>
          </a:graphicData>
        </a:graphic>
      </p:graphicFrame>
      <p:sp>
        <p:nvSpPr>
          <p:cNvPr id="7" name="u_h"/>
          <p:cNvSpPr/>
          <p:nvPr/>
        </p:nvSpPr>
        <p:spPr>
          <a:xfrm>
            <a:off x="457200" y="4294124"/>
            <a:ext cx="5763623"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Unit economics</a:t>
            </a:r>
          </a:p>
        </p:txBody>
      </p:sp>
      <p:sp>
        <p:nvSpPr>
          <p:cNvPr id="8" name="u_u"/>
          <p:cNvSpPr/>
          <p:nvPr/>
        </p:nvSpPr>
        <p:spPr>
          <a:xfrm>
            <a:off x="457200" y="4489196"/>
            <a:ext cx="5763623"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non-GAAP, last five quarters; Q3 FY26 in indigo</a:t>
            </a:r>
          </a:p>
        </p:txBody>
      </p:sp>
      <p:graphicFrame>
        <p:nvGraphicFramePr>
          <p:cNvPr id="9" name="ue"/>
          <p:cNvGraphicFramePr>
            <a:graphicFrameLocks noGrp="1"/>
          </p:cNvGraphicFramePr>
          <p:nvPr/>
        </p:nvGraphicFramePr>
        <p:xfrm>
          <a:off x="457200" y="4638548"/>
          <a:ext cx="5763623" cy="1538224"/>
        </p:xfrm>
        <a:graphic>
          <a:graphicData uri="http://schemas.openxmlformats.org/drawingml/2006/table">
            <a:tbl>
              <a:tblPr firstRow="0" bandRow="0" lastRow="0" firstCol="0" lastCol="0" bandCol="0"/>
              <a:tblGrid>
                <a:gridCol w="2873517"/>
                <a:gridCol w="578021"/>
                <a:gridCol w="578021"/>
                <a:gridCol w="578021"/>
                <a:gridCol w="578021"/>
                <a:gridCol w="578022"/>
              </a:tblGrid>
              <a:tr h="192278">
                <a:tc>
                  <a:txBody>
                    <a:bodyPr wrap="square"/>
                    <a:lstStyle/>
                    <a:p>
                      <a:pPr algn="l"/>
                      <a:r>
                        <a:rPr sz="900" b="1" i="0">
                          <a:solidFill>
                            <a:srgbClr val="16181D"/>
                          </a:solidFill>
                          <a:latin typeface="Arial"/>
                        </a:rPr>
                        <a:t>Metric</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Q4'25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Q1'26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Q2'26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Gross margin (%)</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79.6</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79.9</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80.1</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80.3</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2E3A9E"/>
                          </a:solidFill>
                          <a:latin typeface="Arial"/>
                        </a:rPr>
                        <a:t>80.4</a:t>
                      </a:r>
                      <a:endParaRPr sz="900" b="0" i="0">
                        <a:solidFill>
                          <a:srgbClr val="2E3A9E"/>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Sales and marketing (% of revenue)</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38.9</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38.1</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37.0</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36.2</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35.8</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1" i="0">
                          <a:solidFill>
                            <a:srgbClr val="16181D"/>
                          </a:solidFill>
                          <a:latin typeface="Arial"/>
                        </a:rPr>
                        <a:t>CAC payback (months)</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28.8</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26.1</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31.2</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27.1</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22.2</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1" i="0">
                          <a:solidFill>
                            <a:srgbClr val="16181D"/>
                          </a:solidFill>
                          <a:latin typeface="Arial"/>
                        </a:rPr>
                        <a:t>ARR magic number (x)</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0.52</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0.57</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0.48</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0.55</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16181D"/>
                          </a:solidFill>
                          <a:latin typeface="Arial"/>
                        </a:rPr>
                        <a:t>0.67</a:t>
                      </a:r>
                      <a:endParaRPr sz="900" b="1"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Free cash flow margin (%)</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18.3</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21.5</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19.4</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19.3</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21.4</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Rule of 40 (%)</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40.0</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42.9</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41.0</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40.7</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42.7</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Customers above $100K ARR</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1,779</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1,858</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1,931</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2,032</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2E3A9E"/>
                          </a:solidFill>
                          <a:latin typeface="Arial"/>
                        </a:rPr>
                        <a:t>2,148</a:t>
                      </a:r>
                      <a:endParaRPr sz="900" b="0" i="0">
                        <a:solidFill>
                          <a:srgbClr val="2E3A9E"/>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bl>
          </a:graphicData>
        </a:graphic>
      </p:graphicFrame>
      <p:sp>
        <p:nvSpPr>
          <p:cNvPr id="10" name="c_h"/>
          <p:cNvSpPr/>
          <p:nvPr/>
        </p:nvSpPr>
        <p:spPr>
          <a:xfrm>
            <a:off x="6495143" y="1264920"/>
            <a:ext cx="5239657"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ARR by annual cohort, as a multiple of first-year ARR</a:t>
            </a:r>
          </a:p>
        </p:txBody>
      </p:sp>
      <p:sp>
        <p:nvSpPr>
          <p:cNvPr id="11" name="c_u"/>
          <p:cNvSpPr/>
          <p:nvPr/>
        </p:nvSpPr>
        <p:spPr>
          <a:xfrm>
            <a:off x="6495143" y="1459992"/>
            <a:ext cx="5239657"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x, by years since the cohort landed; FY2024 cohort in indigo</a:t>
            </a:r>
          </a:p>
        </p:txBody>
      </p:sp>
      <p:graphicFrame>
        <p:nvGraphicFramePr>
          <p:cNvPr id="12" name="coh"/>
          <p:cNvGraphicFramePr>
            <a:graphicFrameLocks noGrp="1"/>
          </p:cNvGraphicFramePr>
          <p:nvPr/>
        </p:nvGraphicFramePr>
        <p:xfrm>
          <a:off x="6495143" y="1609344"/>
          <a:ext cx="5239657" cy="4197096"/>
        </p:xfrm>
        <a:graphic>
          <a:graphicData uri="http://schemas.openxmlformats.org/drawingml/2006/chart">
            <c:chart xmlns:c="http://schemas.openxmlformats.org/drawingml/2006/chart" r:id="rId3"/>
          </a:graphicData>
        </a:graphic>
      </p:graphicFrame>
      <p:sp>
        <p:nvSpPr>
          <p:cNvPr id="13" name="c_fn"/>
          <p:cNvSpPr/>
          <p:nvPr/>
        </p:nvSpPr>
        <p:spPr>
          <a:xfrm>
            <a:off x="6495143" y="5833872"/>
            <a:ext cx="5239657" cy="3429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A cohort is the customers landed in a fiscal year; its ARR is indexed to the end of that year. The FY2025 cohort has one</a:t>
            </a:r>
            <a:br/>
            <a:r>
              <a:rPr sz="750" b="0" i="0">
                <a:solidFill>
                  <a:srgbClr val="596070"/>
                </a:solidFill>
                <a:latin typeface="Arial"/>
              </a:rPr>
              <a:t>year and is not drawn. CAC payback: prior-quarter sales and marketing over net new ARR times gross margin, in months.</a:t>
            </a:r>
            <a:br/>
            <a:r>
              <a:rPr sz="750" b="0" i="0">
                <a:solidFill>
                  <a:srgbClr val="596070"/>
                </a:solidFill>
                <a:latin typeface="Arial"/>
              </a:rPr>
              <a:t>ARR magic number: net new ARR over prior-quarter sales and marketing.</a:t>
            </a:r>
          </a:p>
        </p:txBody>
      </p:sp>
      <p:sp>
        <p:nvSpPr>
          <p:cNvPr id="14" name="source"/>
          <p:cNvSpPr/>
          <p:nvPr/>
        </p:nvSpPr>
        <p:spPr>
          <a:xfrm>
            <a:off x="457200" y="6286500"/>
            <a:ext cx="112776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Source: Corvane Software management accounts (fictional; illustrative figures). Non-GAAP unless stated; fiscal year ends December.</a:t>
            </a:r>
          </a:p>
        </p:txBody>
      </p:sp>
      <p:sp>
        <p:nvSpPr>
          <p:cNvPr id="15" name="grr-0-text"/>
          <p:cNvSpPr/>
          <p:nvPr/>
        </p:nvSpPr>
        <p:spPr>
          <a:xfrm>
            <a:off x="1241802" y="3713328"/>
            <a:ext cx="153478"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93</a:t>
            </a:r>
          </a:p>
        </p:txBody>
      </p:sp>
      <p:sp>
        <p:nvSpPr>
          <p:cNvPr id="16" name="grr-1-text"/>
          <p:cNvSpPr/>
          <p:nvPr/>
        </p:nvSpPr>
        <p:spPr>
          <a:xfrm>
            <a:off x="1811761" y="3713328"/>
            <a:ext cx="153478"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93</a:t>
            </a:r>
          </a:p>
        </p:txBody>
      </p:sp>
      <p:sp>
        <p:nvSpPr>
          <p:cNvPr id="17" name="grr-2-text"/>
          <p:cNvSpPr/>
          <p:nvPr/>
        </p:nvSpPr>
        <p:spPr>
          <a:xfrm>
            <a:off x="2381719" y="3713328"/>
            <a:ext cx="153478"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92</a:t>
            </a:r>
          </a:p>
        </p:txBody>
      </p:sp>
      <p:sp>
        <p:nvSpPr>
          <p:cNvPr id="18" name="grr-3-text"/>
          <p:cNvSpPr/>
          <p:nvPr/>
        </p:nvSpPr>
        <p:spPr>
          <a:xfrm>
            <a:off x="2951677" y="3713328"/>
            <a:ext cx="153478"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92</a:t>
            </a:r>
          </a:p>
        </p:txBody>
      </p:sp>
      <p:sp>
        <p:nvSpPr>
          <p:cNvPr id="19" name="grr-4-text"/>
          <p:cNvSpPr/>
          <p:nvPr/>
        </p:nvSpPr>
        <p:spPr>
          <a:xfrm>
            <a:off x="3521636" y="3713328"/>
            <a:ext cx="153478"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92</a:t>
            </a:r>
          </a:p>
        </p:txBody>
      </p:sp>
      <p:sp>
        <p:nvSpPr>
          <p:cNvPr id="20" name="grr-5-text"/>
          <p:cNvSpPr/>
          <p:nvPr/>
        </p:nvSpPr>
        <p:spPr>
          <a:xfrm>
            <a:off x="4091594" y="3713328"/>
            <a:ext cx="153478"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93</a:t>
            </a:r>
          </a:p>
        </p:txBody>
      </p:sp>
      <p:sp>
        <p:nvSpPr>
          <p:cNvPr id="21" name="grr-6-text"/>
          <p:cNvSpPr/>
          <p:nvPr/>
        </p:nvSpPr>
        <p:spPr>
          <a:xfrm>
            <a:off x="4661552" y="3713328"/>
            <a:ext cx="153478"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93</a:t>
            </a:r>
          </a:p>
        </p:txBody>
      </p:sp>
      <p:sp>
        <p:nvSpPr>
          <p:cNvPr id="22" name="grr-7-text"/>
          <p:cNvSpPr/>
          <p:nvPr/>
        </p:nvSpPr>
        <p:spPr>
          <a:xfrm>
            <a:off x="5231510" y="3713328"/>
            <a:ext cx="153478"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93</a:t>
            </a:r>
          </a:p>
        </p:txBody>
      </p:sp>
      <p:sp>
        <p:nvSpPr>
          <p:cNvPr id="23" name="grr-8-text"/>
          <p:cNvSpPr/>
          <p:nvPr/>
        </p:nvSpPr>
        <p:spPr>
          <a:xfrm>
            <a:off x="5801469" y="3713328"/>
            <a:ext cx="153478" cy="121920"/>
          </a:xfrm>
          <a:prstGeom prst="rect">
            <a:avLst/>
          </a:prstGeom>
          <a:noFill/>
        </p:spPr>
        <p:txBody>
          <a:bodyPr wrap="square" lIns="0" tIns="0" rIns="0" bIns="0" anchor="ctr">
            <a:noAutofit/>
          </a:bodyPr>
          <a:lstStyle/>
          <a:p>
            <a:pPr algn="ctr" marL="0" indent="0">
              <a:lnSpc>
                <a:spcPts val="960"/>
              </a:lnSpc>
              <a:spcBef>
                <a:spcPts val="0"/>
              </a:spcBef>
              <a:spcAft>
                <a:spcPts val="0"/>
              </a:spcAft>
              <a:buNone/>
            </a:pPr>
            <a:r>
              <a:rPr sz="800" b="0" i="0">
                <a:solidFill>
                  <a:srgbClr val="16181D"/>
                </a:solidFill>
                <a:latin typeface="Arial"/>
              </a:rPr>
              <a:t>94</a:t>
            </a:r>
          </a:p>
        </p:txBody>
      </p:sp>
      <p:sp>
        <p:nvSpPr>
          <p:cNvPr id="24" name="grr-label"/>
          <p:cNvSpPr/>
          <p:nvPr/>
        </p:nvSpPr>
        <p:spPr>
          <a:xfrm>
            <a:off x="767322" y="3713328"/>
            <a:ext cx="266240" cy="121920"/>
          </a:xfrm>
          <a:prstGeom prst="rect">
            <a:avLst/>
          </a:prstGeom>
          <a:noFill/>
        </p:spPr>
        <p:txBody>
          <a:bodyPr wrap="square" lIns="0" tIns="0" rIns="0" bIns="0" anchor="ctr">
            <a:noAutofit/>
          </a:bodyPr>
          <a:lstStyle/>
          <a:p>
            <a:pPr algn="l" marL="0" indent="0">
              <a:lnSpc>
                <a:spcPts val="960"/>
              </a:lnSpc>
              <a:spcBef>
                <a:spcPts val="0"/>
              </a:spcBef>
              <a:spcAft>
                <a:spcPts val="0"/>
              </a:spcAft>
              <a:buNone/>
            </a:pPr>
            <a:r>
              <a:rPr sz="800" b="0" i="0">
                <a:solidFill>
                  <a:srgbClr val="596070"/>
                </a:solidFill>
                <a:latin typeface="Arial"/>
              </a:rPr>
              <a:t>GRR</a:t>
            </a:r>
          </a:p>
        </p:txBody>
      </p:sp>
    </p:spTree>
    <p:custDataLst>
      <p:tags r:id="rId4"/>
    </p:custData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8" name="chrome-1"/>
          <p:cNvSpPr txBox="1"/>
          <p:nvPr/>
        </p:nvSpPr>
        <p:spPr>
          <a:xfrm>
            <a:off x="457200" y="6510528"/>
            <a:ext cx="7315200" cy="182880"/>
          </a:xfrm>
          <a:prstGeom prst="rect">
            <a:avLst/>
          </a:prstGeom>
          <a:noFill/>
        </p:spPr>
        <p:txBody>
          <a:bodyPr wrap="none" lIns="0" tIns="0" rIns="0" bIns="0" anchor="t">
            <a:noAutofit/>
          </a:bodyPr>
          <a:lstStyle/>
          <a:p>
            <a:r>
              <a:rPr sz="750" b="0">
                <a:solidFill>
                  <a:srgbClr val="596070"/>
                </a:solidFill>
                <a:latin typeface="Arial"/>
              </a:rPr>
              <a:t>Corvane Software (fictional company)  |  Q3 FY2026 earnings  |  Illustrative figures, non-GAAP unless stated</a:t>
            </a:r>
          </a:p>
        </p:txBody>
      </p:sp>
      <p:sp>
        <p:nvSpPr>
          <p:cNvPr id="19" name="chrome-2"/>
          <p:cNvSpPr txBox="1"/>
          <p:nvPr/>
        </p:nvSpPr>
        <p:spPr>
          <a:xfrm>
            <a:off x="11274552" y="6510528"/>
            <a:ext cx="457200" cy="182880"/>
          </a:xfrm>
          <a:prstGeom prst="rect">
            <a:avLst/>
          </a:prstGeom>
          <a:noFill/>
        </p:spPr>
        <p:txBody>
          <a:bodyPr wrap="none" lIns="0" tIns="0" rIns="0" bIns="0" anchor="t">
            <a:noAutofit/>
          </a:bodyPr>
          <a:lstStyle/>
          <a:p>
            <a:pPr algn="r"/>
            <a:fld id="{B6F15528-21DE-4FAA-801E-634DDDAF5B2F}" type="slidenum">
              <a:rPr sz="750">
                <a:solidFill>
                  <a:srgbClr val="596070"/>
                </a:solidFill>
                <a:latin typeface="Arial"/>
              </a:rPr>
              <a:t>1</a:t>
            </a:fld>
          </a:p>
        </p:txBody>
      </p:sp>
      <p:sp>
        <p:nvSpPr>
          <p:cNvPr id="2" name="kicker"/>
          <p:cNvSpPr/>
          <p:nvPr/>
        </p:nvSpPr>
        <p:spPr>
          <a:xfrm>
            <a:off x="457200" y="457200"/>
            <a:ext cx="11277600"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2E3A9E"/>
                </a:solidFill>
                <a:latin typeface="Arial"/>
              </a:rPr>
              <a:t>Q3 FY2026 RESULTS  |  MARGIN</a:t>
            </a:r>
          </a:p>
        </p:txBody>
      </p:sp>
      <p:sp>
        <p:nvSpPr>
          <p:cNvPr id="3" name="title"/>
          <p:cNvSpPr/>
          <p:nvPr/>
        </p:nvSpPr>
        <p:spPr>
          <a:xfrm>
            <a:off x="457200" y="621792"/>
            <a:ext cx="11277600" cy="266700"/>
          </a:xfrm>
          <a:prstGeom prst="rect">
            <a:avLst/>
          </a:prstGeom>
          <a:noFill/>
        </p:spPr>
        <p:txBody>
          <a:bodyPr wrap="square" lIns="0" tIns="0" rIns="0" bIns="0" anchor="t">
            <a:noAutofit/>
          </a:bodyPr>
          <a:lstStyle/>
          <a:p>
            <a:pPr algn="l" marL="0" indent="0">
              <a:lnSpc>
                <a:spcPts val="2100"/>
              </a:lnSpc>
              <a:spcBef>
                <a:spcPts val="0"/>
              </a:spcBef>
              <a:spcAft>
                <a:spcPts val="0"/>
              </a:spcAft>
              <a:buNone/>
            </a:pPr>
            <a:r>
              <a:rPr sz="2000" b="1" i="0">
                <a:solidFill>
                  <a:srgbClr val="16181D"/>
                </a:solidFill>
                <a:latin typeface="Arial"/>
              </a:rPr>
              <a:t>Operating margin widened 5.4 points to 16.6%, 3.1 of them from sales and marketing</a:t>
            </a:r>
          </a:p>
        </p:txBody>
      </p:sp>
      <p:sp>
        <p:nvSpPr>
          <p:cNvPr id="4" name="b_h"/>
          <p:cNvSpPr/>
          <p:nvPr/>
        </p:nvSpPr>
        <p:spPr>
          <a:xfrm>
            <a:off x="457200" y="998220"/>
            <a:ext cx="6001789"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Operating margin bridge, Q3 FY25 to Q3 FY26</a:t>
            </a:r>
          </a:p>
        </p:txBody>
      </p:sp>
      <p:sp>
        <p:nvSpPr>
          <p:cNvPr id="5" name="b_u"/>
          <p:cNvSpPr/>
          <p:nvPr/>
        </p:nvSpPr>
        <p:spPr>
          <a:xfrm>
            <a:off x="457200" y="1193292"/>
            <a:ext cx="6001789"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 of revenue; each step is the fall in that cost line's share of revenue (gross margin: its rise); axis from 8%</a:t>
            </a:r>
          </a:p>
        </p:txBody>
      </p:sp>
      <p:graphicFrame>
        <p:nvGraphicFramePr>
          <p:cNvPr id="6" name="bridge"/>
          <p:cNvGraphicFramePr>
            <a:graphicFrameLocks noGrp="1"/>
          </p:cNvGraphicFramePr>
          <p:nvPr/>
        </p:nvGraphicFramePr>
        <p:xfrm>
          <a:off x="457200" y="1342644"/>
          <a:ext cx="6001789" cy="4834128"/>
        </p:xfrm>
        <a:graphic>
          <a:graphicData uri="http://schemas.openxmlformats.org/drawingml/2006/chart">
            <c:chart xmlns:c="http://schemas.openxmlformats.org/drawingml/2006/chart" r:id="rId2"/>
          </a:graphicData>
        </a:graphic>
      </p:graphicFrame>
      <p:sp>
        <p:nvSpPr>
          <p:cNvPr id="7" name="s_h"/>
          <p:cNvSpPr/>
          <p:nvPr/>
        </p:nvSpPr>
        <p:spPr>
          <a:xfrm>
            <a:off x="6733309" y="998220"/>
            <a:ext cx="5001491"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Cost structure</a:t>
            </a:r>
          </a:p>
        </p:txBody>
      </p:sp>
      <p:sp>
        <p:nvSpPr>
          <p:cNvPr id="8" name="s_u"/>
          <p:cNvSpPr/>
          <p:nvPr/>
        </p:nvSpPr>
        <p:spPr>
          <a:xfrm>
            <a:off x="6733309" y="1193292"/>
            <a:ext cx="5001491"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 of revenue, last five quarters</a:t>
            </a:r>
          </a:p>
        </p:txBody>
      </p:sp>
      <p:graphicFrame>
        <p:nvGraphicFramePr>
          <p:cNvPr id="9" name="cs"/>
          <p:cNvGraphicFramePr>
            <a:graphicFrameLocks noGrp="1"/>
          </p:cNvGraphicFramePr>
          <p:nvPr/>
        </p:nvGraphicFramePr>
        <p:xfrm>
          <a:off x="6733309" y="1342644"/>
          <a:ext cx="5001491" cy="1153668"/>
        </p:xfrm>
        <a:graphic>
          <a:graphicData uri="http://schemas.openxmlformats.org/drawingml/2006/table">
            <a:tbl>
              <a:tblPr firstRow="0" bandRow="0" lastRow="0" firstCol="0" lastCol="0" bandCol="0"/>
              <a:tblGrid>
                <a:gridCol w="2178055"/>
                <a:gridCol w="564687"/>
                <a:gridCol w="564687"/>
                <a:gridCol w="564687"/>
                <a:gridCol w="564687"/>
                <a:gridCol w="564688"/>
              </a:tblGrid>
              <a:tr h="192278">
                <a:tc>
                  <a:txBody>
                    <a:bodyPr wrap="square"/>
                    <a:lstStyle/>
                    <a:p>
                      <a:pPr algn="l"/>
                      <a:r>
                        <a:rPr sz="900" b="1" i="0">
                          <a:solidFill>
                            <a:srgbClr val="16181D"/>
                          </a:solidFill>
                          <a:latin typeface="Arial"/>
                        </a:rPr>
                        <a:t>% of revenue</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Q4'25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Q1'26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Q2'26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Gross margin</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79.6</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79.9</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80.1</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80.3</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2E3A9E"/>
                          </a:solidFill>
                          <a:latin typeface="Arial"/>
                        </a:rPr>
                        <a:t>80.4</a:t>
                      </a:r>
                      <a:endParaRPr sz="900" b="0" i="0">
                        <a:solidFill>
                          <a:srgbClr val="2E3A9E"/>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Sales and marketing</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38.9</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38.1</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37.0</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36.2</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35.8</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Research and development</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20.4</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20.1</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19.9</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19.7</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19.5</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General and administrative</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9.1</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8.9</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8.7</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8.6</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8.5</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1" i="0">
                          <a:solidFill>
                            <a:srgbClr val="16181D"/>
                          </a:solidFill>
                          <a:latin typeface="Arial"/>
                        </a:rPr>
                        <a:t>Operating margin</a:t>
                      </a:r>
                      <a:endParaRPr sz="900" b="1"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16181D"/>
                          </a:solidFill>
                          <a:latin typeface="Arial"/>
                        </a:rPr>
                        <a:t>11.2</a:t>
                      </a:r>
                      <a:endParaRPr sz="900" b="1"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16181D"/>
                          </a:solidFill>
                          <a:latin typeface="Arial"/>
                        </a:rPr>
                        <a:t>12.8</a:t>
                      </a:r>
                      <a:endParaRPr sz="900" b="1"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16181D"/>
                          </a:solidFill>
                          <a:latin typeface="Arial"/>
                        </a:rPr>
                        <a:t>14.5</a:t>
                      </a:r>
                      <a:endParaRPr sz="900" b="1"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16181D"/>
                          </a:solidFill>
                          <a:latin typeface="Arial"/>
                        </a:rPr>
                        <a:t>15.8</a:t>
                      </a:r>
                      <a:endParaRPr sz="900" b="1"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16181D"/>
                          </a:solidFill>
                          <a:latin typeface="Arial"/>
                        </a:rPr>
                        <a:t>16.6</a:t>
                      </a:r>
                      <a:endParaRPr sz="900" b="1"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bl>
          </a:graphicData>
        </a:graphic>
      </p:graphicFrame>
      <p:sp>
        <p:nvSpPr>
          <p:cNvPr id="10" name="g_h"/>
          <p:cNvSpPr/>
          <p:nvPr/>
        </p:nvSpPr>
        <p:spPr>
          <a:xfrm>
            <a:off x="6733309" y="2606040"/>
            <a:ext cx="5001491"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GAAP to non-GAAP operating income</a:t>
            </a:r>
          </a:p>
        </p:txBody>
      </p:sp>
      <p:sp>
        <p:nvSpPr>
          <p:cNvPr id="11" name="g_u"/>
          <p:cNvSpPr/>
          <p:nvPr/>
        </p:nvSpPr>
        <p:spPr>
          <a:xfrm>
            <a:off x="6733309" y="2801112"/>
            <a:ext cx="5001491"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$M, last five quarters</a:t>
            </a:r>
          </a:p>
        </p:txBody>
      </p:sp>
      <p:graphicFrame>
        <p:nvGraphicFramePr>
          <p:cNvPr id="12" name="rec"/>
          <p:cNvGraphicFramePr>
            <a:graphicFrameLocks noGrp="1"/>
          </p:cNvGraphicFramePr>
          <p:nvPr/>
        </p:nvGraphicFramePr>
        <p:xfrm>
          <a:off x="6733309" y="2950464"/>
          <a:ext cx="5001491" cy="1345946"/>
        </p:xfrm>
        <a:graphic>
          <a:graphicData uri="http://schemas.openxmlformats.org/drawingml/2006/table">
            <a:tbl>
              <a:tblPr firstRow="0" bandRow="0" lastRow="0" firstCol="0" lastCol="0" bandCol="0"/>
              <a:tblGrid>
                <a:gridCol w="2485213"/>
                <a:gridCol w="503255"/>
                <a:gridCol w="503255"/>
                <a:gridCol w="503255"/>
                <a:gridCol w="503255"/>
                <a:gridCol w="503258"/>
              </a:tblGrid>
              <a:tr h="192278">
                <a:tc>
                  <a:txBody>
                    <a:bodyPr wrap="square"/>
                    <a:lstStyle/>
                    <a:p>
                      <a:pPr algn="l"/>
                      <a:r>
                        <a:rPr sz="900" b="1" i="0">
                          <a:solidFill>
                            <a:srgbClr val="16181D"/>
                          </a:solidFill>
                          <a:latin typeface="Arial"/>
                        </a:rPr>
                        <a:t>$M</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Q4'25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Q1'26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Q2'26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GAAP operating income (loss)</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(26.3)</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(17.3)</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(12.5)</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(7.0)</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2E3A9E"/>
                          </a:solidFill>
                          <a:latin typeface="Arial"/>
                        </a:rPr>
                        <a:t>(1.3)</a:t>
                      </a:r>
                      <a:endParaRPr sz="900" b="0" i="0">
                        <a:solidFill>
                          <a:srgbClr val="2E3A9E"/>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Stock-based compensation</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47.9</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49.6</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50.2</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51.4</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52.3</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Amortization of acquired intangibles</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6.4</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6.4</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6.2</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6.1</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6.1</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Employer payroll tax on equity</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1.9</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1.2</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3.1</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16181D"/>
                          </a:solidFill>
                          <a:latin typeface="Arial"/>
                        </a:rPr>
                        <a:t>2.2</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2.4</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Restructuring</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3.2</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0.0</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0.0</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1.1</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2E3A9E"/>
                          </a:solidFill>
                          <a:latin typeface="Arial"/>
                        </a:rPr>
                        <a:t>0.0</a:t>
                      </a:r>
                      <a:endParaRPr sz="900" b="0" i="0">
                        <a:solidFill>
                          <a:srgbClr val="2E3A9E"/>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r h="192278">
                <a:tc>
                  <a:txBody>
                    <a:bodyPr wrap="square"/>
                    <a:lstStyle/>
                    <a:p>
                      <a:pPr algn="l"/>
                      <a:r>
                        <a:rPr sz="900" b="1" i="0">
                          <a:solidFill>
                            <a:srgbClr val="16181D"/>
                          </a:solidFill>
                          <a:latin typeface="Arial"/>
                        </a:rPr>
                        <a:t>Non-GAAP operating income</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33.1</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39.9</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47.0</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53.8</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0" i="0">
                          <a:solidFill>
                            <a:srgbClr val="2E3A9E"/>
                          </a:solidFill>
                          <a:latin typeface="Arial"/>
                        </a:rPr>
                        <a:t>59.5</a:t>
                      </a:r>
                      <a:endParaRPr sz="900" b="0" i="0">
                        <a:solidFill>
                          <a:srgbClr val="2E3A9E"/>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r>
            </a:tbl>
          </a:graphicData>
        </a:graphic>
      </p:graphicFrame>
      <p:sp>
        <p:nvSpPr>
          <p:cNvPr id="13" name="f_h"/>
          <p:cNvSpPr/>
          <p:nvPr/>
        </p:nvSpPr>
        <p:spPr>
          <a:xfrm>
            <a:off x="6733309" y="4406138"/>
            <a:ext cx="5001491"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Free cash flow</a:t>
            </a:r>
          </a:p>
        </p:txBody>
      </p:sp>
      <p:sp>
        <p:nvSpPr>
          <p:cNvPr id="14" name="f_u"/>
          <p:cNvSpPr/>
          <p:nvPr/>
        </p:nvSpPr>
        <p:spPr>
          <a:xfrm>
            <a:off x="6733309" y="4601210"/>
            <a:ext cx="5001491"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$M; margin 18.3% in Q3 FY25 and 21.4% in Q3 FY26</a:t>
            </a:r>
          </a:p>
        </p:txBody>
      </p:sp>
      <p:graphicFrame>
        <p:nvGraphicFramePr>
          <p:cNvPr id="15" name="fcf"/>
          <p:cNvGraphicFramePr>
            <a:graphicFrameLocks noGrp="1"/>
          </p:cNvGraphicFramePr>
          <p:nvPr/>
        </p:nvGraphicFramePr>
        <p:xfrm>
          <a:off x="6733309" y="4750562"/>
          <a:ext cx="5001491" cy="769112"/>
        </p:xfrm>
        <a:graphic>
          <a:graphicData uri="http://schemas.openxmlformats.org/drawingml/2006/table">
            <a:tbl>
              <a:tblPr firstRow="0" bandRow="0" lastRow="0" firstCol="0" lastCol="0" bandCol="0"/>
              <a:tblGrid>
                <a:gridCol w="1812514"/>
                <a:gridCol w="637795"/>
                <a:gridCol w="637795"/>
                <a:gridCol w="637795"/>
                <a:gridCol w="637795"/>
                <a:gridCol w="637797"/>
              </a:tblGrid>
              <a:tr h="192278">
                <a:tc>
                  <a:txBody>
                    <a:bodyPr wrap="square"/>
                    <a:lstStyle/>
                    <a:p>
                      <a:pPr algn="l"/>
                      <a:r>
                        <a:rPr sz="900" b="1" i="0">
                          <a:solidFill>
                            <a:srgbClr val="16181D"/>
                          </a:solidFill>
                          <a:latin typeface="Arial"/>
                        </a:rPr>
                        <a:t>$M</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Q4'25</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Q1'26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Q2'26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Operating cash flow</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61.2</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74.8</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70.3</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16181D"/>
                          </a:solidFill>
                          <a:latin typeface="Arial"/>
                        </a:rPr>
                        <a:t>73.9</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2E3A9E"/>
                          </a:solidFill>
                          <a:latin typeface="Arial"/>
                        </a:rPr>
                        <a:t>86.5</a:t>
                      </a:r>
                      <a:endParaRPr sz="900" b="0" i="0">
                        <a:solidFill>
                          <a:srgbClr val="2E3A9E"/>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Capital expenditure</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(7.1)</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(8.0)</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(7.4)</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16181D"/>
                          </a:solidFill>
                          <a:latin typeface="Arial"/>
                        </a:rPr>
                        <a:t>(8.3)</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2E3A9E"/>
                          </a:solidFill>
                          <a:latin typeface="Arial"/>
                        </a:rPr>
                        <a:t>(9.8)</a:t>
                      </a:r>
                      <a:endParaRPr sz="900" b="0" i="0">
                        <a:solidFill>
                          <a:srgbClr val="2E3A9E"/>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r h="192278">
                <a:tc>
                  <a:txBody>
                    <a:bodyPr wrap="square"/>
                    <a:lstStyle/>
                    <a:p>
                      <a:pPr algn="l"/>
                      <a:r>
                        <a:rPr sz="900" b="1" i="0">
                          <a:solidFill>
                            <a:srgbClr val="16181D"/>
                          </a:solidFill>
                          <a:latin typeface="Arial"/>
                        </a:rPr>
                        <a:t>Free cash flow</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54.1</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66.8</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62.9</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1" i="0">
                          <a:solidFill>
                            <a:srgbClr val="16181D"/>
                          </a:solidFill>
                          <a:latin typeface="Arial"/>
                        </a:rPr>
                        <a:t>65.6</a:t>
                      </a:r>
                      <a:endParaRPr sz="900" b="1" i="0">
                        <a:solidFill>
                          <a:srgbClr val="16181D"/>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c>
                  <a:txBody>
                    <a:bodyPr wrap="square"/>
                    <a:lstStyle/>
                    <a:p>
                      <a:pPr algn="r"/>
                      <a:r>
                        <a:rPr sz="900" b="0" i="0">
                          <a:solidFill>
                            <a:srgbClr val="2E3A9E"/>
                          </a:solidFill>
                          <a:latin typeface="Arial"/>
                        </a:rPr>
                        <a:t>76.7</a:t>
                      </a:r>
                      <a:endParaRPr sz="900" b="0" i="0">
                        <a:solidFill>
                          <a:srgbClr val="2E3A9E"/>
                        </a:solidFill>
                        <a:latin typeface="Arial"/>
                      </a:endParaRPr>
                    </a:p>
                  </a:txBody>
                  <a:tcPr marL="27432" marR="27432" marT="27432" marB="27432" anchor="ctr">
                    <a:lnL w="0">
                      <a:noFill/>
                    </a:lnL>
                    <a:lnR w="0">
                      <a:noFill/>
                    </a:lnR>
                    <a:lnT w="9525">
                      <a:solidFill>
                        <a:srgbClr val="16181D"/>
                      </a:solidFill>
                    </a:lnT>
                    <a:lnB w="9525">
                      <a:solidFill>
                        <a:srgbClr val="16181D"/>
                      </a:solidFill>
                    </a:lnB>
                    <a:noFill/>
                  </a:tcPr>
                </a:tc>
              </a:tr>
            </a:tbl>
          </a:graphicData>
        </a:graphic>
      </p:graphicFrame>
      <p:sp>
        <p:nvSpPr>
          <p:cNvPr id="16" name="g_fn"/>
          <p:cNvSpPr/>
          <p:nvPr/>
        </p:nvSpPr>
        <p:spPr>
          <a:xfrm>
            <a:off x="6733309" y="5547106"/>
            <a:ext cx="5001491"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GAAP operating margin rose from (8.9)% to (0.4)% of revenue. Negatives in parentheses.</a:t>
            </a:r>
          </a:p>
        </p:txBody>
      </p:sp>
      <p:sp>
        <p:nvSpPr>
          <p:cNvPr id="17" name="source"/>
          <p:cNvSpPr/>
          <p:nvPr/>
        </p:nvSpPr>
        <p:spPr>
          <a:xfrm>
            <a:off x="457200" y="6286500"/>
            <a:ext cx="112776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Source: Corvane Software management accounts (fictional; illustrative figures). Non-GAAP except the GAAP line of the reconciliation; fiscal year ends December.</a:t>
            </a:r>
          </a:p>
        </p:txBody>
      </p:sp>
    </p:spTree>
    <p:custDataLst>
      <p:tags r:id="rId3"/>
    </p:custData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 name="chrome-1"/>
          <p:cNvSpPr txBox="1"/>
          <p:nvPr/>
        </p:nvSpPr>
        <p:spPr>
          <a:xfrm>
            <a:off x="457200" y="6510528"/>
            <a:ext cx="7315200" cy="182880"/>
          </a:xfrm>
          <a:prstGeom prst="rect">
            <a:avLst/>
          </a:prstGeom>
          <a:noFill/>
        </p:spPr>
        <p:txBody>
          <a:bodyPr wrap="none" lIns="0" tIns="0" rIns="0" bIns="0" anchor="t">
            <a:noAutofit/>
          </a:bodyPr>
          <a:lstStyle/>
          <a:p>
            <a:r>
              <a:rPr sz="750" b="0">
                <a:solidFill>
                  <a:srgbClr val="596070"/>
                </a:solidFill>
                <a:latin typeface="Arial"/>
              </a:rPr>
              <a:t>Corvane Software (fictional company)  |  Q3 FY2026 earnings  |  Illustrative figures, non-GAAP unless stated</a:t>
            </a:r>
          </a:p>
        </p:txBody>
      </p:sp>
      <p:sp>
        <p:nvSpPr>
          <p:cNvPr id="27" name="chrome-2"/>
          <p:cNvSpPr txBox="1"/>
          <p:nvPr/>
        </p:nvSpPr>
        <p:spPr>
          <a:xfrm>
            <a:off x="11274552" y="6510528"/>
            <a:ext cx="457200" cy="182880"/>
          </a:xfrm>
          <a:prstGeom prst="rect">
            <a:avLst/>
          </a:prstGeom>
          <a:noFill/>
        </p:spPr>
        <p:txBody>
          <a:bodyPr wrap="none" lIns="0" tIns="0" rIns="0" bIns="0" anchor="t">
            <a:noAutofit/>
          </a:bodyPr>
          <a:lstStyle/>
          <a:p>
            <a:pPr algn="r"/>
            <a:fld id="{B6F15528-21DE-4FAA-801E-634DDDAF5B2F}" type="slidenum">
              <a:rPr sz="750">
                <a:solidFill>
                  <a:srgbClr val="596070"/>
                </a:solidFill>
                <a:latin typeface="Arial"/>
              </a:rPr>
              <a:t>1</a:t>
            </a:fld>
          </a:p>
        </p:txBody>
      </p:sp>
      <p:sp>
        <p:nvSpPr>
          <p:cNvPr id="2" name="kicker"/>
          <p:cNvSpPr/>
          <p:nvPr/>
        </p:nvSpPr>
        <p:spPr>
          <a:xfrm>
            <a:off x="457200" y="457200"/>
            <a:ext cx="11277600"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2E3A9E"/>
                </a:solidFill>
                <a:latin typeface="Arial"/>
              </a:rPr>
              <a:t>Q3 FY2026 RESULTS  |  OUTLOOK</a:t>
            </a:r>
          </a:p>
        </p:txBody>
      </p:sp>
      <p:sp>
        <p:nvSpPr>
          <p:cNvPr id="3" name="title"/>
          <p:cNvSpPr/>
          <p:nvPr/>
        </p:nvSpPr>
        <p:spPr>
          <a:xfrm>
            <a:off x="457200" y="621792"/>
            <a:ext cx="11277600" cy="266700"/>
          </a:xfrm>
          <a:prstGeom prst="rect">
            <a:avLst/>
          </a:prstGeom>
          <a:noFill/>
        </p:spPr>
        <p:txBody>
          <a:bodyPr wrap="square" lIns="0" tIns="0" rIns="0" bIns="0" anchor="t">
            <a:noAutofit/>
          </a:bodyPr>
          <a:lstStyle/>
          <a:p>
            <a:pPr algn="l" marL="0" indent="0">
              <a:lnSpc>
                <a:spcPts val="2100"/>
              </a:lnSpc>
              <a:spcBef>
                <a:spcPts val="0"/>
              </a:spcBef>
              <a:spcAft>
                <a:spcPts val="0"/>
              </a:spcAft>
              <a:buNone/>
            </a:pPr>
            <a:r>
              <a:rPr sz="2000" b="1" i="0">
                <a:solidFill>
                  <a:srgbClr val="16181D"/>
                </a:solidFill>
                <a:latin typeface="Arial"/>
              </a:rPr>
              <a:t>FY2026 revenue guidance raised a third time, to $1,394.4-1,398.4M, 20.9-21.3% growth</a:t>
            </a:r>
          </a:p>
        </p:txBody>
      </p:sp>
      <p:sp>
        <p:nvSpPr>
          <p:cNvPr id="4" name="g_h"/>
          <p:cNvSpPr/>
          <p:nvPr/>
        </p:nvSpPr>
        <p:spPr>
          <a:xfrm>
            <a:off x="457200" y="998220"/>
            <a:ext cx="6977690"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Guidance</a:t>
            </a:r>
          </a:p>
        </p:txBody>
      </p:sp>
      <p:sp>
        <p:nvSpPr>
          <p:cNvPr id="5" name="g_u"/>
          <p:cNvSpPr/>
          <p:nvPr/>
        </p:nvSpPr>
        <p:spPr>
          <a:xfrm>
            <a:off x="457200" y="1193292"/>
            <a:ext cx="6977690"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issued 26 October 2026; non-GAAP; new guidance in amber, August's in grey</a:t>
            </a:r>
          </a:p>
        </p:txBody>
      </p:sp>
      <p:graphicFrame>
        <p:nvGraphicFramePr>
          <p:cNvPr id="6" name="guide"/>
          <p:cNvGraphicFramePr>
            <a:graphicFrameLocks noGrp="1"/>
          </p:cNvGraphicFramePr>
          <p:nvPr/>
        </p:nvGraphicFramePr>
        <p:xfrm>
          <a:off x="457200" y="1342644"/>
          <a:ext cx="6977690" cy="961390"/>
        </p:xfrm>
        <a:graphic>
          <a:graphicData uri="http://schemas.openxmlformats.org/drawingml/2006/table">
            <a:tbl>
              <a:tblPr firstRow="0" bandRow="0" lastRow="0" firstCol="0" lastCol="0" bandCol="0"/>
              <a:tblGrid>
                <a:gridCol w="2355183"/>
                <a:gridCol w="1222477"/>
                <a:gridCol w="1562608"/>
                <a:gridCol w="1837422"/>
              </a:tblGrid>
              <a:tr h="192278">
                <a:tc>
                  <a:txBody>
                    <a:bodyPr wrap="square"/>
                    <a:lstStyle/>
                    <a:p>
                      <a:pPr algn="l"/>
                      <a:r>
                        <a:rPr sz="900" b="1" i="0">
                          <a:solidFill>
                            <a:srgbClr val="16181D"/>
                          </a:solidFill>
                          <a:latin typeface="Arial"/>
                        </a:rPr>
                        <a:t>Metric</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Q4 FY26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FY2026 now</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FY2026 in August</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Revenue ($M)</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1" i="0">
                          <a:solidFill>
                            <a:srgbClr val="A9650A"/>
                          </a:solidFill>
                          <a:latin typeface="Arial"/>
                        </a:rPr>
                        <a:t>372.0-376.0</a:t>
                      </a:r>
                      <a:endParaRPr sz="900" b="1" i="0">
                        <a:solidFill>
                          <a:srgbClr val="A9650A"/>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1" i="0">
                          <a:solidFill>
                            <a:srgbClr val="A9650A"/>
                          </a:solidFill>
                          <a:latin typeface="Arial"/>
                        </a:rPr>
                        <a:t>1,394.4-1,398.4</a:t>
                      </a:r>
                      <a:endParaRPr sz="900" b="1" i="0">
                        <a:solidFill>
                          <a:srgbClr val="A9650A"/>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596070"/>
                          </a:solidFill>
                          <a:latin typeface="Arial"/>
                        </a:rPr>
                        <a:t>1,379.0-1,389.0</a:t>
                      </a:r>
                      <a:endParaRPr sz="900" b="0" i="0">
                        <a:solidFill>
                          <a:srgbClr val="596070"/>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Growth year on year (%)</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A9650A"/>
                          </a:solidFill>
                          <a:latin typeface="Arial"/>
                        </a:rPr>
                        <a:t>19.5-20.7</a:t>
                      </a:r>
                      <a:endParaRPr sz="900" b="1" i="0">
                        <a:solidFill>
                          <a:srgbClr val="A9650A"/>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A9650A"/>
                          </a:solidFill>
                          <a:latin typeface="Arial"/>
                        </a:rPr>
                        <a:t>20.9-21.3</a:t>
                      </a:r>
                      <a:endParaRPr sz="900" b="1" i="0">
                        <a:solidFill>
                          <a:srgbClr val="A9650A"/>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596070"/>
                          </a:solidFill>
                          <a:latin typeface="Arial"/>
                        </a:rPr>
                        <a:t>19.6-20.4</a:t>
                      </a:r>
                      <a:endParaRPr sz="900" b="0" i="0">
                        <a:solidFill>
                          <a:srgbClr val="596070"/>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Operating income ($M)</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A9650A"/>
                          </a:solidFill>
                          <a:latin typeface="Arial"/>
                        </a:rPr>
                        <a:t>61.0-63.0</a:t>
                      </a:r>
                      <a:endParaRPr sz="900" b="1" i="0">
                        <a:solidFill>
                          <a:srgbClr val="A9650A"/>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A9650A"/>
                          </a:solidFill>
                          <a:latin typeface="Arial"/>
                        </a:rPr>
                        <a:t>221.3-223.3</a:t>
                      </a:r>
                      <a:endParaRPr sz="900" b="1" i="0">
                        <a:solidFill>
                          <a:srgbClr val="A9650A"/>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596070"/>
                          </a:solidFill>
                          <a:latin typeface="Arial"/>
                        </a:rPr>
                        <a:t>214.0-218.0</a:t>
                      </a:r>
                      <a:endParaRPr sz="900" b="0" i="0">
                        <a:solidFill>
                          <a:srgbClr val="596070"/>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Operating margin (%)</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A9650A"/>
                          </a:solidFill>
                          <a:latin typeface="Arial"/>
                        </a:rPr>
                        <a:t>16.4-16.8</a:t>
                      </a:r>
                      <a:endParaRPr sz="900" b="1" i="0">
                        <a:solidFill>
                          <a:srgbClr val="A9650A"/>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A9650A"/>
                          </a:solidFill>
                          <a:latin typeface="Arial"/>
                        </a:rPr>
                        <a:t>15.9-16.0</a:t>
                      </a:r>
                      <a:endParaRPr sz="900" b="1" i="0">
                        <a:solidFill>
                          <a:srgbClr val="A9650A"/>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596070"/>
                          </a:solidFill>
                          <a:latin typeface="Arial"/>
                        </a:rPr>
                        <a:t>15.5-15.7</a:t>
                      </a:r>
                      <a:endParaRPr sz="900" b="0" i="0">
                        <a:solidFill>
                          <a:srgbClr val="596070"/>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bl>
          </a:graphicData>
        </a:graphic>
      </p:graphicFrame>
      <p:sp>
        <p:nvSpPr>
          <p:cNvPr id="7" name="r_h"/>
          <p:cNvSpPr/>
          <p:nvPr/>
        </p:nvSpPr>
        <p:spPr>
          <a:xfrm>
            <a:off x="457200" y="2413762"/>
            <a:ext cx="6977690"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FY2026 revenue guidance at each update</a:t>
            </a:r>
          </a:p>
        </p:txBody>
      </p:sp>
      <p:sp>
        <p:nvSpPr>
          <p:cNvPr id="8" name="r_u"/>
          <p:cNvSpPr/>
          <p:nvPr/>
        </p:nvSpPr>
        <p:spPr>
          <a:xfrm>
            <a:off x="457200" y="2608834"/>
            <a:ext cx="6977690"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$M, low to high; the current range in amber, superseded ranges in slate</a:t>
            </a:r>
          </a:p>
        </p:txBody>
      </p:sp>
      <p:graphicFrame>
        <p:nvGraphicFramePr>
          <p:cNvPr id="9" name="rng"/>
          <p:cNvGraphicFramePr>
            <a:graphicFrameLocks noGrp="1"/>
          </p:cNvGraphicFramePr>
          <p:nvPr/>
        </p:nvGraphicFramePr>
        <p:xfrm>
          <a:off x="457200" y="2758186"/>
          <a:ext cx="6977690" cy="3418586"/>
        </p:xfrm>
        <a:graphic>
          <a:graphicData uri="http://schemas.openxmlformats.org/drawingml/2006/chart">
            <c:chart xmlns:c="http://schemas.openxmlformats.org/drawingml/2006/chart" r:id="rId2"/>
          </a:graphicData>
        </a:graphic>
      </p:graphicFrame>
      <p:sp>
        <p:nvSpPr>
          <p:cNvPr id="10" name="n_h"/>
          <p:cNvSpPr/>
          <p:nvPr/>
        </p:nvSpPr>
        <p:spPr>
          <a:xfrm>
            <a:off x="7709210" y="998220"/>
            <a:ext cx="4025590" cy="15240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1" i="0">
                <a:solidFill>
                  <a:srgbClr val="16181D"/>
                </a:solidFill>
                <a:latin typeface="Arial"/>
              </a:rPr>
              <a:t>What the guidance assumes</a:t>
            </a:r>
          </a:p>
        </p:txBody>
      </p:sp>
      <p:sp>
        <p:nvSpPr>
          <p:cNvPr id="11" name="n1"/>
          <p:cNvSpPr/>
          <p:nvPr/>
        </p:nvSpPr>
        <p:spPr>
          <a:xfrm>
            <a:off x="7709210" y="1205484"/>
            <a:ext cx="4025590" cy="33020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The full-year midpoint of $1,396.4M is $12.4M above August's and</a:t>
            </a:r>
            <a:br/>
            <a:r>
              <a:rPr sz="1000" b="0" i="0">
                <a:solidFill>
                  <a:srgbClr val="16181D"/>
                </a:solidFill>
                <a:latin typeface="Arial"/>
              </a:rPr>
              <a:t>$36.4M (2.7%) above the initial $1,360.0M.</a:t>
            </a:r>
          </a:p>
        </p:txBody>
      </p:sp>
      <p:sp>
        <p:nvSpPr>
          <p:cNvPr id="12" name="n2"/>
          <p:cNvSpPr/>
          <p:nvPr/>
        </p:nvSpPr>
        <p:spPr>
          <a:xfrm>
            <a:off x="7709210" y="1590548"/>
            <a:ext cx="4025590" cy="33020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Q4 growth of 19.5-20.7% assumes net new ARR returns to its usual</a:t>
            </a:r>
            <a:br/>
            <a:r>
              <a:rPr sz="1000" b="0" i="0">
                <a:solidFill>
                  <a:srgbClr val="16181D"/>
                </a:solidFill>
                <a:latin typeface="Arial"/>
              </a:rPr>
              <a:t>range after Q3's record.</a:t>
            </a:r>
          </a:p>
        </p:txBody>
      </p:sp>
      <p:sp>
        <p:nvSpPr>
          <p:cNvPr id="13" name="n3"/>
          <p:cNvSpPr/>
          <p:nvPr/>
        </p:nvSpPr>
        <p:spPr>
          <a:xfrm>
            <a:off x="7709210" y="1975612"/>
            <a:ext cx="4025590" cy="33020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Full-year operating margin of 15.9-16.0%, up from 15.5-15.7%</a:t>
            </a:r>
            <a:br/>
            <a:r>
              <a:rPr sz="1000" b="0" i="0">
                <a:solidFill>
                  <a:srgbClr val="16181D"/>
                </a:solidFill>
                <a:latin typeface="Arial"/>
              </a:rPr>
              <a:t>guided in August.</a:t>
            </a:r>
          </a:p>
        </p:txBody>
      </p:sp>
      <p:sp>
        <p:nvSpPr>
          <p:cNvPr id="14" name="n4"/>
          <p:cNvSpPr/>
          <p:nvPr/>
        </p:nvSpPr>
        <p:spPr>
          <a:xfrm>
            <a:off x="7709210" y="2360676"/>
            <a:ext cx="4025590" cy="184150"/>
          </a:xfrm>
          <a:prstGeom prst="rect">
            <a:avLst/>
          </a:prstGeom>
          <a:noFill/>
        </p:spPr>
        <p:txBody>
          <a:bodyPr wrap="square" lIns="0" tIns="0" rIns="0" bIns="0" anchor="t">
            <a:noAutofit/>
          </a:bodyPr>
          <a:lstStyle/>
          <a:p>
            <a:pPr algn="l" lvl="0" marL="109728" indent="-109728">
              <a:lnSpc>
                <a:spcPts val="1150"/>
              </a:lnSpc>
              <a:spcBef>
                <a:spcPts val="0"/>
              </a:spcBef>
              <a:spcAft>
                <a:spcPts val="300"/>
              </a:spcAft>
              <a:buFont typeface="Arial"/>
              <a:buChar char="•"/>
            </a:pPr>
            <a:r>
              <a:rPr sz="1000" b="0" i="0">
                <a:solidFill>
                  <a:srgbClr val="16181D"/>
                </a:solidFill>
                <a:latin typeface="Arial"/>
              </a:rPr>
              <a:t>Exchange rates as of October 2026; no acquisitions.</a:t>
            </a:r>
          </a:p>
        </p:txBody>
      </p:sp>
      <p:sp>
        <p:nvSpPr>
          <p:cNvPr id="15" name="t_h"/>
          <p:cNvSpPr/>
          <p:nvPr/>
        </p:nvSpPr>
        <p:spPr>
          <a:xfrm>
            <a:off x="7709210" y="2599690"/>
            <a:ext cx="4025590" cy="1676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16181D"/>
                </a:solidFill>
                <a:latin typeface="Arial"/>
              </a:rPr>
              <a:t>Long-term target model</a:t>
            </a:r>
          </a:p>
        </p:txBody>
      </p:sp>
      <p:sp>
        <p:nvSpPr>
          <p:cNvPr id="16" name="t_u"/>
          <p:cNvSpPr/>
          <p:nvPr/>
        </p:nvSpPr>
        <p:spPr>
          <a:xfrm>
            <a:off x="7709210" y="2822194"/>
            <a:ext cx="4025590" cy="121920"/>
          </a:xfrm>
          <a:prstGeom prst="rect">
            <a:avLst/>
          </a:prstGeom>
          <a:noFill/>
        </p:spPr>
        <p:txBody>
          <a:bodyPr wrap="square" lIns="0" tIns="0" rIns="0" bIns="0" anchor="t">
            <a:noAutofit/>
          </a:bodyPr>
          <a:lstStyle/>
          <a:p>
            <a:pPr algn="l" marL="0" indent="0">
              <a:lnSpc>
                <a:spcPts val="960"/>
              </a:lnSpc>
              <a:spcBef>
                <a:spcPts val="0"/>
              </a:spcBef>
              <a:spcAft>
                <a:spcPts val="0"/>
              </a:spcAft>
              <a:buNone/>
            </a:pPr>
            <a:r>
              <a:rPr sz="800" b="0" i="0">
                <a:solidFill>
                  <a:srgbClr val="596070"/>
                </a:solidFill>
                <a:latin typeface="Arial"/>
              </a:rPr>
              <a:t>% of revenue, non-GAAP; targets (amber) are forward-looking</a:t>
            </a:r>
          </a:p>
        </p:txBody>
      </p:sp>
      <p:graphicFrame>
        <p:nvGraphicFramePr>
          <p:cNvPr id="17" name="lt"/>
          <p:cNvGraphicFramePr>
            <a:graphicFrameLocks noGrp="1"/>
          </p:cNvGraphicFramePr>
          <p:nvPr/>
        </p:nvGraphicFramePr>
        <p:xfrm>
          <a:off x="7709210" y="2998978"/>
          <a:ext cx="4025590" cy="1345946"/>
        </p:xfrm>
        <a:graphic>
          <a:graphicData uri="http://schemas.openxmlformats.org/drawingml/2006/table">
            <a:tbl>
              <a:tblPr firstRow="0" bandRow="0" lastRow="0" firstCol="0" lastCol="0" bandCol="0"/>
              <a:tblGrid>
                <a:gridCol w="2448803"/>
                <a:gridCol w="885305"/>
                <a:gridCol w="691482"/>
              </a:tblGrid>
              <a:tr h="192278">
                <a:tc>
                  <a:txBody>
                    <a:bodyPr wrap="square"/>
                    <a:lstStyle/>
                    <a:p>
                      <a:pPr algn="l"/>
                      <a:r>
                        <a:rPr sz="900" b="1" i="0">
                          <a:solidFill>
                            <a:srgbClr val="16181D"/>
                          </a:solidFill>
                          <a:latin typeface="Arial"/>
                        </a:rPr>
                        <a:t>% of revenue</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Q3 FY26</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c>
                  <a:txBody>
                    <a:bodyPr wrap="square"/>
                    <a:lstStyle/>
                    <a:p>
                      <a:pPr algn="r"/>
                      <a:r>
                        <a:rPr sz="900" b="1" i="0">
                          <a:solidFill>
                            <a:srgbClr val="16181D"/>
                          </a:solidFill>
                          <a:latin typeface="Arial"/>
                        </a:rPr>
                        <a:t>Target</a:t>
                      </a:r>
                      <a:endParaRPr sz="900" b="1" i="0">
                        <a:solidFill>
                          <a:srgbClr val="16181D"/>
                        </a:solidFill>
                        <a:latin typeface="Arial"/>
                      </a:endParaRPr>
                    </a:p>
                  </a:txBody>
                  <a:tcPr marL="27432" marR="27432" marT="27432" marB="27432" anchor="ctr">
                    <a:lnL w="0">
                      <a:noFill/>
                    </a:lnL>
                    <a:lnR w="0">
                      <a:noFill/>
                    </a:lnR>
                    <a:lnT w="0">
                      <a:noFill/>
                    </a:lnT>
                    <a:lnB w="9525">
                      <a:solidFill>
                        <a:srgbClr val="16181D"/>
                      </a:solidFill>
                    </a:lnB>
                    <a:noFill/>
                  </a:tcPr>
                </a:tc>
              </a:tr>
              <a:tr h="192278">
                <a:tc>
                  <a:txBody>
                    <a:bodyPr wrap="square"/>
                    <a:lstStyle/>
                    <a:p>
                      <a:pPr algn="l"/>
                      <a:r>
                        <a:rPr sz="900" b="0" i="0">
                          <a:solidFill>
                            <a:srgbClr val="16181D"/>
                          </a:solidFill>
                          <a:latin typeface="Arial"/>
                        </a:rPr>
                        <a:t>Gross margin</a:t>
                      </a:r>
                      <a:endParaRPr sz="900" b="0" i="0">
                        <a:solidFill>
                          <a:srgbClr val="16181D"/>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0" i="0">
                          <a:solidFill>
                            <a:srgbClr val="2E3A9E"/>
                          </a:solidFill>
                          <a:latin typeface="Arial"/>
                        </a:rPr>
                        <a:t>80.4</a:t>
                      </a:r>
                      <a:endParaRPr sz="900" b="0" i="0">
                        <a:solidFill>
                          <a:srgbClr val="2E3A9E"/>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c>
                  <a:txBody>
                    <a:bodyPr wrap="square"/>
                    <a:lstStyle/>
                    <a:p>
                      <a:pPr algn="r"/>
                      <a:r>
                        <a:rPr sz="900" b="1" i="0">
                          <a:solidFill>
                            <a:srgbClr val="A9650A"/>
                          </a:solidFill>
                          <a:latin typeface="Arial"/>
                        </a:rPr>
                        <a:t>80-82</a:t>
                      </a:r>
                      <a:endParaRPr sz="900" b="1" i="0">
                        <a:solidFill>
                          <a:srgbClr val="A9650A"/>
                        </a:solidFill>
                        <a:latin typeface="Arial"/>
                      </a:endParaRPr>
                    </a:p>
                  </a:txBody>
                  <a:tcPr marL="27432" marR="27432" marT="27432" marB="27432" anchor="ctr">
                    <a:lnL w="0">
                      <a:noFill/>
                    </a:lnL>
                    <a:lnR w="0">
                      <a:noFill/>
                    </a:lnR>
                    <a:lnT w="9525">
                      <a:solidFill>
                        <a:srgbClr val="16181D"/>
                      </a:solidFill>
                    </a:lnT>
                    <a:lnB w="6350">
                      <a:solidFill>
                        <a:srgbClr val="D3D7DF"/>
                      </a:solidFill>
                    </a:lnB>
                    <a:noFill/>
                  </a:tcPr>
                </a:tc>
              </a:tr>
              <a:tr h="192278">
                <a:tc>
                  <a:txBody>
                    <a:bodyPr wrap="square"/>
                    <a:lstStyle/>
                    <a:p>
                      <a:pPr algn="l"/>
                      <a:r>
                        <a:rPr sz="900" b="0" i="0">
                          <a:solidFill>
                            <a:srgbClr val="16181D"/>
                          </a:solidFill>
                          <a:latin typeface="Arial"/>
                        </a:rPr>
                        <a:t>Sales and marketing</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35.8</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A9650A"/>
                          </a:solidFill>
                          <a:latin typeface="Arial"/>
                        </a:rPr>
                        <a:t>28-30</a:t>
                      </a:r>
                      <a:endParaRPr sz="900" b="1" i="0">
                        <a:solidFill>
                          <a:srgbClr val="A9650A"/>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Research and development</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19.5</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A9650A"/>
                          </a:solidFill>
                          <a:latin typeface="Arial"/>
                        </a:rPr>
                        <a:t>15-17</a:t>
                      </a:r>
                      <a:endParaRPr sz="900" b="1" i="0">
                        <a:solidFill>
                          <a:srgbClr val="A9650A"/>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General and administrative</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8.5</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A9650A"/>
                          </a:solidFill>
                          <a:latin typeface="Arial"/>
                        </a:rPr>
                        <a:t>6-7</a:t>
                      </a:r>
                      <a:endParaRPr sz="900" b="1" i="0">
                        <a:solidFill>
                          <a:srgbClr val="A9650A"/>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Operating margin</a:t>
                      </a:r>
                      <a:endParaRPr sz="900" b="0" i="0">
                        <a:solidFill>
                          <a:srgbClr val="16181D"/>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0" i="0">
                          <a:solidFill>
                            <a:srgbClr val="2E3A9E"/>
                          </a:solidFill>
                          <a:latin typeface="Arial"/>
                        </a:rPr>
                        <a:t>16.6</a:t>
                      </a:r>
                      <a:endParaRPr sz="900" b="0" i="0">
                        <a:solidFill>
                          <a:srgbClr val="2E3A9E"/>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c>
                  <a:txBody>
                    <a:bodyPr wrap="square"/>
                    <a:lstStyle/>
                    <a:p>
                      <a:pPr algn="r"/>
                      <a:r>
                        <a:rPr sz="900" b="1" i="0">
                          <a:solidFill>
                            <a:srgbClr val="A9650A"/>
                          </a:solidFill>
                          <a:latin typeface="Arial"/>
                        </a:rPr>
                        <a:t>25-28</a:t>
                      </a:r>
                      <a:endParaRPr sz="900" b="1" i="0">
                        <a:solidFill>
                          <a:srgbClr val="A9650A"/>
                        </a:solidFill>
                        <a:latin typeface="Arial"/>
                      </a:endParaRPr>
                    </a:p>
                  </a:txBody>
                  <a:tcPr marL="27432" marR="27432" marT="27432" marB="27432" anchor="ctr">
                    <a:lnL w="0">
                      <a:noFill/>
                    </a:lnL>
                    <a:lnR w="0">
                      <a:noFill/>
                    </a:lnR>
                    <a:lnT w="6350">
                      <a:solidFill>
                        <a:srgbClr val="D3D7DF"/>
                      </a:solidFill>
                    </a:lnT>
                    <a:lnB w="6350">
                      <a:solidFill>
                        <a:srgbClr val="D3D7DF"/>
                      </a:solidFill>
                    </a:lnB>
                    <a:noFill/>
                  </a:tcPr>
                </a:tc>
              </a:tr>
              <a:tr h="192278">
                <a:tc>
                  <a:txBody>
                    <a:bodyPr wrap="square"/>
                    <a:lstStyle/>
                    <a:p>
                      <a:pPr algn="l"/>
                      <a:r>
                        <a:rPr sz="900" b="0" i="0">
                          <a:solidFill>
                            <a:srgbClr val="16181D"/>
                          </a:solidFill>
                          <a:latin typeface="Arial"/>
                        </a:rPr>
                        <a:t>Free cash flow margin</a:t>
                      </a:r>
                      <a:endParaRPr sz="900" b="0" i="0">
                        <a:solidFill>
                          <a:srgbClr val="16181D"/>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0" i="0">
                          <a:solidFill>
                            <a:srgbClr val="2E3A9E"/>
                          </a:solidFill>
                          <a:latin typeface="Arial"/>
                        </a:rPr>
                        <a:t>21.4</a:t>
                      </a:r>
                      <a:endParaRPr sz="900" b="0" i="0">
                        <a:solidFill>
                          <a:srgbClr val="2E3A9E"/>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c>
                  <a:txBody>
                    <a:bodyPr wrap="square"/>
                    <a:lstStyle/>
                    <a:p>
                      <a:pPr algn="r"/>
                      <a:r>
                        <a:rPr sz="900" b="1" i="0">
                          <a:solidFill>
                            <a:srgbClr val="A9650A"/>
                          </a:solidFill>
                          <a:latin typeface="Arial"/>
                        </a:rPr>
                        <a:t>28-30</a:t>
                      </a:r>
                      <a:endParaRPr sz="900" b="1" i="0">
                        <a:solidFill>
                          <a:srgbClr val="A9650A"/>
                        </a:solidFill>
                        <a:latin typeface="Arial"/>
                      </a:endParaRPr>
                    </a:p>
                  </a:txBody>
                  <a:tcPr marL="27432" marR="27432" marT="27432" marB="27432" anchor="ctr">
                    <a:lnL w="0">
                      <a:noFill/>
                    </a:lnL>
                    <a:lnR w="0">
                      <a:noFill/>
                    </a:lnR>
                    <a:lnT w="6350">
                      <a:solidFill>
                        <a:srgbClr val="D3D7DF"/>
                      </a:solidFill>
                    </a:lnT>
                    <a:lnB w="9525">
                      <a:solidFill>
                        <a:srgbClr val="16181D"/>
                      </a:solidFill>
                    </a:lnB>
                    <a:noFill/>
                  </a:tcPr>
                </a:tc>
              </a:tr>
            </a:tbl>
          </a:graphicData>
        </a:graphic>
      </p:graphicFrame>
      <p:sp>
        <p:nvSpPr>
          <p:cNvPr id="18" name="t_fn"/>
          <p:cNvSpPr/>
          <p:nvPr/>
        </p:nvSpPr>
        <p:spPr>
          <a:xfrm>
            <a:off x="7709210" y="4399788"/>
            <a:ext cx="402559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Operating margin is 8.4 points below the low end of its target.</a:t>
            </a:r>
          </a:p>
        </p:txBody>
      </p:sp>
      <p:sp>
        <p:nvSpPr>
          <p:cNvPr id="19" name="n_fn"/>
          <p:cNvSpPr/>
          <p:nvPr/>
        </p:nvSpPr>
        <p:spPr>
          <a:xfrm>
            <a:off x="7709210" y="4568952"/>
            <a:ext cx="4025590" cy="2286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Forward-looking statements: guidance reflects expectations when issued and carries risk.</a:t>
            </a:r>
            <a:br/>
            <a:r>
              <a:rPr sz="750" b="0" i="0">
                <a:solidFill>
                  <a:srgbClr val="596070"/>
                </a:solidFill>
                <a:latin typeface="Arial"/>
              </a:rPr>
              <a:t>Corvane Software is fictional; every figure is illustrative.</a:t>
            </a:r>
          </a:p>
        </p:txBody>
      </p:sp>
      <p:sp>
        <p:nvSpPr>
          <p:cNvPr id="20" name="source"/>
          <p:cNvSpPr/>
          <p:nvPr/>
        </p:nvSpPr>
        <p:spPr>
          <a:xfrm>
            <a:off x="457200" y="6286500"/>
            <a:ext cx="112776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750" b="0" i="0">
                <a:solidFill>
                  <a:srgbClr val="596070"/>
                </a:solidFill>
                <a:latin typeface="Arial"/>
              </a:rPr>
              <a:t>Source: Corvane Software management accounts (fictional; illustrative figures). Non-GAAP unless stated; fiscal year ends December.</a:t>
            </a:r>
          </a:p>
        </p:txBody>
      </p:sp>
      <p:sp>
        <p:nvSpPr>
          <p:cNvPr id="21" name="mid-0-text"/>
          <p:cNvSpPr/>
          <p:nvPr/>
        </p:nvSpPr>
        <p:spPr>
          <a:xfrm>
            <a:off x="6567741" y="3261293"/>
            <a:ext cx="379449" cy="121920"/>
          </a:xfrm>
          <a:prstGeom prst="rect">
            <a:avLst/>
          </a:prstGeom>
          <a:noFill/>
        </p:spPr>
        <p:txBody>
          <a:bodyPr wrap="square" lIns="0" tIns="0" rIns="0" bIns="0" anchor="ctr">
            <a:noAutofit/>
          </a:bodyPr>
          <a:lstStyle/>
          <a:p>
            <a:pPr algn="r" marL="0" indent="0">
              <a:lnSpc>
                <a:spcPts val="960"/>
              </a:lnSpc>
              <a:spcBef>
                <a:spcPts val="0"/>
              </a:spcBef>
              <a:spcAft>
                <a:spcPts val="0"/>
              </a:spcAft>
              <a:buNone/>
            </a:pPr>
            <a:r>
              <a:rPr sz="800" b="1" i="0">
                <a:solidFill>
                  <a:srgbClr val="16181D"/>
                </a:solidFill>
                <a:latin typeface="Arial"/>
              </a:rPr>
              <a:t>1,360.0</a:t>
            </a:r>
          </a:p>
        </p:txBody>
      </p:sp>
      <p:sp>
        <p:nvSpPr>
          <p:cNvPr id="22" name="mid-1-text"/>
          <p:cNvSpPr/>
          <p:nvPr/>
        </p:nvSpPr>
        <p:spPr>
          <a:xfrm>
            <a:off x="6567741" y="3979196"/>
            <a:ext cx="379449" cy="121920"/>
          </a:xfrm>
          <a:prstGeom prst="rect">
            <a:avLst/>
          </a:prstGeom>
          <a:noFill/>
        </p:spPr>
        <p:txBody>
          <a:bodyPr wrap="square" lIns="0" tIns="0" rIns="0" bIns="0" anchor="ctr">
            <a:noAutofit/>
          </a:bodyPr>
          <a:lstStyle/>
          <a:p>
            <a:pPr algn="r" marL="0" indent="0">
              <a:lnSpc>
                <a:spcPts val="960"/>
              </a:lnSpc>
              <a:spcBef>
                <a:spcPts val="0"/>
              </a:spcBef>
              <a:spcAft>
                <a:spcPts val="0"/>
              </a:spcAft>
              <a:buNone/>
            </a:pPr>
            <a:r>
              <a:rPr sz="800" b="1" i="0">
                <a:solidFill>
                  <a:srgbClr val="16181D"/>
                </a:solidFill>
                <a:latin typeface="Arial"/>
              </a:rPr>
              <a:t>1,372.0</a:t>
            </a:r>
          </a:p>
        </p:txBody>
      </p:sp>
      <p:sp>
        <p:nvSpPr>
          <p:cNvPr id="23" name="mid-2-text"/>
          <p:cNvSpPr/>
          <p:nvPr/>
        </p:nvSpPr>
        <p:spPr>
          <a:xfrm>
            <a:off x="6567741" y="4697099"/>
            <a:ext cx="379449" cy="121920"/>
          </a:xfrm>
          <a:prstGeom prst="rect">
            <a:avLst/>
          </a:prstGeom>
          <a:noFill/>
        </p:spPr>
        <p:txBody>
          <a:bodyPr wrap="square" lIns="0" tIns="0" rIns="0" bIns="0" anchor="ctr">
            <a:noAutofit/>
          </a:bodyPr>
          <a:lstStyle/>
          <a:p>
            <a:pPr algn="r" marL="0" indent="0">
              <a:lnSpc>
                <a:spcPts val="960"/>
              </a:lnSpc>
              <a:spcBef>
                <a:spcPts val="0"/>
              </a:spcBef>
              <a:spcAft>
                <a:spcPts val="0"/>
              </a:spcAft>
              <a:buNone/>
            </a:pPr>
            <a:r>
              <a:rPr sz="800" b="1" i="0">
                <a:solidFill>
                  <a:srgbClr val="16181D"/>
                </a:solidFill>
                <a:latin typeface="Arial"/>
              </a:rPr>
              <a:t>1,384.0</a:t>
            </a:r>
          </a:p>
        </p:txBody>
      </p:sp>
      <p:sp>
        <p:nvSpPr>
          <p:cNvPr id="24" name="mid-3-text"/>
          <p:cNvSpPr/>
          <p:nvPr/>
        </p:nvSpPr>
        <p:spPr>
          <a:xfrm>
            <a:off x="6567741" y="5415002"/>
            <a:ext cx="379449" cy="121920"/>
          </a:xfrm>
          <a:prstGeom prst="rect">
            <a:avLst/>
          </a:prstGeom>
          <a:noFill/>
        </p:spPr>
        <p:txBody>
          <a:bodyPr wrap="square" lIns="0" tIns="0" rIns="0" bIns="0" anchor="ctr">
            <a:noAutofit/>
          </a:bodyPr>
          <a:lstStyle/>
          <a:p>
            <a:pPr algn="r" marL="0" indent="0">
              <a:lnSpc>
                <a:spcPts val="960"/>
              </a:lnSpc>
              <a:spcBef>
                <a:spcPts val="0"/>
              </a:spcBef>
              <a:spcAft>
                <a:spcPts val="0"/>
              </a:spcAft>
              <a:buNone/>
            </a:pPr>
            <a:r>
              <a:rPr sz="800" b="1" i="0">
                <a:solidFill>
                  <a:srgbClr val="A9650A"/>
                </a:solidFill>
                <a:latin typeface="Arial"/>
              </a:rPr>
              <a:t>1,396.4</a:t>
            </a:r>
          </a:p>
        </p:txBody>
      </p:sp>
      <p:sp>
        <p:nvSpPr>
          <p:cNvPr id="25" name="mid-label"/>
          <p:cNvSpPr/>
          <p:nvPr/>
        </p:nvSpPr>
        <p:spPr>
          <a:xfrm>
            <a:off x="6545219" y="2841381"/>
            <a:ext cx="424494" cy="121920"/>
          </a:xfrm>
          <a:prstGeom prst="rect">
            <a:avLst/>
          </a:prstGeom>
          <a:noFill/>
        </p:spPr>
        <p:txBody>
          <a:bodyPr wrap="square" lIns="0" tIns="0" rIns="0" bIns="0" anchor="ctr">
            <a:noAutofit/>
          </a:bodyPr>
          <a:lstStyle/>
          <a:p>
            <a:pPr algn="r" marL="0" indent="0">
              <a:lnSpc>
                <a:spcPts val="960"/>
              </a:lnSpc>
              <a:spcBef>
                <a:spcPts val="0"/>
              </a:spcBef>
              <a:spcAft>
                <a:spcPts val="0"/>
              </a:spcAft>
              <a:buNone/>
            </a:pPr>
            <a:r>
              <a:rPr sz="800" b="0" i="0">
                <a:solidFill>
                  <a:srgbClr val="596070"/>
                </a:solidFill>
                <a:latin typeface="Arial"/>
              </a:rPr>
              <a:t>Midpoint</a:t>
            </a:r>
          </a:p>
        </p:txBody>
      </p:sp>
    </p:spTree>
    <p:custDataLst>
      <p:tags r:id="rId3"/>
    </p:custDataLst>
  </p:cSld>
  <p:clrMapOvr>
    <a:masterClrMapping/>
  </p:clrMapOvr>
</p:sld>
</file>

<file path=ppt/tags/tag1.xml><?xml version="1.0" encoding="utf-8"?>
<p:tagLst xmlns:p="http://schemas.openxmlformats.org/presentationml/2006/main">
  <p:tag name="pptx-skill" val="generated"/>
</p:tagLst>
</file>

<file path=ppt/tags/tag2.xml><?xml version="1.0" encoding="utf-8"?>
<p:tagLst xmlns:p="http://schemas.openxmlformats.org/presentationml/2006/main">
  <p:tag name="pptx-skill" val="generated"/>
</p:tagLst>
</file>

<file path=ppt/tags/tag3.xml><?xml version="1.0" encoding="utf-8"?>
<p:tagLst xmlns:p="http://schemas.openxmlformats.org/presentationml/2006/main">
  <p:tag name="pptx-skill" val="generated"/>
</p:tagLst>
</file>

<file path=ppt/tags/tag4.xml><?xml version="1.0" encoding="utf-8"?>
<p:tagLst xmlns:p="http://schemas.openxmlformats.org/presentationml/2006/main">
  <p:tag name="pptx-skill" val="generated"/>
</p:tagLst>
</file>

<file path=ppt/tags/tag5.xml><?xml version="1.0" encoding="utf-8"?>
<p:tagLst xmlns:p="http://schemas.openxmlformats.org/presentationml/2006/main">
  <p:tag name="pptx-skill" val="generate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2026-10-27T11:18:51Z</dcterms:created>
  <dcterms:modified xsi:type="dcterms:W3CDTF">2026-10-27T11:18:51Z</dcterms:modified>
  <cp:category/>
</cp:coreProperties>
</file>