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4"/>
  </p:sldMasterIdLst>
  <p:notesMasterIdLst>
    <p:notesMasterId r:id="rId95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7007225" cy="9293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008" userDrawn="1">
          <p15:clr>
            <a:srgbClr val="A4A3A4"/>
          </p15:clr>
        </p15:guide>
        <p15:guide id="3" pos="40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2" autoAdjust="0"/>
    <p:restoredTop sz="97112" autoAdjust="0"/>
  </p:normalViewPr>
  <p:slideViewPr>
    <p:cSldViewPr>
      <p:cViewPr varScale="1">
        <p:scale>
          <a:sx n="80" d="100"/>
          <a:sy n="80" d="100"/>
        </p:scale>
        <p:origin x="96" y="510"/>
      </p:cViewPr>
      <p:guideLst>
        <p:guide orient="horz" pos="1008"/>
        <p:guide pos="40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95" Type="http://schemas.openxmlformats.org/officeDocument/2006/relationships/notesMaster" Target="notesMasters/notesMaster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Relationship Id="rId10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7"/>
          <c:h val="0.8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Prescribed fire</c:v>
                </c:pt>
              </c:strCache>
            </c:strRef>
          </c:tx>
          <c:spPr>
            <a:ln w="25400">
              <a:solidFill>
                <a:srgbClr val="7E2553"/>
              </a:solidFill>
            </a:ln>
          </c:spPr>
          <c:marker>
            <c:symbol val="diamond"/>
            <c:size val="8"/>
            <c:spPr>
              <a:solidFill>
                <a:srgbClr val="7E2553"/>
              </a:solidFill>
            </c:spPr>
          </c:marke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9.4</c:v>
                </c:pt>
                <c:pt idx="1">
                  <c:v>12.6</c:v>
                </c:pt>
                <c:pt idx="2">
                  <c:v>16.1</c:v>
                </c:pt>
                <c:pt idx="3">
                  <c:v>19.8</c:v>
                </c:pt>
                <c:pt idx="4">
                  <c:v>23.5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Mechanical thinning</c:v>
                </c:pt>
              </c:strCache>
            </c:strRef>
          </c:tx>
          <c:spPr>
            <a:ln w="25400">
              <a:solidFill>
                <a:srgbClr val="6FA04F"/>
              </a:solidFill>
            </a:ln>
          </c:spPr>
          <c:marker>
            <c:symbol val="square"/>
            <c:size val="8"/>
            <c:spPr>
              <a:solidFill>
                <a:srgbClr val="6FA04F"/>
              </a:solidFill>
            </c:spPr>
          </c:marke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14.1</c:v>
                </c:pt>
                <c:pt idx="1">
                  <c:v>15.8</c:v>
                </c:pt>
                <c:pt idx="2">
                  <c:v>17.2</c:v>
                </c:pt>
                <c:pt idx="3">
                  <c:v>18.0</c:v>
                </c:pt>
                <c:pt idx="4">
                  <c:v>18.9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Mastication</c:v>
                </c:pt>
              </c:strCache>
            </c:strRef>
          </c:tx>
          <c:spPr>
            <a:ln w="25400">
              <a:solidFill>
                <a:srgbClr val="297ABB"/>
              </a:solidFill>
            </a:ln>
          </c:spPr>
          <c:marker>
            <c:symbol val="circle"/>
            <c:size val="8"/>
            <c:spPr>
              <a:solidFill>
                <a:srgbClr val="297ABB"/>
              </a:solidFill>
            </c:spPr>
          </c:marke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Sheet1!$D$2:$D$6</c:f>
              <c:numCache>
                <c:formatCode>0</c:formatCode>
                <c:ptCount val="5"/>
                <c:pt idx="0">
                  <c:v>8.2</c:v>
                </c:pt>
                <c:pt idx="1">
                  <c:v>8.9</c:v>
                </c:pt>
                <c:pt idx="2">
                  <c:v>9.6</c:v>
                </c:pt>
                <c:pt idx="3">
                  <c:v>10.1</c:v>
                </c:pt>
                <c:pt idx="4">
                  <c:v>10.4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Hand thinning</c:v>
                </c:pt>
              </c:strCache>
            </c:strRef>
          </c:tx>
          <c:spPr>
            <a:ln w="25400">
              <a:solidFill>
                <a:srgbClr val="5F5F5F"/>
              </a:solidFill>
            </a:ln>
          </c:spPr>
          <c:marker>
            <c:symbol val="x"/>
            <c:size val="8"/>
            <c:spPr>
              <a:solidFill>
                <a:srgbClr val="5F5F5F"/>
              </a:solidFill>
            </c:spPr>
          </c:marke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Sheet1!$E$2:$E$6</c:f>
              <c:numCache>
                <c:formatCode>0</c:formatCode>
                <c:ptCount val="5"/>
                <c:pt idx="0">
                  <c:v>4.0</c:v>
                </c:pt>
                <c:pt idx="1">
                  <c:v>4.6</c:v>
                </c:pt>
                <c:pt idx="2">
                  <c:v>5.3</c:v>
                </c:pt>
                <c:pt idx="3">
                  <c:v>5.8</c:v>
                </c:pt>
                <c:pt idx="4">
                  <c:v>6.2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/>
        <c:delete val="0"/>
        <c:axPos val="b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5.0"/>
          <c:min val="0.0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sz="1100" b="1" i="0">
                    <a:solidFill>
                      <a:srgbClr val="000000"/>
                    </a:solidFill>
                    <a:latin typeface="Arial Narrow"/>
                  </a:rPr>
                  <a:t>Thousand Acres Treated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2118791784"/>
        <c:crosses val="autoZero"/>
        <c:crossBetween val="between"/>
        <c:majorUnit val="5.0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"/>
          <c:y val="0.06"/>
          <c:w val="0.66"/>
          <c:h val="0.9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Very high hazard</c:v>
                </c:pt>
              </c:strCache>
            </c:strRef>
          </c:tx>
          <c:spPr>
            <a:solidFill>
              <a:srgbClr val="CD3834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1100" b="0" i="0">
                    <a:solidFill>
                      <a:srgbClr val="FFFFFF"/>
                    </a:solidFill>
                    <a:latin typeface="Arial Narrow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Elk Ridge</c:v>
                </c:pt>
                <c:pt idx="1">
                  <c:v>Cedar Fork</c:v>
                </c:pt>
                <c:pt idx="2">
                  <c:v>Granite</c:v>
                </c:pt>
                <c:pt idx="3">
                  <c:v>Juniper</c:v>
                </c:pt>
                <c:pt idx="4">
                  <c:v>Hollow Creek</c:v>
                </c:pt>
                <c:pt idx="5">
                  <c:v>Falcon</c:v>
                </c:pt>
                <c:pt idx="6">
                  <c:v>Dunmore</c:v>
                </c:pt>
                <c:pt idx="7">
                  <c:v>Alder</c:v>
                </c:pt>
                <c:pt idx="8">
                  <c:v>Basin</c:v>
                </c:pt>
                <c:pt idx="9">
                  <c:v>Ironwood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31</c:v>
                </c:pt>
                <c:pt idx="1">
                  <c:v>26</c:v>
                </c:pt>
                <c:pt idx="2">
                  <c:v>22</c:v>
                </c:pt>
                <c:pt idx="3">
                  <c:v>19</c:v>
                </c:pt>
                <c:pt idx="4">
                  <c:v>15</c:v>
                </c:pt>
                <c:pt idx="5">
                  <c:v>12</c:v>
                </c:pt>
                <c:pt idx="6">
                  <c:v>9</c:v>
                </c:pt>
                <c:pt idx="7">
                  <c:v>7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hazard</c:v>
                </c:pt>
              </c:strCache>
            </c:strRef>
          </c:tx>
          <c:spPr>
            <a:solidFill>
              <a:srgbClr val="FDE851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Elk Ridge</c:v>
                </c:pt>
                <c:pt idx="1">
                  <c:v>Cedar Fork</c:v>
                </c:pt>
                <c:pt idx="2">
                  <c:v>Granite</c:v>
                </c:pt>
                <c:pt idx="3">
                  <c:v>Juniper</c:v>
                </c:pt>
                <c:pt idx="4">
                  <c:v>Hollow Creek</c:v>
                </c:pt>
                <c:pt idx="5">
                  <c:v>Falcon</c:v>
                </c:pt>
                <c:pt idx="6">
                  <c:v>Dunmore</c:v>
                </c:pt>
                <c:pt idx="7">
                  <c:v>Alder</c:v>
                </c:pt>
                <c:pt idx="8">
                  <c:v>Basin</c:v>
                </c:pt>
                <c:pt idx="9">
                  <c:v>Ironwood</c:v>
                </c:pt>
              </c:strCache>
            </c:strRef>
          </c:cat>
          <c:val>
            <c:numRef>
              <c:f>Sheet1!$C$2:$C$11</c:f>
              <c:numCache>
                <c:formatCode>0</c:formatCode>
                <c:ptCount val="10"/>
                <c:pt idx="0">
                  <c:v>27</c:v>
                </c:pt>
                <c:pt idx="1">
                  <c:v>28</c:v>
                </c:pt>
                <c:pt idx="2">
                  <c:v>25</c:v>
                </c:pt>
                <c:pt idx="3">
                  <c:v>24</c:v>
                </c:pt>
                <c:pt idx="4">
                  <c:v>23</c:v>
                </c:pt>
                <c:pt idx="5">
                  <c:v>21</c:v>
                </c:pt>
                <c:pt idx="6">
                  <c:v>19</c:v>
                </c:pt>
                <c:pt idx="7">
                  <c:v>16</c:v>
                </c:pt>
                <c:pt idx="8">
                  <c:v>12</c:v>
                </c:pt>
                <c:pt idx="9">
                  <c:v>9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3"/>
          <c:y val="0.0"/>
          <c:w val="0.5"/>
          <c:h val="1.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WUI homes</c:v>
                </c:pt>
              </c:strCache>
            </c:strRef>
          </c:tx>
          <c:spPr>
            <a:solidFill>
              <a:srgbClr val="1F3A4D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Elk Ridge, Cedar Fork</c:v>
                </c:pt>
                <c:pt idx="1">
                  <c:v>Basin, Dunmore</c:v>
                </c:pt>
                <c:pt idx="2">
                  <c:v>Other six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26.8</c:v>
                </c:pt>
                <c:pt idx="1">
                  <c:v>36.9</c:v>
                </c:pt>
                <c:pt idx="2">
                  <c:v>36.4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planned acres</c:v>
                </c:pt>
              </c:strCache>
            </c:strRef>
          </c:tx>
          <c:spPr>
            <a:solidFill>
              <a:srgbClr val="196886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Elk Ridge, Cedar Fork</c:v>
                </c:pt>
                <c:pt idx="1">
                  <c:v>Basin, Dunmore</c:v>
                </c:pt>
                <c:pt idx="2">
                  <c:v>Other six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38.4</c:v>
                </c:pt>
                <c:pt idx="1">
                  <c:v>11.6</c:v>
                </c:pt>
                <c:pt idx="2">
                  <c:v>50.0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"/>
          <c:y val="0.11"/>
          <c:w val="0.38"/>
          <c:h val="0.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acre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</c:spPr>
          <c:dPt>
            <c:idx val="0"/>
            <c:spPr>
              <a:solidFill>
                <a:srgbClr val="6FA04F"/>
              </a:solidFill>
            </c:spPr>
          </c:dPt>
          <c:dPt>
            <c:idx val="1"/>
            <c:spPr>
              <a:solidFill>
                <a:srgbClr val="5F5F5F"/>
              </a:solidFill>
            </c:spPr>
          </c:dPt>
          <c:dPt>
            <c:idx val="2"/>
            <c:spPr>
              <a:solidFill>
                <a:srgbClr val="297ABB"/>
              </a:solidFill>
            </c:spPr>
          </c:dPt>
          <c:dPt>
            <c:idx val="3"/>
            <c:spPr>
              <a:solidFill>
                <a:srgbClr val="7E2553"/>
              </a:solidFill>
            </c:spPr>
          </c:dPt>
          <c:dLbls>
            <c:numFmt formatCode="\$#,##0" sourceLinked="0"/>
            <c:txPr>
              <a:bodyPr/>
              <a:lstStyle/>
              <a:p>
                <a:pPr>
                  <a:defRPr sz="1100" b="1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Mechanical thinning</c:v>
                </c:pt>
                <c:pt idx="1">
                  <c:v>Hand thinning</c:v>
                </c:pt>
                <c:pt idx="2">
                  <c:v>Mastication</c:v>
                </c:pt>
                <c:pt idx="3">
                  <c:v>Prescribed fire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1610</c:v>
                </c:pt>
                <c:pt idx="1">
                  <c:v>1050</c:v>
                </c:pt>
                <c:pt idx="2">
                  <c:v>700</c:v>
                </c:pt>
                <c:pt idx="3">
                  <c:v>220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14"/>
          <c:w val="0.9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Crew-days needed</c:v>
                </c:pt>
              </c:strCache>
            </c:strRef>
          </c:tx>
          <c:spPr>
            <a:solidFill>
              <a:srgbClr val="1F3A4D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FY2027</c:v>
                </c:pt>
                <c:pt idx="1">
                  <c:v>FY2028</c:v>
                </c:pt>
                <c:pt idx="2">
                  <c:v>FY2029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6800</c:v>
                </c:pt>
                <c:pt idx="1">
                  <c:v>8900</c:v>
                </c:pt>
                <c:pt idx="2">
                  <c:v>8300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Crew-days available</c:v>
                </c:pt>
              </c:strCache>
            </c:strRef>
          </c:tx>
          <c:spPr>
            <a:solidFill>
              <a:srgbClr val="C4C4C4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FY2027</c:v>
                </c:pt>
                <c:pt idx="1">
                  <c:v>FY2028</c:v>
                </c:pt>
                <c:pt idx="2">
                  <c:v>FY2029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5900</c:v>
                </c:pt>
                <c:pt idx="1">
                  <c:v>7400</c:v>
                </c:pt>
                <c:pt idx="2">
                  <c:v>8500</c:v>
                </c:pt>
              </c:numCache>
            </c:numRef>
          </c:val>
        </c:ser>
        <c:gapWidth val="13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legend>
      <c:legendPos val="t"/>
      <c:overlay val="0"/>
      <c:txPr>
        <a:bodyPr/>
        <a:lstStyle/>
        <a:p>
          <a:pPr>
            <a:defRPr sz="1100" b="0" i="0">
              <a:solidFill>
                <a:srgbClr val="000000"/>
              </a:solidFill>
              <a:latin typeface="Arial Narrow"/>
            </a:defRPr>
          </a:pPr>
        </a:p>
      </c:txPr>
    </c:legend>
    <c:dispBlanksAs val="gap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"/>
          <c:y val="0.0"/>
          <c:w val="0.56"/>
          <c:h val="1.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 (months)</c:v>
                </c:pt>
              </c:strCache>
            </c:strRef>
          </c:tx>
          <c:spPr>
            <a:solidFill>
              <a:srgbClr val="C4C4C4"/>
            </a:solidFill>
            <a:ln>
              <a:noFill/>
            </a:ln>
          </c:spPr>
          <c:dPt>
            <c:idx val="0"/>
            <c:spPr>
              <a:solidFill>
                <a:srgbClr val="1F3A4D"/>
              </a:solidFill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100" b="1" i="0">
                      <a:solidFill>
                        <a:srgbClr val="000000"/>
                      </a:solidFill>
                      <a:latin typeface="Arial Narrow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Qualified burn bosses</c:v>
                </c:pt>
                <c:pt idx="1">
                  <c:v>Masticators</c:v>
                </c:pt>
                <c:pt idx="2">
                  <c:v>Feller-bunchers</c:v>
                </c:pt>
                <c:pt idx="3">
                  <c:v>Skidders</c:v>
                </c:pt>
                <c:pt idx="4">
                  <c:v>Hand crews (20 people)</c:v>
                </c:pt>
                <c:pt idx="5">
                  <c:v>Engine crews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18</c:v>
                </c:pt>
                <c:pt idx="1">
                  <c:v>9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6"/>
          <c:y val="0.16"/>
          <c:w val="0.63"/>
          <c:h val="0.8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Permits and environmental review</c:v>
                </c:pt>
                <c:pt idx="1">
                  <c:v>Crew hiring and burn-boss training</c:v>
                </c:pt>
                <c:pt idx="2">
                  <c:v>Hand thinning near homes: Dunmore, Basin</c:v>
                </c:pt>
                <c:pt idx="3">
                  <c:v>Mechanical thinning: Elk Ridge, Cedar Fork</c:v>
                </c:pt>
                <c:pt idx="4">
                  <c:v>Mastication: Granite, Juniper</c:v>
                </c:pt>
                <c:pt idx="5">
                  <c:v>Prescribed fire: all high-hazard counties</c:v>
                </c:pt>
                <c:pt idx="6">
                  <c:v>Other counties: Alder, Falcon, Hollow Creek, Ironwood</c:v>
                </c:pt>
                <c:pt idx="7">
                  <c:v>Effectiveness monitoring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6</c:v>
                </c:pt>
                <c:pt idx="7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Scheduled</c:v>
                </c:pt>
              </c:strCache>
            </c:strRef>
          </c:tx>
          <c:spPr>
            <a:solidFill>
              <a:srgbClr val="196886"/>
            </a:solidFill>
            <a:ln>
              <a:noFill/>
            </a:ln>
          </c:spPr>
          <c:dPt>
            <c:idx val="0"/>
            <c:spPr>
              <a:solidFill>
                <a:srgbClr val="C4C4C4"/>
              </a:solidFill>
            </c:spPr>
          </c:dPt>
          <c:dPt>
            <c:idx val="1"/>
            <c:spPr>
              <a:solidFill>
                <a:srgbClr val="C4C4C4"/>
              </a:solidFill>
            </c:spPr>
          </c:dPt>
          <c:dPt>
            <c:idx val="2"/>
            <c:spPr>
              <a:solidFill>
                <a:srgbClr val="5F5F5F"/>
              </a:solidFill>
            </c:spPr>
          </c:dPt>
          <c:dPt>
            <c:idx val="3"/>
            <c:spPr>
              <a:solidFill>
                <a:srgbClr val="6FA04F"/>
              </a:solidFill>
            </c:spPr>
          </c:dPt>
          <c:dPt>
            <c:idx val="4"/>
            <c:spPr>
              <a:solidFill>
                <a:srgbClr val="297ABB"/>
              </a:solidFill>
            </c:spPr>
          </c:dPt>
          <c:dPt>
            <c:idx val="5"/>
            <c:spPr>
              <a:solidFill>
                <a:srgbClr val="7E2553"/>
              </a:solidFill>
            </c:spPr>
          </c:dPt>
          <c:dPt>
            <c:idx val="6"/>
            <c:spPr>
              <a:solidFill>
                <a:srgbClr val="1F3A4D"/>
              </a:solidFill>
            </c:spPr>
          </c:dPt>
          <c:dPt>
            <c:idx val="7"/>
            <c:spPr>
              <a:solidFill>
                <a:srgbClr val="C4C4C4"/>
              </a:solidFill>
            </c:spPr>
          </c:dPt>
          <c:cat>
            <c:strRef>
              <c:f>Sheet1!$A$2:$A$9</c:f>
              <c:strCache>
                <c:ptCount val="8"/>
                <c:pt idx="0">
                  <c:v>Permits and environmental review</c:v>
                </c:pt>
                <c:pt idx="1">
                  <c:v>Crew hiring and burn-boss training</c:v>
                </c:pt>
                <c:pt idx="2">
                  <c:v>Hand thinning near homes: Dunmore, Basin</c:v>
                </c:pt>
                <c:pt idx="3">
                  <c:v>Mechanical thinning: Elk Ridge, Cedar Fork</c:v>
                </c:pt>
                <c:pt idx="4">
                  <c:v>Mastication: Granite, Juniper</c:v>
                </c:pt>
                <c:pt idx="5">
                  <c:v>Prescribed fire: all high-hazard counties</c:v>
                </c:pt>
                <c:pt idx="6">
                  <c:v>Other counties: Alder, Falcon, Hollow Creek, Ironwood</c:v>
                </c:pt>
                <c:pt idx="7">
                  <c:v>Effectiveness monitoring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3</c:v>
                </c:pt>
                <c:pt idx="1">
                  <c:v>4</c:v>
                </c:pt>
                <c:pt idx="2">
                  <c:v>7</c:v>
                </c:pt>
                <c:pt idx="3">
                  <c:v>9</c:v>
                </c:pt>
                <c:pt idx="4">
                  <c:v>6</c:v>
                </c:pt>
                <c:pt idx="5">
                  <c:v>8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b"/>
        <c:majorGridlines>
          <c:spPr>
            <a:ln w="6350">
              <a:solidFill>
                <a:srgbClr val="C4C4C4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1.0"/>
      </c:valAx>
      <c:spPr>
        <a:noFill/>
      </c:spPr>
    </c:plotArea>
    <c:dispBlanksAs val="gap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17"/>
          <c:w val="0.64"/>
          <c:h val="0.7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the plan</c:v>
                </c:pt>
              </c:strCache>
            </c:strRef>
          </c:tx>
          <c:spPr>
            <a:ln w="25400">
              <a:solidFill>
                <a:srgbClr val="5F5F5F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5F5F5F"/>
              </a:solidFill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000000"/>
                        </a:solidFill>
                        <a:latin typeface="Arial Narrow"/>
                      </a:rPr>
                      <a:t>1,327</a:t>
                    </a:r>
                  </a:p>
                </c:rich>
              </c:tx>
              <c:txPr>
                <a:bodyPr/>
                <a:lstStyle/>
                <a:p>
                  <a:pPr>
                    <a:defRPr sz="1100" b="1" i="0">
                      <a:solidFill>
                        <a:srgbClr val="000000"/>
                      </a:solidFill>
                      <a:latin typeface="Arial Narrow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  <c:pt idx="3">
                  <c:v>FY2029</c:v>
                </c:pt>
                <c:pt idx="4">
                  <c:v>FY2030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1240</c:v>
                </c:pt>
                <c:pt idx="1">
                  <c:v>1262</c:v>
                </c:pt>
                <c:pt idx="2">
                  <c:v>1285</c:v>
                </c:pt>
                <c:pt idx="3">
                  <c:v>1306</c:v>
                </c:pt>
                <c:pt idx="4">
                  <c:v>1327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plan</c:v>
                </c:pt>
              </c:strCache>
            </c:strRef>
          </c:tx>
          <c:spPr>
            <a:ln w="31750">
              <a:solidFill>
                <a:srgbClr val="196886"/>
              </a:solidFill>
            </a:ln>
          </c:spPr>
          <c:marker>
            <c:symbol val="circle"/>
            <c:size val="8"/>
            <c:spPr>
              <a:solidFill>
                <a:srgbClr val="196886"/>
              </a:solidFill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000000"/>
                        </a:solidFill>
                        <a:latin typeface="Arial Narrow"/>
                      </a:rPr>
                      <a:t>1,098</a:t>
                    </a:r>
                  </a:p>
                </c:rich>
              </c:tx>
              <c:txPr>
                <a:bodyPr/>
                <a:lstStyle/>
                <a:p>
                  <a:pPr>
                    <a:defRPr sz="1100" b="1" i="0">
                      <a:solidFill>
                        <a:srgbClr val="000000"/>
                      </a:solidFill>
                      <a:latin typeface="Arial Narrow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  <c:pt idx="3">
                  <c:v>FY2029</c:v>
                </c:pt>
                <c:pt idx="4">
                  <c:v>FY2030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1240</c:v>
                </c:pt>
                <c:pt idx="1">
                  <c:v>1214</c:v>
                </c:pt>
                <c:pt idx="2">
                  <c:v>1168</c:v>
                </c:pt>
                <c:pt idx="3">
                  <c:v>1116</c:v>
                </c:pt>
                <c:pt idx="4">
                  <c:v>1098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/>
        <c:delete val="0"/>
        <c:axPos val="b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400.0"/>
          <c:min val="0.0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sz="1100" b="1" i="0">
                    <a:solidFill>
                      <a:srgbClr val="000000"/>
                    </a:solidFill>
                    <a:latin typeface="Arial Narrow"/>
                  </a:rPr>
                  <a:t>Thousand Acres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2118791784"/>
        <c:crosses val="autoZero"/>
        <c:crossBetween val="between"/>
        <c:majorUnit val="200.0"/>
      </c:valAx>
      <c:spPr>
        <a:noFill/>
      </c:spPr>
    </c:plotArea>
    <c:legend>
      <c:legendPos val="t"/>
      <c:layout/>
      <c:overlay val="0"/>
      <c:txPr>
        <a:bodyPr/>
        <a:lstStyle/>
        <a:p>
          <a:pPr>
            <a:defRPr sz="1100" b="0" i="0">
              <a:solidFill>
                <a:srgbClr val="000000"/>
              </a:solidFill>
              <a:latin typeface="Arial Narrow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"/>
          <c:w val="0.74"/>
          <c:h val="1.0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FY2026</c:v>
                </c:pt>
              </c:strCache>
            </c:strRef>
          </c:tx>
          <c:spPr>
            <a:solidFill>
              <a:srgbClr val="C4C4C4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Elk Ridge</c:v>
                </c:pt>
                <c:pt idx="1">
                  <c:v>Cedar Fork</c:v>
                </c:pt>
                <c:pt idx="2">
                  <c:v>Granite</c:v>
                </c:pt>
                <c:pt idx="3">
                  <c:v>Juniper</c:v>
                </c:pt>
                <c:pt idx="4">
                  <c:v>Hollow Creek</c:v>
                </c:pt>
                <c:pt idx="5">
                  <c:v>Falcon</c:v>
                </c:pt>
                <c:pt idx="6">
                  <c:v>Dunmore</c:v>
                </c:pt>
                <c:pt idx="7">
                  <c:v>Alder</c:v>
                </c:pt>
                <c:pt idx="8">
                  <c:v>Basin</c:v>
                </c:pt>
                <c:pt idx="9">
                  <c:v>Ironwood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58</c:v>
                </c:pt>
                <c:pt idx="1">
                  <c:v>54</c:v>
                </c:pt>
                <c:pt idx="2">
                  <c:v>47</c:v>
                </c:pt>
                <c:pt idx="3">
                  <c:v>43</c:v>
                </c:pt>
                <c:pt idx="4">
                  <c:v>38</c:v>
                </c:pt>
                <c:pt idx="5">
                  <c:v>33</c:v>
                </c:pt>
                <c:pt idx="6">
                  <c:v>28</c:v>
                </c:pt>
                <c:pt idx="7">
                  <c:v>23</c:v>
                </c:pt>
                <c:pt idx="8">
                  <c:v>16</c:v>
                </c:pt>
                <c:pt idx="9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FY2030 with the plan</c:v>
                </c:pt>
              </c:strCache>
            </c:strRef>
          </c:tx>
          <c:spPr>
            <a:solidFill>
              <a:srgbClr val="196886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00" b="0" i="0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Elk Ridge</c:v>
                </c:pt>
                <c:pt idx="1">
                  <c:v>Cedar Fork</c:v>
                </c:pt>
                <c:pt idx="2">
                  <c:v>Granite</c:v>
                </c:pt>
                <c:pt idx="3">
                  <c:v>Juniper</c:v>
                </c:pt>
                <c:pt idx="4">
                  <c:v>Hollow Creek</c:v>
                </c:pt>
                <c:pt idx="5">
                  <c:v>Falcon</c:v>
                </c:pt>
                <c:pt idx="6">
                  <c:v>Dunmore</c:v>
                </c:pt>
                <c:pt idx="7">
                  <c:v>Alder</c:v>
                </c:pt>
                <c:pt idx="8">
                  <c:v>Basin</c:v>
                </c:pt>
                <c:pt idx="9">
                  <c:v>Ironwood</c:v>
                </c:pt>
              </c:strCache>
            </c:strRef>
          </c:cat>
          <c:val>
            <c:numRef>
              <c:f>Sheet1!$C$2:$C$11</c:f>
              <c:numCache>
                <c:formatCode>0</c:formatCode>
                <c:ptCount val="10"/>
                <c:pt idx="0">
                  <c:v>37</c:v>
                </c:pt>
                <c:pt idx="1">
                  <c:v>35</c:v>
                </c:pt>
                <c:pt idx="2">
                  <c:v>33</c:v>
                </c:pt>
                <c:pt idx="3">
                  <c:v>30</c:v>
                </c:pt>
                <c:pt idx="4">
                  <c:v>27</c:v>
                </c:pt>
                <c:pt idx="5">
                  <c:v>24</c:v>
                </c:pt>
                <c:pt idx="6">
                  <c:v>20</c:v>
                </c:pt>
                <c:pt idx="7">
                  <c:v>17</c:v>
                </c:pt>
                <c:pt idx="8">
                  <c:v>11</c:v>
                </c:pt>
                <c:pt idx="9">
                  <c:v>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100" b="0" i="0">
                <a:solidFill>
                  <a:srgbClr val="000000"/>
                </a:solidFill>
                <a:latin typeface="Arial Narr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1100" b="0" i="0">
          <a:solidFill>
            <a:srgbClr val="000000"/>
          </a:solidFill>
          <a:latin typeface="Arial Narrow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688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8750" y="0"/>
            <a:ext cx="303688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E177C-57E2-4311-A944-6D50D96DB171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5300" cy="31353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71988"/>
            <a:ext cx="5607050" cy="3659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8088"/>
            <a:ext cx="3036888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8750" y="8828088"/>
            <a:ext cx="3036888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18918-CD39-4C82-974B-8F09DDD24D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61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they were invented for a fictional program, the Ridgeline State Forestry Program, and computed and checked in a script. They describe no real agency, county or forest. Acres treated rose 65 percent in five years, from 35.7 to 59.0 thousand; prescribed fire drove most of the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they were invented for a fictional program, the Ridgeline State Forestry Program, and computed and checked in a script. They describe no real agency, county or forest. Planned acres follow the hazard rank; the counties with the most homes get few acres because work near homes is done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they were invented for a fictional program, the Ridgeline State Forestry Program, and computed and checked in a script. They describe no real agency, county or forest. The plan's $129.7 million buys 160 thousand acres at an average of $811 an acre.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they were invented for a fictional program, the Ridgeline State Forestry Program, and computed and checked in a script. They describe no real agency, county or forest. Capacity falls 900 crew-days short in FY2027 and 1,500 in FY2028, and covers the need by FY2029 after 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they were invented for a fictional program, the Ridgeline State Forestry Program, and computed and checked in a script. They describe no real agency, county or forest. The schedule front-loads permits and hiring; FY2028 and FY2029 each treat 59 thousand acres.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they were invented for a fictional program, the Ridgeline State Forestry Program, and computed and checked in a script. They describe no real agency, county or forest. Without treatment, fuel growth adds about 1.7 percent a year to high-hazard land; the plan reverses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42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6325" y="355432"/>
            <a:ext cx="9144000" cy="646331"/>
          </a:xfrm>
        </p:spPr>
        <p:txBody>
          <a:bodyPr anchor="t" anchorCtr="0">
            <a:sp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5707" y="3109202"/>
            <a:ext cx="7954617" cy="1655762"/>
          </a:xfrm>
        </p:spPr>
        <p:txBody>
          <a:bodyPr anchor="ctr">
            <a:noAutofit/>
          </a:bodyPr>
          <a:lstStyle>
            <a:lvl1pPr marL="0" indent="0" algn="r">
              <a:lnSpc>
                <a:spcPct val="95000"/>
              </a:lnSpc>
              <a:spcBef>
                <a:spcPts val="80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11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gure-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/>
          <p:cNvSpPr>
            <a:spLocks noGrp="1"/>
          </p:cNvSpPr>
          <p:nvPr>
            <p:ph sz="quarter" idx="15"/>
          </p:nvPr>
        </p:nvSpPr>
        <p:spPr>
          <a:xfrm>
            <a:off x="1972614" y="1600220"/>
            <a:ext cx="8229600" cy="4114779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6446486"/>
            <a:ext cx="9144000" cy="285509"/>
          </a:xfrm>
        </p:spPr>
        <p:txBody>
          <a:bodyPr anchor="b" anchorCtr="0">
            <a:noAutofit/>
          </a:bodyPr>
          <a:lstStyle>
            <a:lvl1pPr marL="111125" indent="-111125">
              <a:spcBef>
                <a:spcPts val="300"/>
              </a:spcBef>
              <a:buNone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341317" indent="0">
              <a:buNone/>
              <a:defRPr/>
            </a:lvl2pPr>
            <a:lvl3pPr marL="1018834" indent="0">
              <a:buNone/>
              <a:defRPr/>
            </a:lvl3pPr>
            <a:lvl4pPr marL="1528250" indent="0">
              <a:buNone/>
              <a:defRPr/>
            </a:lvl4pPr>
            <a:lvl5pPr marL="2037667" indent="0">
              <a:buNone/>
              <a:defRPr/>
            </a:lvl5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1026" y="67236"/>
            <a:ext cx="838200" cy="195158"/>
          </a:xfrm>
        </p:spPr>
        <p:txBody>
          <a:bodyPr wrap="square" anchor="b" anchorCtr="0">
            <a:noAutofit/>
          </a:bodyPr>
          <a:lstStyle>
            <a:lvl1pPr marL="114300" indent="-114300">
              <a:spcBef>
                <a:spcPts val="300"/>
              </a:spcBef>
              <a:buNone/>
              <a:defRPr sz="900" b="1">
                <a:solidFill>
                  <a:schemeClr val="bg1"/>
                </a:solidFill>
                <a:latin typeface="+mn-lt"/>
              </a:defRPr>
            </a:lvl1pPr>
            <a:lvl2pPr marL="341317" indent="0">
              <a:buNone/>
              <a:defRPr/>
            </a:lvl2pPr>
            <a:lvl3pPr marL="1018834" indent="0">
              <a:buNone/>
              <a:defRPr/>
            </a:lvl3pPr>
            <a:lvl4pPr marL="1528250" indent="0">
              <a:buNone/>
              <a:defRPr/>
            </a:lvl4pPr>
            <a:lvl5pPr marL="2037667" indent="0">
              <a:buNone/>
              <a:defRPr/>
            </a:lvl5pPr>
          </a:lstStyle>
          <a:p>
            <a:pPr lvl="0"/>
            <a:r>
              <a:rPr lang="en-US" dirty="0"/>
              <a:t>RSFP.#</a:t>
            </a:r>
          </a:p>
        </p:txBody>
      </p:sp>
    </p:spTree>
    <p:extLst>
      <p:ext uri="{BB962C8B-B14F-4D97-AF65-F5344CB8AC3E}">
        <p14:creationId xmlns:p14="http://schemas.microsoft.com/office/powerpoint/2010/main" val="580208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36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gure-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/>
          <p:cNvSpPr>
            <a:spLocks noGrp="1"/>
          </p:cNvSpPr>
          <p:nvPr>
            <p:ph sz="quarter" idx="15"/>
          </p:nvPr>
        </p:nvSpPr>
        <p:spPr>
          <a:xfrm>
            <a:off x="1066800" y="1600220"/>
            <a:ext cx="10041228" cy="4114779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6446486"/>
            <a:ext cx="9144000" cy="285509"/>
          </a:xfrm>
        </p:spPr>
        <p:txBody>
          <a:bodyPr anchor="b" anchorCtr="0">
            <a:noAutofit/>
          </a:bodyPr>
          <a:lstStyle>
            <a:lvl1pPr marL="111125" indent="-111125">
              <a:spcBef>
                <a:spcPts val="300"/>
              </a:spcBef>
              <a:buNone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341317" indent="0">
              <a:buNone/>
              <a:defRPr/>
            </a:lvl2pPr>
            <a:lvl3pPr marL="1018834" indent="0">
              <a:buNone/>
              <a:defRPr/>
            </a:lvl3pPr>
            <a:lvl4pPr marL="1528250" indent="0">
              <a:buNone/>
              <a:defRPr/>
            </a:lvl4pPr>
            <a:lvl5pPr marL="2037667" indent="0">
              <a:buNone/>
              <a:defRPr/>
            </a:lvl5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1026" y="67236"/>
            <a:ext cx="838200" cy="195158"/>
          </a:xfrm>
        </p:spPr>
        <p:txBody>
          <a:bodyPr wrap="square" anchor="b" anchorCtr="0">
            <a:noAutofit/>
          </a:bodyPr>
          <a:lstStyle>
            <a:lvl1pPr marL="114300" indent="-114300">
              <a:spcBef>
                <a:spcPts val="300"/>
              </a:spcBef>
              <a:buNone/>
              <a:defRPr sz="900" b="1">
                <a:solidFill>
                  <a:schemeClr val="bg1"/>
                </a:solidFill>
                <a:latin typeface="+mn-lt"/>
              </a:defRPr>
            </a:lvl1pPr>
            <a:lvl2pPr marL="341317" indent="0">
              <a:buNone/>
              <a:defRPr/>
            </a:lvl2pPr>
            <a:lvl3pPr marL="1018834" indent="0">
              <a:buNone/>
              <a:defRPr/>
            </a:lvl3pPr>
            <a:lvl4pPr marL="1528250" indent="0">
              <a:buNone/>
              <a:defRPr/>
            </a:lvl4pPr>
            <a:lvl5pPr marL="2037667" indent="0">
              <a:buNone/>
              <a:defRPr/>
            </a:lvl5pPr>
          </a:lstStyle>
          <a:p>
            <a:pPr lvl="0"/>
            <a:r>
              <a:rPr lang="en-US" dirty="0"/>
              <a:t>RSFP.#</a:t>
            </a:r>
          </a:p>
        </p:txBody>
      </p:sp>
    </p:spTree>
    <p:extLst>
      <p:ext uri="{BB962C8B-B14F-4D97-AF65-F5344CB8AC3E}">
        <p14:creationId xmlns:p14="http://schemas.microsoft.com/office/powerpoint/2010/main" val="1130968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360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rend-grap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1026" y="67236"/>
            <a:ext cx="838200" cy="195158"/>
          </a:xfrm>
        </p:spPr>
        <p:txBody>
          <a:bodyPr wrap="square" anchor="b" anchorCtr="0">
            <a:noAutofit/>
          </a:bodyPr>
          <a:lstStyle>
            <a:lvl1pPr marL="114300" indent="-114300">
              <a:spcBef>
                <a:spcPts val="300"/>
              </a:spcBef>
              <a:buNone/>
              <a:defRPr sz="900" b="1">
                <a:solidFill>
                  <a:schemeClr val="bg1"/>
                </a:solidFill>
                <a:latin typeface="+mn-lt"/>
              </a:defRPr>
            </a:lvl1pPr>
            <a:lvl2pPr marL="341317" indent="0">
              <a:buNone/>
              <a:defRPr/>
            </a:lvl2pPr>
            <a:lvl3pPr marL="1018834" indent="0">
              <a:buNone/>
              <a:defRPr/>
            </a:lvl3pPr>
            <a:lvl4pPr marL="1528250" indent="0">
              <a:buNone/>
              <a:defRPr/>
            </a:lvl4pPr>
            <a:lvl5pPr marL="2037667" indent="0">
              <a:buNone/>
              <a:defRPr/>
            </a:lvl5pPr>
          </a:lstStyle>
          <a:p>
            <a:pPr lvl="0"/>
            <a:r>
              <a:rPr lang="en-US" dirty="0"/>
              <a:t>RSFP.#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363200" y="5349875"/>
            <a:ext cx="1828800" cy="739738"/>
          </a:xfrm>
          <a:prstGeom prst="rect">
            <a:avLst/>
          </a:prstGeom>
          <a:noFill/>
        </p:spPr>
        <p:txBody>
          <a:bodyPr wrap="square" lIns="73152" rtlCol="0" anchor="b" anchorCtr="0">
            <a:noAutofit/>
          </a:bodyPr>
          <a:lstStyle/>
          <a:p>
            <a:pPr marL="114300" indent="-114300"/>
            <a:endParaRPr lang="en-US" sz="1100" b="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Content Placeholder 12"/>
          <p:cNvSpPr>
            <a:spLocks noGrp="1"/>
          </p:cNvSpPr>
          <p:nvPr>
            <p:ph sz="quarter" idx="15"/>
          </p:nvPr>
        </p:nvSpPr>
        <p:spPr>
          <a:xfrm>
            <a:off x="2256683" y="1234464"/>
            <a:ext cx="6764234" cy="4115411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0363200" y="3733800"/>
            <a:ext cx="1676335" cy="1291338"/>
          </a:xfrm>
        </p:spPr>
        <p:txBody>
          <a:bodyPr lIns="73152" anchor="b" anchorCtr="0">
            <a:noAutofit/>
          </a:bodyPr>
          <a:lstStyle>
            <a:lvl1pPr marL="111125" marR="0" indent="-11112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341317" indent="0">
              <a:buNone/>
              <a:defRPr/>
            </a:lvl2pPr>
            <a:lvl3pPr marL="1018834" indent="0">
              <a:buNone/>
              <a:defRPr/>
            </a:lvl3pPr>
            <a:lvl4pPr marL="1528250" indent="0">
              <a:buNone/>
              <a:defRPr/>
            </a:lvl4pPr>
            <a:lvl5pPr marL="2037667" indent="0">
              <a:buNone/>
              <a:defRPr/>
            </a:lvl5pPr>
          </a:lstStyle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Note:</a:t>
            </a:r>
          </a:p>
        </p:txBody>
      </p:sp>
    </p:spTree>
    <p:extLst>
      <p:ext uri="{BB962C8B-B14F-4D97-AF65-F5344CB8AC3E}">
        <p14:creationId xmlns:p14="http://schemas.microsoft.com/office/powerpoint/2010/main" val="2588589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2">
          <p15:clr>
            <a:srgbClr val="FBAE40"/>
          </p15:clr>
        </p15:guide>
        <p15:guide id="2" orient="horz" pos="337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1675" y="0"/>
            <a:ext cx="10652125" cy="960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675" y="1508125"/>
            <a:ext cx="10788650" cy="4668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026" y="6504466"/>
            <a:ext cx="59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CE3A314-87DB-4872-AD32-2EBA0046D649}" type="slidenum">
              <a:rPr lang="en-US" sz="1400" smtClean="0">
                <a:latin typeface="+mj-lt"/>
              </a:rPr>
              <a:t>‹#›</a:t>
            </a:fld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3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92" r:id="rId3"/>
    <p:sldLayoutId id="2147483693" r:id="rId4"/>
    <p:sldLayoutId id="214748369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48" userDrawn="1">
          <p15:clr>
            <a:srgbClr val="F26B43"/>
          </p15:clr>
        </p15:guide>
        <p15:guide id="2" orient="horz" pos="100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4.xml"/><Relationship Id="rId3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tags" Target="../tags/tag4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7.xml"/><Relationship Id="rId3" Type="http://schemas.openxmlformats.org/officeDocument/2006/relationships/tags" Target="../tags/tag5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tags" Target="../tags/tag6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-fill"/>
          <p:cNvSpPr/>
          <p:nvPr/>
        </p:nvSpPr>
        <p:spPr>
          <a:xfrm>
            <a:off x="61026" y="0"/>
            <a:ext cx="12130974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igid"/>
          <p:cNvSpPr/>
          <p:nvPr/>
        </p:nvSpPr>
        <p:spPr>
          <a:xfrm>
            <a:off x="97602" y="36576"/>
            <a:ext cx="692745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1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Segoe UI"/>
              </a:rPr>
              <a:t>RSFP.1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64667" y="36576"/>
            <a:ext cx="10853013" cy="886968"/>
          </a:xfrm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3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FFFFF"/>
                </a:solidFill>
                <a:latin typeface="Segoe UI Semibold"/>
              </a:rPr>
              <a:t>Acres Treated by Method: Statewide; FY2022-FY2026</a:t>
            </a:r>
          </a:p>
        </p:txBody>
      </p:sp>
      <p:sp>
        <p:nvSpPr>
          <p:cNvPr id="5" name="c1-head"/>
          <p:cNvSpPr/>
          <p:nvPr/>
        </p:nvSpPr>
        <p:spPr>
          <a:xfrm>
            <a:off x="335346" y="1234440"/>
            <a:ext cx="8594091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Acres treated by method, FY2022 to FY2026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Thousand acres; the total is in the table</a:t>
            </a:r>
          </a:p>
        </p:txBody>
      </p:sp>
      <p:graphicFrame>
        <p:nvGraphicFramePr>
          <p:cNvPr id="6" name="c1"/>
          <p:cNvGraphicFramePr>
            <a:graphicFrameLocks noGrp="1"/>
          </p:cNvGraphicFramePr>
          <p:nvPr/>
        </p:nvGraphicFramePr>
        <p:xfrm>
          <a:off x="335346" y="1597152"/>
          <a:ext cx="8594091" cy="32158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key1"/>
          <p:cNvSpPr/>
          <p:nvPr/>
        </p:nvSpPr>
        <p:spPr>
          <a:xfrm>
            <a:off x="9203757" y="2018971"/>
            <a:ext cx="2713923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Method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7E2553"/>
                </a:solidFill>
                <a:latin typeface="Arial Narrow"/>
              </a:rPr>
              <a:t>◆</a:t>
            </a:r>
            <a:r>
              <a:rPr sz="1100" b="0" i="0">
                <a:solidFill>
                  <a:srgbClr val="000000"/>
                </a:solidFill>
                <a:latin typeface="Arial Narrow"/>
              </a:rPr>
              <a:t>  Prescribed fire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FA04F"/>
                </a:solidFill>
                <a:latin typeface="Arial Narrow"/>
              </a:rPr>
              <a:t>■</a:t>
            </a:r>
            <a:r>
              <a:rPr sz="1100" b="0" i="0">
                <a:solidFill>
                  <a:srgbClr val="000000"/>
                </a:solidFill>
                <a:latin typeface="Arial Narrow"/>
              </a:rPr>
              <a:t>  Mechanical thinning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97ABB"/>
                </a:solidFill>
                <a:latin typeface="Arial Narrow"/>
              </a:rPr>
              <a:t>●</a:t>
            </a:r>
            <a:r>
              <a:rPr sz="1100" b="0" i="0">
                <a:solidFill>
                  <a:srgbClr val="000000"/>
                </a:solidFill>
                <a:latin typeface="Arial Narrow"/>
              </a:rPr>
              <a:t>  Mastication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F5F5F"/>
                </a:solidFill>
                <a:latin typeface="Arial Narrow"/>
              </a:rPr>
              <a:t>×</a:t>
            </a:r>
            <a:r>
              <a:rPr sz="1100" b="0" i="0">
                <a:solidFill>
                  <a:srgbClr val="000000"/>
                </a:solidFill>
                <a:latin typeface="Arial Narrow"/>
              </a:rPr>
              <a:t>  Hand thinning</a:t>
            </a:r>
          </a:p>
        </p:txBody>
      </p:sp>
      <p:sp>
        <p:nvSpPr>
          <p:cNvPr id="8" name="side1"/>
          <p:cNvSpPr/>
          <p:nvPr/>
        </p:nvSpPr>
        <p:spPr>
          <a:xfrm>
            <a:off x="9203757" y="3112277"/>
            <a:ext cx="2713923" cy="1700703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Key finding: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prescribed fire grew 2.5 times, from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9.4 to 23.5 thousand acres, and passed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mechanical thinning in FY2025. It is 40% of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FY2026 acres.</a:t>
            </a:r>
          </a:p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Note: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Fiscal years run July to June. Hand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thinning includes pile burning. An acre treated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twice in one year counts twice.</a:t>
            </a:r>
          </a:p>
        </p:txBody>
      </p:sp>
      <p:graphicFrame>
        <p:nvGraphicFramePr>
          <p:cNvPr id="9" name="t1"/>
          <p:cNvGraphicFramePr>
            <a:graphicFrameLocks noGrp="1"/>
          </p:cNvGraphicFramePr>
          <p:nvPr/>
        </p:nvGraphicFramePr>
        <p:xfrm>
          <a:off x="335346" y="4867844"/>
          <a:ext cx="11582334" cy="130733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548113"/>
                <a:gridCol w="984498"/>
                <a:gridCol w="984498"/>
                <a:gridCol w="984498"/>
                <a:gridCol w="984498"/>
                <a:gridCol w="984498"/>
                <a:gridCol w="1042410"/>
                <a:gridCol w="521205"/>
                <a:gridCol w="2548116"/>
              </a:tblGrid>
              <a:tr h="23291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Method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FY2022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FY2023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FY2024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FY2025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FY2026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Change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Rank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All methods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35.7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41.9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48.2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53.7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59.0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+65%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Prescribed fire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9.4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12.6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16.1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19.8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23.5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+150%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Rose to 1st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Mechanical thinning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14.1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15.8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17.2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18.0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18.9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+34%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Fell to 2nd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Mastication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8.2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8.9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9.6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10.1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10.4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+27%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Held 3rd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Hand thinning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4.6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5.3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5.8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6.2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+55%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Held 4th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legal"/>
          <p:cNvSpPr/>
          <p:nvPr/>
        </p:nvSpPr>
        <p:spPr>
          <a:xfrm>
            <a:off x="902274" y="6659814"/>
            <a:ext cx="941520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00000"/>
                </a:solidFill>
                <a:latin typeface="Segoe UI"/>
              </a:rPr>
              <a:t>Illustrative figures. Built in the style of a public US federal presentation; not affiliated with or endorsed by any agency.</a:t>
            </a:r>
          </a:p>
        </p:txBody>
      </p:sp>
      <p:sp>
        <p:nvSpPr>
          <p:cNvPr id="11" name="cross-box"/>
          <p:cNvSpPr/>
          <p:nvPr/>
        </p:nvSpPr>
        <p:spPr>
          <a:xfrm>
            <a:off x="6341181" y="2200279"/>
            <a:ext cx="174752" cy="174752"/>
          </a:xfrm>
          <a:prstGeom prst="ellipse">
            <a:avLst/>
          </a:prstGeom>
          <a:noFill/>
          <a:ln w="1587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ross-label"/>
          <p:cNvSpPr/>
          <p:nvPr/>
        </p:nvSpPr>
        <p:spPr>
          <a:xfrm>
            <a:off x="4764056" y="1857061"/>
            <a:ext cx="1569187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Prescribed fire passes</a:t>
            </a:r>
            <a:br/>
            <a:r>
              <a:rPr sz="1100" b="1" i="0">
                <a:solidFill>
                  <a:srgbClr val="000000"/>
                </a:solidFill>
                <a:latin typeface="Arial Narrow"/>
              </a:rPr>
              <a:t>mechanical thinning</a:t>
            </a:r>
          </a:p>
        </p:txBody>
      </p:sp>
      <p:sp>
        <p:nvSpPr>
          <p:cNvPr id="13" name="tr0-badge"/>
          <p:cNvSpPr/>
          <p:nvPr/>
        </p:nvSpPr>
        <p:spPr>
          <a:xfrm>
            <a:off x="9176551" y="5326582"/>
            <a:ext cx="193013" cy="193013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r0-label"/>
          <p:cNvSpPr/>
          <p:nvPr/>
        </p:nvSpPr>
        <p:spPr>
          <a:xfrm>
            <a:off x="9205162" y="5354508"/>
            <a:ext cx="135792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Segoe UI"/>
              </a:rPr>
              <a:t>↑</a:t>
            </a:r>
          </a:p>
        </p:txBody>
      </p:sp>
      <p:sp>
        <p:nvSpPr>
          <p:cNvPr id="15" name="tr1-badge"/>
          <p:cNvSpPr/>
          <p:nvPr/>
        </p:nvSpPr>
        <p:spPr>
          <a:xfrm>
            <a:off x="9176551" y="5541466"/>
            <a:ext cx="193013" cy="193013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r1-label"/>
          <p:cNvSpPr/>
          <p:nvPr/>
        </p:nvSpPr>
        <p:spPr>
          <a:xfrm>
            <a:off x="9205162" y="5569392"/>
            <a:ext cx="135792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Segoe UI"/>
              </a:rPr>
              <a:t>↓</a:t>
            </a:r>
          </a:p>
        </p:txBody>
      </p:sp>
      <p:sp>
        <p:nvSpPr>
          <p:cNvPr id="17" name="tr2-badge"/>
          <p:cNvSpPr/>
          <p:nvPr/>
        </p:nvSpPr>
        <p:spPr>
          <a:xfrm>
            <a:off x="9166657" y="5751402"/>
            <a:ext cx="202907" cy="202907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r2-label"/>
          <p:cNvSpPr/>
          <p:nvPr/>
        </p:nvSpPr>
        <p:spPr>
          <a:xfrm>
            <a:off x="9193349" y="5784276"/>
            <a:ext cx="149522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19" name="tr3-badge"/>
          <p:cNvSpPr/>
          <p:nvPr/>
        </p:nvSpPr>
        <p:spPr>
          <a:xfrm>
            <a:off x="9166657" y="5966286"/>
            <a:ext cx="202907" cy="202907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r3-label"/>
          <p:cNvSpPr/>
          <p:nvPr/>
        </p:nvSpPr>
        <p:spPr>
          <a:xfrm>
            <a:off x="9193349" y="5999160"/>
            <a:ext cx="149522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-fill"/>
          <p:cNvSpPr/>
          <p:nvPr/>
        </p:nvSpPr>
        <p:spPr>
          <a:xfrm>
            <a:off x="61026" y="0"/>
            <a:ext cx="12130974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igid"/>
          <p:cNvSpPr/>
          <p:nvPr/>
        </p:nvSpPr>
        <p:spPr>
          <a:xfrm>
            <a:off x="97602" y="36576"/>
            <a:ext cx="692745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1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Segoe UI"/>
              </a:rPr>
              <a:t>RSFP.2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64667" y="36576"/>
            <a:ext cx="10853013" cy="886968"/>
          </a:xfrm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3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FFFFF"/>
                </a:solidFill>
                <a:latin typeface="Segoe UI Semibold"/>
              </a:rPr>
              <a:t>Hazard and Planned Acres by County; FY2027-FY2029</a:t>
            </a:r>
          </a:p>
        </p:txBody>
      </p:sp>
      <p:sp>
        <p:nvSpPr>
          <p:cNvPr id="5" name="c2-head"/>
          <p:cNvSpPr/>
          <p:nvPr/>
        </p:nvSpPr>
        <p:spPr>
          <a:xfrm>
            <a:off x="335346" y="1234440"/>
            <a:ext cx="5314767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Share of county land in wildfire hazard, by hazard class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Percent of county land; counties ranked by the two classes together</a:t>
            </a:r>
          </a:p>
        </p:txBody>
      </p:sp>
      <p:sp>
        <p:nvSpPr>
          <p:cNvPr id="6" name="key2-title"/>
          <p:cNvSpPr/>
          <p:nvPr/>
        </p:nvSpPr>
        <p:spPr>
          <a:xfrm>
            <a:off x="335346" y="1597152"/>
            <a:ext cx="1228296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Hazard class</a:t>
            </a:r>
          </a:p>
        </p:txBody>
      </p:sp>
      <p:sp>
        <p:nvSpPr>
          <p:cNvPr id="7" name="key2-sw0-fill"/>
          <p:cNvSpPr/>
          <p:nvPr/>
        </p:nvSpPr>
        <p:spPr>
          <a:xfrm>
            <a:off x="1600218" y="1621536"/>
            <a:ext cx="118872" cy="118872"/>
          </a:xfrm>
          <a:prstGeom prst="rect">
            <a:avLst/>
          </a:prstGeom>
          <a:solidFill>
            <a:srgbClr val="CD38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key2-t0"/>
          <p:cNvSpPr/>
          <p:nvPr/>
        </p:nvSpPr>
        <p:spPr>
          <a:xfrm>
            <a:off x="1755666" y="1597152"/>
            <a:ext cx="928364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Very high</a:t>
            </a:r>
          </a:p>
        </p:txBody>
      </p:sp>
      <p:sp>
        <p:nvSpPr>
          <p:cNvPr id="9" name="key2-sw1-fill"/>
          <p:cNvSpPr/>
          <p:nvPr/>
        </p:nvSpPr>
        <p:spPr>
          <a:xfrm>
            <a:off x="2720606" y="1621536"/>
            <a:ext cx="118872" cy="118872"/>
          </a:xfrm>
          <a:prstGeom prst="rect">
            <a:avLst/>
          </a:prstGeom>
          <a:solidFill>
            <a:srgbClr val="FDE8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ey2-t1"/>
          <p:cNvSpPr/>
          <p:nvPr/>
        </p:nvSpPr>
        <p:spPr>
          <a:xfrm>
            <a:off x="2876054" y="1597152"/>
            <a:ext cx="476084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High</a:t>
            </a:r>
          </a:p>
        </p:txBody>
      </p:sp>
      <p:graphicFrame>
        <p:nvGraphicFramePr>
          <p:cNvPr id="11" name="c2"/>
          <p:cNvGraphicFramePr>
            <a:graphicFrameLocks noGrp="1"/>
          </p:cNvGraphicFramePr>
          <p:nvPr/>
        </p:nvGraphicFramePr>
        <p:xfrm>
          <a:off x="335346" y="1792224"/>
          <a:ext cx="5314767" cy="43829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2-head"/>
          <p:cNvSpPr/>
          <p:nvPr/>
        </p:nvSpPr>
        <p:spPr>
          <a:xfrm>
            <a:off x="5924433" y="1234440"/>
            <a:ext cx="5993247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Homes in the wildland-urban interface (WUI) and acres planned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Thousands, FY2027-FY2029; shares of the ten-county total</a:t>
            </a:r>
          </a:p>
        </p:txBody>
      </p:sp>
      <p:graphicFrame>
        <p:nvGraphicFramePr>
          <p:cNvPr id="13" name="t2"/>
          <p:cNvGraphicFramePr>
            <a:graphicFrameLocks noGrp="1"/>
          </p:cNvGraphicFramePr>
          <p:nvPr/>
        </p:nvGraphicFramePr>
        <p:xfrm>
          <a:off x="5924433" y="1606296"/>
          <a:ext cx="5993247" cy="259664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58244"/>
                <a:gridCol w="1138717"/>
                <a:gridCol w="1078784"/>
                <a:gridCol w="1198649"/>
                <a:gridCol w="1018853"/>
              </a:tblGrid>
              <a:tr h="23291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County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WUI Homes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Home Share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Planned Acres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Acre Share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Elk Ridge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18.4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12%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32.0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20%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Cedar Fork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22.1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15%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29.5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18%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Granite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9.8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21.0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13%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Juniper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6.2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4%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16.5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10%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Hollow Creek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14.7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10%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17.5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11%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Falcon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11.3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7%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13.0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8%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Dunmore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25.6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17%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12.5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8%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Alder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8.9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8.0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5%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Basin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30.2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20%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6.0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4%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Ironwood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4.1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3%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All counties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151.3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100%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160.0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100%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key2b-sw0-fill"/>
          <p:cNvSpPr/>
          <p:nvPr/>
        </p:nvSpPr>
        <p:spPr>
          <a:xfrm>
            <a:off x="5924433" y="4263898"/>
            <a:ext cx="118872" cy="118872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key2b-t0"/>
          <p:cNvSpPr/>
          <p:nvPr/>
        </p:nvSpPr>
        <p:spPr>
          <a:xfrm>
            <a:off x="6079881" y="4239514"/>
            <a:ext cx="3504665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Share of WUI homes</a:t>
            </a:r>
          </a:p>
        </p:txBody>
      </p:sp>
      <p:sp>
        <p:nvSpPr>
          <p:cNvPr id="16" name="key2b-sw1-fill"/>
          <p:cNvSpPr/>
          <p:nvPr/>
        </p:nvSpPr>
        <p:spPr>
          <a:xfrm>
            <a:off x="5924433" y="4439158"/>
            <a:ext cx="118872" cy="118872"/>
          </a:xfrm>
          <a:prstGeom prst="rect">
            <a:avLst/>
          </a:prstGeom>
          <a:solidFill>
            <a:srgbClr val="1968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key2b-t1"/>
          <p:cNvSpPr/>
          <p:nvPr/>
        </p:nvSpPr>
        <p:spPr>
          <a:xfrm>
            <a:off x="6079881" y="4414774"/>
            <a:ext cx="3504665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Share of planned acres</a:t>
            </a:r>
          </a:p>
        </p:txBody>
      </p:sp>
      <p:graphicFrame>
        <p:nvGraphicFramePr>
          <p:cNvPr id="18" name="c2b"/>
          <p:cNvGraphicFramePr>
            <a:graphicFrameLocks noGrp="1"/>
          </p:cNvGraphicFramePr>
          <p:nvPr/>
        </p:nvGraphicFramePr>
        <p:xfrm>
          <a:off x="5924433" y="4609846"/>
          <a:ext cx="3660113" cy="156533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ide2"/>
          <p:cNvSpPr/>
          <p:nvPr/>
        </p:nvSpPr>
        <p:spPr>
          <a:xfrm>
            <a:off x="9858866" y="4239514"/>
            <a:ext cx="2058814" cy="19356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Key finding: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Basin and Dunmore hold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37% of the homes in the WUI but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receive 12% of planned acres; near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homes the plan thins by hand, at 4.8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times the cost per acre of prescribed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fire.</a:t>
            </a:r>
          </a:p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Note: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Hazard classes are from the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program's 2026 fuels model. Bold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rows: the two counties with the most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WUI homes.</a:t>
            </a:r>
          </a:p>
        </p:txBody>
      </p:sp>
      <p:sp>
        <p:nvSpPr>
          <p:cNvPr id="20" name="legal"/>
          <p:cNvSpPr/>
          <p:nvPr/>
        </p:nvSpPr>
        <p:spPr>
          <a:xfrm>
            <a:off x="902274" y="6659814"/>
            <a:ext cx="941520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00000"/>
                </a:solidFill>
                <a:latin typeface="Segoe UI"/>
              </a:rPr>
              <a:t>Illustrative figures. Built in the style of a public US federal presentation; not affiliated with or endorsed by any agency.</a:t>
            </a:r>
          </a:p>
        </p:txBody>
      </p:sp>
      <p:sp>
        <p:nvSpPr>
          <p:cNvPr id="21" name="tot2-0-text"/>
          <p:cNvSpPr/>
          <p:nvPr/>
        </p:nvSpPr>
        <p:spPr>
          <a:xfrm>
            <a:off x="4947056" y="2175189"/>
            <a:ext cx="362569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58%</a:t>
            </a:r>
          </a:p>
        </p:txBody>
      </p:sp>
      <p:sp>
        <p:nvSpPr>
          <p:cNvPr id="22" name="tot2-1-text"/>
          <p:cNvSpPr/>
          <p:nvPr/>
        </p:nvSpPr>
        <p:spPr>
          <a:xfrm>
            <a:off x="4943509" y="2582804"/>
            <a:ext cx="366116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54%</a:t>
            </a:r>
          </a:p>
        </p:txBody>
      </p:sp>
      <p:sp>
        <p:nvSpPr>
          <p:cNvPr id="23" name="tot2-2-text"/>
          <p:cNvSpPr/>
          <p:nvPr/>
        </p:nvSpPr>
        <p:spPr>
          <a:xfrm>
            <a:off x="4951558" y="2990419"/>
            <a:ext cx="35806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47%</a:t>
            </a:r>
          </a:p>
        </p:txBody>
      </p:sp>
      <p:sp>
        <p:nvSpPr>
          <p:cNvPr id="24" name="tot2-3-text"/>
          <p:cNvSpPr/>
          <p:nvPr/>
        </p:nvSpPr>
        <p:spPr>
          <a:xfrm>
            <a:off x="4942622" y="3398034"/>
            <a:ext cx="367003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43%</a:t>
            </a:r>
          </a:p>
        </p:txBody>
      </p:sp>
      <p:sp>
        <p:nvSpPr>
          <p:cNvPr id="25" name="tot2-4-text"/>
          <p:cNvSpPr/>
          <p:nvPr/>
        </p:nvSpPr>
        <p:spPr>
          <a:xfrm>
            <a:off x="4946169" y="3805649"/>
            <a:ext cx="363456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38%</a:t>
            </a:r>
          </a:p>
        </p:txBody>
      </p:sp>
      <p:sp>
        <p:nvSpPr>
          <p:cNvPr id="26" name="tot2-5-text"/>
          <p:cNvSpPr/>
          <p:nvPr/>
        </p:nvSpPr>
        <p:spPr>
          <a:xfrm>
            <a:off x="4946919" y="4213264"/>
            <a:ext cx="362706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33%</a:t>
            </a:r>
          </a:p>
        </p:txBody>
      </p:sp>
      <p:sp>
        <p:nvSpPr>
          <p:cNvPr id="27" name="tot2-6-text"/>
          <p:cNvSpPr/>
          <p:nvPr/>
        </p:nvSpPr>
        <p:spPr>
          <a:xfrm>
            <a:off x="4948352" y="4620880"/>
            <a:ext cx="361273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28%</a:t>
            </a:r>
          </a:p>
        </p:txBody>
      </p:sp>
      <p:sp>
        <p:nvSpPr>
          <p:cNvPr id="28" name="tot2-7-text"/>
          <p:cNvSpPr/>
          <p:nvPr/>
        </p:nvSpPr>
        <p:spPr>
          <a:xfrm>
            <a:off x="4949102" y="5028495"/>
            <a:ext cx="360523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23%</a:t>
            </a:r>
          </a:p>
        </p:txBody>
      </p:sp>
      <p:sp>
        <p:nvSpPr>
          <p:cNvPr id="29" name="tot2-8-text"/>
          <p:cNvSpPr/>
          <p:nvPr/>
        </p:nvSpPr>
        <p:spPr>
          <a:xfrm>
            <a:off x="4976319" y="5436110"/>
            <a:ext cx="333306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16%</a:t>
            </a:r>
          </a:p>
        </p:txBody>
      </p:sp>
      <p:sp>
        <p:nvSpPr>
          <p:cNvPr id="30" name="tot2-9-text"/>
          <p:cNvSpPr/>
          <p:nvPr/>
        </p:nvSpPr>
        <p:spPr>
          <a:xfrm>
            <a:off x="4979048" y="5843725"/>
            <a:ext cx="33057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12%</a:t>
            </a:r>
          </a:p>
        </p:txBody>
      </p:sp>
      <p:sp>
        <p:nvSpPr>
          <p:cNvPr id="31" name="tot2-label"/>
          <p:cNvSpPr/>
          <p:nvPr/>
        </p:nvSpPr>
        <p:spPr>
          <a:xfrm>
            <a:off x="4947601" y="1887561"/>
            <a:ext cx="357044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Both</a:t>
            </a: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-fill"/>
          <p:cNvSpPr/>
          <p:nvPr/>
        </p:nvSpPr>
        <p:spPr>
          <a:xfrm>
            <a:off x="61026" y="0"/>
            <a:ext cx="12130974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igid"/>
          <p:cNvSpPr/>
          <p:nvPr/>
        </p:nvSpPr>
        <p:spPr>
          <a:xfrm>
            <a:off x="97602" y="36576"/>
            <a:ext cx="692745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1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Segoe UI"/>
              </a:rPr>
              <a:t>RSFP.3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64667" y="36576"/>
            <a:ext cx="10853013" cy="886968"/>
          </a:xfrm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3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FFFFF"/>
                </a:solidFill>
                <a:latin typeface="Segoe UI Semibold"/>
              </a:rPr>
              <a:t>Cost per Acre by Treatment Method: Statewide; FY2026</a:t>
            </a:r>
          </a:p>
        </p:txBody>
      </p:sp>
      <p:sp>
        <p:nvSpPr>
          <p:cNvPr id="5" name="c3-head"/>
          <p:cNvSpPr/>
          <p:nvPr/>
        </p:nvSpPr>
        <p:spPr>
          <a:xfrm>
            <a:off x="335346" y="1234440"/>
            <a:ext cx="8933331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Cost per acre treated, by method and by cost component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FY2026 dollars per acre; bar colours as the methods on page 1</a:t>
            </a:r>
          </a:p>
        </p:txBody>
      </p:sp>
      <p:graphicFrame>
        <p:nvGraphicFramePr>
          <p:cNvPr id="6" name="c3"/>
          <p:cNvGraphicFramePr>
            <a:graphicFrameLocks noGrp="1"/>
          </p:cNvGraphicFramePr>
          <p:nvPr/>
        </p:nvGraphicFramePr>
        <p:xfrm>
          <a:off x="335346" y="1597152"/>
          <a:ext cx="8933331" cy="28531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ide3-f"/>
          <p:cNvSpPr/>
          <p:nvPr/>
        </p:nvSpPr>
        <p:spPr>
          <a:xfrm>
            <a:off x="9542997" y="1234440"/>
            <a:ext cx="2374683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Key finding: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prescribed fire is 40% of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planned acres but 11% of cost; mechanical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thinning is 28% of acres and 55% of cost,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at 7.3 times the cost per acre, most of it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equipment.</a:t>
            </a:r>
          </a:p>
        </p:txBody>
      </p:sp>
      <p:sp>
        <p:nvSpPr>
          <p:cNvPr id="8" name="side3-n"/>
          <p:cNvSpPr/>
          <p:nvPr/>
        </p:nvSpPr>
        <p:spPr>
          <a:xfrm>
            <a:off x="9542997" y="3764468"/>
            <a:ext cx="2374683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Note: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Plan cost is planned acres FY2027-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FY2029 times FY2026 cost per acre. Bold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component: the largest part of the two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dearest methods. Hand thinning includes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pile burning.</a:t>
            </a:r>
          </a:p>
        </p:txBody>
      </p:sp>
      <p:sp>
        <p:nvSpPr>
          <p:cNvPr id="9" name="t3-head"/>
          <p:cNvSpPr/>
          <p:nvPr/>
        </p:nvSpPr>
        <p:spPr>
          <a:xfrm>
            <a:off x="335346" y="4505132"/>
            <a:ext cx="11582334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The plan's cost by method, FY2027-FY2029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Thousand acres; dollars per acre; $ million; percent of the plan</a:t>
            </a:r>
          </a:p>
        </p:txBody>
      </p:sp>
      <p:graphicFrame>
        <p:nvGraphicFramePr>
          <p:cNvPr id="10" name="t3"/>
          <p:cNvGraphicFramePr>
            <a:graphicFrameLocks noGrp="1"/>
          </p:cNvGraphicFramePr>
          <p:nvPr/>
        </p:nvGraphicFramePr>
        <p:xfrm>
          <a:off x="335346" y="4867844"/>
          <a:ext cx="11582334" cy="130733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779760"/>
                <a:gridCol w="1737350"/>
                <a:gridCol w="1737350"/>
                <a:gridCol w="1737350"/>
                <a:gridCol w="1795262"/>
                <a:gridCol w="1795262"/>
              </a:tblGrid>
              <a:tr h="23291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Method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Planned Acres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Unit Cost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Plan Cost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Acre Share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Cost Share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Mechanical thinning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44.0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1,610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70.8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28%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55%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Hand thinning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1,050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25.2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15%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19%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Mastication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28.0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700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19.6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18%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15%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Prescribed fire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220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14.1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40%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11%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All methods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160.0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811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129.7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100%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100%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legal"/>
          <p:cNvSpPr/>
          <p:nvPr/>
        </p:nvSpPr>
        <p:spPr>
          <a:xfrm>
            <a:off x="902274" y="6659814"/>
            <a:ext cx="941520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00000"/>
                </a:solidFill>
                <a:latin typeface="Segoe UI"/>
              </a:rPr>
              <a:t>Illustrative figures. Built in the style of a public US federal presentation; not affiliated with or endorsed by any agency.</a:t>
            </a:r>
          </a:p>
        </p:txBody>
      </p:sp>
      <p:sp>
        <p:nvSpPr>
          <p:cNvPr id="12" name="comp0-0-text"/>
          <p:cNvSpPr/>
          <p:nvPr/>
        </p:nvSpPr>
        <p:spPr>
          <a:xfrm>
            <a:off x="5834381" y="2144584"/>
            <a:ext cx="361683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$610</a:t>
            </a:r>
          </a:p>
        </p:txBody>
      </p:sp>
      <p:sp>
        <p:nvSpPr>
          <p:cNvPr id="13" name="comp0-1-text"/>
          <p:cNvSpPr/>
          <p:nvPr/>
        </p:nvSpPr>
        <p:spPr>
          <a:xfrm>
            <a:off x="5790998" y="2779402"/>
            <a:ext cx="405066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$820</a:t>
            </a:r>
          </a:p>
        </p:txBody>
      </p:sp>
      <p:sp>
        <p:nvSpPr>
          <p:cNvPr id="14" name="comp0-2-text"/>
          <p:cNvSpPr/>
          <p:nvPr/>
        </p:nvSpPr>
        <p:spPr>
          <a:xfrm>
            <a:off x="5834586" y="3414221"/>
            <a:ext cx="361478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$180</a:t>
            </a:r>
          </a:p>
        </p:txBody>
      </p:sp>
      <p:sp>
        <p:nvSpPr>
          <p:cNvPr id="15" name="comp0-3-text"/>
          <p:cNvSpPr/>
          <p:nvPr/>
        </p:nvSpPr>
        <p:spPr>
          <a:xfrm>
            <a:off x="5894409" y="4049039"/>
            <a:ext cx="301655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$95</a:t>
            </a:r>
          </a:p>
        </p:txBody>
      </p:sp>
      <p:sp>
        <p:nvSpPr>
          <p:cNvPr id="16" name="comp0-label"/>
          <p:cNvSpPr/>
          <p:nvPr/>
        </p:nvSpPr>
        <p:spPr>
          <a:xfrm>
            <a:off x="5777935" y="1743355"/>
            <a:ext cx="43119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Labor</a:t>
            </a:r>
          </a:p>
        </p:txBody>
      </p:sp>
      <p:sp>
        <p:nvSpPr>
          <p:cNvPr id="17" name="comp1-0-text"/>
          <p:cNvSpPr/>
          <p:nvPr/>
        </p:nvSpPr>
        <p:spPr>
          <a:xfrm>
            <a:off x="6698984" y="2144584"/>
            <a:ext cx="395925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$760</a:t>
            </a:r>
          </a:p>
        </p:txBody>
      </p:sp>
      <p:sp>
        <p:nvSpPr>
          <p:cNvPr id="18" name="comp1-1-text"/>
          <p:cNvSpPr/>
          <p:nvPr/>
        </p:nvSpPr>
        <p:spPr>
          <a:xfrm>
            <a:off x="6790048" y="2779402"/>
            <a:ext cx="30486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$90</a:t>
            </a:r>
          </a:p>
        </p:txBody>
      </p:sp>
      <p:sp>
        <p:nvSpPr>
          <p:cNvPr id="19" name="comp1-2-text"/>
          <p:cNvSpPr/>
          <p:nvPr/>
        </p:nvSpPr>
        <p:spPr>
          <a:xfrm>
            <a:off x="6703759" y="3414221"/>
            <a:ext cx="39115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$390</a:t>
            </a:r>
          </a:p>
        </p:txBody>
      </p:sp>
      <p:sp>
        <p:nvSpPr>
          <p:cNvPr id="20" name="comp1-3-text"/>
          <p:cNvSpPr/>
          <p:nvPr/>
        </p:nvSpPr>
        <p:spPr>
          <a:xfrm>
            <a:off x="6786433" y="4049039"/>
            <a:ext cx="308476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$40</a:t>
            </a:r>
          </a:p>
        </p:txBody>
      </p:sp>
      <p:sp>
        <p:nvSpPr>
          <p:cNvPr id="21" name="comp1-label"/>
          <p:cNvSpPr/>
          <p:nvPr/>
        </p:nvSpPr>
        <p:spPr>
          <a:xfrm>
            <a:off x="6509386" y="1743355"/>
            <a:ext cx="77512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Equipment</a:t>
            </a:r>
          </a:p>
        </p:txBody>
      </p:sp>
      <p:sp>
        <p:nvSpPr>
          <p:cNvPr id="22" name="comp2-0-text"/>
          <p:cNvSpPr/>
          <p:nvPr/>
        </p:nvSpPr>
        <p:spPr>
          <a:xfrm>
            <a:off x="7597829" y="2144584"/>
            <a:ext cx="35997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$150</a:t>
            </a:r>
          </a:p>
        </p:txBody>
      </p:sp>
      <p:sp>
        <p:nvSpPr>
          <p:cNvPr id="23" name="comp2-1-text"/>
          <p:cNvSpPr/>
          <p:nvPr/>
        </p:nvSpPr>
        <p:spPr>
          <a:xfrm>
            <a:off x="7652945" y="2779402"/>
            <a:ext cx="30486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$60</a:t>
            </a:r>
          </a:p>
        </p:txBody>
      </p:sp>
      <p:sp>
        <p:nvSpPr>
          <p:cNvPr id="24" name="comp2-2-text"/>
          <p:cNvSpPr/>
          <p:nvPr/>
        </p:nvSpPr>
        <p:spPr>
          <a:xfrm>
            <a:off x="7662699" y="3414221"/>
            <a:ext cx="29510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$70</a:t>
            </a:r>
          </a:p>
        </p:txBody>
      </p:sp>
      <p:sp>
        <p:nvSpPr>
          <p:cNvPr id="25" name="comp2-3-text"/>
          <p:cNvSpPr/>
          <p:nvPr/>
        </p:nvSpPr>
        <p:spPr>
          <a:xfrm>
            <a:off x="7657583" y="4049039"/>
            <a:ext cx="300223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$25</a:t>
            </a:r>
          </a:p>
        </p:txBody>
      </p:sp>
      <p:sp>
        <p:nvSpPr>
          <p:cNvPr id="26" name="comp2-label"/>
          <p:cNvSpPr/>
          <p:nvPr/>
        </p:nvSpPr>
        <p:spPr>
          <a:xfrm>
            <a:off x="7438961" y="1743355"/>
            <a:ext cx="677713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Materials</a:t>
            </a:r>
          </a:p>
        </p:txBody>
      </p:sp>
      <p:sp>
        <p:nvSpPr>
          <p:cNvPr id="27" name="comp3-0-text"/>
          <p:cNvSpPr/>
          <p:nvPr/>
        </p:nvSpPr>
        <p:spPr>
          <a:xfrm>
            <a:off x="8460726" y="2144584"/>
            <a:ext cx="30486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$90</a:t>
            </a:r>
          </a:p>
        </p:txBody>
      </p:sp>
      <p:sp>
        <p:nvSpPr>
          <p:cNvPr id="28" name="comp3-1-text"/>
          <p:cNvSpPr/>
          <p:nvPr/>
        </p:nvSpPr>
        <p:spPr>
          <a:xfrm>
            <a:off x="8460930" y="2779402"/>
            <a:ext cx="30465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$80</a:t>
            </a:r>
          </a:p>
        </p:txBody>
      </p:sp>
      <p:sp>
        <p:nvSpPr>
          <p:cNvPr id="29" name="comp3-2-text"/>
          <p:cNvSpPr/>
          <p:nvPr/>
        </p:nvSpPr>
        <p:spPr>
          <a:xfrm>
            <a:off x="8460726" y="3414221"/>
            <a:ext cx="30486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$60</a:t>
            </a:r>
          </a:p>
        </p:txBody>
      </p:sp>
      <p:sp>
        <p:nvSpPr>
          <p:cNvPr id="30" name="comp3-3-text"/>
          <p:cNvSpPr/>
          <p:nvPr/>
        </p:nvSpPr>
        <p:spPr>
          <a:xfrm>
            <a:off x="8460726" y="4049039"/>
            <a:ext cx="30486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$60</a:t>
            </a:r>
          </a:p>
        </p:txBody>
      </p:sp>
      <p:sp>
        <p:nvSpPr>
          <p:cNvPr id="31" name="comp3-label"/>
          <p:cNvSpPr/>
          <p:nvPr/>
        </p:nvSpPr>
        <p:spPr>
          <a:xfrm>
            <a:off x="8294661" y="1743355"/>
            <a:ext cx="63699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Planning</a:t>
            </a: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-fill"/>
          <p:cNvSpPr/>
          <p:nvPr/>
        </p:nvSpPr>
        <p:spPr>
          <a:xfrm>
            <a:off x="61026" y="0"/>
            <a:ext cx="12130974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igid"/>
          <p:cNvSpPr/>
          <p:nvPr/>
        </p:nvSpPr>
        <p:spPr>
          <a:xfrm>
            <a:off x="97602" y="36576"/>
            <a:ext cx="692745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1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Segoe UI"/>
              </a:rPr>
              <a:t>RSFP.4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64667" y="36576"/>
            <a:ext cx="10853013" cy="886968"/>
          </a:xfrm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3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FFFFF"/>
                </a:solidFill>
                <a:latin typeface="Segoe UI Semibold"/>
              </a:rPr>
              <a:t>Crews and Equipment: Statewide; FY2027-FY2029</a:t>
            </a:r>
          </a:p>
        </p:txBody>
      </p:sp>
      <p:sp>
        <p:nvSpPr>
          <p:cNvPr id="5" name="t4-head"/>
          <p:cNvSpPr/>
          <p:nvPr/>
        </p:nvSpPr>
        <p:spPr>
          <a:xfrm>
            <a:off x="335346" y="1234440"/>
            <a:ext cx="6332488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Crews and heavy equipment in service and needed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Count of crews or machines</a:t>
            </a:r>
          </a:p>
        </p:txBody>
      </p:sp>
      <p:graphicFrame>
        <p:nvGraphicFramePr>
          <p:cNvPr id="6" name="t4"/>
          <p:cNvGraphicFramePr>
            <a:graphicFrameLocks noGrp="1"/>
          </p:cNvGraphicFramePr>
          <p:nvPr/>
        </p:nvGraphicFramePr>
        <p:xfrm>
          <a:off x="335346" y="1597152"/>
          <a:ext cx="6332488" cy="152222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899746"/>
                <a:gridCol w="1361485"/>
                <a:gridCol w="1361485"/>
                <a:gridCol w="759899"/>
                <a:gridCol w="949873"/>
              </a:tblGrid>
              <a:tr h="23291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Resource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In Service FY2026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Peak Need FY2028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Gap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Increase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Hand crews (20 people)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14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22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+57%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Engine crews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30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+4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+15%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Qualified burn bosses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9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16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+7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+78%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Masticators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15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+4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+36%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Feller-bunchers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9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+3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+50%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Skidders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11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+3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+38%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4-head"/>
          <p:cNvSpPr/>
          <p:nvPr/>
        </p:nvSpPr>
        <p:spPr>
          <a:xfrm>
            <a:off x="335346" y="3393694"/>
            <a:ext cx="6332488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Crew-days needed and available, by fiscal year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Crew-days; navy is the plan's need, grey what crews can supply</a:t>
            </a:r>
          </a:p>
        </p:txBody>
      </p:sp>
      <p:graphicFrame>
        <p:nvGraphicFramePr>
          <p:cNvPr id="8" name="c4"/>
          <p:cNvGraphicFramePr>
            <a:graphicFrameLocks noGrp="1"/>
          </p:cNvGraphicFramePr>
          <p:nvPr/>
        </p:nvGraphicFramePr>
        <p:xfrm>
          <a:off x="335346" y="3756406"/>
          <a:ext cx="6332488" cy="24187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4b-head"/>
          <p:cNvSpPr/>
          <p:nvPr/>
        </p:nvSpPr>
        <p:spPr>
          <a:xfrm>
            <a:off x="6942154" y="1234440"/>
            <a:ext cx="4975526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Lead time to add one unit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Months, longest first</a:t>
            </a:r>
          </a:p>
        </p:txBody>
      </p:sp>
      <p:graphicFrame>
        <p:nvGraphicFramePr>
          <p:cNvPr id="10" name="c4b"/>
          <p:cNvGraphicFramePr>
            <a:graphicFrameLocks noGrp="1"/>
          </p:cNvGraphicFramePr>
          <p:nvPr/>
        </p:nvGraphicFramePr>
        <p:xfrm>
          <a:off x="6942154" y="1597152"/>
          <a:ext cx="4975526" cy="383736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ide4"/>
          <p:cNvSpPr/>
          <p:nvPr/>
        </p:nvSpPr>
        <p:spPr>
          <a:xfrm>
            <a:off x="6942154" y="5489382"/>
            <a:ext cx="497552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Key finding: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capacity is 900 crew-days short in FY2027 and 1,500 at the FY2028 peak.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Burn bosses are the tightest constraint: the plan needs 16, up 78% from 9, and each takes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18 months to qualify.</a:t>
            </a:r>
          </a:p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Note: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A crew-day is one crew working one day on treatment; engine crews count only days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not held for fire response.</a:t>
            </a:r>
          </a:p>
        </p:txBody>
      </p:sp>
      <p:sp>
        <p:nvSpPr>
          <p:cNvPr id="12" name="legal"/>
          <p:cNvSpPr/>
          <p:nvPr/>
        </p:nvSpPr>
        <p:spPr>
          <a:xfrm>
            <a:off x="902274" y="6659814"/>
            <a:ext cx="941520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00000"/>
                </a:solidFill>
                <a:latin typeface="Segoe UI"/>
              </a:rPr>
              <a:t>Illustrative figures. Built in the style of a public US federal presentation; not affiliated with or endorsed by any agency.</a:t>
            </a:r>
          </a:p>
        </p:txBody>
      </p:sp>
      <p:sp>
        <p:nvSpPr>
          <p:cNvPr id="13" name="short0-mark"/>
          <p:cNvSpPr/>
          <p:nvPr/>
        </p:nvSpPr>
        <p:spPr>
          <a:xfrm>
            <a:off x="2025545" y="4667801"/>
            <a:ext cx="88655" cy="161090"/>
          </a:xfrm>
          <a:prstGeom prst="rightBracket">
            <a:avLst/>
          </a:prstGeom>
          <a:noFill/>
          <a:ln w="1587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hort0-label"/>
          <p:cNvSpPr/>
          <p:nvPr/>
        </p:nvSpPr>
        <p:spPr>
          <a:xfrm>
            <a:off x="2149569" y="4580706"/>
            <a:ext cx="402133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900</a:t>
            </a:r>
            <a:br/>
            <a:r>
              <a:rPr sz="1100" b="1" i="0">
                <a:solidFill>
                  <a:srgbClr val="000000"/>
                </a:solidFill>
                <a:latin typeface="Arial Narrow"/>
              </a:rPr>
              <a:t>short</a:t>
            </a:r>
          </a:p>
        </p:txBody>
      </p:sp>
      <p:sp>
        <p:nvSpPr>
          <p:cNvPr id="15" name="short1-mark"/>
          <p:cNvSpPr/>
          <p:nvPr/>
        </p:nvSpPr>
        <p:spPr>
          <a:xfrm>
            <a:off x="3925291" y="4291923"/>
            <a:ext cx="88655" cy="268484"/>
          </a:xfrm>
          <a:prstGeom prst="rightBracket">
            <a:avLst/>
          </a:prstGeom>
          <a:noFill/>
          <a:ln w="1587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hort1-label"/>
          <p:cNvSpPr/>
          <p:nvPr/>
        </p:nvSpPr>
        <p:spPr>
          <a:xfrm>
            <a:off x="4049315" y="4258525"/>
            <a:ext cx="424166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1,500</a:t>
            </a:r>
            <a:br/>
            <a:r>
              <a:rPr sz="1100" b="1" i="0">
                <a:solidFill>
                  <a:srgbClr val="000000"/>
                </a:solidFill>
                <a:latin typeface="Arial Narrow"/>
              </a:rPr>
              <a:t>short</a:t>
            </a: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-fill"/>
          <p:cNvSpPr/>
          <p:nvPr/>
        </p:nvSpPr>
        <p:spPr>
          <a:xfrm>
            <a:off x="61026" y="0"/>
            <a:ext cx="12130974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igid"/>
          <p:cNvSpPr/>
          <p:nvPr/>
        </p:nvSpPr>
        <p:spPr>
          <a:xfrm>
            <a:off x="97602" y="36576"/>
            <a:ext cx="692745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1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Segoe UI"/>
              </a:rPr>
              <a:t>RSFP.5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64667" y="36576"/>
            <a:ext cx="10853013" cy="886968"/>
          </a:xfrm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3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FFFFF"/>
                </a:solidFill>
                <a:latin typeface="Segoe UI Semibold"/>
              </a:rPr>
              <a:t>Treatment Schedule by Work Stream: FY2027-FY2029</a:t>
            </a:r>
          </a:p>
        </p:txBody>
      </p:sp>
      <p:sp>
        <p:nvSpPr>
          <p:cNvPr id="5" name="c5-head"/>
          <p:cNvSpPr/>
          <p:nvPr/>
        </p:nvSpPr>
        <p:spPr>
          <a:xfrm>
            <a:off x="335346" y="1234440"/>
            <a:ext cx="11582334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Work schedule by fiscal quarter, FY2027 to FY2029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July 2026 to June 2029; each bar runs from the first to the last quarter of work</a:t>
            </a:r>
          </a:p>
        </p:txBody>
      </p:sp>
      <p:graphicFrame>
        <p:nvGraphicFramePr>
          <p:cNvPr id="6" name="c5"/>
          <p:cNvGraphicFramePr>
            <a:graphicFrameLocks noGrp="1"/>
          </p:cNvGraphicFramePr>
          <p:nvPr/>
        </p:nvGraphicFramePr>
        <p:xfrm>
          <a:off x="335346" y="1624584"/>
          <a:ext cx="11582334" cy="28256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5-head"/>
          <p:cNvSpPr/>
          <p:nvPr/>
        </p:nvSpPr>
        <p:spPr>
          <a:xfrm>
            <a:off x="335346" y="4505132"/>
            <a:ext cx="7010969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Planned acres by year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Thousand acres</a:t>
            </a:r>
          </a:p>
        </p:txBody>
      </p:sp>
      <p:graphicFrame>
        <p:nvGraphicFramePr>
          <p:cNvPr id="8" name="t5"/>
          <p:cNvGraphicFramePr>
            <a:graphicFrameLocks noGrp="1"/>
          </p:cNvGraphicFramePr>
          <p:nvPr/>
        </p:nvGraphicFramePr>
        <p:xfrm>
          <a:off x="335346" y="4867844"/>
          <a:ext cx="7010969" cy="130733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523949"/>
                <a:gridCol w="1121755"/>
                <a:gridCol w="1121755"/>
                <a:gridCol w="1121755"/>
                <a:gridCol w="1121755"/>
              </a:tblGrid>
              <a:tr h="23291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Method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FY2027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FY2028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FY2029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Total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Prescribed fire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16.0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22.0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26.0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Mechanical thinning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12.0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17.0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15.0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44.0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Mastication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8.0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11.0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9.0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28.0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Hand thinning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6.0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9.0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9.0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24.0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All methods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42.0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59.0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59.0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160.0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ide5"/>
          <p:cNvSpPr/>
          <p:nvPr/>
        </p:nvSpPr>
        <p:spPr>
          <a:xfrm>
            <a:off x="7620635" y="4505132"/>
            <a:ext cx="4297045" cy="16700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Key finding: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mechanical thinning in Elk Ridge and Cedar Fork runs nine of the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twelve quarters, Q3 of FY2027 to Q3 of FY2029. FY2027 treats 42.0 thousand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acres while permits clear, then 59.0 a year, the FY2026 pace.</a:t>
            </a:r>
          </a:p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Note: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Quarter 1 is July to September. Bar colours: the method colours of page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1; grey, preparation and monitoring; navy, the four smaller counties, which use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all four methods.</a:t>
            </a:r>
          </a:p>
        </p:txBody>
      </p:sp>
      <p:sp>
        <p:nvSpPr>
          <p:cNvPr id="10" name="legal"/>
          <p:cNvSpPr/>
          <p:nvPr/>
        </p:nvSpPr>
        <p:spPr>
          <a:xfrm>
            <a:off x="902274" y="6659814"/>
            <a:ext cx="941520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00000"/>
                </a:solidFill>
                <a:latin typeface="Segoe UI"/>
              </a:rPr>
              <a:t>Illustrative figures. Built in the style of a public US federal presentation; not affiliated with or endorsed by any agency.</a:t>
            </a:r>
          </a:p>
        </p:txBody>
      </p:sp>
      <p:sp>
        <p:nvSpPr>
          <p:cNvPr id="11" name="yr0-mark"/>
          <p:cNvSpPr/>
          <p:nvPr/>
        </p:nvSpPr>
        <p:spPr>
          <a:xfrm>
            <a:off x="4504986" y="1624584"/>
            <a:ext cx="2432290" cy="211926"/>
          </a:xfrm>
          <a:prstGeom prst="rect">
            <a:avLst/>
          </a:prstGeom>
          <a:solidFill>
            <a:srgbClr val="8EB3D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yr0-label"/>
          <p:cNvSpPr/>
          <p:nvPr/>
        </p:nvSpPr>
        <p:spPr>
          <a:xfrm>
            <a:off x="5433128" y="1646727"/>
            <a:ext cx="57600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FY2027</a:t>
            </a:r>
          </a:p>
        </p:txBody>
      </p:sp>
      <p:sp>
        <p:nvSpPr>
          <p:cNvPr id="13" name="yr1-mark"/>
          <p:cNvSpPr/>
          <p:nvPr/>
        </p:nvSpPr>
        <p:spPr>
          <a:xfrm>
            <a:off x="6937276" y="1624584"/>
            <a:ext cx="2432290" cy="211926"/>
          </a:xfrm>
          <a:prstGeom prst="rect">
            <a:avLst/>
          </a:prstGeom>
          <a:solidFill>
            <a:srgbClr val="8EB3D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yr1-label"/>
          <p:cNvSpPr/>
          <p:nvPr/>
        </p:nvSpPr>
        <p:spPr>
          <a:xfrm>
            <a:off x="7860574" y="1646727"/>
            <a:ext cx="585694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FY2028</a:t>
            </a:r>
          </a:p>
        </p:txBody>
      </p:sp>
      <p:sp>
        <p:nvSpPr>
          <p:cNvPr id="15" name="yr2-mark"/>
          <p:cNvSpPr/>
          <p:nvPr/>
        </p:nvSpPr>
        <p:spPr>
          <a:xfrm>
            <a:off x="9369567" y="1624584"/>
            <a:ext cx="2432290" cy="211926"/>
          </a:xfrm>
          <a:prstGeom prst="rect">
            <a:avLst/>
          </a:prstGeom>
          <a:solidFill>
            <a:srgbClr val="8EB3D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yr2-label"/>
          <p:cNvSpPr/>
          <p:nvPr/>
        </p:nvSpPr>
        <p:spPr>
          <a:xfrm>
            <a:off x="10292967" y="1646727"/>
            <a:ext cx="585489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FY2029</a:t>
            </a:r>
          </a:p>
        </p:txBody>
      </p:sp>
      <p:sp>
        <p:nvSpPr>
          <p:cNvPr id="17" name="q0-mark"/>
          <p:cNvSpPr/>
          <p:nvPr/>
        </p:nvSpPr>
        <p:spPr>
          <a:xfrm>
            <a:off x="4539733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q0-label"/>
          <p:cNvSpPr/>
          <p:nvPr/>
        </p:nvSpPr>
        <p:spPr>
          <a:xfrm>
            <a:off x="4706967" y="1865718"/>
            <a:ext cx="20411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Q1</a:t>
            </a:r>
          </a:p>
        </p:txBody>
      </p:sp>
      <p:sp>
        <p:nvSpPr>
          <p:cNvPr id="19" name="q1-mark"/>
          <p:cNvSpPr/>
          <p:nvPr/>
        </p:nvSpPr>
        <p:spPr>
          <a:xfrm>
            <a:off x="5147806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q1-label"/>
          <p:cNvSpPr/>
          <p:nvPr/>
        </p:nvSpPr>
        <p:spPr>
          <a:xfrm>
            <a:off x="5300852" y="1865718"/>
            <a:ext cx="23248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Q2</a:t>
            </a:r>
          </a:p>
        </p:txBody>
      </p:sp>
      <p:sp>
        <p:nvSpPr>
          <p:cNvPr id="21" name="q2-mark"/>
          <p:cNvSpPr/>
          <p:nvPr/>
        </p:nvSpPr>
        <p:spPr>
          <a:xfrm>
            <a:off x="5755878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2-label"/>
          <p:cNvSpPr/>
          <p:nvPr/>
        </p:nvSpPr>
        <p:spPr>
          <a:xfrm>
            <a:off x="5908378" y="1865718"/>
            <a:ext cx="233579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Q3</a:t>
            </a:r>
          </a:p>
        </p:txBody>
      </p:sp>
      <p:sp>
        <p:nvSpPr>
          <p:cNvPr id="23" name="q3-mark"/>
          <p:cNvSpPr/>
          <p:nvPr/>
        </p:nvSpPr>
        <p:spPr>
          <a:xfrm>
            <a:off x="6363951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3-label"/>
          <p:cNvSpPr/>
          <p:nvPr/>
        </p:nvSpPr>
        <p:spPr>
          <a:xfrm>
            <a:off x="6514473" y="1865718"/>
            <a:ext cx="237535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Q4</a:t>
            </a:r>
          </a:p>
        </p:txBody>
      </p:sp>
      <p:sp>
        <p:nvSpPr>
          <p:cNvPr id="25" name="q4-mark"/>
          <p:cNvSpPr/>
          <p:nvPr/>
        </p:nvSpPr>
        <p:spPr>
          <a:xfrm>
            <a:off x="6972023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4-label"/>
          <p:cNvSpPr/>
          <p:nvPr/>
        </p:nvSpPr>
        <p:spPr>
          <a:xfrm>
            <a:off x="7139257" y="1865718"/>
            <a:ext cx="20411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Q1</a:t>
            </a:r>
          </a:p>
        </p:txBody>
      </p:sp>
      <p:sp>
        <p:nvSpPr>
          <p:cNvPr id="27" name="q5-mark"/>
          <p:cNvSpPr/>
          <p:nvPr/>
        </p:nvSpPr>
        <p:spPr>
          <a:xfrm>
            <a:off x="7580096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q5-label"/>
          <p:cNvSpPr/>
          <p:nvPr/>
        </p:nvSpPr>
        <p:spPr>
          <a:xfrm>
            <a:off x="7733142" y="1865718"/>
            <a:ext cx="23248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Q2</a:t>
            </a:r>
          </a:p>
        </p:txBody>
      </p:sp>
      <p:sp>
        <p:nvSpPr>
          <p:cNvPr id="29" name="q6-mark"/>
          <p:cNvSpPr/>
          <p:nvPr/>
        </p:nvSpPr>
        <p:spPr>
          <a:xfrm>
            <a:off x="8188168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q6-label"/>
          <p:cNvSpPr/>
          <p:nvPr/>
        </p:nvSpPr>
        <p:spPr>
          <a:xfrm>
            <a:off x="8340668" y="1865718"/>
            <a:ext cx="233579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Q3</a:t>
            </a:r>
          </a:p>
        </p:txBody>
      </p:sp>
      <p:sp>
        <p:nvSpPr>
          <p:cNvPr id="31" name="q7-mark"/>
          <p:cNvSpPr/>
          <p:nvPr/>
        </p:nvSpPr>
        <p:spPr>
          <a:xfrm>
            <a:off x="8796241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q7-label"/>
          <p:cNvSpPr/>
          <p:nvPr/>
        </p:nvSpPr>
        <p:spPr>
          <a:xfrm>
            <a:off x="8946763" y="1865718"/>
            <a:ext cx="237535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Q4</a:t>
            </a:r>
          </a:p>
        </p:txBody>
      </p:sp>
      <p:sp>
        <p:nvSpPr>
          <p:cNvPr id="33" name="q8-mark"/>
          <p:cNvSpPr/>
          <p:nvPr/>
        </p:nvSpPr>
        <p:spPr>
          <a:xfrm>
            <a:off x="9404314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q8-label"/>
          <p:cNvSpPr/>
          <p:nvPr/>
        </p:nvSpPr>
        <p:spPr>
          <a:xfrm>
            <a:off x="9571547" y="1865718"/>
            <a:ext cx="204111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Q1</a:t>
            </a:r>
          </a:p>
        </p:txBody>
      </p:sp>
      <p:sp>
        <p:nvSpPr>
          <p:cNvPr id="35" name="q9-mark"/>
          <p:cNvSpPr/>
          <p:nvPr/>
        </p:nvSpPr>
        <p:spPr>
          <a:xfrm>
            <a:off x="10012386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q9-label"/>
          <p:cNvSpPr/>
          <p:nvPr/>
        </p:nvSpPr>
        <p:spPr>
          <a:xfrm>
            <a:off x="10165432" y="1865718"/>
            <a:ext cx="232487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Q2</a:t>
            </a:r>
          </a:p>
        </p:txBody>
      </p:sp>
      <p:sp>
        <p:nvSpPr>
          <p:cNvPr id="37" name="q10-mark"/>
          <p:cNvSpPr/>
          <p:nvPr/>
        </p:nvSpPr>
        <p:spPr>
          <a:xfrm>
            <a:off x="10620459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q10-label"/>
          <p:cNvSpPr/>
          <p:nvPr/>
        </p:nvSpPr>
        <p:spPr>
          <a:xfrm>
            <a:off x="10772958" y="1865718"/>
            <a:ext cx="233579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Q3</a:t>
            </a:r>
          </a:p>
        </p:txBody>
      </p:sp>
      <p:sp>
        <p:nvSpPr>
          <p:cNvPr id="39" name="q11-mark"/>
          <p:cNvSpPr/>
          <p:nvPr/>
        </p:nvSpPr>
        <p:spPr>
          <a:xfrm>
            <a:off x="11228531" y="1850639"/>
            <a:ext cx="538579" cy="197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q11-label"/>
          <p:cNvSpPr/>
          <p:nvPr/>
        </p:nvSpPr>
        <p:spPr>
          <a:xfrm>
            <a:off x="11379053" y="1865718"/>
            <a:ext cx="237535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Q4</a:t>
            </a: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nd-fill"/>
          <p:cNvSpPr/>
          <p:nvPr/>
        </p:nvSpPr>
        <p:spPr>
          <a:xfrm>
            <a:off x="61026" y="0"/>
            <a:ext cx="12130974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igid"/>
          <p:cNvSpPr/>
          <p:nvPr/>
        </p:nvSpPr>
        <p:spPr>
          <a:xfrm>
            <a:off x="97602" y="36576"/>
            <a:ext cx="692745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1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Segoe UI"/>
              </a:rPr>
              <a:t>RSFP.6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64667" y="36576"/>
            <a:ext cx="10853013" cy="886968"/>
          </a:xfrm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3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FFFFF"/>
                </a:solidFill>
                <a:latin typeface="Segoe UI Semibold"/>
              </a:rPr>
              <a:t>Hazard Reduction Expected: Statewide; FY2026-FY2030</a:t>
            </a:r>
          </a:p>
        </p:txBody>
      </p:sp>
      <p:sp>
        <p:nvSpPr>
          <p:cNvPr id="5" name="c6a-head"/>
          <p:cNvSpPr/>
          <p:nvPr/>
        </p:nvSpPr>
        <p:spPr>
          <a:xfrm>
            <a:off x="335346" y="1234440"/>
            <a:ext cx="5654007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Statewide land in high or very high hazard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Thousand acres; without the plan, fuels keep growing about 1.7% a year</a:t>
            </a:r>
          </a:p>
        </p:txBody>
      </p:sp>
      <p:graphicFrame>
        <p:nvGraphicFramePr>
          <p:cNvPr id="6" name="c6a"/>
          <p:cNvGraphicFramePr>
            <a:graphicFrameLocks noGrp="1"/>
          </p:cNvGraphicFramePr>
          <p:nvPr/>
        </p:nvGraphicFramePr>
        <p:xfrm>
          <a:off x="335346" y="1597152"/>
          <a:ext cx="5654007" cy="33438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6"/>
          <p:cNvGraphicFramePr>
            <a:graphicFrameLocks noGrp="1"/>
          </p:cNvGraphicFramePr>
          <p:nvPr/>
        </p:nvGraphicFramePr>
        <p:xfrm>
          <a:off x="335346" y="4968428"/>
          <a:ext cx="5654007" cy="87757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83122"/>
                <a:gridCol w="814177"/>
                <a:gridCol w="814177"/>
                <a:gridCol w="814177"/>
                <a:gridCol w="814177"/>
                <a:gridCol w="814177"/>
              </a:tblGrid>
              <a:tr h="23291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Path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FY2026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FY2027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FY2028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FY2029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 Narrow"/>
                        </a:rPr>
                        <a:t>FY2030</a:t>
                      </a:r>
                      <a:endParaRPr sz="1050" b="1" i="0">
                        <a:solidFill>
                          <a:srgbClr val="FFFFFF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67171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Without the plan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1,240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1,262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1,285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1,306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1,327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With the plan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1,240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1,214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1,168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1,116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Arial Narrow"/>
                        </a:rPr>
                        <a:t>1,098</a:t>
                      </a:r>
                      <a:endParaRPr sz="1050" b="0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Acres avoided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48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117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190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Arial Narrow"/>
                        </a:rPr>
                        <a:t>229</a:t>
                      </a:r>
                      <a:endParaRPr sz="1050" b="1" i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 marL="27432" marR="27432"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76717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6b-head"/>
          <p:cNvSpPr/>
          <p:nvPr/>
        </p:nvSpPr>
        <p:spPr>
          <a:xfrm>
            <a:off x="6263673" y="1234440"/>
            <a:ext cx="5654007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Share of county land in high or very high hazard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Segoe UI"/>
              </a:rPr>
              <a:t>Percent of county land; counties in the order of page 2</a:t>
            </a:r>
          </a:p>
        </p:txBody>
      </p:sp>
      <p:sp>
        <p:nvSpPr>
          <p:cNvPr id="9" name="key6b-sw0-fill"/>
          <p:cNvSpPr/>
          <p:nvPr/>
        </p:nvSpPr>
        <p:spPr>
          <a:xfrm>
            <a:off x="6263673" y="1621536"/>
            <a:ext cx="118872" cy="118872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ey6b-t0"/>
          <p:cNvSpPr/>
          <p:nvPr/>
        </p:nvSpPr>
        <p:spPr>
          <a:xfrm>
            <a:off x="6419121" y="1597152"/>
            <a:ext cx="649334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FY2026</a:t>
            </a:r>
          </a:p>
        </p:txBody>
      </p:sp>
      <p:sp>
        <p:nvSpPr>
          <p:cNvPr id="11" name="key6b-sw1-fill"/>
          <p:cNvSpPr/>
          <p:nvPr/>
        </p:nvSpPr>
        <p:spPr>
          <a:xfrm>
            <a:off x="7105031" y="1621536"/>
            <a:ext cx="118872" cy="118872"/>
          </a:xfrm>
          <a:prstGeom prst="rect">
            <a:avLst/>
          </a:prstGeom>
          <a:solidFill>
            <a:srgbClr val="1968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key6b-t1"/>
          <p:cNvSpPr/>
          <p:nvPr/>
        </p:nvSpPr>
        <p:spPr>
          <a:xfrm>
            <a:off x="7260479" y="1597152"/>
            <a:ext cx="190095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Arial Narrow"/>
              </a:rPr>
              <a:t>FY2030 with the plan</a:t>
            </a:r>
          </a:p>
        </p:txBody>
      </p:sp>
      <p:graphicFrame>
        <p:nvGraphicFramePr>
          <p:cNvPr id="13" name="c6b"/>
          <p:cNvGraphicFramePr>
            <a:graphicFrameLocks noGrp="1"/>
          </p:cNvGraphicFramePr>
          <p:nvPr/>
        </p:nvGraphicFramePr>
        <p:xfrm>
          <a:off x="6263673" y="1792224"/>
          <a:ext cx="5654007" cy="405377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finding6"/>
          <p:cNvSpPr/>
          <p:nvPr/>
        </p:nvSpPr>
        <p:spPr>
          <a:xfrm>
            <a:off x="335346" y="5900862"/>
            <a:ext cx="1158233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00000"/>
                </a:solidFill>
                <a:latin typeface="Segoe UI"/>
              </a:rPr>
              <a:t>Key finding:</a:t>
            </a:r>
            <a:r>
              <a:rPr sz="900" b="0" i="0">
                <a:solidFill>
                  <a:srgbClr val="000000"/>
                </a:solidFill>
                <a:latin typeface="Segoe UI"/>
              </a:rPr>
              <a:t> by FY2030 the plan holds high-hazard land to 1,098 thousand acres, 229 thousand (17.3%) below the path without treatment and 11.5% below today. Every county falls, by 3 to 21 points; none stays</a:t>
            </a:r>
            <a:br/>
            <a:r>
              <a:rPr sz="900" b="0" i="0">
                <a:solidFill>
                  <a:srgbClr val="000000"/>
                </a:solidFill>
                <a:latin typeface="Segoe UI"/>
              </a:rPr>
              <a:t>above 37%.</a:t>
            </a:r>
          </a:p>
        </p:txBody>
      </p:sp>
      <p:sp>
        <p:nvSpPr>
          <p:cNvPr id="15" name="legal"/>
          <p:cNvSpPr/>
          <p:nvPr/>
        </p:nvSpPr>
        <p:spPr>
          <a:xfrm>
            <a:off x="902274" y="6659814"/>
            <a:ext cx="941520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000000"/>
                </a:solidFill>
                <a:latin typeface="Segoe UI"/>
              </a:rPr>
              <a:t>Illustrative figures. Built in the style of a public US federal presentation; not affiliated with or endorsed by any agency.</a:t>
            </a:r>
          </a:p>
        </p:txBody>
      </p:sp>
      <p:sp>
        <p:nvSpPr>
          <p:cNvPr id="16" name="gap-bracket"/>
          <p:cNvSpPr/>
          <p:nvPr/>
        </p:nvSpPr>
        <p:spPr>
          <a:xfrm>
            <a:off x="4432739" y="2248437"/>
            <a:ext cx="54864" cy="494529"/>
          </a:xfrm>
          <a:prstGeom prst="rightBracke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p-label"/>
          <p:cNvSpPr/>
          <p:nvPr/>
        </p:nvSpPr>
        <p:spPr>
          <a:xfrm>
            <a:off x="4542467" y="2328061"/>
            <a:ext cx="99463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0000"/>
                </a:solidFill>
                <a:latin typeface="Arial Narrow"/>
              </a:rPr>
              <a:t>229 thousand</a:t>
            </a:r>
            <a:br/>
            <a:r>
              <a:rPr sz="1100" b="1" i="0">
                <a:solidFill>
                  <a:srgbClr val="000000"/>
                </a:solidFill>
                <a:latin typeface="Arial Narrow"/>
              </a:rPr>
              <a:t>acres avoided</a:t>
            </a: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pptx-skill" val="generated"/>
</p:tagLst>
</file>

<file path=ppt/tags/tag2.xml><?xml version="1.0" encoding="utf-8"?>
<p:tagLst xmlns:p="http://schemas.openxmlformats.org/presentationml/2006/main">
  <p:tag name="pptx-skill" val="generated"/>
</p:tagLst>
</file>

<file path=ppt/tags/tag3.xml><?xml version="1.0" encoding="utf-8"?>
<p:tagLst xmlns:p="http://schemas.openxmlformats.org/presentationml/2006/main">
  <p:tag name="pptx-skill" val="generated"/>
</p:tagLst>
</file>

<file path=ppt/tags/tag4.xml><?xml version="1.0" encoding="utf-8"?>
<p:tagLst xmlns:p="http://schemas.openxmlformats.org/presentationml/2006/main">
  <p:tag name="pptx-skill" val="generated"/>
</p:tagLst>
</file>

<file path=ppt/tags/tag5.xml><?xml version="1.0" encoding="utf-8"?>
<p:tagLst xmlns:p="http://schemas.openxmlformats.org/presentationml/2006/main">
  <p:tag name="pptx-skill" val="generated"/>
</p:tagLst>
</file>

<file path=ppt/tags/tag6.xml><?xml version="1.0" encoding="utf-8"?>
<p:tagLst xmlns:p="http://schemas.openxmlformats.org/presentationml/2006/main">
  <p:tag name="pptx-skill" val="generated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ables.potx" id="{0086CCEA-7856-466F-99E8-BD9CF7715F84}" vid="{5D2FEAC1-1C80-483E-8BAB-723ACFEA49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4f0787-86b9-4938-9a3e-4f0f3d6bd0e7" xsi:nil="true"/>
    <lcf76f155ced4ddcb4097134ff3c332f xmlns="ea08e993-f427-423e-a7ea-cb03db9b40fa">
      <Terms xmlns="http://schemas.microsoft.com/office/infopath/2007/PartnerControls"/>
    </lcf76f155ced4ddcb4097134ff3c332f>
    <Status xmlns="ea08e993-f427-423e-a7ea-cb03db9b40fa" xsi:nil="true"/>
    <Completed xmlns="ea08e993-f427-423e-a7ea-cb03db9b40fa" xsi:nil="true"/>
    <Assignedto xmlns="ea08e993-f427-423e-a7ea-cb03db9b40f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1B852A8D5DEE4E99F5AB9F695E7BC5" ma:contentTypeVersion="19" ma:contentTypeDescription="Create a new document." ma:contentTypeScope="" ma:versionID="34792081af564f37e359f857db4d1eae">
  <xsd:schema xmlns:xsd="http://www.w3.org/2001/XMLSchema" xmlns:xs="http://www.w3.org/2001/XMLSchema" xmlns:p="http://schemas.microsoft.com/office/2006/metadata/properties" xmlns:ns2="ea08e993-f427-423e-a7ea-cb03db9b40fa" xmlns:ns3="394f0787-86b9-4938-9a3e-4f0f3d6bd0e7" targetNamespace="http://schemas.microsoft.com/office/2006/metadata/properties" ma:root="true" ma:fieldsID="c429e9c56fadb7d356b14e794280c0c4" ns2:_="" ns3:_="">
    <xsd:import namespace="ea08e993-f427-423e-a7ea-cb03db9b40fa"/>
    <xsd:import namespace="394f0787-86b9-4938-9a3e-4f0f3d6bd0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Assignedto" minOccurs="0"/>
                <xsd:element ref="ns2:Status" minOccurs="0"/>
                <xsd:element ref="ns2:Completed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08e993-f427-423e-a7ea-cb03db9b40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Assignedto" ma:index="19" nillable="true" ma:displayName="Assigned to" ma:format="Dropdown" ma:internalName="Assignedto">
      <xsd:simpleType>
        <xsd:restriction base="dms:Text">
          <xsd:maxLength value="255"/>
        </xsd:restriction>
      </xsd:simpleType>
    </xsd:element>
    <xsd:element name="Status" ma:index="20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Completed" ma:index="21" nillable="true" ma:displayName="Completed Date" ma:format="DateOnly" ma:internalName="Completed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7a275787-e750-42b5-a3c2-1b9e87a5e2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f0787-86b9-4938-9a3e-4f0f3d6bd0e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10e0ea3-aac1-4478-8a6a-8a8f5897e156}" ma:internalName="TaxCatchAll" ma:showField="CatchAllData" ma:web="394f0787-86b9-4938-9a3e-4f0f3d6bd0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FD119-22B4-4F38-AF36-F5F6A508A0AB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394f0787-86b9-4938-9a3e-4f0f3d6bd0e7"/>
    <ds:schemaRef ds:uri="ea08e993-f427-423e-a7ea-cb03db9b40f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9F233B6-6E82-44A4-9FB1-C78C347F85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08e993-f427-423e-a7ea-cb03db9b40fa"/>
    <ds:schemaRef ds:uri="394f0787-86b9-4938-9a3e-4f0f3d6bd0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C245A4-6674-44AC-8F77-83ADC56CB3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Wildfire-Risk Reduction Plan (illustrative)</dc:title>
  <dc:subject>Illustrative figures for a fictional program</dc:subject>
  <dc:creator>Ridgeline State Forestry Program (fictional)</dc:creator>
  <cp:lastModifiedBy/>
  <cp:revision>1</cp:revision>
  <dcterms:created xsi:type="dcterms:W3CDTF">2026-10-27T00:00:00Z</dcterms:created>
  <dcterms:modified xsi:type="dcterms:W3CDTF">2026-10-27T00:00:00Z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0x010100591B852A8D5DEE4E99F5AB9F695E7BC5</vt:lpwstr>
  </property>
  <property fmtid="{D5CDD505-2E9C-101B-9397-08002B2CF9AE}" pid="3" name="Language">
    <vt:lpwstr>en-us</vt:lpwstr>
  </property>
</Properties>
</file>