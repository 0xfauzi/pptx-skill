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7"/>
          <c:y val="0.04"/>
          <c:w val="0.55"/>
          <c:h val="0.8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Superstores &amp; large supermarkets</c:v>
                </c:pt>
              </c:strCache>
            </c:strRef>
          </c:tx>
          <c:spPr>
            <a:ln w="28575">
              <a:solidFill>
                <a:srgbClr val="C24E26"/>
              </a:solidFill>
            </a:ln>
          </c:spPr>
          <c:marker>
            <c:symbol val="circle"/>
            <c:size val="5"/>
            <c:spPr>
              <a:solidFill>
                <a:srgbClr val="C24E26"/>
              </a:solidFill>
              <a:ln>
                <a:solidFill>
                  <a:srgbClr val="C24E26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750" b="1" i="0">
                        <a:solidFill>
                          <a:srgbClr val="C24E26"/>
                        </a:solidFill>
                        <a:latin typeface="Arial"/>
                      </a:rPr>
                      <a:t>47%</a:t>
                    </a:r>
                  </a:p>
                </c:rich>
              </c:tx>
              <c:txPr>
                <a:bodyPr/>
                <a:lstStyle/>
                <a:p>
                  <a:pPr>
                    <a:defRPr sz="750" b="1" i="0">
                      <a:solidFill>
                        <a:srgbClr val="C24E26"/>
                      </a:solidFill>
                      <a:latin typeface="Arial"/>
                    </a:defRPr>
                  </a:pPr>
                </a:p>
              </c:txPr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750" b="1" i="0">
                        <a:solidFill>
                          <a:srgbClr val="C24E26"/>
                        </a:solidFill>
                        <a:latin typeface="Arial"/>
                      </a:rPr>
                      <a:t>36%  Large stores, -11 pts</a:t>
                    </a:r>
                  </a:p>
                </c:rich>
              </c:tx>
              <c:txPr>
                <a:bodyPr/>
                <a:lstStyle/>
                <a:p>
                  <a:pPr>
                    <a:defRPr sz="750" b="1" i="0">
                      <a:solidFill>
                        <a:srgbClr val="C24E26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2019</c:v>
                </c:pt>
                <c:pt idx="1">
                  <c:v>2025</c:v>
                </c:pt>
                <c:pt idx="2">
                  <c:v>2028F</c:v>
                </c:pt>
              </c:strCache>
            </c:strRef>
          </c:cat>
          <c:val>
            <c:numRef>
              <c:f>Sheet1!$B$2:$B$4</c:f>
              <c:numCache>
                <c:formatCode>0</c:formatCode>
                <c:ptCount val="3"/>
                <c:pt idx="0">
                  <c:v>47</c:v>
                </c:pt>
                <c:pt idx="1">
                  <c:v>40</c:v>
                </c:pt>
                <c:pt idx="2">
                  <c:v>36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Discounters</c:v>
                </c:pt>
              </c:strCache>
            </c:strRef>
          </c:tx>
          <c:spPr>
            <a:ln w="15875">
              <a:solidFill>
                <a:srgbClr val="A8B5C2"/>
              </a:solidFill>
            </a:ln>
          </c:spPr>
          <c:marker>
            <c:symbol val="circle"/>
            <c:size val="5"/>
            <c:spPr>
              <a:solidFill>
                <a:srgbClr val="A8B5C2"/>
              </a:solidFill>
              <a:ln>
                <a:solidFill>
                  <a:srgbClr val="A8B5C2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750" b="1" i="0">
                        <a:solidFill>
                          <a:srgbClr val="1E2226"/>
                        </a:solidFill>
                        <a:latin typeface="Arial"/>
                      </a:rPr>
                      <a:t>14%</a:t>
                    </a:r>
                  </a:p>
                </c:rich>
              </c:tx>
              <c:txPr>
                <a:bodyPr/>
                <a:lstStyle/>
                <a:p>
                  <a:pPr>
                    <a:defRPr sz="750" b="1" i="0">
                      <a:solidFill>
                        <a:srgbClr val="1E2226"/>
                      </a:solidFill>
                      <a:latin typeface="Arial"/>
                    </a:defRPr>
                  </a:pPr>
                </a:p>
              </c:txPr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750" b="1" i="0">
                        <a:solidFill>
                          <a:srgbClr val="1E2226"/>
                        </a:solidFill>
                        <a:latin typeface="Arial"/>
                      </a:rPr>
                      <a:t>25%  Discounters</a:t>
                    </a:r>
                  </a:p>
                </c:rich>
              </c:tx>
              <c:txPr>
                <a:bodyPr/>
                <a:lstStyle/>
                <a:p>
                  <a:pPr>
                    <a:defRPr sz="750" b="1" i="0">
                      <a:solidFill>
                        <a:srgbClr val="1E2226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2019</c:v>
                </c:pt>
                <c:pt idx="1">
                  <c:v>2025</c:v>
                </c:pt>
                <c:pt idx="2">
                  <c:v>2028F</c:v>
                </c:pt>
              </c:strCache>
            </c:strRef>
          </c:cat>
          <c:val>
            <c:numRef>
              <c:f>Sheet1!$C$2:$C$4</c:f>
              <c:numCache>
                <c:formatCode>0</c:formatCode>
                <c:ptCount val="3"/>
                <c:pt idx="0">
                  <c:v>14</c:v>
                </c:pt>
                <c:pt idx="1">
                  <c:v>21</c:v>
                </c:pt>
                <c:pt idx="2">
                  <c:v>25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Convenience &amp; neighbourhood</c:v>
                </c:pt>
              </c:strCache>
            </c:strRef>
          </c:tx>
          <c:spPr>
            <a:ln w="15875">
              <a:solidFill>
                <a:srgbClr val="A8B5C2"/>
              </a:solidFill>
            </a:ln>
          </c:spPr>
          <c:marker>
            <c:symbol val="circle"/>
            <c:size val="5"/>
            <c:spPr>
              <a:solidFill>
                <a:srgbClr val="A8B5C2"/>
              </a:solidFill>
              <a:ln>
                <a:solidFill>
                  <a:srgbClr val="A8B5C2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750" b="1" i="0">
                        <a:solidFill>
                          <a:srgbClr val="1E2226"/>
                        </a:solidFill>
                        <a:latin typeface="Arial"/>
                      </a:rPr>
                      <a:t>21%</a:t>
                    </a:r>
                  </a:p>
                </c:rich>
              </c:tx>
              <c:txPr>
                <a:bodyPr/>
                <a:lstStyle/>
                <a:p>
                  <a:pPr>
                    <a:defRPr sz="750" b="1" i="0">
                      <a:solidFill>
                        <a:srgbClr val="1E2226"/>
                      </a:solidFill>
                      <a:latin typeface="Arial"/>
                    </a:defRPr>
                  </a:pPr>
                </a:p>
              </c:txPr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750" b="1" i="0">
                        <a:solidFill>
                          <a:srgbClr val="1E2226"/>
                        </a:solidFill>
                        <a:latin typeface="Arial"/>
                      </a:rPr>
                      <a:t>21%  Convenience</a:t>
                    </a:r>
                  </a:p>
                </c:rich>
              </c:tx>
              <c:txPr>
                <a:bodyPr/>
                <a:lstStyle/>
                <a:p>
                  <a:pPr>
                    <a:defRPr sz="750" b="1" i="0">
                      <a:solidFill>
                        <a:srgbClr val="1E2226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2019</c:v>
                </c:pt>
                <c:pt idx="1">
                  <c:v>2025</c:v>
                </c:pt>
                <c:pt idx="2">
                  <c:v>2028F</c:v>
                </c:pt>
              </c:strCache>
            </c:strRef>
          </c:cat>
          <c:val>
            <c:numRef>
              <c:f>Sheet1!$D$2:$D$4</c:f>
              <c:numCache>
                <c:formatCode>0</c:formatCode>
                <c:ptCount val="3"/>
                <c:pt idx="0">
                  <c:v>21</c:v>
                </c:pt>
                <c:pt idx="1">
                  <c:v>22</c:v>
                </c:pt>
                <c:pt idx="2">
                  <c:v>21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Online</c:v>
                </c:pt>
              </c:strCache>
            </c:strRef>
          </c:tx>
          <c:spPr>
            <a:ln w="15875">
              <a:solidFill>
                <a:srgbClr val="A8B5C2"/>
              </a:solidFill>
            </a:ln>
          </c:spPr>
          <c:marker>
            <c:symbol val="circle"/>
            <c:size val="5"/>
            <c:spPr>
              <a:solidFill>
                <a:srgbClr val="A8B5C2"/>
              </a:solidFill>
              <a:ln>
                <a:solidFill>
                  <a:srgbClr val="A8B5C2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750" b="1" i="0">
                        <a:solidFill>
                          <a:srgbClr val="1E2226"/>
                        </a:solidFill>
                        <a:latin typeface="Arial"/>
                      </a:rPr>
                      <a:t>7%</a:t>
                    </a:r>
                  </a:p>
                </c:rich>
              </c:tx>
              <c:txPr>
                <a:bodyPr/>
                <a:lstStyle/>
                <a:p>
                  <a:pPr>
                    <a:defRPr sz="750" b="1" i="0">
                      <a:solidFill>
                        <a:srgbClr val="1E2226"/>
                      </a:solidFill>
                      <a:latin typeface="Arial"/>
                    </a:defRPr>
                  </a:pPr>
                </a:p>
              </c:txPr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750" b="1" i="0">
                        <a:solidFill>
                          <a:srgbClr val="1E2226"/>
                        </a:solidFill>
                        <a:latin typeface="Arial"/>
                      </a:rPr>
                      <a:t>13%  Online</a:t>
                    </a:r>
                  </a:p>
                </c:rich>
              </c:tx>
              <c:txPr>
                <a:bodyPr/>
                <a:lstStyle/>
                <a:p>
                  <a:pPr>
                    <a:defRPr sz="750" b="1" i="0">
                      <a:solidFill>
                        <a:srgbClr val="1E2226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2019</c:v>
                </c:pt>
                <c:pt idx="1">
                  <c:v>2025</c:v>
                </c:pt>
                <c:pt idx="2">
                  <c:v>2028F</c:v>
                </c:pt>
              </c:strCache>
            </c:strRef>
          </c:cat>
          <c:val>
            <c:numRef>
              <c:f>Sheet1!$E$2:$E$4</c:f>
              <c:numCache>
                <c:formatCode>0</c:formatCode>
                <c:ptCount val="3"/>
                <c:pt idx="0">
                  <c:v>7</c:v>
                </c:pt>
                <c:pt idx="1">
                  <c:v>11</c:v>
                </c:pt>
                <c:pt idx="2">
                  <c:v>13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Specialist &amp; other</c:v>
                </c:pt>
              </c:strCache>
            </c:strRef>
          </c:tx>
          <c:spPr>
            <a:ln w="15875">
              <a:solidFill>
                <a:srgbClr val="A8B5C2"/>
              </a:solidFill>
            </a:ln>
          </c:spPr>
          <c:marker>
            <c:symbol val="circle"/>
            <c:size val="5"/>
            <c:spPr>
              <a:solidFill>
                <a:srgbClr val="A8B5C2"/>
              </a:solidFill>
              <a:ln>
                <a:solidFill>
                  <a:srgbClr val="A8B5C2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750" b="1" i="0">
                        <a:solidFill>
                          <a:srgbClr val="1E2226"/>
                        </a:solidFill>
                        <a:latin typeface="Arial"/>
                      </a:rPr>
                      <a:t>11%</a:t>
                    </a:r>
                  </a:p>
                </c:rich>
              </c:tx>
              <c:txPr>
                <a:bodyPr/>
                <a:lstStyle/>
                <a:p>
                  <a:pPr>
                    <a:defRPr sz="750" b="1" i="0">
                      <a:solidFill>
                        <a:srgbClr val="1E2226"/>
                      </a:solidFill>
                      <a:latin typeface="Arial"/>
                    </a:defRPr>
                  </a:pPr>
                </a:p>
              </c:txPr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750" b="1" i="0">
                        <a:solidFill>
                          <a:srgbClr val="1E2226"/>
                        </a:solidFill>
                        <a:latin typeface="Arial"/>
                      </a:rPr>
                      <a:t>5%  Specialist</a:t>
                    </a:r>
                  </a:p>
                </c:rich>
              </c:tx>
              <c:txPr>
                <a:bodyPr/>
                <a:lstStyle/>
                <a:p>
                  <a:pPr>
                    <a:defRPr sz="750" b="1" i="0">
                      <a:solidFill>
                        <a:srgbClr val="1E2226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2019</c:v>
                </c:pt>
                <c:pt idx="1">
                  <c:v>2025</c:v>
                </c:pt>
                <c:pt idx="2">
                  <c:v>2028F</c:v>
                </c:pt>
              </c:strCache>
            </c:strRef>
          </c:cat>
          <c:val>
            <c:numRef>
              <c:f>Sheet1!$F$2:$F$4</c:f>
              <c:numCache>
                <c:formatCode>0</c:formatCode>
                <c:ptCount val="3"/>
                <c:pt idx="0">
                  <c:v>11</c:v>
                </c:pt>
                <c:pt idx="1">
                  <c:v>6</c:v>
                </c:pt>
                <c:pt idx="2">
                  <c:v>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/>
        <c:delete val="0"/>
        <c:axPos val="b"/>
        <c:majorTickMark val="none"/>
        <c:minorTickMark val="none"/>
        <c:tickLblPos val="nextTo"/>
        <c:spPr>
          <a:ln w="9525">
            <a:solidFill>
              <a:srgbClr val="C9CFD6"/>
            </a:solidFill>
          </a:ln>
        </c:spPr>
        <c:txPr>
          <a:bodyPr/>
          <a:lstStyle/>
          <a:p>
            <a:pPr>
              <a:defRPr sz="750" b="0" i="0">
                <a:solidFill>
                  <a:srgbClr val="5C6670"/>
                </a:solidFill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50.0"/>
          <c:min val="0.0"/>
        </c:scaling>
        <c:delete/>
        <c:axPos val="l"/>
        <c:majorTickMark val="out"/>
        <c:minorTickMark val="none"/>
        <c:tickLblPos val="nextTo"/>
        <c:crossAx val="2118791784"/>
        <c:crosses val="autoZero"/>
        <c:crossBetween val="midCat"/>
      </c:valAx>
      <c:spPr>
        <a:noFill/>
      </c:spPr>
    </c:plotArea>
    <c:plotVisOnly val="1"/>
    <c:dispBlanksAs val="gap"/>
    <c:showDLblsOverMax val="0"/>
  </c:chart>
  <c:txPr>
    <a:bodyPr/>
    <a:lstStyle/>
    <a:p>
      <a:pPr>
        <a:defRPr sz="750" b="0" i="0">
          <a:solidFill>
            <a:srgbClr val="5C667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25"/>
          <c:y val="0.01"/>
          <c:w val="0.62"/>
          <c:h val="0.9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2019</c:v>
                </c:pt>
              </c:strCache>
            </c:strRef>
          </c:tx>
          <c:spPr>
            <a:solidFill>
              <a:srgbClr val="A8B5C2"/>
            </a:solidFill>
            <a:ln>
              <a:noFill/>
            </a:ln>
          </c:spPr>
          <c:dLbls>
            <c:numFmt formatCode="0.0" sourceLinked="0"/>
            <c:txPr>
              <a:bodyPr/>
              <a:lstStyle/>
              <a:p>
                <a:pPr>
                  <a:defRPr sz="750" b="1" i="0">
                    <a:solidFill>
                      <a:srgbClr val="1E2226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Main weekly shop</c:v>
                </c:pt>
                <c:pt idx="1">
                  <c:v>Top-up</c:v>
                </c:pt>
                <c:pt idx="2">
                  <c:v>Food for now</c:v>
                </c:pt>
                <c:pt idx="3">
                  <c:v>Online order</c:v>
                </c:pt>
              </c:strCache>
            </c:strRef>
          </c:cat>
          <c:val>
            <c:numRef>
              <c:f>Sheet1!$B$2:$B$5</c:f>
              <c:numCache>
                <c:formatCode>0.0</c:formatCode>
                <c:ptCount val="4"/>
                <c:pt idx="0">
                  <c:v>1.4</c:v>
                </c:pt>
                <c:pt idx="1">
                  <c:v>2.1</c:v>
                </c:pt>
                <c:pt idx="2">
                  <c:v>0.8</c:v>
                </c:pt>
                <c:pt idx="3">
                  <c:v>0.2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1F3A5F"/>
            </a:solidFill>
            <a:ln>
              <a:noFill/>
            </a:ln>
          </c:spPr>
          <c:dPt>
            <c:idx val="0"/>
            <c:spPr>
              <a:solidFill>
                <a:srgbClr val="C24E26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750" b="1" i="0">
                        <a:solidFill>
                          <a:srgbClr val="C24E26"/>
                        </a:solidFill>
                        <a:latin typeface="Arial"/>
                      </a:rPr>
                      <a:t>1.0  (-29%)</a:t>
                    </a:r>
                  </a:p>
                </c:rich>
              </c:tx>
              <c:txPr>
                <a:bodyPr/>
                <a:lstStyle/>
                <a:p>
                  <a:pPr>
                    <a:defRPr sz="750" b="1" i="0">
                      <a:solidFill>
                        <a:srgbClr val="C24E26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750" b="1" i="0">
                        <a:solidFill>
                          <a:srgbClr val="1E2226"/>
                        </a:solidFill>
                        <a:latin typeface="Arial"/>
                      </a:rPr>
                      <a:t>2.6  (+24%)</a:t>
                    </a:r>
                  </a:p>
                </c:rich>
              </c:tx>
              <c:txPr>
                <a:bodyPr/>
                <a:lstStyle/>
                <a:p>
                  <a:pPr>
                    <a:defRPr sz="750" b="1" i="0">
                      <a:solidFill>
                        <a:srgbClr val="1E2226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" sourceLinked="0"/>
            <c:txPr>
              <a:bodyPr/>
              <a:lstStyle/>
              <a:p>
                <a:pPr>
                  <a:defRPr sz="750" b="1" i="0">
                    <a:solidFill>
                      <a:srgbClr val="1E2226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Main weekly shop</c:v>
                </c:pt>
                <c:pt idx="1">
                  <c:v>Top-up</c:v>
                </c:pt>
                <c:pt idx="2">
                  <c:v>Food for now</c:v>
                </c:pt>
                <c:pt idx="3">
                  <c:v>Online order</c:v>
                </c:pt>
              </c:strCache>
            </c:strRef>
          </c:cat>
          <c:val>
            <c:numRef>
              <c:f>Sheet1!$C$2:$C$5</c:f>
              <c:numCache>
                <c:formatCode>0.0</c:formatCode>
                <c:ptCount val="4"/>
                <c:pt idx="0">
                  <c:v>1.0</c:v>
                </c:pt>
                <c:pt idx="1">
                  <c:v>2.6</c:v>
                </c:pt>
                <c:pt idx="2">
                  <c:v>1.1</c:v>
                </c:pt>
                <c:pt idx="3">
                  <c:v>0.3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 w="9525">
            <a:solidFill>
              <a:srgbClr val="C9CFD6"/>
            </a:solidFill>
          </a:ln>
        </c:spPr>
        <c:txPr>
          <a:bodyPr/>
          <a:lstStyle/>
          <a:p>
            <a:pPr>
              <a:defRPr sz="750" b="0" i="0">
                <a:solidFill>
                  <a:srgbClr val="5C667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.4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  <c:crossBetween val="between"/>
      </c:valAx>
      <c:spPr>
        <a:noFill/>
      </c:spPr>
    </c:plotArea>
    <c:dispBlanksAs val="gap"/>
  </c:chart>
  <c:txPr>
    <a:bodyPr/>
    <a:lstStyle/>
    <a:p>
      <a:pPr>
        <a:defRPr sz="750" b="0" i="0">
          <a:solidFill>
            <a:srgbClr val="5C667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1"/>
          <c:y val="0.06"/>
          <c:w val="0.98"/>
          <c:h val="0.8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Cash return on capital (%)</c:v>
                </c:pt>
              </c:strCache>
            </c:strRef>
          </c:tx>
          <c:spPr>
            <a:solidFill>
              <a:srgbClr val="1F3A5F"/>
            </a:solidFill>
            <a:ln>
              <a:noFill/>
            </a:ln>
          </c:spPr>
          <c:dPt>
            <c:idx val="0"/>
            <c:spPr>
              <a:solidFill>
                <a:srgbClr val="C24E26"/>
              </a:solidFill>
            </c:spPr>
          </c:dPt>
          <c:dPt>
            <c:idx val="4"/>
            <c:spPr>
              <a:solidFill>
                <a:srgbClr val="A8B5C2"/>
              </a:solidFill>
            </c:spPr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750" b="1" i="0">
                      <a:solidFill>
                        <a:srgbClr val="C24E26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/>
              <a:lstStyle/>
              <a:p>
                <a:pPr>
                  <a:defRPr sz="750" b="1" i="0">
                    <a:solidFill>
                      <a:srgbClr val="1E2226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Superstore</c:v>
                </c:pt>
                <c:pt idx="1">
                  <c:v>Supermarket</c:v>
                </c:pt>
                <c:pt idx="2">
                  <c:v>Neighbourhood</c:v>
                </c:pt>
                <c:pt idx="3">
                  <c:v>Express</c:v>
                </c:pt>
                <c:pt idx="4">
                  <c:v>Estate</c:v>
                </c:pt>
              </c:strCache>
            </c:strRef>
          </c:cat>
          <c:val>
            <c:numRef>
              <c:f>Sheet1!$B$2:$B$6</c:f>
              <c:numCache>
                <c:formatCode>0.0</c:formatCode>
                <c:ptCount val="5"/>
                <c:pt idx="0">
                  <c:v>4.9</c:v>
                </c:pt>
                <c:pt idx="1">
                  <c:v>10.2</c:v>
                </c:pt>
                <c:pt idx="2">
                  <c:v>19.5</c:v>
                </c:pt>
                <c:pt idx="3">
                  <c:v>18.4</c:v>
                </c:pt>
                <c:pt idx="4">
                  <c:v>7.6</c:v>
                </c:pt>
              </c:numCache>
            </c:numRef>
          </c:val>
        </c:ser>
        <c:gapWidth val="55"/>
        <c:axId val="-2068027336"/>
        <c:axId val="-2113994440"/>
      </c:barChart>
      <c:catAx>
        <c:axId val="-2068027336"/>
        <c:scaling/>
        <c:delete val="0"/>
        <c:axPos val="b"/>
        <c:majorTickMark val="none"/>
        <c:minorTickMark val="none"/>
        <c:tickLblPos val="nextTo"/>
        <c:spPr>
          <a:ln w="9525">
            <a:solidFill>
              <a:srgbClr val="C9CFD6"/>
            </a:solidFill>
          </a:ln>
        </c:spPr>
        <c:txPr>
          <a:bodyPr/>
          <a:lstStyle/>
          <a:p>
            <a:pPr>
              <a:defRPr sz="750" b="0" i="0">
                <a:solidFill>
                  <a:srgbClr val="5C667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4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  <c:crossBetween val="between"/>
      </c:valAx>
      <c:spPr>
        <a:noFill/>
      </c:spPr>
    </c:plotArea>
    <c:dispBlanksAs val="gap"/>
  </c:chart>
  <c:txPr>
    <a:bodyPr/>
    <a:lstStyle/>
    <a:p>
      <a:pPr>
        <a:defRPr sz="750" b="0" i="0">
          <a:solidFill>
            <a:srgbClr val="5C667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>
        <c:manualLayout>
          <c:layoutTarget val="inner"/>
          <c:xMode val="edge"/>
          <c:yMode val="edge"/>
          <c:x val="0.09"/>
          <c:y val="0.04"/>
          <c:w val="0.86"/>
          <c:h val="0.78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Core segments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9"/>
            <c:spPr>
              <a:solidFill>
                <a:srgbClr val="1F3A5F"/>
              </a:solidFill>
              <a:ln>
                <a:solidFill>
                  <a:srgbClr val="1F3A5F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750" b="1" i="0">
                        <a:solidFill>
                          <a:srgbClr val="1E2226"/>
                        </a:solidFill>
                        <a:latin typeface="Arial"/>
                      </a:rPr>
                      <a:t>Established families, £11.6bn</a:t>
                    </a:r>
                  </a:p>
                </c:rich>
              </c:tx>
              <c:txPr>
                <a:bodyPr/>
                <a:lstStyle/>
                <a:p>
                  <a:pPr>
                    <a:defRPr sz="750" b="1" i="0">
                      <a:solidFill>
                        <a:srgbClr val="1E2226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750" b="1" i="0">
                        <a:solidFill>
                          <a:srgbClr val="1E2226"/>
                        </a:solidFill>
                        <a:latin typeface="Arial"/>
                      </a:rPr>
                      <a:t>Older traditional, £8.2bn</a:t>
                    </a:r>
                  </a:p>
                </c:rich>
              </c:tx>
              <c:txPr>
                <a:bodyPr/>
                <a:lstStyle/>
                <a:p>
                  <a:pPr>
                    <a:defRPr sz="750" b="1" i="0">
                      <a:solidFill>
                        <a:srgbClr val="1E2226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" sourceLinked="0"/>
            <c:txPr>
              <a:bodyPr/>
              <a:lstStyle/>
              <a:p>
                <a:pPr>
                  <a:defRPr sz="750" b="1" i="0">
                    <a:solidFill>
                      <a:srgbClr val="1E2226"/>
                    </a:solidFill>
                    <a:latin typeface="Arial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Sheet1!$A$2:$A$3</c:f>
              <c:numCache>
                <c:formatCode>0.0</c:formatCode>
                <c:ptCount val="3"/>
                <c:pt idx="0">
                  <c:v>1.4</c:v>
                </c:pt>
                <c:pt idx="1">
                  <c:v>-0.6</c:v>
                </c:pt>
              </c:numCache>
            </c:numRef>
          </c:xVal>
          <c:yVal>
            <c:numRef>
              <c:f>Sheet1!$B$2:$B$3</c:f>
              <c:numCache>
                <c:formatCode>0.0</c:formatCode>
                <c:ptCount val="3"/>
                <c:pt idx="0">
                  <c:v>12.6</c:v>
                </c:pt>
                <c:pt idx="1">
                  <c:v>13.3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Sheet1!$B$5</c:f>
              <c:strCache>
                <c:ptCount val="1"/>
                <c:pt idx="0">
                  <c:v>Growth segments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9"/>
            <c:spPr>
              <a:solidFill>
                <a:srgbClr val="C24E26"/>
              </a:solidFill>
              <a:ln>
                <a:solidFill>
                  <a:srgbClr val="C24E26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750" b="1" i="0">
                        <a:solidFill>
                          <a:srgbClr val="1E2226"/>
                        </a:solidFill>
                        <a:latin typeface="Arial"/>
                      </a:rPr>
                      <a:t>Time-pressed professionals, £9.4bn</a:t>
                    </a:r>
                  </a:p>
                </c:rich>
              </c:tx>
              <c:txPr>
                <a:bodyPr/>
                <a:lstStyle/>
                <a:p>
                  <a:pPr>
                    <a:defRPr sz="750" b="1" i="0">
                      <a:solidFill>
                        <a:srgbClr val="1E2226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750" b="1" i="0">
                        <a:solidFill>
                          <a:srgbClr val="1E2226"/>
                        </a:solidFill>
                        <a:latin typeface="Arial"/>
                      </a:rPr>
                      <a:t>Value seekers, £12.9bn</a:t>
                    </a:r>
                  </a:p>
                </c:rich>
              </c:tx>
              <c:txPr>
                <a:bodyPr/>
                <a:lstStyle/>
                <a:p>
                  <a:pPr>
                    <a:defRPr sz="750" b="1" i="0">
                      <a:solidFill>
                        <a:srgbClr val="1E2226"/>
                      </a:solidFill>
                      <a:latin typeface="Arial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750" b="1" i="0">
                        <a:solidFill>
                          <a:srgbClr val="1E2226"/>
                        </a:solidFill>
                        <a:latin typeface="Arial"/>
                      </a:rPr>
                      <a:t>Young urban, £4.3bn</a:t>
                    </a:r>
                  </a:p>
                </c:rich>
              </c:tx>
              <c:txPr>
                <a:bodyPr/>
                <a:lstStyle/>
                <a:p>
                  <a:pPr>
                    <a:defRPr sz="750" b="1" i="0">
                      <a:solidFill>
                        <a:srgbClr val="1E2226"/>
                      </a:solidFill>
                      <a:latin typeface="Arial"/>
                    </a:defRPr>
                  </a:pPr>
                </a:p>
              </c:txPr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" sourceLinked="0"/>
            <c:txPr>
              <a:bodyPr/>
              <a:lstStyle/>
              <a:p>
                <a:pPr>
                  <a:defRPr sz="750" b="1" i="0">
                    <a:solidFill>
                      <a:srgbClr val="1E2226"/>
                    </a:solidFill>
                    <a:latin typeface="Arial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Sheet1!$A$6:$A$8</c:f>
              <c:numCache>
                <c:formatCode>0.0</c:formatCode>
                <c:ptCount val="3"/>
                <c:pt idx="0">
                  <c:v>6.2</c:v>
                </c:pt>
                <c:pt idx="1">
                  <c:v>5.1</c:v>
                </c:pt>
                <c:pt idx="2">
                  <c:v>7.9</c:v>
                </c:pt>
              </c:numCache>
            </c:numRef>
          </c:xVal>
          <c:yVal>
            <c:numRef>
              <c:f>Sheet1!$B$6:$B$8</c:f>
              <c:numCache>
                <c:formatCode>0.0</c:formatCode>
                <c:ptCount val="3"/>
                <c:pt idx="0">
                  <c:v>5.8</c:v>
                </c:pt>
                <c:pt idx="1">
                  <c:v>5.0</c:v>
                </c:pt>
                <c:pt idx="2">
                  <c:v>3.3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max val="10.0"/>
          <c:min val="-2.0"/>
        </c:scaling>
        <c:delete val="0"/>
        <c:axPos val="b"/>
        <c:title>
          <c:tx>
            <c:rich>
              <a:bodyPr rot="0" vert="horz"/>
              <a:lstStyle/>
              <a:p>
                <a:r>
                  <a:rPr sz="750" b="0" i="0">
                    <a:solidFill>
                      <a:srgbClr val="5C6670"/>
                    </a:solidFill>
                    <a:latin typeface="Arial"/>
                  </a:rPr>
                  <a:t>Segment spend growth, 2022-25 (% a year)</a:t>
                </a:r>
              </a:p>
            </c:rich>
          </c:tx>
          <c:layout/>
          <c:overlay val="0"/>
        </c:title>
        <c:numFmt formatCode="0&quot;%&quot;" sourceLinked="0"/>
        <c:majorTickMark val="out"/>
        <c:minorTickMark val="none"/>
        <c:tickLblPos val="low"/>
        <c:spPr>
          <a:ln w="9525">
            <a:solidFill>
              <a:srgbClr val="C9CFD6"/>
            </a:solidFill>
          </a:ln>
        </c:spPr>
        <c:txPr>
          <a:bodyPr/>
          <a:lstStyle/>
          <a:p>
            <a:pPr>
              <a:defRPr sz="750" b="0" i="0">
                <a:solidFill>
                  <a:srgbClr val="5C6670"/>
                </a:solidFill>
                <a:latin typeface="Arial"/>
              </a:defRPr>
            </a:pPr>
          </a:p>
        </c:txPr>
        <c:crossAx val="-2129643912"/>
        <c:crosses val="autoZero"/>
        <c:crossBetween val="midCat"/>
        <c:majorUnit val="2.0"/>
      </c:valAx>
      <c:valAx>
        <c:axId val="-2129643912"/>
        <c:scaling>
          <c:max val="16.0"/>
          <c:min val="0.0"/>
        </c:scaling>
        <c:delete val="0"/>
        <c:axPos val="l"/>
        <c:title>
          <c:tx>
            <c:rich>
              <a:bodyPr rot="-5400000" vert="horz"/>
              <a:lstStyle/>
              <a:p>
                <a:r>
                  <a:rPr sz="750" b="0" i="0">
                    <a:solidFill>
                      <a:srgbClr val="5C6670"/>
                    </a:solidFill>
                    <a:latin typeface="Arial"/>
                  </a:rPr>
                  <a:t>Brindle share of wallet (%)</a:t>
                </a:r>
              </a:p>
            </c:rich>
          </c:tx>
          <c:layout/>
          <c:overlay val="0"/>
        </c:title>
        <c:numFmt formatCode="0&quot;%&quot;" sourceLinked="0"/>
        <c:majorTickMark val="out"/>
        <c:minorTickMark val="none"/>
        <c:tickLblPos val="low"/>
        <c:spPr>
          <a:ln w="9525">
            <a:solidFill>
              <a:srgbClr val="C9CFD6"/>
            </a:solidFill>
          </a:ln>
        </c:spPr>
        <c:txPr>
          <a:bodyPr/>
          <a:lstStyle/>
          <a:p>
            <a:pPr>
              <a:defRPr sz="750" b="0" i="0">
                <a:solidFill>
                  <a:srgbClr val="5C6670"/>
                </a:solidFill>
                <a:latin typeface="Arial"/>
              </a:defRPr>
            </a:pPr>
          </a:p>
        </c:txPr>
        <c:crossAx val="-2128940872"/>
        <c:crosses val="autoZero"/>
        <c:crossBetween val="midCat"/>
        <c:majorUnit val="4.0"/>
      </c:valAx>
      <c:spPr>
        <a:noFill/>
      </c:spPr>
    </c:plotArea>
    <c:plotVisOnly val="1"/>
    <c:dispBlanksAs val="gap"/>
    <c:showDLblsOverMax val="0"/>
  </c:chart>
  <c:txPr>
    <a:bodyPr/>
    <a:lstStyle/>
    <a:p>
      <a:pPr>
        <a:defRPr sz="750" b="0" i="0">
          <a:solidFill>
            <a:srgbClr val="5C667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>
        <c:manualLayout>
          <c:layoutTarget val="inner"/>
          <c:xMode val="edge"/>
          <c:yMode val="edge"/>
          <c:x val="0.08"/>
          <c:y val="0.03"/>
          <c:w val="0.8"/>
          <c:h val="0.8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Clears the hurdle: invest or keep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5"/>
            <c:spPr>
              <a:solidFill>
                <a:srgbClr val="A8B5C2"/>
              </a:solidFill>
              <a:ln>
                <a:solidFill>
                  <a:srgbClr val="A8B5C2"/>
                </a:solidFill>
              </a:ln>
            </c:spPr>
          </c:marker>
          <c:xVal>
            <c:numRef>
              <c:f>Sheet1!$A$2:$A$87</c:f>
              <c:numCache>
                <c:formatCode>0.0</c:formatCode>
                <c:ptCount val="113"/>
                <c:pt idx="0">
                  <c:v>-2.0</c:v>
                </c:pt>
                <c:pt idx="1">
                  <c:v>0.1</c:v>
                </c:pt>
                <c:pt idx="2">
                  <c:v>3.5</c:v>
                </c:pt>
                <c:pt idx="3">
                  <c:v>3.2</c:v>
                </c:pt>
                <c:pt idx="4">
                  <c:v>3.9</c:v>
                </c:pt>
                <c:pt idx="5">
                  <c:v>3.8</c:v>
                </c:pt>
                <c:pt idx="6">
                  <c:v>0.5</c:v>
                </c:pt>
                <c:pt idx="7">
                  <c:v>-0.7</c:v>
                </c:pt>
                <c:pt idx="8">
                  <c:v>-4.0</c:v>
                </c:pt>
                <c:pt idx="9">
                  <c:v>2.5</c:v>
                </c:pt>
                <c:pt idx="10">
                  <c:v>0.2</c:v>
                </c:pt>
                <c:pt idx="11">
                  <c:v>1.3</c:v>
                </c:pt>
                <c:pt idx="12">
                  <c:v>1.3</c:v>
                </c:pt>
                <c:pt idx="13">
                  <c:v>-0.3</c:v>
                </c:pt>
                <c:pt idx="14">
                  <c:v>1.8</c:v>
                </c:pt>
                <c:pt idx="15">
                  <c:v>3.8</c:v>
                </c:pt>
                <c:pt idx="16">
                  <c:v>3.6</c:v>
                </c:pt>
                <c:pt idx="17">
                  <c:v>2.7</c:v>
                </c:pt>
                <c:pt idx="18">
                  <c:v>7.3</c:v>
                </c:pt>
                <c:pt idx="19">
                  <c:v>3.7</c:v>
                </c:pt>
                <c:pt idx="20">
                  <c:v>1.9</c:v>
                </c:pt>
                <c:pt idx="21">
                  <c:v>0.5</c:v>
                </c:pt>
                <c:pt idx="22">
                  <c:v>0.6</c:v>
                </c:pt>
                <c:pt idx="23">
                  <c:v>0.2</c:v>
                </c:pt>
                <c:pt idx="24">
                  <c:v>0.9</c:v>
                </c:pt>
                <c:pt idx="25">
                  <c:v>1.8</c:v>
                </c:pt>
                <c:pt idx="26">
                  <c:v>5.1</c:v>
                </c:pt>
                <c:pt idx="27">
                  <c:v>1.9</c:v>
                </c:pt>
                <c:pt idx="28">
                  <c:v>1.9</c:v>
                </c:pt>
                <c:pt idx="29">
                  <c:v>0.1</c:v>
                </c:pt>
                <c:pt idx="30">
                  <c:v>0.6</c:v>
                </c:pt>
                <c:pt idx="31">
                  <c:v>4.4</c:v>
                </c:pt>
                <c:pt idx="32">
                  <c:v>4.6</c:v>
                </c:pt>
                <c:pt idx="33">
                  <c:v>3.0</c:v>
                </c:pt>
                <c:pt idx="34">
                  <c:v>4.1</c:v>
                </c:pt>
                <c:pt idx="35">
                  <c:v>3.2</c:v>
                </c:pt>
                <c:pt idx="36">
                  <c:v>3.4</c:v>
                </c:pt>
                <c:pt idx="37">
                  <c:v>2.4</c:v>
                </c:pt>
                <c:pt idx="38">
                  <c:v>3.3</c:v>
                </c:pt>
                <c:pt idx="39">
                  <c:v>3.4</c:v>
                </c:pt>
                <c:pt idx="40">
                  <c:v>3.7</c:v>
                </c:pt>
                <c:pt idx="41">
                  <c:v>3.9</c:v>
                </c:pt>
                <c:pt idx="42">
                  <c:v>4.8</c:v>
                </c:pt>
                <c:pt idx="43">
                  <c:v>2.3</c:v>
                </c:pt>
                <c:pt idx="44">
                  <c:v>2.0</c:v>
                </c:pt>
                <c:pt idx="45">
                  <c:v>2.2</c:v>
                </c:pt>
                <c:pt idx="46">
                  <c:v>1.9</c:v>
                </c:pt>
                <c:pt idx="47">
                  <c:v>2.2</c:v>
                </c:pt>
                <c:pt idx="48">
                  <c:v>6.5</c:v>
                </c:pt>
                <c:pt idx="49">
                  <c:v>2.4</c:v>
                </c:pt>
                <c:pt idx="50">
                  <c:v>2.0</c:v>
                </c:pt>
                <c:pt idx="51">
                  <c:v>1.1</c:v>
                </c:pt>
                <c:pt idx="52">
                  <c:v>3.8</c:v>
                </c:pt>
                <c:pt idx="53">
                  <c:v>1.9</c:v>
                </c:pt>
                <c:pt idx="54">
                  <c:v>2.3</c:v>
                </c:pt>
                <c:pt idx="55">
                  <c:v>3.3</c:v>
                </c:pt>
                <c:pt idx="56">
                  <c:v>2.7</c:v>
                </c:pt>
                <c:pt idx="57">
                  <c:v>5.7</c:v>
                </c:pt>
                <c:pt idx="58">
                  <c:v>6.1</c:v>
                </c:pt>
                <c:pt idx="59">
                  <c:v>1.5</c:v>
                </c:pt>
                <c:pt idx="60">
                  <c:v>2.4</c:v>
                </c:pt>
                <c:pt idx="61">
                  <c:v>0.9</c:v>
                </c:pt>
                <c:pt idx="62">
                  <c:v>3.7</c:v>
                </c:pt>
                <c:pt idx="63">
                  <c:v>2.9</c:v>
                </c:pt>
                <c:pt idx="64">
                  <c:v>1.4</c:v>
                </c:pt>
                <c:pt idx="65">
                  <c:v>2.6</c:v>
                </c:pt>
                <c:pt idx="66">
                  <c:v>1.6</c:v>
                </c:pt>
                <c:pt idx="67">
                  <c:v>1.3</c:v>
                </c:pt>
                <c:pt idx="68">
                  <c:v>3.9</c:v>
                </c:pt>
                <c:pt idx="69">
                  <c:v>1.3</c:v>
                </c:pt>
                <c:pt idx="70">
                  <c:v>3.3</c:v>
                </c:pt>
                <c:pt idx="71">
                  <c:v>1.7</c:v>
                </c:pt>
                <c:pt idx="72">
                  <c:v>6.2</c:v>
                </c:pt>
                <c:pt idx="73">
                  <c:v>3.7</c:v>
                </c:pt>
                <c:pt idx="74">
                  <c:v>6.8</c:v>
                </c:pt>
                <c:pt idx="75">
                  <c:v>3.5</c:v>
                </c:pt>
                <c:pt idx="76">
                  <c:v>3.0</c:v>
                </c:pt>
                <c:pt idx="77">
                  <c:v>3.5</c:v>
                </c:pt>
                <c:pt idx="78">
                  <c:v>2.8</c:v>
                </c:pt>
                <c:pt idx="79">
                  <c:v>3.0</c:v>
                </c:pt>
                <c:pt idx="80">
                  <c:v>7.1</c:v>
                </c:pt>
                <c:pt idx="81">
                  <c:v>5.0</c:v>
                </c:pt>
                <c:pt idx="82">
                  <c:v>4.4</c:v>
                </c:pt>
                <c:pt idx="83">
                  <c:v>4.8</c:v>
                </c:pt>
                <c:pt idx="84">
                  <c:v>2.0</c:v>
                </c:pt>
                <c:pt idx="85">
                  <c:v>2.5</c:v>
                </c:pt>
              </c:numCache>
            </c:numRef>
          </c:xVal>
          <c:yVal>
            <c:numRef>
              <c:f>Sheet1!$B$2:$B$87</c:f>
              <c:numCache>
                <c:formatCode>0.0</c:formatCode>
                <c:ptCount val="113"/>
                <c:pt idx="0">
                  <c:v>12.7</c:v>
                </c:pt>
                <c:pt idx="1">
                  <c:v>12.1</c:v>
                </c:pt>
                <c:pt idx="2">
                  <c:v>15.5</c:v>
                </c:pt>
                <c:pt idx="3">
                  <c:v>15.8</c:v>
                </c:pt>
                <c:pt idx="4">
                  <c:v>13.8</c:v>
                </c:pt>
                <c:pt idx="5">
                  <c:v>12.8</c:v>
                </c:pt>
                <c:pt idx="6">
                  <c:v>14.0</c:v>
                </c:pt>
                <c:pt idx="7">
                  <c:v>14.4</c:v>
                </c:pt>
                <c:pt idx="8">
                  <c:v>13.1</c:v>
                </c:pt>
                <c:pt idx="9">
                  <c:v>13.9</c:v>
                </c:pt>
                <c:pt idx="10">
                  <c:v>12.0</c:v>
                </c:pt>
                <c:pt idx="11">
                  <c:v>12.0</c:v>
                </c:pt>
                <c:pt idx="12">
                  <c:v>13.2</c:v>
                </c:pt>
                <c:pt idx="13">
                  <c:v>20.4</c:v>
                </c:pt>
                <c:pt idx="14">
                  <c:v>12.2</c:v>
                </c:pt>
                <c:pt idx="15">
                  <c:v>12.8</c:v>
                </c:pt>
                <c:pt idx="16">
                  <c:v>17.0</c:v>
                </c:pt>
                <c:pt idx="17">
                  <c:v>13.8</c:v>
                </c:pt>
                <c:pt idx="18">
                  <c:v>12.6</c:v>
                </c:pt>
                <c:pt idx="19">
                  <c:v>14.9</c:v>
                </c:pt>
                <c:pt idx="20">
                  <c:v>17.7</c:v>
                </c:pt>
                <c:pt idx="21">
                  <c:v>13.7</c:v>
                </c:pt>
                <c:pt idx="22">
                  <c:v>15.8</c:v>
                </c:pt>
                <c:pt idx="23">
                  <c:v>16.7</c:v>
                </c:pt>
                <c:pt idx="24">
                  <c:v>13.3</c:v>
                </c:pt>
                <c:pt idx="25">
                  <c:v>18.5</c:v>
                </c:pt>
                <c:pt idx="26">
                  <c:v>12.2</c:v>
                </c:pt>
                <c:pt idx="27">
                  <c:v>13.8</c:v>
                </c:pt>
                <c:pt idx="28">
                  <c:v>14.4</c:v>
                </c:pt>
                <c:pt idx="29">
                  <c:v>12.1</c:v>
                </c:pt>
                <c:pt idx="30">
                  <c:v>19.0</c:v>
                </c:pt>
                <c:pt idx="31">
                  <c:v>26.1</c:v>
                </c:pt>
                <c:pt idx="32">
                  <c:v>23.7</c:v>
                </c:pt>
                <c:pt idx="33">
                  <c:v>15.3</c:v>
                </c:pt>
                <c:pt idx="34">
                  <c:v>21.9</c:v>
                </c:pt>
                <c:pt idx="35">
                  <c:v>19.8</c:v>
                </c:pt>
                <c:pt idx="36">
                  <c:v>21.7</c:v>
                </c:pt>
                <c:pt idx="37">
                  <c:v>24.1</c:v>
                </c:pt>
                <c:pt idx="38">
                  <c:v>20.7</c:v>
                </c:pt>
                <c:pt idx="39">
                  <c:v>19.3</c:v>
                </c:pt>
                <c:pt idx="40">
                  <c:v>22.6</c:v>
                </c:pt>
                <c:pt idx="41">
                  <c:v>22.6</c:v>
                </c:pt>
                <c:pt idx="42">
                  <c:v>21.0</c:v>
                </c:pt>
                <c:pt idx="43">
                  <c:v>16.8</c:v>
                </c:pt>
                <c:pt idx="44">
                  <c:v>17.1</c:v>
                </c:pt>
                <c:pt idx="45">
                  <c:v>23.8</c:v>
                </c:pt>
                <c:pt idx="46">
                  <c:v>15.3</c:v>
                </c:pt>
                <c:pt idx="47">
                  <c:v>12.6</c:v>
                </c:pt>
                <c:pt idx="48">
                  <c:v>27.4</c:v>
                </c:pt>
                <c:pt idx="49">
                  <c:v>13.2</c:v>
                </c:pt>
                <c:pt idx="50">
                  <c:v>25.4</c:v>
                </c:pt>
                <c:pt idx="51">
                  <c:v>19.6</c:v>
                </c:pt>
                <c:pt idx="52">
                  <c:v>17.9</c:v>
                </c:pt>
                <c:pt idx="53">
                  <c:v>17.1</c:v>
                </c:pt>
                <c:pt idx="54">
                  <c:v>24.9</c:v>
                </c:pt>
                <c:pt idx="55">
                  <c:v>17.6</c:v>
                </c:pt>
                <c:pt idx="56">
                  <c:v>16.4</c:v>
                </c:pt>
                <c:pt idx="57">
                  <c:v>20.4</c:v>
                </c:pt>
                <c:pt idx="58">
                  <c:v>19.6</c:v>
                </c:pt>
                <c:pt idx="59">
                  <c:v>20.3</c:v>
                </c:pt>
                <c:pt idx="60">
                  <c:v>21.1</c:v>
                </c:pt>
                <c:pt idx="61">
                  <c:v>27.3</c:v>
                </c:pt>
                <c:pt idx="62">
                  <c:v>20.0</c:v>
                </c:pt>
                <c:pt idx="63">
                  <c:v>20.8</c:v>
                </c:pt>
                <c:pt idx="64">
                  <c:v>15.7</c:v>
                </c:pt>
                <c:pt idx="65">
                  <c:v>21.3</c:v>
                </c:pt>
                <c:pt idx="66">
                  <c:v>12.5</c:v>
                </c:pt>
                <c:pt idx="67">
                  <c:v>15.8</c:v>
                </c:pt>
                <c:pt idx="68">
                  <c:v>27.3</c:v>
                </c:pt>
                <c:pt idx="69">
                  <c:v>16.5</c:v>
                </c:pt>
                <c:pt idx="70">
                  <c:v>16.5</c:v>
                </c:pt>
                <c:pt idx="71">
                  <c:v>18.3</c:v>
                </c:pt>
                <c:pt idx="72">
                  <c:v>26.6</c:v>
                </c:pt>
                <c:pt idx="73">
                  <c:v>21.5</c:v>
                </c:pt>
                <c:pt idx="74">
                  <c:v>19.5</c:v>
                </c:pt>
                <c:pt idx="75">
                  <c:v>16.3</c:v>
                </c:pt>
                <c:pt idx="76">
                  <c:v>21.4</c:v>
                </c:pt>
                <c:pt idx="77">
                  <c:v>17.7</c:v>
                </c:pt>
                <c:pt idx="78">
                  <c:v>28.2</c:v>
                </c:pt>
                <c:pt idx="79">
                  <c:v>23.2</c:v>
                </c:pt>
                <c:pt idx="80">
                  <c:v>15.4</c:v>
                </c:pt>
                <c:pt idx="81">
                  <c:v>20.5</c:v>
                </c:pt>
                <c:pt idx="82">
                  <c:v>17.1</c:v>
                </c:pt>
                <c:pt idx="83">
                  <c:v>20.4</c:v>
                </c:pt>
                <c:pt idx="84">
                  <c:v>16.1</c:v>
                </c:pt>
                <c:pt idx="85">
                  <c:v>22.8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Sheet1!$B$89</c:f>
              <c:strCache>
                <c:ptCount val="1"/>
                <c:pt idx="0">
                  <c:v>Under the hurdle: reformat or right-size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5"/>
            <c:spPr>
              <a:solidFill>
                <a:srgbClr val="C24E26"/>
              </a:solidFill>
              <a:ln>
                <a:solidFill>
                  <a:srgbClr val="C24E26"/>
                </a:solidFill>
              </a:ln>
            </c:spPr>
          </c:marker>
          <c:xVal>
            <c:numRef>
              <c:f>Sheet1!$A$90:$A$202</c:f>
              <c:numCache>
                <c:formatCode>0.0</c:formatCode>
                <c:ptCount val="113"/>
                <c:pt idx="0">
                  <c:v>2.5</c:v>
                </c:pt>
                <c:pt idx="1">
                  <c:v>1.9</c:v>
                </c:pt>
                <c:pt idx="2">
                  <c:v>3.1</c:v>
                </c:pt>
                <c:pt idx="3">
                  <c:v>0.7</c:v>
                </c:pt>
                <c:pt idx="4">
                  <c:v>-0.0</c:v>
                </c:pt>
                <c:pt idx="5">
                  <c:v>1.5</c:v>
                </c:pt>
                <c:pt idx="6">
                  <c:v>2.2</c:v>
                </c:pt>
                <c:pt idx="7">
                  <c:v>-0.2</c:v>
                </c:pt>
                <c:pt idx="8">
                  <c:v>0.5</c:v>
                </c:pt>
                <c:pt idx="9">
                  <c:v>2.1</c:v>
                </c:pt>
                <c:pt idx="10">
                  <c:v>1.7</c:v>
                </c:pt>
                <c:pt idx="11">
                  <c:v>-1.5</c:v>
                </c:pt>
                <c:pt idx="12">
                  <c:v>0.3</c:v>
                </c:pt>
                <c:pt idx="13">
                  <c:v>0.8</c:v>
                </c:pt>
                <c:pt idx="14">
                  <c:v>0.5</c:v>
                </c:pt>
                <c:pt idx="15">
                  <c:v>0.8</c:v>
                </c:pt>
                <c:pt idx="16">
                  <c:v>2.9</c:v>
                </c:pt>
                <c:pt idx="17">
                  <c:v>3.6</c:v>
                </c:pt>
                <c:pt idx="18">
                  <c:v>1.1</c:v>
                </c:pt>
                <c:pt idx="19">
                  <c:v>3.5</c:v>
                </c:pt>
                <c:pt idx="20">
                  <c:v>-0.6</c:v>
                </c:pt>
                <c:pt idx="21">
                  <c:v>-2.0</c:v>
                </c:pt>
                <c:pt idx="22">
                  <c:v>1.9</c:v>
                </c:pt>
                <c:pt idx="23">
                  <c:v>3.7</c:v>
                </c:pt>
                <c:pt idx="24">
                  <c:v>1.1</c:v>
                </c:pt>
                <c:pt idx="25">
                  <c:v>-0.9</c:v>
                </c:pt>
                <c:pt idx="26">
                  <c:v>3.0</c:v>
                </c:pt>
                <c:pt idx="27">
                  <c:v>2.0</c:v>
                </c:pt>
                <c:pt idx="28">
                  <c:v>-0.9</c:v>
                </c:pt>
                <c:pt idx="29">
                  <c:v>-1.0</c:v>
                </c:pt>
                <c:pt idx="30">
                  <c:v>2.3</c:v>
                </c:pt>
                <c:pt idx="31">
                  <c:v>-1.5</c:v>
                </c:pt>
                <c:pt idx="32">
                  <c:v>2.6</c:v>
                </c:pt>
                <c:pt idx="33">
                  <c:v>-3.2</c:v>
                </c:pt>
                <c:pt idx="34">
                  <c:v>1.2</c:v>
                </c:pt>
                <c:pt idx="35">
                  <c:v>1.4</c:v>
                </c:pt>
                <c:pt idx="36">
                  <c:v>1.8</c:v>
                </c:pt>
                <c:pt idx="37">
                  <c:v>-2.0</c:v>
                </c:pt>
                <c:pt idx="38">
                  <c:v>-0.9</c:v>
                </c:pt>
                <c:pt idx="39">
                  <c:v>2.3</c:v>
                </c:pt>
                <c:pt idx="40">
                  <c:v>3.6</c:v>
                </c:pt>
                <c:pt idx="41">
                  <c:v>0.3</c:v>
                </c:pt>
                <c:pt idx="42">
                  <c:v>2.4</c:v>
                </c:pt>
                <c:pt idx="43">
                  <c:v>-1.7</c:v>
                </c:pt>
                <c:pt idx="44">
                  <c:v>3.6</c:v>
                </c:pt>
                <c:pt idx="45">
                  <c:v>0.1</c:v>
                </c:pt>
                <c:pt idx="46">
                  <c:v>2.7</c:v>
                </c:pt>
                <c:pt idx="47">
                  <c:v>0.6</c:v>
                </c:pt>
                <c:pt idx="48">
                  <c:v>1.9</c:v>
                </c:pt>
                <c:pt idx="49">
                  <c:v>1.5</c:v>
                </c:pt>
                <c:pt idx="50">
                  <c:v>3.6</c:v>
                </c:pt>
                <c:pt idx="51">
                  <c:v>1.6</c:v>
                </c:pt>
                <c:pt idx="52">
                  <c:v>6.7</c:v>
                </c:pt>
                <c:pt idx="53">
                  <c:v>2.6</c:v>
                </c:pt>
                <c:pt idx="54">
                  <c:v>1.4</c:v>
                </c:pt>
                <c:pt idx="55">
                  <c:v>-1.2</c:v>
                </c:pt>
                <c:pt idx="56">
                  <c:v>4.1</c:v>
                </c:pt>
                <c:pt idx="57">
                  <c:v>3.3</c:v>
                </c:pt>
                <c:pt idx="58">
                  <c:v>-1.3</c:v>
                </c:pt>
                <c:pt idx="59">
                  <c:v>0.9</c:v>
                </c:pt>
                <c:pt idx="60">
                  <c:v>2.5</c:v>
                </c:pt>
                <c:pt idx="61">
                  <c:v>3.4</c:v>
                </c:pt>
                <c:pt idx="62">
                  <c:v>-0.2</c:v>
                </c:pt>
                <c:pt idx="63">
                  <c:v>-0.4</c:v>
                </c:pt>
                <c:pt idx="64">
                  <c:v>2.2</c:v>
                </c:pt>
                <c:pt idx="65">
                  <c:v>3.3</c:v>
                </c:pt>
                <c:pt idx="66">
                  <c:v>-0.2</c:v>
                </c:pt>
                <c:pt idx="67">
                  <c:v>1.1</c:v>
                </c:pt>
                <c:pt idx="68">
                  <c:v>2.1</c:v>
                </c:pt>
                <c:pt idx="69">
                  <c:v>2.9</c:v>
                </c:pt>
                <c:pt idx="70">
                  <c:v>1.5</c:v>
                </c:pt>
                <c:pt idx="71">
                  <c:v>0.1</c:v>
                </c:pt>
                <c:pt idx="72">
                  <c:v>-4.3</c:v>
                </c:pt>
                <c:pt idx="73">
                  <c:v>1.9</c:v>
                </c:pt>
                <c:pt idx="74">
                  <c:v>2.9</c:v>
                </c:pt>
                <c:pt idx="75">
                  <c:v>1.0</c:v>
                </c:pt>
                <c:pt idx="76">
                  <c:v>3.2</c:v>
                </c:pt>
                <c:pt idx="77">
                  <c:v>2.2</c:v>
                </c:pt>
                <c:pt idx="78">
                  <c:v>2.1</c:v>
                </c:pt>
                <c:pt idx="79">
                  <c:v>1.5</c:v>
                </c:pt>
                <c:pt idx="80">
                  <c:v>3.8</c:v>
                </c:pt>
                <c:pt idx="81">
                  <c:v>-3.6</c:v>
                </c:pt>
                <c:pt idx="82">
                  <c:v>-0.4</c:v>
                </c:pt>
                <c:pt idx="83">
                  <c:v>1.9</c:v>
                </c:pt>
                <c:pt idx="84">
                  <c:v>-0.9</c:v>
                </c:pt>
                <c:pt idx="85">
                  <c:v>0.8</c:v>
                </c:pt>
                <c:pt idx="86">
                  <c:v>1.6</c:v>
                </c:pt>
                <c:pt idx="87">
                  <c:v>3.2</c:v>
                </c:pt>
                <c:pt idx="88">
                  <c:v>1.3</c:v>
                </c:pt>
                <c:pt idx="89">
                  <c:v>2.8</c:v>
                </c:pt>
                <c:pt idx="90">
                  <c:v>3.3</c:v>
                </c:pt>
                <c:pt idx="91">
                  <c:v>1.0</c:v>
                </c:pt>
                <c:pt idx="92">
                  <c:v>2.6</c:v>
                </c:pt>
                <c:pt idx="93">
                  <c:v>0.9</c:v>
                </c:pt>
                <c:pt idx="94">
                  <c:v>0.2</c:v>
                </c:pt>
                <c:pt idx="95">
                  <c:v>2.3</c:v>
                </c:pt>
                <c:pt idx="96">
                  <c:v>2.9</c:v>
                </c:pt>
                <c:pt idx="97">
                  <c:v>4.1</c:v>
                </c:pt>
                <c:pt idx="98">
                  <c:v>1.8</c:v>
                </c:pt>
                <c:pt idx="99">
                  <c:v>4.6</c:v>
                </c:pt>
                <c:pt idx="100">
                  <c:v>3.1</c:v>
                </c:pt>
                <c:pt idx="101">
                  <c:v>3.2</c:v>
                </c:pt>
                <c:pt idx="102">
                  <c:v>3.4</c:v>
                </c:pt>
                <c:pt idx="103">
                  <c:v>0.4</c:v>
                </c:pt>
                <c:pt idx="104">
                  <c:v>2.8</c:v>
                </c:pt>
                <c:pt idx="105">
                  <c:v>0.3</c:v>
                </c:pt>
                <c:pt idx="106">
                  <c:v>-2.2</c:v>
                </c:pt>
                <c:pt idx="107">
                  <c:v>2.5</c:v>
                </c:pt>
                <c:pt idx="108">
                  <c:v>5.4</c:v>
                </c:pt>
                <c:pt idx="109">
                  <c:v>1.8</c:v>
                </c:pt>
                <c:pt idx="110">
                  <c:v>2.1</c:v>
                </c:pt>
                <c:pt idx="111">
                  <c:v>3.0</c:v>
                </c:pt>
                <c:pt idx="112">
                  <c:v>0.4</c:v>
                </c:pt>
              </c:numCache>
            </c:numRef>
          </c:xVal>
          <c:yVal>
            <c:numRef>
              <c:f>Sheet1!$B$90:$B$202</c:f>
              <c:numCache>
                <c:formatCode>0.0</c:formatCode>
                <c:ptCount val="113"/>
                <c:pt idx="0">
                  <c:v>9.3</c:v>
                </c:pt>
                <c:pt idx="1">
                  <c:v>2.8</c:v>
                </c:pt>
                <c:pt idx="2">
                  <c:v>5.3</c:v>
                </c:pt>
                <c:pt idx="3">
                  <c:v>7.3</c:v>
                </c:pt>
                <c:pt idx="4">
                  <c:v>9.0</c:v>
                </c:pt>
                <c:pt idx="5">
                  <c:v>5.3</c:v>
                </c:pt>
                <c:pt idx="6">
                  <c:v>8.2</c:v>
                </c:pt>
                <c:pt idx="7">
                  <c:v>10.2</c:v>
                </c:pt>
                <c:pt idx="8">
                  <c:v>8.2</c:v>
                </c:pt>
                <c:pt idx="9">
                  <c:v>2.7</c:v>
                </c:pt>
                <c:pt idx="10">
                  <c:v>7.8</c:v>
                </c:pt>
                <c:pt idx="11">
                  <c:v>8.7</c:v>
                </c:pt>
                <c:pt idx="12">
                  <c:v>5.0</c:v>
                </c:pt>
                <c:pt idx="13">
                  <c:v>4.3</c:v>
                </c:pt>
                <c:pt idx="14">
                  <c:v>7.0</c:v>
                </c:pt>
                <c:pt idx="15">
                  <c:v>8.7</c:v>
                </c:pt>
                <c:pt idx="16">
                  <c:v>7.0</c:v>
                </c:pt>
                <c:pt idx="17">
                  <c:v>-0.5</c:v>
                </c:pt>
                <c:pt idx="18">
                  <c:v>4.4</c:v>
                </c:pt>
                <c:pt idx="19">
                  <c:v>0.5</c:v>
                </c:pt>
                <c:pt idx="20">
                  <c:v>5.9</c:v>
                </c:pt>
                <c:pt idx="21">
                  <c:v>4.2</c:v>
                </c:pt>
                <c:pt idx="22">
                  <c:v>-2.6</c:v>
                </c:pt>
                <c:pt idx="23">
                  <c:v>3.0</c:v>
                </c:pt>
                <c:pt idx="24">
                  <c:v>4.3</c:v>
                </c:pt>
                <c:pt idx="25">
                  <c:v>8.2</c:v>
                </c:pt>
                <c:pt idx="26">
                  <c:v>1.9</c:v>
                </c:pt>
                <c:pt idx="27">
                  <c:v>6.5</c:v>
                </c:pt>
                <c:pt idx="28">
                  <c:v>6.1</c:v>
                </c:pt>
                <c:pt idx="29">
                  <c:v>5.9</c:v>
                </c:pt>
                <c:pt idx="30">
                  <c:v>10.2</c:v>
                </c:pt>
                <c:pt idx="31">
                  <c:v>6.2</c:v>
                </c:pt>
                <c:pt idx="32">
                  <c:v>8.9</c:v>
                </c:pt>
                <c:pt idx="33">
                  <c:v>4.3</c:v>
                </c:pt>
                <c:pt idx="34">
                  <c:v>5.8</c:v>
                </c:pt>
                <c:pt idx="35">
                  <c:v>9.6</c:v>
                </c:pt>
                <c:pt idx="36">
                  <c:v>9.9</c:v>
                </c:pt>
                <c:pt idx="37">
                  <c:v>9.1</c:v>
                </c:pt>
                <c:pt idx="38">
                  <c:v>5.1</c:v>
                </c:pt>
                <c:pt idx="39">
                  <c:v>11.8</c:v>
                </c:pt>
                <c:pt idx="40">
                  <c:v>7.2</c:v>
                </c:pt>
                <c:pt idx="41">
                  <c:v>6.8</c:v>
                </c:pt>
                <c:pt idx="42">
                  <c:v>-1.7</c:v>
                </c:pt>
                <c:pt idx="43">
                  <c:v>9.6</c:v>
                </c:pt>
                <c:pt idx="44">
                  <c:v>8.3</c:v>
                </c:pt>
                <c:pt idx="45">
                  <c:v>7.1</c:v>
                </c:pt>
                <c:pt idx="46">
                  <c:v>4.9</c:v>
                </c:pt>
                <c:pt idx="47">
                  <c:v>8.2</c:v>
                </c:pt>
                <c:pt idx="48">
                  <c:v>10.8</c:v>
                </c:pt>
                <c:pt idx="49">
                  <c:v>11.2</c:v>
                </c:pt>
                <c:pt idx="50">
                  <c:v>10.9</c:v>
                </c:pt>
                <c:pt idx="51">
                  <c:v>8.6</c:v>
                </c:pt>
                <c:pt idx="52">
                  <c:v>3.3</c:v>
                </c:pt>
                <c:pt idx="53">
                  <c:v>9.1</c:v>
                </c:pt>
                <c:pt idx="54">
                  <c:v>11.7</c:v>
                </c:pt>
                <c:pt idx="55">
                  <c:v>8.1</c:v>
                </c:pt>
                <c:pt idx="56">
                  <c:v>6.5</c:v>
                </c:pt>
                <c:pt idx="57">
                  <c:v>9.2</c:v>
                </c:pt>
                <c:pt idx="58">
                  <c:v>7.6</c:v>
                </c:pt>
                <c:pt idx="59">
                  <c:v>6.8</c:v>
                </c:pt>
                <c:pt idx="60">
                  <c:v>11.2</c:v>
                </c:pt>
                <c:pt idx="61">
                  <c:v>11.1</c:v>
                </c:pt>
                <c:pt idx="62">
                  <c:v>7.3</c:v>
                </c:pt>
                <c:pt idx="63">
                  <c:v>4.1</c:v>
                </c:pt>
                <c:pt idx="64">
                  <c:v>6.4</c:v>
                </c:pt>
                <c:pt idx="65">
                  <c:v>9.9</c:v>
                </c:pt>
                <c:pt idx="66">
                  <c:v>9.1</c:v>
                </c:pt>
                <c:pt idx="67">
                  <c:v>11.0</c:v>
                </c:pt>
                <c:pt idx="68">
                  <c:v>9.5</c:v>
                </c:pt>
                <c:pt idx="69">
                  <c:v>7.0</c:v>
                </c:pt>
                <c:pt idx="70">
                  <c:v>10.3</c:v>
                </c:pt>
                <c:pt idx="71">
                  <c:v>10.0</c:v>
                </c:pt>
                <c:pt idx="72">
                  <c:v>6.6</c:v>
                </c:pt>
                <c:pt idx="73">
                  <c:v>5.1</c:v>
                </c:pt>
                <c:pt idx="74">
                  <c:v>8.8</c:v>
                </c:pt>
                <c:pt idx="75">
                  <c:v>11.3</c:v>
                </c:pt>
                <c:pt idx="76">
                  <c:v>9.3</c:v>
                </c:pt>
                <c:pt idx="77">
                  <c:v>8.6</c:v>
                </c:pt>
                <c:pt idx="78">
                  <c:v>9.2</c:v>
                </c:pt>
                <c:pt idx="79">
                  <c:v>9.5</c:v>
                </c:pt>
                <c:pt idx="80">
                  <c:v>9.4</c:v>
                </c:pt>
                <c:pt idx="81">
                  <c:v>9.3</c:v>
                </c:pt>
                <c:pt idx="82">
                  <c:v>6.8</c:v>
                </c:pt>
                <c:pt idx="83">
                  <c:v>8.8</c:v>
                </c:pt>
                <c:pt idx="84">
                  <c:v>8.9</c:v>
                </c:pt>
                <c:pt idx="85">
                  <c:v>4.3</c:v>
                </c:pt>
                <c:pt idx="86">
                  <c:v>9.4</c:v>
                </c:pt>
                <c:pt idx="87">
                  <c:v>11.8</c:v>
                </c:pt>
                <c:pt idx="88">
                  <c:v>11.2</c:v>
                </c:pt>
                <c:pt idx="89">
                  <c:v>4.5</c:v>
                </c:pt>
                <c:pt idx="90">
                  <c:v>5.9</c:v>
                </c:pt>
                <c:pt idx="91">
                  <c:v>8.9</c:v>
                </c:pt>
                <c:pt idx="92">
                  <c:v>9.4</c:v>
                </c:pt>
                <c:pt idx="93">
                  <c:v>10.9</c:v>
                </c:pt>
                <c:pt idx="94">
                  <c:v>8.0</c:v>
                </c:pt>
                <c:pt idx="95">
                  <c:v>8.7</c:v>
                </c:pt>
                <c:pt idx="96">
                  <c:v>8.6</c:v>
                </c:pt>
                <c:pt idx="97">
                  <c:v>6.5</c:v>
                </c:pt>
                <c:pt idx="98">
                  <c:v>8.1</c:v>
                </c:pt>
                <c:pt idx="99">
                  <c:v>11.5</c:v>
                </c:pt>
                <c:pt idx="100">
                  <c:v>9.5</c:v>
                </c:pt>
                <c:pt idx="101">
                  <c:v>8.0</c:v>
                </c:pt>
                <c:pt idx="102">
                  <c:v>11.4</c:v>
                </c:pt>
                <c:pt idx="103">
                  <c:v>7.2</c:v>
                </c:pt>
                <c:pt idx="104">
                  <c:v>9.4</c:v>
                </c:pt>
                <c:pt idx="105">
                  <c:v>11.0</c:v>
                </c:pt>
                <c:pt idx="106">
                  <c:v>9.6</c:v>
                </c:pt>
                <c:pt idx="107">
                  <c:v>11.9</c:v>
                </c:pt>
                <c:pt idx="108">
                  <c:v>10.6</c:v>
                </c:pt>
                <c:pt idx="109">
                  <c:v>11.6</c:v>
                </c:pt>
                <c:pt idx="110">
                  <c:v>11.8</c:v>
                </c:pt>
                <c:pt idx="111">
                  <c:v>10.6</c:v>
                </c:pt>
                <c:pt idx="112">
                  <c:v>9.5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Sheet1!$B$204</c:f>
              <c:strCache>
                <c:ptCount val="1"/>
                <c:pt idx="0">
                  <c:v>Exit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6"/>
            <c:spPr>
              <a:solidFill>
                <a:srgbClr val="1E2226"/>
              </a:solidFill>
              <a:ln>
                <a:solidFill>
                  <a:srgbClr val="1E2226"/>
                </a:solidFill>
              </a:ln>
            </c:spPr>
          </c:marker>
          <c:xVal>
            <c:numRef>
              <c:f>Sheet1!$A$205:$A$219</c:f>
              <c:numCache>
                <c:formatCode>0.0</c:formatCode>
                <c:ptCount val="113"/>
                <c:pt idx="0">
                  <c:v>-2.3</c:v>
                </c:pt>
                <c:pt idx="1">
                  <c:v>1.1</c:v>
                </c:pt>
                <c:pt idx="2">
                  <c:v>-2.3</c:v>
                </c:pt>
                <c:pt idx="3">
                  <c:v>-3.1</c:v>
                </c:pt>
                <c:pt idx="4">
                  <c:v>1.0</c:v>
                </c:pt>
                <c:pt idx="5">
                  <c:v>-0.4</c:v>
                </c:pt>
                <c:pt idx="6">
                  <c:v>-0.7</c:v>
                </c:pt>
                <c:pt idx="7">
                  <c:v>0.5</c:v>
                </c:pt>
                <c:pt idx="8">
                  <c:v>-0.8</c:v>
                </c:pt>
                <c:pt idx="9">
                  <c:v>-0.3</c:v>
                </c:pt>
                <c:pt idx="10">
                  <c:v>-0.2</c:v>
                </c:pt>
                <c:pt idx="11">
                  <c:v>0.8</c:v>
                </c:pt>
                <c:pt idx="12">
                  <c:v>-1.0</c:v>
                </c:pt>
                <c:pt idx="13">
                  <c:v>1.2</c:v>
                </c:pt>
                <c:pt idx="14">
                  <c:v>1.4</c:v>
                </c:pt>
              </c:numCache>
            </c:numRef>
          </c:xVal>
          <c:yVal>
            <c:numRef>
              <c:f>Sheet1!$B$205:$B$219</c:f>
              <c:numCache>
                <c:formatCode>0.0</c:formatCode>
                <c:ptCount val="113"/>
                <c:pt idx="0">
                  <c:v>-1.6</c:v>
                </c:pt>
                <c:pt idx="1">
                  <c:v>2.9</c:v>
                </c:pt>
                <c:pt idx="2">
                  <c:v>2.1</c:v>
                </c:pt>
                <c:pt idx="3">
                  <c:v>-7.2</c:v>
                </c:pt>
                <c:pt idx="4">
                  <c:v>1.5</c:v>
                </c:pt>
                <c:pt idx="5">
                  <c:v>1.6</c:v>
                </c:pt>
                <c:pt idx="6">
                  <c:v>-2.3</c:v>
                </c:pt>
                <c:pt idx="7">
                  <c:v>0.5</c:v>
                </c:pt>
                <c:pt idx="8">
                  <c:v>1.0</c:v>
                </c:pt>
                <c:pt idx="9">
                  <c:v>0.3</c:v>
                </c:pt>
                <c:pt idx="10">
                  <c:v>2.0</c:v>
                </c:pt>
                <c:pt idx="11">
                  <c:v>-1.9</c:v>
                </c:pt>
                <c:pt idx="12">
                  <c:v>2.8</c:v>
                </c:pt>
                <c:pt idx="13">
                  <c:v>-0.3</c:v>
                </c:pt>
                <c:pt idx="14">
                  <c:v>2.8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max val="10.0"/>
          <c:min val="-8.0"/>
        </c:scaling>
        <c:delete val="0"/>
        <c:axPos val="b"/>
        <c:title>
          <c:tx>
            <c:rich>
              <a:bodyPr rot="0" vert="horz"/>
              <a:lstStyle/>
              <a:p>
                <a:r>
                  <a:rPr sz="750" b="0" i="0">
                    <a:solidFill>
                      <a:srgbClr val="5C6670"/>
                    </a:solidFill>
                    <a:latin typeface="Arial"/>
                  </a:rPr>
                  <a:t>Catchment grocery spend growth, 2022-25 (% a year)</a:t>
                </a:r>
              </a:p>
            </c:rich>
          </c:tx>
          <c:layout/>
          <c:overlay val="0"/>
        </c:title>
        <c:numFmt formatCode="0&quot;%&quot;" sourceLinked="0"/>
        <c:majorTickMark val="out"/>
        <c:minorTickMark val="none"/>
        <c:tickLblPos val="low"/>
        <c:spPr>
          <a:ln w="9525">
            <a:solidFill>
              <a:srgbClr val="C9CFD6"/>
            </a:solidFill>
          </a:ln>
        </c:spPr>
        <c:txPr>
          <a:bodyPr/>
          <a:lstStyle/>
          <a:p>
            <a:pPr>
              <a:defRPr sz="750" b="0" i="0">
                <a:solidFill>
                  <a:srgbClr val="5C6670"/>
                </a:solidFill>
                <a:latin typeface="Arial"/>
              </a:defRPr>
            </a:pPr>
          </a:p>
        </c:txPr>
        <c:crossAx val="-2129643912"/>
        <c:crosses val="autoZero"/>
        <c:crossBetween val="midCat"/>
        <c:majorUnit val="2.0"/>
      </c:valAx>
      <c:valAx>
        <c:axId val="-2129643912"/>
        <c:scaling>
          <c:max val="32.0"/>
          <c:min val="-8.0"/>
        </c:scaling>
        <c:delete val="0"/>
        <c:axPos val="l"/>
        <c:title>
          <c:tx>
            <c:rich>
              <a:bodyPr rot="-5400000" vert="horz"/>
              <a:lstStyle/>
              <a:p>
                <a:r>
                  <a:rPr sz="750" b="0" i="0">
                    <a:solidFill>
                      <a:srgbClr val="5C6670"/>
                    </a:solidFill>
                    <a:latin typeface="Arial"/>
                  </a:rPr>
                  <a:t>Store cash return on capital, 2025 (%)</a:t>
                </a:r>
              </a:p>
            </c:rich>
          </c:tx>
          <c:layout/>
          <c:overlay val="0"/>
        </c:title>
        <c:numFmt formatCode="0&quot;%&quot;" sourceLinked="0"/>
        <c:majorTickMark val="out"/>
        <c:minorTickMark val="none"/>
        <c:tickLblPos val="low"/>
        <c:spPr>
          <a:ln w="9525">
            <a:solidFill>
              <a:srgbClr val="C9CFD6"/>
            </a:solidFill>
          </a:ln>
        </c:spPr>
        <c:txPr>
          <a:bodyPr/>
          <a:lstStyle/>
          <a:p>
            <a:pPr>
              <a:defRPr sz="750" b="0" i="0">
                <a:solidFill>
                  <a:srgbClr val="5C6670"/>
                </a:solidFill>
                <a:latin typeface="Arial"/>
              </a:defRPr>
            </a:pPr>
          </a:p>
        </c:txPr>
        <c:crossAx val="-2128940872"/>
        <c:crosses val="autoZero"/>
        <c:crossBetween val="midCat"/>
        <c:majorUnit val="4.0"/>
      </c:valAx>
      <c:spPr>
        <a:noFill/>
      </c:spPr>
    </c:plotArea>
    <c:plotVisOnly val="1"/>
    <c:dispBlanksAs val="gap"/>
    <c:showDLblsOverMax val="0"/>
  </c:chart>
  <c:txPr>
    <a:bodyPr/>
    <a:lstStyle/>
    <a:p>
      <a:pPr>
        <a:defRPr sz="750" b="0" i="0">
          <a:solidFill>
            <a:srgbClr val="5C667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1"/>
          <c:y val="0.02"/>
          <c:w val="0.98"/>
          <c:h val="0.8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Sheet1!$A$2:$A$8</c:f>
              <c:strCache>
                <c:ptCount val="7"/>
                <c:pt idx="0">
                  <c:v>2025 store EBITDA</c:v>
                </c:pt>
                <c:pt idx="1">
                  <c:v>Reformat</c:v>
                </c:pt>
                <c:pt idx="2">
                  <c:v>Right-size</c:v>
                </c:pt>
                <c:pt idx="3">
                  <c:v>Exits, net of transfer</c:v>
                </c:pt>
                <c:pt idx="4">
                  <c:v>New neighbourhood</c:v>
                </c:pt>
                <c:pt idx="5">
                  <c:v>Unchanged large stores</c:v>
                </c:pt>
                <c:pt idx="6">
                  <c:v>2028 store EBITDA</c:v>
                </c:pt>
              </c:strCache>
            </c:strRef>
          </c:cat>
          <c:val>
            <c:numRef>
              <c:f>Sheet1!$B$2:$B$8</c:f>
              <c:numCache>
                <c:formatCode>0.0</c:formatCode>
                <c:ptCount val="7"/>
                <c:pt idx="0">
                  <c:v>0.0</c:v>
                </c:pt>
                <c:pt idx="1">
                  <c:v>227.4</c:v>
                </c:pt>
                <c:pt idx="2">
                  <c:v>284.9</c:v>
                </c:pt>
                <c:pt idx="3">
                  <c:v>304.2</c:v>
                </c:pt>
                <c:pt idx="4">
                  <c:v>316.0</c:v>
                </c:pt>
                <c:pt idx="5">
                  <c:v>323.3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Step</c:v>
                </c:pt>
              </c:strCache>
            </c:strRef>
          </c:tx>
          <c:spPr>
            <a:solidFill>
              <a:srgbClr val="1F3A5F"/>
            </a:solidFill>
            <a:ln>
              <a:noFill/>
            </a:ln>
          </c:spPr>
          <c:dPt>
            <c:idx val="0"/>
            <c:spPr>
              <a:solidFill>
                <a:srgbClr val="1F3A5F"/>
              </a:solidFill>
            </c:spPr>
          </c:dPt>
          <c:dPt>
            <c:idx val="1"/>
            <c:spPr>
              <a:solidFill>
                <a:srgbClr val="2E7550"/>
              </a:solidFill>
            </c:spPr>
          </c:dPt>
          <c:dPt>
            <c:idx val="2"/>
            <c:spPr>
              <a:solidFill>
                <a:srgbClr val="2E7550"/>
              </a:solidFill>
            </c:spPr>
          </c:dPt>
          <c:dPt>
            <c:idx val="3"/>
            <c:spPr>
              <a:solidFill>
                <a:srgbClr val="2E7550"/>
              </a:solidFill>
            </c:spPr>
          </c:dPt>
          <c:dPt>
            <c:idx val="4"/>
            <c:spPr>
              <a:solidFill>
                <a:srgbClr val="2E7550"/>
              </a:solidFill>
            </c:spPr>
          </c:dPt>
          <c:dPt>
            <c:idx val="5"/>
            <c:spPr>
              <a:solidFill>
                <a:srgbClr val="A8322B"/>
              </a:solidFill>
            </c:spPr>
          </c:dPt>
          <c:dPt>
            <c:idx val="6"/>
            <c:spPr>
              <a:solidFill>
                <a:srgbClr val="1F3A5F"/>
              </a:solidFill>
            </c:spPr>
          </c:dPt>
          <c:cat>
            <c:strRef>
              <c:f>Sheet1!$A$2:$A$8</c:f>
              <c:strCache>
                <c:ptCount val="7"/>
                <c:pt idx="0">
                  <c:v>2025 store EBITDA</c:v>
                </c:pt>
                <c:pt idx="1">
                  <c:v>Reformat</c:v>
                </c:pt>
                <c:pt idx="2">
                  <c:v>Right-size</c:v>
                </c:pt>
                <c:pt idx="3">
                  <c:v>Exits, net of transfer</c:v>
                </c:pt>
                <c:pt idx="4">
                  <c:v>New neighbourhood</c:v>
                </c:pt>
                <c:pt idx="5">
                  <c:v>Unchanged large stores</c:v>
                </c:pt>
                <c:pt idx="6">
                  <c:v>2028 store EBITDA</c:v>
                </c:pt>
              </c:strCache>
            </c:strRef>
          </c:cat>
          <c:val>
            <c:numRef>
              <c:f>Sheet1!$C$2:$C$8</c:f>
              <c:numCache>
                <c:formatCode>0.0</c:formatCode>
                <c:ptCount val="7"/>
                <c:pt idx="0">
                  <c:v>227.4</c:v>
                </c:pt>
                <c:pt idx="1">
                  <c:v>57.5</c:v>
                </c:pt>
                <c:pt idx="2">
                  <c:v>19.3</c:v>
                </c:pt>
                <c:pt idx="3">
                  <c:v>11.8</c:v>
                </c:pt>
                <c:pt idx="4">
                  <c:v>11.7</c:v>
                </c:pt>
                <c:pt idx="5">
                  <c:v>4.4</c:v>
                </c:pt>
                <c:pt idx="6">
                  <c:v>323.3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Label</c:v>
                </c:pt>
              </c:strCache>
            </c:strRef>
          </c:tx>
          <c:spPr>
            <a:noFill/>
            <a:ln>
              <a:noFill/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750" b="1" i="0">
                        <a:solidFill>
                          <a:srgbClr val="1E2226"/>
                        </a:solidFill>
                        <a:latin typeface="Arial"/>
                      </a:rPr>
                      <a:t>£227.4m</a:t>
                    </a:r>
                  </a:p>
                </c:rich>
              </c:tx>
              <c:txPr>
                <a:bodyPr/>
                <a:lstStyle/>
                <a:p>
                  <a:pPr>
                    <a:defRPr sz="750" b="1" i="0">
                      <a:solidFill>
                        <a:srgbClr val="1E2226"/>
                      </a:solidFill>
                      <a:latin typeface="Arial"/>
                    </a:defRPr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750" b="1" i="0">
                        <a:solidFill>
                          <a:srgbClr val="1E2226"/>
                        </a:solidFill>
                        <a:latin typeface="Arial"/>
                      </a:rPr>
                      <a:t>+57.5</a:t>
                    </a:r>
                  </a:p>
                </c:rich>
              </c:tx>
              <c:txPr>
                <a:bodyPr/>
                <a:lstStyle/>
                <a:p>
                  <a:pPr>
                    <a:defRPr sz="750" b="1" i="0">
                      <a:solidFill>
                        <a:srgbClr val="1E2226"/>
                      </a:solidFill>
                      <a:latin typeface="Arial"/>
                    </a:defRPr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750" b="1" i="0">
                        <a:solidFill>
                          <a:srgbClr val="1E2226"/>
                        </a:solidFill>
                        <a:latin typeface="Arial"/>
                      </a:rPr>
                      <a:t>+19.3</a:t>
                    </a:r>
                  </a:p>
                </c:rich>
              </c:tx>
              <c:txPr>
                <a:bodyPr/>
                <a:lstStyle/>
                <a:p>
                  <a:pPr>
                    <a:defRPr sz="750" b="1" i="0">
                      <a:solidFill>
                        <a:srgbClr val="1E2226"/>
                      </a:solidFill>
                      <a:latin typeface="Arial"/>
                    </a:defRPr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750" b="1" i="0">
                        <a:solidFill>
                          <a:srgbClr val="1E2226"/>
                        </a:solidFill>
                        <a:latin typeface="Arial"/>
                      </a:rPr>
                      <a:t>+11.8</a:t>
                    </a:r>
                  </a:p>
                </c:rich>
              </c:tx>
              <c:txPr>
                <a:bodyPr/>
                <a:lstStyle/>
                <a:p>
                  <a:pPr>
                    <a:defRPr sz="750" b="1" i="0">
                      <a:solidFill>
                        <a:srgbClr val="1E2226"/>
                      </a:solidFill>
                      <a:latin typeface="Arial"/>
                    </a:defRPr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750" b="1" i="0">
                        <a:solidFill>
                          <a:srgbClr val="1E2226"/>
                        </a:solidFill>
                        <a:latin typeface="Arial"/>
                      </a:rPr>
                      <a:t>+11.7</a:t>
                    </a:r>
                  </a:p>
                </c:rich>
              </c:tx>
              <c:txPr>
                <a:bodyPr/>
                <a:lstStyle/>
                <a:p>
                  <a:pPr>
                    <a:defRPr sz="750" b="1" i="0">
                      <a:solidFill>
                        <a:srgbClr val="1E2226"/>
                      </a:solidFill>
                      <a:latin typeface="Arial"/>
                    </a:defRPr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750" b="1" i="0">
                        <a:solidFill>
                          <a:srgbClr val="1E2226"/>
                        </a:solidFill>
                        <a:latin typeface="Arial"/>
                      </a:rPr>
                      <a:t>(4.4)</a:t>
                    </a:r>
                  </a:p>
                </c:rich>
              </c:tx>
              <c:txPr>
                <a:bodyPr/>
                <a:lstStyle/>
                <a:p>
                  <a:pPr>
                    <a:defRPr sz="750" b="1" i="0">
                      <a:solidFill>
                        <a:srgbClr val="1E2226"/>
                      </a:solidFill>
                      <a:latin typeface="Arial"/>
                    </a:defRPr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750" b="1" i="0">
                        <a:solidFill>
                          <a:srgbClr val="1E2226"/>
                        </a:solidFill>
                        <a:latin typeface="Arial"/>
                      </a:rPr>
                      <a:t>£323.3m</a:t>
                    </a:r>
                  </a:p>
                </c:rich>
              </c:tx>
              <c:txPr>
                <a:bodyPr/>
                <a:lstStyle/>
                <a:p>
                  <a:pPr>
                    <a:defRPr sz="750" b="1" i="0">
                      <a:solidFill>
                        <a:srgbClr val="1E2226"/>
                      </a:solidFill>
                      <a:latin typeface="Arial"/>
                    </a:defRPr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" sourceLinked="0"/>
            <c:txPr>
              <a:bodyPr/>
              <a:lstStyle/>
              <a:p>
                <a:pPr>
                  <a:defRPr sz="750" b="1" i="0">
                    <a:solidFill>
                      <a:srgbClr val="1E2226"/>
                    </a:solidFill>
                    <a:latin typeface="Arial"/>
                  </a:defRPr>
                </a:pPr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2025 store EBITDA</c:v>
                </c:pt>
                <c:pt idx="1">
                  <c:v>Reformat</c:v>
                </c:pt>
                <c:pt idx="2">
                  <c:v>Right-size</c:v>
                </c:pt>
                <c:pt idx="3">
                  <c:v>Exits, net of transfer</c:v>
                </c:pt>
                <c:pt idx="4">
                  <c:v>New neighbourhood</c:v>
                </c:pt>
                <c:pt idx="5">
                  <c:v>Unchanged large stores</c:v>
                </c:pt>
                <c:pt idx="6">
                  <c:v>2028 store EBITDA</c:v>
                </c:pt>
              </c:strCache>
            </c:strRef>
          </c:cat>
          <c:val>
            <c:numRef>
              <c:f>Sheet1!$D$2:$D$8</c:f>
              <c:numCache>
                <c:formatCode>0.0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gapWidth val="35"/>
        <c:overlap val="100"/>
        <c:axId val="-2068027336"/>
        <c:axId val="-2113994440"/>
      </c:barChart>
      <c:catAx>
        <c:axId val="-2068027336"/>
        <c:scaling/>
        <c:delete val="0"/>
        <c:axPos val="b"/>
        <c:majorTickMark val="none"/>
        <c:minorTickMark val="none"/>
        <c:tickLblPos val="nextTo"/>
        <c:spPr>
          <a:ln w="9525">
            <a:solidFill>
              <a:srgbClr val="C9CFD6"/>
            </a:solidFill>
          </a:ln>
        </c:spPr>
        <c:txPr>
          <a:bodyPr rot="0" vert="horz"/>
          <a:lstStyle/>
          <a:p>
            <a:pPr>
              <a:defRPr sz="750" b="0" i="0">
                <a:solidFill>
                  <a:srgbClr val="5C667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45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  <c:crossBetween val="between"/>
      </c:valAx>
      <c:spPr>
        <a:noFill/>
      </c:spPr>
    </c:plotArea>
    <c:dispBlanksAs val="gap"/>
  </c:chart>
  <c:txPr>
    <a:bodyPr/>
    <a:lstStyle/>
    <a:p>
      <a:pPr>
        <a:defRPr sz="750" b="0" i="0">
          <a:solidFill>
            <a:srgbClr val="5C667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figures on this page are illustrative: Brindle Markets is a fictional grocer and every number was invented for this section and computed in figures.py.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figures on this page are illustrative: Brindle Markets is a fictional grocer and every number was invented for this section and computed in figures.py.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figures on this page are illustrative: Brindle Markets is a fictional grocer and every number was invented for this section and computed in figures.py.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figures on this page are illustrative: Brindle Markets is a fictional grocer and every number was invented for this section and computed in figures.py.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figures on this page are illustrative: Brindle Markets is a fictional grocer and every number was invented for this section and computed in figures.py.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tags" Target="../tags/tag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tags" Target="../tags/tag2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tags" Target="../tags/tag3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tags" Target="../tags/tag4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tags" Target="../tags/tag5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1" name="chrome-1"/>
          <p:cNvCxnSpPr/>
          <p:nvPr/>
        </p:nvCxnSpPr>
        <p:spPr>
          <a:xfrm>
            <a:off x="411480" y="1147572"/>
            <a:ext cx="11368735" cy="0"/>
          </a:xfrm>
          <a:prstGeom prst="line">
            <a:avLst/>
          </a:prstGeom>
          <a:ln w="9525">
            <a:solidFill>
              <a:srgbClr val="1E2226"/>
            </a:solidFill>
          </a:ln>
        </p:spPr>
      </p:cxnSp>
      <p:sp>
        <p:nvSpPr>
          <p:cNvPr id="22" name="chrome-2"/>
          <p:cNvSpPr txBox="1"/>
          <p:nvPr/>
        </p:nvSpPr>
        <p:spPr>
          <a:xfrm>
            <a:off x="411480" y="6556248"/>
            <a:ext cx="6400800" cy="1645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700" b="0">
                <a:solidFill>
                  <a:srgbClr val="5C6670"/>
                </a:solidFill>
                <a:latin typeface="Arial"/>
              </a:rPr>
              <a:t>Brindle Markets  |  Store format strategy  |  Steering committee pre-read  |  Illustrative figures</a:t>
            </a:r>
          </a:p>
        </p:txBody>
      </p:sp>
      <p:sp>
        <p:nvSpPr>
          <p:cNvPr id="23" name="chrome-3"/>
          <p:cNvSpPr txBox="1"/>
          <p:nvPr/>
        </p:nvSpPr>
        <p:spPr>
          <a:xfrm>
            <a:off x="11323015" y="6556248"/>
            <a:ext cx="457200" cy="1645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fld id="{B6F15528-21DE-4FAA-801E-634DDDAF5B2F}" type="slidenum">
              <a:rPr sz="700">
                <a:solidFill>
                  <a:srgbClr val="5C6670"/>
                </a:solidFill>
                <a:latin typeface="Arial"/>
              </a:rPr>
              <a:t>1</a:t>
            </a:fld>
          </a:p>
        </p:txBody>
      </p:sp>
      <p:sp>
        <p:nvSpPr>
          <p:cNvPr id="2" name="kicker"/>
          <p:cNvSpPr/>
          <p:nvPr/>
        </p:nvSpPr>
        <p:spPr>
          <a:xfrm>
            <a:off x="411480" y="411480"/>
            <a:ext cx="1136904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spc="50">
                <a:solidFill>
                  <a:srgbClr val="1F3A5F"/>
                </a:solidFill>
                <a:latin typeface="Arial"/>
              </a:rPr>
              <a:t>01  MARKET SHIFT</a:t>
            </a:r>
          </a:p>
        </p:txBody>
      </p:sp>
      <p:sp>
        <p:nvSpPr>
          <p:cNvPr id="3" name="title"/>
          <p:cNvSpPr/>
          <p:nvPr/>
        </p:nvSpPr>
        <p:spPr>
          <a:xfrm>
            <a:off x="411480" y="560832"/>
            <a:ext cx="11369040" cy="533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1E2226"/>
                </a:solidFill>
                <a:latin typeface="Georgia"/>
              </a:rPr>
              <a:t>Grocery spend grows £12.9bn by 2028, yet large stores’ share falls from 47% to 36% as</a:t>
            </a:r>
            <a:br/>
            <a:r>
              <a:rPr sz="2000" b="1" i="0">
                <a:solidFill>
                  <a:srgbClr val="1E2226"/>
                </a:solidFill>
                <a:latin typeface="Georgia"/>
              </a:rPr>
              <a:t>shoppers trade the weekly shop for top-ups</a:t>
            </a:r>
          </a:p>
        </p:txBody>
      </p:sp>
      <p:sp>
        <p:nvSpPr>
          <p:cNvPr id="4" name="exA-h"/>
          <p:cNvSpPr/>
          <p:nvPr/>
        </p:nvSpPr>
        <p:spPr>
          <a:xfrm>
            <a:off x="411480" y="1252728"/>
            <a:ext cx="4501584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1E2226"/>
                </a:solidFill>
                <a:latin typeface="Arial"/>
              </a:rPr>
              <a:t>Share of regional grocery spend by channel</a:t>
            </a:r>
          </a:p>
        </p:txBody>
      </p:sp>
      <p:sp>
        <p:nvSpPr>
          <p:cNvPr id="5" name="exA-u"/>
          <p:cNvSpPr/>
          <p:nvPr/>
        </p:nvSpPr>
        <p:spPr>
          <a:xfrm>
            <a:off x="411480" y="1432560"/>
            <a:ext cx="4501584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C6670"/>
                </a:solidFill>
                <a:latin typeface="Arial"/>
              </a:rPr>
              <a:t>% of spend; market £38.0bn in 2019, £46.4bn in 2025, £50.9bn forecast for 2028</a:t>
            </a:r>
          </a:p>
        </p:txBody>
      </p:sp>
      <p:graphicFrame>
        <p:nvGraphicFramePr>
          <p:cNvPr id="6" name="slope"/>
          <p:cNvGraphicFramePr>
            <a:graphicFrameLocks noGrp="1"/>
          </p:cNvGraphicFramePr>
          <p:nvPr/>
        </p:nvGraphicFramePr>
        <p:xfrm>
          <a:off x="411480" y="1574292"/>
          <a:ext cx="4501584" cy="46558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exB-h"/>
          <p:cNvSpPr/>
          <p:nvPr/>
        </p:nvSpPr>
        <p:spPr>
          <a:xfrm>
            <a:off x="5141664" y="1252728"/>
            <a:ext cx="3601267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1E2226"/>
                </a:solidFill>
                <a:latin typeface="Arial"/>
              </a:rPr>
              <a:t>Shopping trips by mission</a:t>
            </a:r>
          </a:p>
        </p:txBody>
      </p:sp>
      <p:sp>
        <p:nvSpPr>
          <p:cNvPr id="8" name="exB-u"/>
          <p:cNvSpPr/>
          <p:nvPr/>
        </p:nvSpPr>
        <p:spPr>
          <a:xfrm>
            <a:off x="5141664" y="1432560"/>
            <a:ext cx="3601267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C6670"/>
                </a:solidFill>
                <a:latin typeface="Arial"/>
              </a:rPr>
              <a:t>Trips per household per week, all missions 4.5 in 2019 and 5.0 in 2025; upper bar</a:t>
            </a:r>
            <a:br/>
            <a:r>
              <a:rPr sz="750" b="0" i="0">
                <a:solidFill>
                  <a:srgbClr val="5C6670"/>
                </a:solidFill>
                <a:latin typeface="Arial"/>
              </a:rPr>
              <a:t>2019 (grey-blue), lower bar 2025</a:t>
            </a:r>
          </a:p>
        </p:txBody>
      </p:sp>
      <p:graphicFrame>
        <p:nvGraphicFramePr>
          <p:cNvPr id="9" name="bars"/>
          <p:cNvGraphicFramePr>
            <a:graphicFrameLocks noGrp="1"/>
          </p:cNvGraphicFramePr>
          <p:nvPr/>
        </p:nvGraphicFramePr>
        <p:xfrm>
          <a:off x="5141664" y="1688592"/>
          <a:ext cx="3601267" cy="4541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panel-fill"/>
          <p:cNvSpPr/>
          <p:nvPr/>
        </p:nvSpPr>
        <p:spPr>
          <a:xfrm>
            <a:off x="8971531" y="1252728"/>
            <a:ext cx="2808989" cy="4977384"/>
          </a:xfrm>
          <a:prstGeom prst="rect">
            <a:avLst/>
          </a:prstGeom>
          <a:solidFill>
            <a:srgbClr val="F3F0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anel-h"/>
          <p:cNvSpPr/>
          <p:nvPr/>
        </p:nvSpPr>
        <p:spPr>
          <a:xfrm>
            <a:off x="9081259" y="1362456"/>
            <a:ext cx="2589533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1E2226"/>
                </a:solidFill>
                <a:latin typeface="Arial"/>
              </a:rPr>
              <a:t>What it means for Brindle</a:t>
            </a:r>
          </a:p>
        </p:txBody>
      </p:sp>
      <p:sp>
        <p:nvSpPr>
          <p:cNvPr id="12" name="t1-f"/>
          <p:cNvSpPr/>
          <p:nvPr/>
        </p:nvSpPr>
        <p:spPr>
          <a:xfrm>
            <a:off x="9081259" y="1624584"/>
            <a:ext cx="2589533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1F3A5F"/>
                </a:solidFill>
                <a:latin typeface="Georgia"/>
              </a:rPr>
              <a:t>56%</a:t>
            </a:r>
          </a:p>
        </p:txBody>
      </p:sp>
      <p:sp>
        <p:nvSpPr>
          <p:cNvPr id="13" name="t1-t"/>
          <p:cNvSpPr/>
          <p:nvPr/>
        </p:nvSpPr>
        <p:spPr>
          <a:xfrm>
            <a:off x="9081259" y="1931416"/>
            <a:ext cx="2589533" cy="43243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35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00" b="0" i="0">
                <a:solidFill>
                  <a:srgbClr val="1E2226"/>
                </a:solidFill>
                <a:latin typeface="Arial"/>
              </a:rPr>
              <a:t>of Brindle's store sales come from its 58</a:t>
            </a:r>
            <a:br/>
            <a:r>
              <a:rPr sz="900" b="0" i="0">
                <a:solidFill>
                  <a:srgbClr val="1E2226"/>
                </a:solidFill>
                <a:latin typeface="Arial"/>
              </a:rPr>
              <a:t>superstores, against a 40% large-store share of</a:t>
            </a:r>
            <a:br/>
            <a:r>
              <a:rPr sz="900" b="0" i="0">
                <a:solidFill>
                  <a:srgbClr val="1E2226"/>
                </a:solidFill>
                <a:latin typeface="Arial"/>
              </a:rPr>
              <a:t>the market</a:t>
            </a:r>
          </a:p>
        </p:txBody>
      </p:sp>
      <p:sp>
        <p:nvSpPr>
          <p:cNvPr id="14" name="t2-f"/>
          <p:cNvSpPr/>
          <p:nvPr/>
        </p:nvSpPr>
        <p:spPr>
          <a:xfrm>
            <a:off x="9081259" y="2473579"/>
            <a:ext cx="2589533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1F3A5F"/>
                </a:solidFill>
                <a:latin typeface="Georgia"/>
              </a:rPr>
              <a:t>£82</a:t>
            </a:r>
          </a:p>
        </p:txBody>
      </p:sp>
      <p:sp>
        <p:nvSpPr>
          <p:cNvPr id="15" name="t2-t"/>
          <p:cNvSpPr/>
          <p:nvPr/>
        </p:nvSpPr>
        <p:spPr>
          <a:xfrm>
            <a:off x="9081259" y="2780411"/>
            <a:ext cx="2589533" cy="43243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35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00" b="0" i="0">
                <a:solidFill>
                  <a:srgbClr val="1E2226"/>
                </a:solidFill>
                <a:latin typeface="Arial"/>
              </a:rPr>
              <a:t>average main-shop basket in 2025, up from £71 in</a:t>
            </a:r>
            <a:br/>
            <a:r>
              <a:rPr sz="900" b="0" i="0">
                <a:solidFill>
                  <a:srgbClr val="1E2226"/>
                </a:solidFill>
                <a:latin typeface="Arial"/>
              </a:rPr>
              <a:t>2019: fewer big shops, each larger, and more</a:t>
            </a:r>
            <a:br/>
            <a:r>
              <a:rPr sz="900" b="0" i="0">
                <a:solidFill>
                  <a:srgbClr val="1E2226"/>
                </a:solidFill>
                <a:latin typeface="Arial"/>
              </a:rPr>
              <a:t>small ones between them</a:t>
            </a:r>
          </a:p>
        </p:txBody>
      </p:sp>
      <p:sp>
        <p:nvSpPr>
          <p:cNvPr id="16" name="t3-f"/>
          <p:cNvSpPr/>
          <p:nvPr/>
        </p:nvSpPr>
        <p:spPr>
          <a:xfrm>
            <a:off x="9081259" y="3322574"/>
            <a:ext cx="2589533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1F3A5F"/>
                </a:solidFill>
                <a:latin typeface="Georgia"/>
              </a:rPr>
              <a:t>59%</a:t>
            </a:r>
          </a:p>
        </p:txBody>
      </p:sp>
      <p:sp>
        <p:nvSpPr>
          <p:cNvPr id="17" name="t3-t"/>
          <p:cNvSpPr/>
          <p:nvPr/>
        </p:nvSpPr>
        <p:spPr>
          <a:xfrm>
            <a:off x="9081259" y="3629406"/>
            <a:ext cx="2589533" cy="43243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35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00" b="0" i="0">
                <a:solidFill>
                  <a:srgbClr val="1E2226"/>
                </a:solidFill>
                <a:latin typeface="Arial"/>
              </a:rPr>
              <a:t>of 2028 spend goes to discounters, convenience</a:t>
            </a:r>
            <a:br/>
            <a:r>
              <a:rPr sz="900" b="0" i="0">
                <a:solidFill>
                  <a:srgbClr val="1E2226"/>
                </a:solidFill>
                <a:latin typeface="Arial"/>
              </a:rPr>
              <a:t>and online; Brindle's neighbourhood and express</a:t>
            </a:r>
            <a:br/>
            <a:r>
              <a:rPr sz="900" b="0" i="0">
                <a:solidFill>
                  <a:srgbClr val="1E2226"/>
                </a:solidFill>
                <a:latin typeface="Arial"/>
              </a:rPr>
              <a:t>stores carry 8% of its sales</a:t>
            </a:r>
          </a:p>
        </p:txBody>
      </p:sp>
      <p:sp>
        <p:nvSpPr>
          <p:cNvPr id="18" name="t4-f"/>
          <p:cNvSpPr/>
          <p:nvPr/>
        </p:nvSpPr>
        <p:spPr>
          <a:xfrm>
            <a:off x="9081259" y="4171569"/>
            <a:ext cx="2589533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1F3A5F"/>
                </a:solidFill>
                <a:latin typeface="Georgia"/>
              </a:rPr>
              <a:t>£0.4bn</a:t>
            </a:r>
          </a:p>
        </p:txBody>
      </p:sp>
      <p:sp>
        <p:nvSpPr>
          <p:cNvPr id="19" name="t4-t"/>
          <p:cNvSpPr/>
          <p:nvPr/>
        </p:nvSpPr>
        <p:spPr>
          <a:xfrm>
            <a:off x="9081259" y="4478401"/>
            <a:ext cx="2589533" cy="43243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35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00" b="0" i="0">
                <a:solidFill>
                  <a:srgbClr val="1E2226"/>
                </a:solidFill>
                <a:latin typeface="Arial"/>
              </a:rPr>
              <a:t>of the £12.9bn the market adds from 2019 to 2028</a:t>
            </a:r>
            <a:br/>
            <a:r>
              <a:rPr sz="900" b="0" i="0">
                <a:solidFill>
                  <a:srgbClr val="1E2226"/>
                </a:solidFill>
                <a:latin typeface="Arial"/>
              </a:rPr>
              <a:t>reaches large stores, whose spend moves from</a:t>
            </a:r>
            <a:br/>
            <a:r>
              <a:rPr sz="900" b="0" i="0">
                <a:solidFill>
                  <a:srgbClr val="1E2226"/>
                </a:solidFill>
                <a:latin typeface="Arial"/>
              </a:rPr>
              <a:t>£17.9bn to £18.3bn</a:t>
            </a:r>
          </a:p>
        </p:txBody>
      </p:sp>
      <p:sp>
        <p:nvSpPr>
          <p:cNvPr id="20" name="source"/>
          <p:cNvSpPr/>
          <p:nvPr/>
        </p:nvSpPr>
        <p:spPr>
          <a:xfrm>
            <a:off x="411480" y="6339840"/>
            <a:ext cx="1136904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C6670"/>
                </a:solidFill>
                <a:latin typeface="Arial"/>
              </a:rPr>
              <a:t>Source: Brindle store P&amp;L, capital register and loyalty-card data, 2025; regional grocery market model; team analysis. All figures illustrative.</a:t>
            </a:r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1" name="chrome-1"/>
          <p:cNvCxnSpPr/>
          <p:nvPr/>
        </p:nvCxnSpPr>
        <p:spPr>
          <a:xfrm>
            <a:off x="411480" y="1147572"/>
            <a:ext cx="11368735" cy="0"/>
          </a:xfrm>
          <a:prstGeom prst="line">
            <a:avLst/>
          </a:prstGeom>
          <a:ln w="9525">
            <a:solidFill>
              <a:srgbClr val="1E2226"/>
            </a:solidFill>
          </a:ln>
        </p:spPr>
      </p:cxnSp>
      <p:sp>
        <p:nvSpPr>
          <p:cNvPr id="22" name="chrome-2"/>
          <p:cNvSpPr txBox="1"/>
          <p:nvPr/>
        </p:nvSpPr>
        <p:spPr>
          <a:xfrm>
            <a:off x="411480" y="6556248"/>
            <a:ext cx="6400800" cy="1645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700" b="0">
                <a:solidFill>
                  <a:srgbClr val="5C6670"/>
                </a:solidFill>
                <a:latin typeface="Arial"/>
              </a:rPr>
              <a:t>Brindle Markets  |  Store format strategy  |  Steering committee pre-read  |  Illustrative figures</a:t>
            </a:r>
          </a:p>
        </p:txBody>
      </p:sp>
      <p:sp>
        <p:nvSpPr>
          <p:cNvPr id="23" name="chrome-3"/>
          <p:cNvSpPr txBox="1"/>
          <p:nvPr/>
        </p:nvSpPr>
        <p:spPr>
          <a:xfrm>
            <a:off x="11323015" y="6556248"/>
            <a:ext cx="457200" cy="1645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fld id="{B6F15528-21DE-4FAA-801E-634DDDAF5B2F}" type="slidenum">
              <a:rPr sz="700">
                <a:solidFill>
                  <a:srgbClr val="5C6670"/>
                </a:solidFill>
                <a:latin typeface="Arial"/>
              </a:rPr>
              <a:t>1</a:t>
            </a:fld>
          </a:p>
        </p:txBody>
      </p:sp>
      <p:sp>
        <p:nvSpPr>
          <p:cNvPr id="2" name="kicker"/>
          <p:cNvSpPr/>
          <p:nvPr/>
        </p:nvSpPr>
        <p:spPr>
          <a:xfrm>
            <a:off x="411480" y="411480"/>
            <a:ext cx="1136904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spc="50">
                <a:solidFill>
                  <a:srgbClr val="1F3A5F"/>
                </a:solidFill>
                <a:latin typeface="Arial"/>
              </a:rPr>
              <a:t>02  FORMAT ECONOMICS</a:t>
            </a:r>
          </a:p>
        </p:txBody>
      </p:sp>
      <p:sp>
        <p:nvSpPr>
          <p:cNvPr id="3" name="title"/>
          <p:cNvSpPr/>
          <p:nvPr/>
        </p:nvSpPr>
        <p:spPr>
          <a:xfrm>
            <a:off x="411480" y="560832"/>
            <a:ext cx="11369040" cy="533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1E2226"/>
                </a:solidFill>
                <a:latin typeface="Georgia"/>
              </a:rPr>
              <a:t>Superstores take 58% of Brindle’s capital but return 4.9%, under half the 12% hurdle;</a:t>
            </a:r>
            <a:br/>
            <a:r>
              <a:rPr sz="2000" b="1" i="0">
                <a:solidFill>
                  <a:srgbClr val="1E2226"/>
                </a:solidFill>
                <a:latin typeface="Georgia"/>
              </a:rPr>
              <a:t>neighbourhood stores return 19.5%</a:t>
            </a:r>
          </a:p>
        </p:txBody>
      </p:sp>
      <p:sp>
        <p:nvSpPr>
          <p:cNvPr id="4" name="exA-h"/>
          <p:cNvSpPr/>
          <p:nvPr/>
        </p:nvSpPr>
        <p:spPr>
          <a:xfrm>
            <a:off x="411480" y="1252728"/>
            <a:ext cx="6855655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1E2226"/>
                </a:solidFill>
                <a:latin typeface="Arial"/>
              </a:rPr>
              <a:t>Store P&amp;L by format, 2025</a:t>
            </a:r>
          </a:p>
        </p:txBody>
      </p:sp>
      <p:sp>
        <p:nvSpPr>
          <p:cNvPr id="5" name="exA-u"/>
          <p:cNvSpPr/>
          <p:nvPr/>
        </p:nvSpPr>
        <p:spPr>
          <a:xfrm>
            <a:off x="411480" y="1432560"/>
            <a:ext cx="6855655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C6670"/>
                </a:solidFill>
                <a:latin typeface="Arial"/>
              </a:rPr>
              <a:t>£m unless stated; store EBITDA before central costs; cash return is store EBITDA over invested capital</a:t>
            </a:r>
          </a:p>
        </p:txBody>
      </p:sp>
      <p:graphicFrame>
        <p:nvGraphicFramePr>
          <p:cNvPr id="6" name="ftab"/>
          <p:cNvGraphicFramePr>
            <a:graphicFrameLocks noGrp="1"/>
          </p:cNvGraphicFramePr>
          <p:nvPr/>
        </p:nvGraphicFramePr>
        <p:xfrm>
          <a:off x="411480" y="1574292"/>
          <a:ext cx="6855655" cy="3540760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2454782"/>
                <a:gridCol w="900140"/>
                <a:gridCol w="1024946"/>
                <a:gridCol w="1223732"/>
                <a:gridCol w="692592"/>
                <a:gridCol w="559463"/>
              </a:tblGrid>
              <a:tr h="177038">
                <a:tc>
                  <a:txBody>
                    <a:bodyPr wrap="square"/>
                    <a:lstStyle/>
                    <a:p>
                      <a:pPr algn="l"/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Superstore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Supermarket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Neighbourhood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Express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Estate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Scale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E222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E222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E222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E222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E222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E222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Stores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58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96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42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18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214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Average sales area (k sq ft)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55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24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8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2.8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27.5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Sales (£m)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2,172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1,404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263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51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3,890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Sales per store (£m)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37.4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14.6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6.3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2.8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18.2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Sales density (£ per sq ft per week)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13.09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11.72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15.05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19.42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12.72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Share of store sales (%)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56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36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7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1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100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Average years since last refit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9.6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7.2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3.1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2.4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6.6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Trading and profit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Like-for-like sales growth, 2025 (%)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(1.9)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0.8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5.4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4.2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(0.4)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Gross margin (%)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26.1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27.4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30.2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31.5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26.9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Store EBITDA (£m)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85.5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114.3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23.5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4.1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227.4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Store EBITDA margin (%)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3.9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8.1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8.9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8.1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5.8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Share of store EBITDA (%)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38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50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10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2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100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Capital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Invested capital (£m)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1,750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1,117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120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22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3,009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Share of invested capital (%)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C24E26"/>
                          </a:solidFill>
                          <a:latin typeface="Arial"/>
                        </a:rPr>
                        <a:t>58</a:t>
                      </a:r>
                      <a:endParaRPr sz="800" b="1" i="0">
                        <a:solidFill>
                          <a:srgbClr val="C24E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37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4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1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100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Cash return on capital (%)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C24E26"/>
                          </a:solidFill>
                          <a:latin typeface="Arial"/>
                        </a:rPr>
                        <a:t>4.9</a:t>
                      </a:r>
                      <a:endParaRPr sz="800" b="1" i="0">
                        <a:solidFill>
                          <a:srgbClr val="C24E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10.2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19.5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18.4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7.6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Stores under the 12% hurdle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56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68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3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1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128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exB-h"/>
          <p:cNvSpPr/>
          <p:nvPr/>
        </p:nvSpPr>
        <p:spPr>
          <a:xfrm>
            <a:off x="7495735" y="1252728"/>
            <a:ext cx="4284785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1E2226"/>
                </a:solidFill>
                <a:latin typeface="Arial"/>
              </a:rPr>
              <a:t>Cash return on invested capital</a:t>
            </a:r>
          </a:p>
        </p:txBody>
      </p:sp>
      <p:sp>
        <p:nvSpPr>
          <p:cNvPr id="8" name="exB-u"/>
          <p:cNvSpPr/>
          <p:nvPr/>
        </p:nvSpPr>
        <p:spPr>
          <a:xfrm>
            <a:off x="7495735" y="1432560"/>
            <a:ext cx="4284785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C6670"/>
                </a:solidFill>
                <a:latin typeface="Arial"/>
              </a:rPr>
              <a:t>%, 2025; hurdle is Brindle's 12% pre-tax cost of store capital</a:t>
            </a:r>
          </a:p>
        </p:txBody>
      </p:sp>
      <p:graphicFrame>
        <p:nvGraphicFramePr>
          <p:cNvPr id="9" name="retchart"/>
          <p:cNvGraphicFramePr>
            <a:graphicFrameLocks noGrp="1"/>
          </p:cNvGraphicFramePr>
          <p:nvPr/>
        </p:nvGraphicFramePr>
        <p:xfrm>
          <a:off x="7495735" y="1574292"/>
          <a:ext cx="4284785" cy="371881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band-fill"/>
          <p:cNvSpPr/>
          <p:nvPr/>
        </p:nvSpPr>
        <p:spPr>
          <a:xfrm>
            <a:off x="411480" y="5402834"/>
            <a:ext cx="11369040" cy="827278"/>
          </a:xfrm>
          <a:prstGeom prst="rect">
            <a:avLst/>
          </a:prstGeom>
          <a:solidFill>
            <a:srgbClr val="F3F0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and-h"/>
          <p:cNvSpPr/>
          <p:nvPr/>
        </p:nvSpPr>
        <p:spPr>
          <a:xfrm>
            <a:off x="521208" y="5512562"/>
            <a:ext cx="1642400" cy="60782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1E2226"/>
                </a:solidFill>
                <a:latin typeface="Arial"/>
              </a:rPr>
              <a:t>What it means for Brindle</a:t>
            </a:r>
          </a:p>
        </p:txBody>
      </p:sp>
      <p:sp>
        <p:nvSpPr>
          <p:cNvPr id="12" name="t1-f"/>
          <p:cNvSpPr/>
          <p:nvPr/>
        </p:nvSpPr>
        <p:spPr>
          <a:xfrm>
            <a:off x="2346488" y="5512562"/>
            <a:ext cx="2986182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1F3A5F"/>
                </a:solidFill>
                <a:latin typeface="Georgia"/>
              </a:rPr>
              <a:t>58%</a:t>
            </a:r>
          </a:p>
        </p:txBody>
      </p:sp>
      <p:sp>
        <p:nvSpPr>
          <p:cNvPr id="13" name="t1-t"/>
          <p:cNvSpPr/>
          <p:nvPr/>
        </p:nvSpPr>
        <p:spPr>
          <a:xfrm>
            <a:off x="2346488" y="5819394"/>
            <a:ext cx="2986182" cy="3009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35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00" b="0" i="0">
                <a:solidFill>
                  <a:srgbClr val="1E2226"/>
                </a:solidFill>
                <a:latin typeface="Arial"/>
              </a:rPr>
              <a:t>of invested capital sits in superstores, which earn 38% of</a:t>
            </a:r>
            <a:br/>
            <a:r>
              <a:rPr sz="900" b="0" i="0">
                <a:solidFill>
                  <a:srgbClr val="1E2226"/>
                </a:solidFill>
                <a:latin typeface="Arial"/>
              </a:rPr>
              <a:t>store EBITDA at a 3.9% margin</a:t>
            </a:r>
          </a:p>
        </p:txBody>
      </p:sp>
      <p:sp>
        <p:nvSpPr>
          <p:cNvPr id="14" name="t2-f"/>
          <p:cNvSpPr/>
          <p:nvPr/>
        </p:nvSpPr>
        <p:spPr>
          <a:xfrm>
            <a:off x="5515550" y="5512562"/>
            <a:ext cx="2986181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1F3A5F"/>
                </a:solidFill>
                <a:latin typeface="Georgia"/>
              </a:rPr>
              <a:t>124 of 154</a:t>
            </a:r>
          </a:p>
        </p:txBody>
      </p:sp>
      <p:sp>
        <p:nvSpPr>
          <p:cNvPr id="15" name="t2-t"/>
          <p:cNvSpPr/>
          <p:nvPr/>
        </p:nvSpPr>
        <p:spPr>
          <a:xfrm>
            <a:off x="5515550" y="5819394"/>
            <a:ext cx="2986181" cy="3009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35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00" b="0" i="0">
                <a:solidFill>
                  <a:srgbClr val="1E2226"/>
                </a:solidFill>
                <a:latin typeface="Arial"/>
              </a:rPr>
              <a:t>superstores and supermarkets return under 12%; 56 of</a:t>
            </a:r>
            <a:br/>
            <a:r>
              <a:rPr sz="900" b="0" i="0">
                <a:solidFill>
                  <a:srgbClr val="1E2226"/>
                </a:solidFill>
                <a:latin typeface="Arial"/>
              </a:rPr>
              <a:t>the 58 superstores do</a:t>
            </a:r>
          </a:p>
        </p:txBody>
      </p:sp>
      <p:sp>
        <p:nvSpPr>
          <p:cNvPr id="16" name="t3-f"/>
          <p:cNvSpPr/>
          <p:nvPr/>
        </p:nvSpPr>
        <p:spPr>
          <a:xfrm>
            <a:off x="8684611" y="5512562"/>
            <a:ext cx="2986181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1F3A5F"/>
                </a:solidFill>
                <a:latin typeface="Georgia"/>
              </a:rPr>
              <a:t>19.5%</a:t>
            </a:r>
          </a:p>
        </p:txBody>
      </p:sp>
      <p:sp>
        <p:nvSpPr>
          <p:cNvPr id="17" name="t3-t"/>
          <p:cNvSpPr/>
          <p:nvPr/>
        </p:nvSpPr>
        <p:spPr>
          <a:xfrm>
            <a:off x="8684611" y="5819394"/>
            <a:ext cx="2986181" cy="3009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35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00" b="0" i="0">
                <a:solidFill>
                  <a:srgbClr val="1E2226"/>
                </a:solidFill>
                <a:latin typeface="Arial"/>
              </a:rPr>
              <a:t>return in the 42 neighbourhood stores, which carry only</a:t>
            </a:r>
            <a:br/>
            <a:r>
              <a:rPr sz="900" b="0" i="0">
                <a:solidFill>
                  <a:srgbClr val="1E2226"/>
                </a:solidFill>
                <a:latin typeface="Arial"/>
              </a:rPr>
              <a:t>7% of sales and £120m of capital</a:t>
            </a:r>
          </a:p>
        </p:txBody>
      </p:sp>
      <p:sp>
        <p:nvSpPr>
          <p:cNvPr id="18" name="source"/>
          <p:cNvSpPr/>
          <p:nvPr/>
        </p:nvSpPr>
        <p:spPr>
          <a:xfrm>
            <a:off x="411480" y="6339840"/>
            <a:ext cx="1136904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C6670"/>
                </a:solidFill>
                <a:latin typeface="Arial"/>
              </a:rPr>
              <a:t>Source: Brindle store P&amp;L, capital register and loyalty-card data, 2025; regional grocery market model; team analysis. All figures illustrative.</a:t>
            </a:r>
          </a:p>
        </p:txBody>
      </p:sp>
      <p:cxnSp>
        <p:nvCxnSpPr>
          <p:cNvPr id="19" name="hurdle-line"/>
          <p:cNvCxnSpPr/>
          <p:nvPr/>
        </p:nvCxnSpPr>
        <p:spPr>
          <a:xfrm>
            <a:off x="7538583" y="3359323"/>
            <a:ext cx="4199089" cy="0"/>
          </a:xfrm>
          <a:prstGeom prst="line">
            <a:avLst/>
          </a:prstGeom>
          <a:ln w="12700">
            <a:solidFill>
              <a:srgbClr val="1E2226"/>
            </a:solidFill>
            <a:prstDash val="dash"/>
          </a:ln>
        </p:spPr>
      </p:cxnSp>
      <p:sp>
        <p:nvSpPr>
          <p:cNvPr id="20" name="hurdle-label"/>
          <p:cNvSpPr/>
          <p:nvPr/>
        </p:nvSpPr>
        <p:spPr>
          <a:xfrm>
            <a:off x="7538583" y="3245023"/>
            <a:ext cx="559227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E2226"/>
                </a:solidFill>
                <a:latin typeface="Arial"/>
              </a:rPr>
              <a:t>Hurdle 12%</a:t>
            </a: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17" name="chrome-1"/>
          <p:cNvCxnSpPr/>
          <p:nvPr/>
        </p:nvCxnSpPr>
        <p:spPr>
          <a:xfrm>
            <a:off x="411480" y="1147572"/>
            <a:ext cx="11368735" cy="0"/>
          </a:xfrm>
          <a:prstGeom prst="line">
            <a:avLst/>
          </a:prstGeom>
          <a:ln w="9525">
            <a:solidFill>
              <a:srgbClr val="1E2226"/>
            </a:solidFill>
          </a:ln>
        </p:spPr>
      </p:cxnSp>
      <p:sp>
        <p:nvSpPr>
          <p:cNvPr id="18" name="chrome-2"/>
          <p:cNvSpPr txBox="1"/>
          <p:nvPr/>
        </p:nvSpPr>
        <p:spPr>
          <a:xfrm>
            <a:off x="411480" y="6556248"/>
            <a:ext cx="6400800" cy="1645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700" b="0">
                <a:solidFill>
                  <a:srgbClr val="5C6670"/>
                </a:solidFill>
                <a:latin typeface="Arial"/>
              </a:rPr>
              <a:t>Brindle Markets  |  Store format strategy  |  Steering committee pre-read  |  Illustrative figures</a:t>
            </a:r>
          </a:p>
        </p:txBody>
      </p:sp>
      <p:sp>
        <p:nvSpPr>
          <p:cNvPr id="19" name="chrome-3"/>
          <p:cNvSpPr txBox="1"/>
          <p:nvPr/>
        </p:nvSpPr>
        <p:spPr>
          <a:xfrm>
            <a:off x="11323015" y="6556248"/>
            <a:ext cx="457200" cy="1645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fld id="{B6F15528-21DE-4FAA-801E-634DDDAF5B2F}" type="slidenum">
              <a:rPr sz="700">
                <a:solidFill>
                  <a:srgbClr val="5C6670"/>
                </a:solidFill>
                <a:latin typeface="Arial"/>
              </a:rPr>
              <a:t>1</a:t>
            </a:fld>
          </a:p>
        </p:txBody>
      </p:sp>
      <p:sp>
        <p:nvSpPr>
          <p:cNvPr id="2" name="kicker"/>
          <p:cNvSpPr/>
          <p:nvPr/>
        </p:nvSpPr>
        <p:spPr>
          <a:xfrm>
            <a:off x="411480" y="411480"/>
            <a:ext cx="1136904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spc="50">
                <a:solidFill>
                  <a:srgbClr val="1F3A5F"/>
                </a:solidFill>
                <a:latin typeface="Arial"/>
              </a:rPr>
              <a:t>03  CUSTOMER SEGMENTS</a:t>
            </a:r>
          </a:p>
        </p:txBody>
      </p:sp>
      <p:sp>
        <p:nvSpPr>
          <p:cNvPr id="3" name="title"/>
          <p:cNvSpPr/>
          <p:nvPr/>
        </p:nvSpPr>
        <p:spPr>
          <a:xfrm>
            <a:off x="411480" y="560832"/>
            <a:ext cx="11369040" cy="533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1E2226"/>
                </a:solidFill>
                <a:latin typeface="Georgia"/>
              </a:rPr>
              <a:t>Brindle’s share of wallet is 12.9% where spend is flat and 5.0% where it grows: the</a:t>
            </a:r>
            <a:br/>
            <a:r>
              <a:rPr sz="2000" b="1" i="0">
                <a:solidFill>
                  <a:srgbClr val="1E2226"/>
                </a:solidFill>
                <a:latin typeface="Georgia"/>
              </a:rPr>
              <a:t>three growth segments hold 57% of spend</a:t>
            </a:r>
          </a:p>
        </p:txBody>
      </p:sp>
      <p:sp>
        <p:nvSpPr>
          <p:cNvPr id="4" name="exA-h"/>
          <p:cNvSpPr/>
          <p:nvPr/>
        </p:nvSpPr>
        <p:spPr>
          <a:xfrm>
            <a:off x="411480" y="1252728"/>
            <a:ext cx="1136904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1E2226"/>
                </a:solidFill>
                <a:latin typeface="Arial"/>
              </a:rPr>
              <a:t>Customer segments in Brindle's catchments, 2025</a:t>
            </a:r>
          </a:p>
        </p:txBody>
      </p:sp>
      <p:sp>
        <p:nvSpPr>
          <p:cNvPr id="5" name="exA-u"/>
          <p:cNvSpPr/>
          <p:nvPr/>
        </p:nvSpPr>
        <p:spPr>
          <a:xfrm>
            <a:off x="411480" y="1432560"/>
            <a:ext cx="1136904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C6670"/>
                </a:solidFill>
                <a:latin typeface="Arial"/>
              </a:rPr>
              <a:t>Share of wallet is Brindle's sales over the segment's market spend; growth is nominal</a:t>
            </a:r>
          </a:p>
        </p:txBody>
      </p:sp>
      <p:graphicFrame>
        <p:nvGraphicFramePr>
          <p:cNvPr id="6" name="stab"/>
          <p:cNvGraphicFramePr>
            <a:graphicFrameLocks noGrp="1"/>
          </p:cNvGraphicFramePr>
          <p:nvPr/>
        </p:nvGraphicFramePr>
        <p:xfrm>
          <a:off x="411480" y="1574292"/>
          <a:ext cx="11369040" cy="1239266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1535549"/>
                <a:gridCol w="941546"/>
                <a:gridCol w="1171595"/>
                <a:gridCol w="1967005"/>
                <a:gridCol w="1565923"/>
                <a:gridCol w="1106114"/>
                <a:gridCol w="1705356"/>
                <a:gridCol w="1375952"/>
              </a:tblGrid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Segment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Households (k)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Market spend (£bn)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Spend growth, 2022-25 (% a year)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Brindle share of wallet (%)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Brindle sales (£m)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marL="109728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Main mission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Format they choose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Established families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E222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1,150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E222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11.6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E222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1.4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E222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12.6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E222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1,459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E222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marL="109728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Main weekly shop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E222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Superstore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E222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Time-pressed professionals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820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9.4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C24E26"/>
                          </a:solidFill>
                          <a:latin typeface="Arial"/>
                        </a:rPr>
                        <a:t>6.2</a:t>
                      </a:r>
                      <a:endParaRPr sz="800" b="1" i="0">
                        <a:solidFill>
                          <a:srgbClr val="C24E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C24E26"/>
                          </a:solidFill>
                          <a:latin typeface="Arial"/>
                        </a:rPr>
                        <a:t>5.8</a:t>
                      </a:r>
                      <a:endParaRPr sz="800" b="1" i="0">
                        <a:solidFill>
                          <a:srgbClr val="C24E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548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marL="109728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Top-up and food for now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Neighbourhood, express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Value seekers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1,240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12.9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C24E26"/>
                          </a:solidFill>
                          <a:latin typeface="Arial"/>
                        </a:rPr>
                        <a:t>5.1</a:t>
                      </a:r>
                      <a:endParaRPr sz="800" b="1" i="0">
                        <a:solidFill>
                          <a:srgbClr val="C24E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C24E26"/>
                          </a:solidFill>
                          <a:latin typeface="Arial"/>
                        </a:rPr>
                        <a:t>5.0</a:t>
                      </a:r>
                      <a:endParaRPr sz="800" b="1" i="0">
                        <a:solidFill>
                          <a:srgbClr val="C24E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650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marL="109728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Main shop at a discounter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Discounter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Older traditional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960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8.2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(0.6)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13.3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1,093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marL="109728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Main weekly shop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Supermarket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Young urban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610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4.3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C24E26"/>
                          </a:solidFill>
                          <a:latin typeface="Arial"/>
                        </a:rPr>
                        <a:t>7.9</a:t>
                      </a:r>
                      <a:endParaRPr sz="800" b="1" i="0">
                        <a:solidFill>
                          <a:srgbClr val="C24E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C24E26"/>
                          </a:solidFill>
                          <a:latin typeface="Arial"/>
                        </a:rPr>
                        <a:t>3.3</a:t>
                      </a:r>
                      <a:endParaRPr sz="800" b="1" i="0">
                        <a:solidFill>
                          <a:srgbClr val="C24E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140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marL="109728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Food for now and online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Express, online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Market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E2226"/>
                      </a:solidFill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4,780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E2226"/>
                      </a:solidFill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46.4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E2226"/>
                      </a:solidFill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3.5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E2226"/>
                      </a:solidFill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8.4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E2226"/>
                      </a:solidFill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3,890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E2226"/>
                      </a:solidFill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marL="109728"/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E2226"/>
                      </a:solidFill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E2226"/>
                      </a:solidFill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exB-h"/>
          <p:cNvSpPr/>
          <p:nvPr/>
        </p:nvSpPr>
        <p:spPr>
          <a:xfrm>
            <a:off x="411480" y="2923286"/>
            <a:ext cx="7110919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1E2226"/>
                </a:solidFill>
                <a:latin typeface="Arial"/>
              </a:rPr>
              <a:t>Where spend grows against where Brindle is strong</a:t>
            </a:r>
          </a:p>
        </p:txBody>
      </p:sp>
      <p:graphicFrame>
        <p:nvGraphicFramePr>
          <p:cNvPr id="8" name="scat"/>
          <p:cNvGraphicFramePr>
            <a:graphicFrameLocks noGrp="1"/>
          </p:cNvGraphicFramePr>
          <p:nvPr/>
        </p:nvGraphicFramePr>
        <p:xfrm>
          <a:off x="411480" y="3103118"/>
          <a:ext cx="7110919" cy="312699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ide-fill"/>
          <p:cNvSpPr/>
          <p:nvPr/>
        </p:nvSpPr>
        <p:spPr>
          <a:xfrm>
            <a:off x="7750999" y="2923286"/>
            <a:ext cx="4029521" cy="3306826"/>
          </a:xfrm>
          <a:prstGeom prst="rect">
            <a:avLst/>
          </a:prstGeom>
          <a:solidFill>
            <a:srgbClr val="F3F0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ide-h"/>
          <p:cNvSpPr/>
          <p:nvPr/>
        </p:nvSpPr>
        <p:spPr>
          <a:xfrm>
            <a:off x="7860727" y="3033014"/>
            <a:ext cx="3810065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1E2226"/>
                </a:solidFill>
                <a:latin typeface="Arial"/>
              </a:rPr>
              <a:t>What it means for Brindle</a:t>
            </a:r>
          </a:p>
        </p:txBody>
      </p:sp>
      <p:sp>
        <p:nvSpPr>
          <p:cNvPr id="11" name="side-t"/>
          <p:cNvSpPr/>
          <p:nvPr/>
        </p:nvSpPr>
        <p:spPr>
          <a:xfrm>
            <a:off x="7860727" y="3240278"/>
            <a:ext cx="3810065" cy="2508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400"/>
              </a:spcBef>
              <a:spcAft>
                <a:spcPts val="100"/>
              </a:spcAft>
              <a:buNone/>
            </a:pPr>
            <a:r>
              <a:rPr sz="900" b="1" i="0">
                <a:solidFill>
                  <a:srgbClr val="1F3A5F"/>
                </a:solidFill>
                <a:latin typeface="Arial"/>
              </a:rPr>
              <a:t>The base is shrinking in real terms</a:t>
            </a:r>
          </a:p>
          <a:p>
            <a:pPr algn="l" marL="0" indent="0">
              <a:lnSpc>
                <a:spcPts val="1035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00" b="0" i="0">
                <a:solidFill>
                  <a:srgbClr val="1E2226"/>
                </a:solidFill>
                <a:latin typeface="Arial"/>
              </a:rPr>
              <a:t>66% of Brindle's sales come from established families and older traditional</a:t>
            </a:r>
            <a:br/>
            <a:r>
              <a:rPr sz="900" b="0" i="0">
                <a:solidFill>
                  <a:srgbClr val="1E2226"/>
                </a:solidFill>
                <a:latin typeface="Arial"/>
              </a:rPr>
              <a:t>shoppers, whose spend grows 1.4% and falls 0.6% a year.</a:t>
            </a:r>
          </a:p>
          <a:p>
            <a:pPr algn="l" marL="0" indent="0">
              <a:lnSpc>
                <a:spcPts val="1080"/>
              </a:lnSpc>
              <a:spcBef>
                <a:spcPts val="400"/>
              </a:spcBef>
              <a:spcAft>
                <a:spcPts val="100"/>
              </a:spcAft>
              <a:buNone/>
            </a:pPr>
            <a:r>
              <a:rPr sz="900" b="1" i="0">
                <a:solidFill>
                  <a:srgbClr val="1F3A5F"/>
                </a:solidFill>
                <a:latin typeface="Arial"/>
              </a:rPr>
              <a:t>Growth is where Brindle is weakest</a:t>
            </a:r>
          </a:p>
          <a:p>
            <a:pPr algn="l" marL="0" indent="0">
              <a:lnSpc>
                <a:spcPts val="1035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00" b="0" i="0">
                <a:solidFill>
                  <a:srgbClr val="1E2226"/>
                </a:solidFill>
                <a:latin typeface="Arial"/>
              </a:rPr>
              <a:t>The three growth segments hold 57% of spend, £26.6bn, and give Brindle</a:t>
            </a:r>
            <a:br/>
            <a:r>
              <a:rPr sz="900" b="0" i="0">
                <a:solidFill>
                  <a:srgbClr val="1E2226"/>
                </a:solidFill>
                <a:latin typeface="Arial"/>
              </a:rPr>
              <a:t>5.0% of it against 12.9% in the core.</a:t>
            </a:r>
          </a:p>
          <a:p>
            <a:pPr algn="l" marL="0" indent="0">
              <a:lnSpc>
                <a:spcPts val="1080"/>
              </a:lnSpc>
              <a:spcBef>
                <a:spcPts val="400"/>
              </a:spcBef>
              <a:spcAft>
                <a:spcPts val="100"/>
              </a:spcAft>
              <a:buNone/>
            </a:pPr>
            <a:r>
              <a:rPr sz="900" b="1" i="0">
                <a:solidFill>
                  <a:srgbClr val="1F3A5F"/>
                </a:solidFill>
                <a:latin typeface="Arial"/>
              </a:rPr>
              <a:t>Each point of share is worth £266m</a:t>
            </a:r>
          </a:p>
          <a:p>
            <a:pPr algn="l" marL="0" indent="0">
              <a:lnSpc>
                <a:spcPts val="1035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00" b="0" i="0">
                <a:solidFill>
                  <a:srgbClr val="1E2226"/>
                </a:solidFill>
                <a:latin typeface="Arial"/>
              </a:rPr>
              <a:t>One point of wallet in the growth segments is £266m of sales; they shop</a:t>
            </a:r>
            <a:br/>
            <a:r>
              <a:rPr sz="900" b="0" i="0">
                <a:solidFill>
                  <a:srgbClr val="1E2226"/>
                </a:solidFill>
                <a:latin typeface="Arial"/>
              </a:rPr>
              <a:t>top-up, food-for-now and online, the missions small formats serve.</a:t>
            </a:r>
          </a:p>
          <a:p>
            <a:pPr algn="l" marL="0" indent="0">
              <a:lnSpc>
                <a:spcPts val="1080"/>
              </a:lnSpc>
              <a:spcBef>
                <a:spcPts val="400"/>
              </a:spcBef>
              <a:spcAft>
                <a:spcPts val="100"/>
              </a:spcAft>
              <a:buNone/>
            </a:pPr>
            <a:r>
              <a:rPr sz="900" b="1" i="0">
                <a:solidFill>
                  <a:srgbClr val="1F3A5F"/>
                </a:solidFill>
                <a:latin typeface="Arial"/>
              </a:rPr>
              <a:t>Half the gap is £1.1bn of sales</a:t>
            </a:r>
          </a:p>
          <a:p>
            <a:pPr algn="l" marL="0" indent="0">
              <a:lnSpc>
                <a:spcPts val="1035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00" b="0" i="0">
                <a:solidFill>
                  <a:srgbClr val="1E2226"/>
                </a:solidFill>
                <a:latin typeface="Arial"/>
              </a:rPr>
              <a:t>Lifting growth-segment share halfway to the core's 12.9% would add</a:t>
            </a:r>
            <a:br/>
            <a:r>
              <a:rPr sz="900" b="0" i="0">
                <a:solidFill>
                  <a:srgbClr val="1E2226"/>
                </a:solidFill>
                <a:latin typeface="Arial"/>
              </a:rPr>
              <a:t>£1.1bn, 28% of today's store sales.</a:t>
            </a:r>
          </a:p>
          <a:p>
            <a:pPr algn="l" marL="0" indent="0">
              <a:lnSpc>
                <a:spcPts val="1080"/>
              </a:lnSpc>
              <a:spcBef>
                <a:spcPts val="400"/>
              </a:spcBef>
              <a:spcAft>
                <a:spcPts val="100"/>
              </a:spcAft>
              <a:buNone/>
            </a:pPr>
            <a:r>
              <a:rPr sz="900" b="1" i="0">
                <a:solidFill>
                  <a:srgbClr val="1F3A5F"/>
                </a:solidFill>
                <a:latin typeface="Arial"/>
              </a:rPr>
              <a:t>Young urban is the extreme case</a:t>
            </a:r>
          </a:p>
          <a:p>
            <a:pPr algn="l" marL="0" indent="0">
              <a:lnSpc>
                <a:spcPts val="1035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00" b="0" i="0">
                <a:solidFill>
                  <a:srgbClr val="1E2226"/>
                </a:solidFill>
                <a:latin typeface="Arial"/>
              </a:rPr>
              <a:t>Its spend grows fastest, 7.9% a year, and Brindle's share is lowest, 3.3%:</a:t>
            </a:r>
            <a:br/>
            <a:r>
              <a:rPr sz="900" b="0" i="0">
                <a:solidFill>
                  <a:srgbClr val="1E2226"/>
                </a:solidFill>
                <a:latin typeface="Arial"/>
              </a:rPr>
              <a:t>£140m of sales, from express and online.</a:t>
            </a:r>
          </a:p>
        </p:txBody>
      </p:sp>
      <p:sp>
        <p:nvSpPr>
          <p:cNvPr id="12" name="source"/>
          <p:cNvSpPr/>
          <p:nvPr/>
        </p:nvSpPr>
        <p:spPr>
          <a:xfrm>
            <a:off x="411480" y="6339840"/>
            <a:ext cx="1136904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C6670"/>
                </a:solidFill>
                <a:latin typeface="Arial"/>
              </a:rPr>
              <a:t>Source: Brindle store P&amp;L, capital register and loyalty-card data, 2025; regional grocery market model; team analysis. All figures illustrative.</a:t>
            </a:r>
          </a:p>
        </p:txBody>
      </p:sp>
      <p:cxnSp>
        <p:nvCxnSpPr>
          <p:cNvPr id="13" name="avg-share-line"/>
          <p:cNvCxnSpPr/>
          <p:nvPr/>
        </p:nvCxnSpPr>
        <p:spPr>
          <a:xfrm>
            <a:off x="1051463" y="4386749"/>
            <a:ext cx="6115390" cy="0"/>
          </a:xfrm>
          <a:prstGeom prst="line">
            <a:avLst/>
          </a:prstGeom>
          <a:ln w="9525">
            <a:solidFill>
              <a:srgbClr val="5C6670"/>
            </a:solidFill>
            <a:prstDash val="dash"/>
          </a:ln>
        </p:spPr>
      </p:cxnSp>
      <p:sp>
        <p:nvSpPr>
          <p:cNvPr id="14" name="avg-share-label"/>
          <p:cNvSpPr/>
          <p:nvPr/>
        </p:nvSpPr>
        <p:spPr>
          <a:xfrm>
            <a:off x="6168118" y="4272449"/>
            <a:ext cx="998735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5C6670"/>
                </a:solidFill>
                <a:latin typeface="Arial"/>
              </a:rPr>
              <a:t>Brindle average 8.4%</a:t>
            </a:r>
          </a:p>
        </p:txBody>
      </p:sp>
      <p:cxnSp>
        <p:nvCxnSpPr>
          <p:cNvPr id="15" name="mkt-growth-line"/>
          <p:cNvCxnSpPr/>
          <p:nvPr/>
        </p:nvCxnSpPr>
        <p:spPr>
          <a:xfrm flipV="1">
            <a:off x="3854350" y="3228198"/>
            <a:ext cx="0" cy="2439055"/>
          </a:xfrm>
          <a:prstGeom prst="line">
            <a:avLst/>
          </a:prstGeom>
          <a:ln w="9525">
            <a:solidFill>
              <a:srgbClr val="5C6670"/>
            </a:solidFill>
            <a:prstDash val="dash"/>
          </a:ln>
        </p:spPr>
      </p:cxnSp>
      <p:sp>
        <p:nvSpPr>
          <p:cNvPr id="16" name="mkt-growth-label"/>
          <p:cNvSpPr/>
          <p:nvPr/>
        </p:nvSpPr>
        <p:spPr>
          <a:xfrm>
            <a:off x="3881782" y="3228198"/>
            <a:ext cx="934972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5C6670"/>
                </a:solidFill>
                <a:latin typeface="Arial"/>
              </a:rPr>
              <a:t>Market growth 3.5%</a:t>
            </a: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31" name="chrome-1"/>
          <p:cNvCxnSpPr/>
          <p:nvPr/>
        </p:nvCxnSpPr>
        <p:spPr>
          <a:xfrm>
            <a:off x="411480" y="1147572"/>
            <a:ext cx="11368735" cy="0"/>
          </a:xfrm>
          <a:prstGeom prst="line">
            <a:avLst/>
          </a:prstGeom>
          <a:ln w="9525">
            <a:solidFill>
              <a:srgbClr val="1E2226"/>
            </a:solidFill>
          </a:ln>
        </p:spPr>
      </p:cxnSp>
      <p:sp>
        <p:nvSpPr>
          <p:cNvPr id="32" name="chrome-2"/>
          <p:cNvSpPr txBox="1"/>
          <p:nvPr/>
        </p:nvSpPr>
        <p:spPr>
          <a:xfrm>
            <a:off x="411480" y="6556248"/>
            <a:ext cx="6400800" cy="1645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700" b="0">
                <a:solidFill>
                  <a:srgbClr val="5C6670"/>
                </a:solidFill>
                <a:latin typeface="Arial"/>
              </a:rPr>
              <a:t>Brindle Markets  |  Store format strategy  |  Steering committee pre-read  |  Illustrative figures</a:t>
            </a:r>
          </a:p>
        </p:txBody>
      </p:sp>
      <p:sp>
        <p:nvSpPr>
          <p:cNvPr id="33" name="chrome-3"/>
          <p:cNvSpPr txBox="1"/>
          <p:nvPr/>
        </p:nvSpPr>
        <p:spPr>
          <a:xfrm>
            <a:off x="11323015" y="6556248"/>
            <a:ext cx="457200" cy="1645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fld id="{B6F15528-21DE-4FAA-801E-634DDDAF5B2F}" type="slidenum">
              <a:rPr sz="700">
                <a:solidFill>
                  <a:srgbClr val="5C6670"/>
                </a:solidFill>
                <a:latin typeface="Arial"/>
              </a:rPr>
              <a:t>1</a:t>
            </a:fld>
          </a:p>
        </p:txBody>
      </p:sp>
      <p:sp>
        <p:nvSpPr>
          <p:cNvPr id="2" name="kicker"/>
          <p:cNvSpPr/>
          <p:nvPr/>
        </p:nvSpPr>
        <p:spPr>
          <a:xfrm>
            <a:off x="411480" y="411480"/>
            <a:ext cx="1136904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spc="50">
                <a:solidFill>
                  <a:srgbClr val="1F3A5F"/>
                </a:solidFill>
                <a:latin typeface="Arial"/>
              </a:rPr>
              <a:t>04  NETWORK RATIONALISATION</a:t>
            </a:r>
          </a:p>
        </p:txBody>
      </p:sp>
      <p:sp>
        <p:nvSpPr>
          <p:cNvPr id="3" name="title"/>
          <p:cNvSpPr/>
          <p:nvPr/>
        </p:nvSpPr>
        <p:spPr>
          <a:xfrm>
            <a:off x="411480" y="560832"/>
            <a:ext cx="11369040" cy="533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1E2226"/>
                </a:solidFill>
                <a:latin typeface="Georgia"/>
              </a:rPr>
              <a:t>128 of 214 stores miss the 12% hurdle: reformat 64 where catchments grow, right-size</a:t>
            </a:r>
            <a:br/>
            <a:r>
              <a:rPr sz="2000" b="1" i="0">
                <a:solidFill>
                  <a:srgbClr val="1E2226"/>
                </a:solidFill>
                <a:latin typeface="Georgia"/>
              </a:rPr>
              <a:t>49 and exit 15 where they do not</a:t>
            </a:r>
          </a:p>
        </p:txBody>
      </p:sp>
      <p:sp>
        <p:nvSpPr>
          <p:cNvPr id="4" name="exA-h"/>
          <p:cNvSpPr/>
          <p:nvPr/>
        </p:nvSpPr>
        <p:spPr>
          <a:xfrm>
            <a:off x="411480" y="1252728"/>
            <a:ext cx="595884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1E2226"/>
                </a:solidFill>
                <a:latin typeface="Arial"/>
              </a:rPr>
              <a:t>214 stores by return and catchment growth</a:t>
            </a:r>
          </a:p>
        </p:txBody>
      </p:sp>
      <p:sp>
        <p:nvSpPr>
          <p:cNvPr id="5" name="exA-u"/>
          <p:cNvSpPr/>
          <p:nvPr/>
        </p:nvSpPr>
        <p:spPr>
          <a:xfrm>
            <a:off x="411480" y="1432560"/>
            <a:ext cx="595884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C6670"/>
                </a:solidFill>
                <a:latin typeface="Arial"/>
              </a:rPr>
              <a:t>One point per store; thresholds are the 12% hurdle and 1.5% a year catchment growth</a:t>
            </a:r>
          </a:p>
        </p:txBody>
      </p:sp>
      <p:sp>
        <p:nvSpPr>
          <p:cNvPr id="6" name="exit-zone-band"/>
          <p:cNvSpPr/>
          <p:nvPr/>
        </p:nvSpPr>
        <p:spPr>
          <a:xfrm>
            <a:off x="888187" y="4549361"/>
            <a:ext cx="2515955" cy="1075494"/>
          </a:xfrm>
          <a:prstGeom prst="rect">
            <a:avLst/>
          </a:prstGeom>
          <a:solidFill>
            <a:srgbClr val="F3F0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exit-zone-label"/>
          <p:cNvSpPr/>
          <p:nvPr/>
        </p:nvSpPr>
        <p:spPr>
          <a:xfrm>
            <a:off x="888187" y="5424195"/>
            <a:ext cx="1025022" cy="2006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400"/>
              </a:spcBef>
              <a:spcAft>
                <a:spcPts val="100"/>
              </a:spcAft>
              <a:buNone/>
            </a:pPr>
            <a:r>
              <a:rPr sz="900" b="1" i="0">
                <a:solidFill>
                  <a:srgbClr val="1E2226"/>
                </a:solidFill>
                <a:latin typeface="Arial"/>
              </a:rPr>
              <a:t>Exit: 15, under 3%</a:t>
            </a:r>
          </a:p>
        </p:txBody>
      </p:sp>
      <p:graphicFrame>
        <p:nvGraphicFramePr>
          <p:cNvPr id="8" name="netscat"/>
          <p:cNvGraphicFramePr>
            <a:graphicFrameLocks noGrp="1"/>
          </p:cNvGraphicFramePr>
          <p:nvPr/>
        </p:nvGraphicFramePr>
        <p:xfrm>
          <a:off x="411480" y="1574292"/>
          <a:ext cx="5958840" cy="46558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exB-h"/>
          <p:cNvSpPr/>
          <p:nvPr/>
        </p:nvSpPr>
        <p:spPr>
          <a:xfrm>
            <a:off x="6598920" y="1252728"/>
            <a:ext cx="51816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1E2226"/>
                </a:solidFill>
                <a:latin typeface="Arial"/>
              </a:rPr>
              <a:t>The five actions</a:t>
            </a:r>
          </a:p>
        </p:txBody>
      </p:sp>
      <p:sp>
        <p:nvSpPr>
          <p:cNvPr id="10" name="exB-u"/>
          <p:cNvSpPr/>
          <p:nvPr/>
        </p:nvSpPr>
        <p:spPr>
          <a:xfrm>
            <a:off x="6598920" y="1432560"/>
            <a:ext cx="518160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C6670"/>
                </a:solidFill>
                <a:latin typeface="Arial"/>
              </a:rPr>
              <a:t>2025 sales, store EBITDA and return; capex and EBITDA uplift to 2028; large means superstore or supermarket</a:t>
            </a:r>
          </a:p>
        </p:txBody>
      </p:sp>
      <p:graphicFrame>
        <p:nvGraphicFramePr>
          <p:cNvPr id="11" name="atab"/>
          <p:cNvGraphicFramePr>
            <a:graphicFrameLocks noGrp="1"/>
          </p:cNvGraphicFramePr>
          <p:nvPr/>
        </p:nvGraphicFramePr>
        <p:xfrm>
          <a:off x="6598920" y="1574292"/>
          <a:ext cx="5181600" cy="1361440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560526"/>
                <a:gridCol w="932688"/>
                <a:gridCol w="391309"/>
                <a:gridCol w="351770"/>
                <a:gridCol w="583347"/>
                <a:gridCol w="591086"/>
                <a:gridCol w="588704"/>
                <a:gridCol w="591085"/>
                <a:gridCol w="591085"/>
              </a:tblGrid>
              <a:tr h="299212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Action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Return, catchment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Stores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Large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Sales (£m)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EBITDA (£m)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Return (%)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Capex (£m)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2028 uplift (£m)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Invest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E222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≥12%, growing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E222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66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E222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16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E222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500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E222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50.6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E222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16.7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E222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NA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E222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NA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E222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Keep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≥12%, flat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20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14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287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30.3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14.1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NA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NA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C24E26"/>
                          </a:solidFill>
                          <a:latin typeface="Arial"/>
                        </a:rPr>
                        <a:t>Reformat</a:t>
                      </a:r>
                      <a:endParaRPr sz="800" b="1" i="0">
                        <a:solidFill>
                          <a:srgbClr val="C24E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&lt;12%, growing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64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61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1,386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72.7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6.7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222.0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57.5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C24E26"/>
                          </a:solidFill>
                          <a:latin typeface="Arial"/>
                        </a:rPr>
                        <a:t>Right-size</a:t>
                      </a:r>
                      <a:endParaRPr sz="800" b="1" i="0">
                        <a:solidFill>
                          <a:srgbClr val="C24E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&lt;12%, flat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49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48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1,207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73.2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7.3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39.2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19.3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Exit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&lt;3%, flat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15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15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510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0.6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0.1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36.0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11.8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Estate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E2226"/>
                      </a:solidFill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E2226"/>
                      </a:solidFill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214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E2226"/>
                      </a:solidFill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154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E2226"/>
                      </a:solidFill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3,890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E2226"/>
                      </a:solidFill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227.4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E2226"/>
                      </a:solidFill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7.6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E2226"/>
                      </a:solidFill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297.2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E2226"/>
                      </a:solidFill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88.6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E2226"/>
                      </a:solidFill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side-fill"/>
          <p:cNvSpPr/>
          <p:nvPr/>
        </p:nvSpPr>
        <p:spPr>
          <a:xfrm>
            <a:off x="6598920" y="3045460"/>
            <a:ext cx="5181600" cy="3184652"/>
          </a:xfrm>
          <a:prstGeom prst="rect">
            <a:avLst/>
          </a:prstGeom>
          <a:solidFill>
            <a:srgbClr val="F3F0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side-t1"/>
          <p:cNvSpPr/>
          <p:nvPr/>
        </p:nvSpPr>
        <p:spPr>
          <a:xfrm>
            <a:off x="6708648" y="3155188"/>
            <a:ext cx="4962144" cy="501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400"/>
              </a:spcBef>
              <a:spcAft>
                <a:spcPts val="100"/>
              </a:spcAft>
              <a:buNone/>
            </a:pPr>
            <a:r>
              <a:rPr sz="900" b="1" i="0">
                <a:solidFill>
                  <a:srgbClr val="1F3A5F"/>
                </a:solidFill>
                <a:latin typeface="Arial"/>
              </a:rPr>
              <a:t>Reformat where demand is growing</a:t>
            </a:r>
          </a:p>
          <a:p>
            <a:pPr algn="l" marL="0" indent="0">
              <a:lnSpc>
                <a:spcPts val="1035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00" b="0" i="0">
                <a:solidFill>
                  <a:srgbClr val="1E2226"/>
                </a:solidFill>
                <a:latin typeface="Arial"/>
              </a:rPr>
              <a:t>64 stores, 20 of them superstores, give space back to fresh, food-to-go and click-and-collect and</a:t>
            </a:r>
            <a:br/>
            <a:r>
              <a:rPr sz="900" b="0" i="0">
                <a:solidFill>
                  <a:srgbClr val="1E2226"/>
                </a:solidFill>
                <a:latin typeface="Arial"/>
              </a:rPr>
              <a:t>sublet the rest; capex £222m lifts them to a 10% return.</a:t>
            </a:r>
          </a:p>
        </p:txBody>
      </p:sp>
      <p:sp>
        <p:nvSpPr>
          <p:cNvPr id="14" name="side-t2"/>
          <p:cNvSpPr/>
          <p:nvPr/>
        </p:nvSpPr>
        <p:spPr>
          <a:xfrm>
            <a:off x="6708648" y="3869658"/>
            <a:ext cx="4962144" cy="37020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400"/>
              </a:spcBef>
              <a:spcAft>
                <a:spcPts val="100"/>
              </a:spcAft>
              <a:buNone/>
            </a:pPr>
            <a:r>
              <a:rPr sz="900" b="1" i="0">
                <a:solidFill>
                  <a:srgbClr val="1F3A5F"/>
                </a:solidFill>
                <a:latin typeface="Arial"/>
              </a:rPr>
              <a:t>Right-size where it is not</a:t>
            </a:r>
          </a:p>
          <a:p>
            <a:pPr algn="l" marL="0" indent="0">
              <a:lnSpc>
                <a:spcPts val="1035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00" b="0" i="0">
                <a:solidFill>
                  <a:srgbClr val="1E2226"/>
                </a:solidFill>
                <a:latin typeface="Arial"/>
              </a:rPr>
              <a:t>49 stores cut space and move to the leaner labour model; £39.2m of capex adds £19.3m.</a:t>
            </a:r>
          </a:p>
        </p:txBody>
      </p:sp>
      <p:sp>
        <p:nvSpPr>
          <p:cNvPr id="15" name="side-t3"/>
          <p:cNvSpPr/>
          <p:nvPr/>
        </p:nvSpPr>
        <p:spPr>
          <a:xfrm>
            <a:off x="6708648" y="4452683"/>
            <a:ext cx="4962144" cy="501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400"/>
              </a:spcBef>
              <a:spcAft>
                <a:spcPts val="100"/>
              </a:spcAft>
              <a:buNone/>
            </a:pPr>
            <a:r>
              <a:rPr sz="900" b="1" i="0">
                <a:solidFill>
                  <a:srgbClr val="1F3A5F"/>
                </a:solidFill>
                <a:latin typeface="Arial"/>
              </a:rPr>
              <a:t>Exit releases capital, not EBITDA</a:t>
            </a:r>
          </a:p>
          <a:p>
            <a:pPr algn="l" marL="0" indent="0">
              <a:lnSpc>
                <a:spcPts val="1035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00" b="0" i="0">
                <a:solidFill>
                  <a:srgbClr val="1E2226"/>
                </a:solidFill>
                <a:latin typeface="Arial"/>
              </a:rPr>
              <a:t>The 15 exits earn £0.6m on £408m of capital; 30% of their sales move to nearby stores, worth</a:t>
            </a:r>
            <a:br/>
            <a:r>
              <a:rPr sz="900" b="0" i="0">
                <a:solidFill>
                  <a:srgbClr val="1E2226"/>
                </a:solidFill>
                <a:latin typeface="Arial"/>
              </a:rPr>
              <a:t>£12.4m.</a:t>
            </a:r>
          </a:p>
        </p:txBody>
      </p:sp>
      <p:sp>
        <p:nvSpPr>
          <p:cNvPr id="16" name="side-t4"/>
          <p:cNvSpPr/>
          <p:nvPr/>
        </p:nvSpPr>
        <p:spPr>
          <a:xfrm>
            <a:off x="6708648" y="5167154"/>
            <a:ext cx="4962144" cy="37020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400"/>
              </a:spcBef>
              <a:spcAft>
                <a:spcPts val="100"/>
              </a:spcAft>
              <a:buNone/>
            </a:pPr>
            <a:r>
              <a:rPr sz="900" b="1" i="0">
                <a:solidFill>
                  <a:srgbClr val="1F3A5F"/>
                </a:solidFill>
                <a:latin typeface="Arial"/>
              </a:rPr>
              <a:t>Invest where return and demand meet</a:t>
            </a:r>
          </a:p>
          <a:p>
            <a:pPr algn="l" marL="0" indent="0">
              <a:lnSpc>
                <a:spcPts val="1035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00" b="0" i="0">
                <a:solidFill>
                  <a:srgbClr val="1E2226"/>
                </a:solidFill>
                <a:latin typeface="Arial"/>
              </a:rPr>
              <a:t>66 stores clear both lines, 50 of them neighbourhood or express: the model for the 30 new stores.</a:t>
            </a:r>
          </a:p>
        </p:txBody>
      </p:sp>
      <p:sp>
        <p:nvSpPr>
          <p:cNvPr id="17" name="side-t5"/>
          <p:cNvSpPr/>
          <p:nvPr/>
        </p:nvSpPr>
        <p:spPr>
          <a:xfrm>
            <a:off x="6708648" y="5750179"/>
            <a:ext cx="4962144" cy="37020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400"/>
              </a:spcBef>
              <a:spcAft>
                <a:spcPts val="100"/>
              </a:spcAft>
              <a:buNone/>
            </a:pPr>
            <a:r>
              <a:rPr sz="900" b="1" i="0">
                <a:solidFill>
                  <a:srgbClr val="1F3A5F"/>
                </a:solidFill>
                <a:latin typeface="Arial"/>
              </a:rPr>
              <a:t>The problem is the large stores</a:t>
            </a:r>
          </a:p>
          <a:p>
            <a:pPr algn="l" marL="0" indent="0">
              <a:lnSpc>
                <a:spcPts val="1035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00" b="0" i="0">
                <a:solidFill>
                  <a:srgbClr val="1E2226"/>
                </a:solidFill>
                <a:latin typeface="Arial"/>
              </a:rPr>
              <a:t>124 of the 128 stores under the hurdle are superstores or supermarkets; 4 are small formats.</a:t>
            </a:r>
          </a:p>
        </p:txBody>
      </p:sp>
      <p:sp>
        <p:nvSpPr>
          <p:cNvPr id="18" name="source"/>
          <p:cNvSpPr/>
          <p:nvPr/>
        </p:nvSpPr>
        <p:spPr>
          <a:xfrm>
            <a:off x="411480" y="6339840"/>
            <a:ext cx="1136904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C6670"/>
                </a:solidFill>
                <a:latin typeface="Arial"/>
              </a:rPr>
              <a:t>Source: Brindle store P&amp;L, capital register and loyalty-card data, 2025; regional grocery market model; team analysis. All figures illustrative.</a:t>
            </a:r>
          </a:p>
        </p:txBody>
      </p:sp>
      <p:cxnSp>
        <p:nvCxnSpPr>
          <p:cNvPr id="19" name="hurdle-line"/>
          <p:cNvCxnSpPr/>
          <p:nvPr/>
        </p:nvCxnSpPr>
        <p:spPr>
          <a:xfrm>
            <a:off x="888187" y="3669411"/>
            <a:ext cx="4767072" cy="0"/>
          </a:xfrm>
          <a:prstGeom prst="line">
            <a:avLst/>
          </a:prstGeom>
          <a:ln w="12700">
            <a:solidFill>
              <a:srgbClr val="1E2226"/>
            </a:solidFill>
            <a:prstDash val="dash"/>
          </a:ln>
        </p:spPr>
      </p:cxnSp>
      <p:sp>
        <p:nvSpPr>
          <p:cNvPr id="20" name="hurdle-label"/>
          <p:cNvSpPr/>
          <p:nvPr/>
        </p:nvSpPr>
        <p:spPr>
          <a:xfrm>
            <a:off x="5655259" y="3612261"/>
            <a:ext cx="559227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E2226"/>
                </a:solidFill>
                <a:latin typeface="Arial"/>
              </a:rPr>
              <a:t>Hurdle 12%</a:t>
            </a:r>
          </a:p>
        </p:txBody>
      </p:sp>
      <p:cxnSp>
        <p:nvCxnSpPr>
          <p:cNvPr id="21" name="growth-cut-line"/>
          <p:cNvCxnSpPr/>
          <p:nvPr/>
        </p:nvCxnSpPr>
        <p:spPr>
          <a:xfrm flipV="1">
            <a:off x="3404142" y="1713967"/>
            <a:ext cx="0" cy="3910888"/>
          </a:xfrm>
          <a:prstGeom prst="line">
            <a:avLst/>
          </a:prstGeom>
          <a:ln w="12700">
            <a:solidFill>
              <a:srgbClr val="1E2226"/>
            </a:solidFill>
            <a:prstDash val="dash"/>
          </a:ln>
        </p:spPr>
      </p:cxnSp>
      <p:sp>
        <p:nvSpPr>
          <p:cNvPr id="22" name="growth-cut-label"/>
          <p:cNvSpPr/>
          <p:nvPr/>
        </p:nvSpPr>
        <p:spPr>
          <a:xfrm>
            <a:off x="3431574" y="1713967"/>
            <a:ext cx="1120123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E2226"/>
                </a:solidFill>
                <a:latin typeface="Arial"/>
              </a:rPr>
              <a:t>Catchment growth 1.5%</a:t>
            </a:r>
          </a:p>
        </p:txBody>
      </p:sp>
      <p:sp>
        <p:nvSpPr>
          <p:cNvPr id="23" name="q-invest-mark"/>
          <p:cNvSpPr/>
          <p:nvPr/>
        </p:nvSpPr>
        <p:spPr>
          <a:xfrm>
            <a:off x="4940198" y="1762853"/>
            <a:ext cx="715061" cy="2444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q-invest-label"/>
          <p:cNvSpPr/>
          <p:nvPr/>
        </p:nvSpPr>
        <p:spPr>
          <a:xfrm>
            <a:off x="5087493" y="1784738"/>
            <a:ext cx="567766" cy="2006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 marL="0" indent="0">
              <a:lnSpc>
                <a:spcPts val="1080"/>
              </a:lnSpc>
              <a:spcBef>
                <a:spcPts val="400"/>
              </a:spcBef>
              <a:spcAft>
                <a:spcPts val="100"/>
              </a:spcAft>
              <a:buNone/>
            </a:pPr>
            <a:r>
              <a:rPr sz="900" b="1" i="0">
                <a:solidFill>
                  <a:srgbClr val="1F3A5F"/>
                </a:solidFill>
                <a:latin typeface="Arial"/>
              </a:rPr>
              <a:t>Invest: 66</a:t>
            </a:r>
          </a:p>
        </p:txBody>
      </p:sp>
      <p:sp>
        <p:nvSpPr>
          <p:cNvPr id="25" name="q-keep-mark"/>
          <p:cNvSpPr/>
          <p:nvPr/>
        </p:nvSpPr>
        <p:spPr>
          <a:xfrm>
            <a:off x="888187" y="1762853"/>
            <a:ext cx="900447" cy="2444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q-keep-label"/>
          <p:cNvSpPr/>
          <p:nvPr/>
        </p:nvSpPr>
        <p:spPr>
          <a:xfrm>
            <a:off x="888187" y="1784738"/>
            <a:ext cx="516923" cy="2006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400"/>
              </a:spcBef>
              <a:spcAft>
                <a:spcPts val="100"/>
              </a:spcAft>
              <a:buNone/>
            </a:pPr>
            <a:r>
              <a:rPr sz="900" b="1" i="0">
                <a:solidFill>
                  <a:srgbClr val="1F3A5F"/>
                </a:solidFill>
                <a:latin typeface="Arial"/>
              </a:rPr>
              <a:t>Keep: 20</a:t>
            </a:r>
          </a:p>
        </p:txBody>
      </p:sp>
      <p:sp>
        <p:nvSpPr>
          <p:cNvPr id="27" name="q-reformat-mark"/>
          <p:cNvSpPr/>
          <p:nvPr/>
        </p:nvSpPr>
        <p:spPr>
          <a:xfrm>
            <a:off x="4754812" y="4158272"/>
            <a:ext cx="900447" cy="2444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q-reformat-label"/>
          <p:cNvSpPr/>
          <p:nvPr/>
        </p:nvSpPr>
        <p:spPr>
          <a:xfrm>
            <a:off x="4916099" y="4180157"/>
            <a:ext cx="739160" cy="2006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 marL="0" indent="0">
              <a:lnSpc>
                <a:spcPts val="1080"/>
              </a:lnSpc>
              <a:spcBef>
                <a:spcPts val="400"/>
              </a:spcBef>
              <a:spcAft>
                <a:spcPts val="100"/>
              </a:spcAft>
              <a:buNone/>
            </a:pPr>
            <a:r>
              <a:rPr sz="900" b="1" i="0">
                <a:solidFill>
                  <a:srgbClr val="C24E26"/>
                </a:solidFill>
                <a:latin typeface="Arial"/>
              </a:rPr>
              <a:t>Reformat: 64</a:t>
            </a:r>
          </a:p>
        </p:txBody>
      </p:sp>
      <p:sp>
        <p:nvSpPr>
          <p:cNvPr id="29" name="q-rightsize-mark"/>
          <p:cNvSpPr/>
          <p:nvPr/>
        </p:nvSpPr>
        <p:spPr>
          <a:xfrm>
            <a:off x="888187" y="3767183"/>
            <a:ext cx="926931" cy="2444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q-rightsize-label"/>
          <p:cNvSpPr/>
          <p:nvPr/>
        </p:nvSpPr>
        <p:spPr>
          <a:xfrm>
            <a:off x="888187" y="3789068"/>
            <a:ext cx="783530" cy="2006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400"/>
              </a:spcBef>
              <a:spcAft>
                <a:spcPts val="100"/>
              </a:spcAft>
              <a:buNone/>
            </a:pPr>
            <a:r>
              <a:rPr sz="900" b="1" i="0">
                <a:solidFill>
                  <a:srgbClr val="C24E26"/>
                </a:solidFill>
                <a:latin typeface="Arial"/>
              </a:rPr>
              <a:t>Right-size: 49</a:t>
            </a: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1" name="chrome-1"/>
          <p:cNvCxnSpPr/>
          <p:nvPr/>
        </p:nvCxnSpPr>
        <p:spPr>
          <a:xfrm>
            <a:off x="411480" y="1147572"/>
            <a:ext cx="11368735" cy="0"/>
          </a:xfrm>
          <a:prstGeom prst="line">
            <a:avLst/>
          </a:prstGeom>
          <a:ln w="9525">
            <a:solidFill>
              <a:srgbClr val="1E2226"/>
            </a:solidFill>
          </a:ln>
        </p:spPr>
      </p:cxnSp>
      <p:sp>
        <p:nvSpPr>
          <p:cNvPr id="22" name="chrome-2"/>
          <p:cNvSpPr txBox="1"/>
          <p:nvPr/>
        </p:nvSpPr>
        <p:spPr>
          <a:xfrm>
            <a:off x="411480" y="6556248"/>
            <a:ext cx="6400800" cy="1645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700" b="0">
                <a:solidFill>
                  <a:srgbClr val="5C6670"/>
                </a:solidFill>
                <a:latin typeface="Arial"/>
              </a:rPr>
              <a:t>Brindle Markets  |  Store format strategy  |  Steering committee pre-read  |  Illustrative figures</a:t>
            </a:r>
          </a:p>
        </p:txBody>
      </p:sp>
      <p:sp>
        <p:nvSpPr>
          <p:cNvPr id="23" name="chrome-3"/>
          <p:cNvSpPr txBox="1"/>
          <p:nvPr/>
        </p:nvSpPr>
        <p:spPr>
          <a:xfrm>
            <a:off x="11323015" y="6556248"/>
            <a:ext cx="457200" cy="1645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fld id="{B6F15528-21DE-4FAA-801E-634DDDAF5B2F}" type="slidenum">
              <a:rPr sz="700">
                <a:solidFill>
                  <a:srgbClr val="5C6670"/>
                </a:solidFill>
                <a:latin typeface="Arial"/>
              </a:rPr>
              <a:t>1</a:t>
            </a:fld>
          </a:p>
        </p:txBody>
      </p:sp>
      <p:sp>
        <p:nvSpPr>
          <p:cNvPr id="2" name="kicker"/>
          <p:cNvSpPr/>
          <p:nvPr/>
        </p:nvSpPr>
        <p:spPr>
          <a:xfrm>
            <a:off x="411480" y="411480"/>
            <a:ext cx="1136904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spc="50">
                <a:solidFill>
                  <a:srgbClr val="1F3A5F"/>
                </a:solidFill>
                <a:latin typeface="Arial"/>
              </a:rPr>
              <a:t>05  THREE-YEAR PLAN</a:t>
            </a:r>
          </a:p>
        </p:txBody>
      </p:sp>
      <p:sp>
        <p:nvSpPr>
          <p:cNvPr id="3" name="title"/>
          <p:cNvSpPr/>
          <p:nvPr/>
        </p:nvSpPr>
        <p:spPr>
          <a:xfrm>
            <a:off x="411480" y="560832"/>
            <a:ext cx="11369040" cy="533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1E2226"/>
                </a:solidFill>
                <a:latin typeface="Georgia"/>
              </a:rPr>
              <a:t>The plan lifts store EBITDA 42% to £323m by 2028 on £387m of capex; reformats carry</a:t>
            </a:r>
            <a:br/>
            <a:r>
              <a:rPr sz="2000" b="1" i="0">
                <a:solidFill>
                  <a:srgbClr val="1E2226"/>
                </a:solidFill>
                <a:latin typeface="Georgia"/>
              </a:rPr>
              <a:t>60% of the gain</a:t>
            </a:r>
          </a:p>
        </p:txBody>
      </p:sp>
      <p:sp>
        <p:nvSpPr>
          <p:cNvPr id="4" name="exA-h"/>
          <p:cNvSpPr/>
          <p:nvPr/>
        </p:nvSpPr>
        <p:spPr>
          <a:xfrm>
            <a:off x="411480" y="1252728"/>
            <a:ext cx="835533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1E2226"/>
                </a:solidFill>
                <a:latin typeface="Arial"/>
              </a:rPr>
              <a:t>Store EBITDA, 2025 to 2028</a:t>
            </a:r>
          </a:p>
        </p:txBody>
      </p:sp>
      <p:sp>
        <p:nvSpPr>
          <p:cNvPr id="5" name="exA-u"/>
          <p:cNvSpPr/>
          <p:nvPr/>
        </p:nvSpPr>
        <p:spPr>
          <a:xfrm>
            <a:off x="411480" y="1432560"/>
            <a:ext cx="835533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C6670"/>
                </a:solidFill>
                <a:latin typeface="Arial"/>
              </a:rPr>
              <a:t>£m; exits net of the 30% of their sales recaptured nearby; new stores at 70% of mature EBITDA</a:t>
            </a:r>
          </a:p>
        </p:txBody>
      </p:sp>
      <p:graphicFrame>
        <p:nvGraphicFramePr>
          <p:cNvPr id="6" name="bridge"/>
          <p:cNvGraphicFramePr>
            <a:graphicFrameLocks noGrp="1"/>
          </p:cNvGraphicFramePr>
          <p:nvPr/>
        </p:nvGraphicFramePr>
        <p:xfrm>
          <a:off x="411480" y="1574292"/>
          <a:ext cx="8355330" cy="298526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panel-fill"/>
          <p:cNvSpPr/>
          <p:nvPr/>
        </p:nvSpPr>
        <p:spPr>
          <a:xfrm>
            <a:off x="8995410" y="1252728"/>
            <a:ext cx="2785110" cy="3306826"/>
          </a:xfrm>
          <a:prstGeom prst="rect">
            <a:avLst/>
          </a:prstGeom>
          <a:solidFill>
            <a:srgbClr val="F3F0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anel-h"/>
          <p:cNvSpPr/>
          <p:nvPr/>
        </p:nvSpPr>
        <p:spPr>
          <a:xfrm>
            <a:off x="9105138" y="1362456"/>
            <a:ext cx="2565654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1E2226"/>
                </a:solidFill>
                <a:latin typeface="Arial"/>
              </a:rPr>
              <a:t>What the board is asked to fund</a:t>
            </a:r>
          </a:p>
        </p:txBody>
      </p:sp>
      <p:sp>
        <p:nvSpPr>
          <p:cNvPr id="9" name="t1-f"/>
          <p:cNvSpPr/>
          <p:nvPr/>
        </p:nvSpPr>
        <p:spPr>
          <a:xfrm>
            <a:off x="9105138" y="1624584"/>
            <a:ext cx="2565654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1F3A5F"/>
                </a:solidFill>
                <a:latin typeface="Georgia"/>
              </a:rPr>
              <a:t>£387m</a:t>
            </a:r>
          </a:p>
        </p:txBody>
      </p:sp>
      <p:sp>
        <p:nvSpPr>
          <p:cNvPr id="10" name="t1-t"/>
          <p:cNvSpPr/>
          <p:nvPr/>
        </p:nvSpPr>
        <p:spPr>
          <a:xfrm>
            <a:off x="9105138" y="1931416"/>
            <a:ext cx="2565654" cy="3009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35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00" b="0" i="0">
                <a:solidFill>
                  <a:srgbClr val="1E2226"/>
                </a:solidFill>
                <a:latin typeface="Arial"/>
              </a:rPr>
              <a:t>capex over three years, 81% of it reformats and</a:t>
            </a:r>
            <a:br/>
            <a:r>
              <a:rPr sz="900" b="0" i="0">
                <a:solidFill>
                  <a:srgbClr val="1E2226"/>
                </a:solidFill>
                <a:latin typeface="Arial"/>
              </a:rPr>
              <a:t>new stores</a:t>
            </a:r>
          </a:p>
        </p:txBody>
      </p:sp>
      <p:sp>
        <p:nvSpPr>
          <p:cNvPr id="11" name="t2-f"/>
          <p:cNvSpPr/>
          <p:nvPr/>
        </p:nvSpPr>
        <p:spPr>
          <a:xfrm>
            <a:off x="9105138" y="2342134"/>
            <a:ext cx="2565654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1F3A5F"/>
                </a:solidFill>
                <a:latin typeface="Georgia"/>
              </a:rPr>
              <a:t>4.0 years</a:t>
            </a:r>
          </a:p>
        </p:txBody>
      </p:sp>
      <p:sp>
        <p:nvSpPr>
          <p:cNvPr id="12" name="t2-t"/>
          <p:cNvSpPr/>
          <p:nvPr/>
        </p:nvSpPr>
        <p:spPr>
          <a:xfrm>
            <a:off x="9105138" y="2648966"/>
            <a:ext cx="2565654" cy="1695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35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00" b="0" i="0">
                <a:solidFill>
                  <a:srgbClr val="1E2226"/>
                </a:solidFill>
                <a:latin typeface="Arial"/>
              </a:rPr>
              <a:t>payback on the 2028 EBITDA uplift of £95.9m</a:t>
            </a:r>
          </a:p>
        </p:txBody>
      </p:sp>
      <p:sp>
        <p:nvSpPr>
          <p:cNvPr id="13" name="t3-f"/>
          <p:cNvSpPr/>
          <p:nvPr/>
        </p:nvSpPr>
        <p:spPr>
          <a:xfrm>
            <a:off x="9105138" y="2928239"/>
            <a:ext cx="2565654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1F3A5F"/>
                </a:solidFill>
                <a:latin typeface="Georgia"/>
              </a:rPr>
              <a:t>11.0%</a:t>
            </a:r>
          </a:p>
        </p:txBody>
      </p:sp>
      <p:sp>
        <p:nvSpPr>
          <p:cNvPr id="14" name="t3-t"/>
          <p:cNvSpPr/>
          <p:nvPr/>
        </p:nvSpPr>
        <p:spPr>
          <a:xfrm>
            <a:off x="9105138" y="3235071"/>
            <a:ext cx="2565654" cy="3009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35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00" b="0" i="0">
                <a:solidFill>
                  <a:srgbClr val="1E2226"/>
                </a:solidFill>
                <a:latin typeface="Arial"/>
              </a:rPr>
              <a:t>estate cash return in 2028, from 7.6% today, on</a:t>
            </a:r>
            <a:br/>
            <a:r>
              <a:rPr sz="900" b="0" i="0">
                <a:solidFill>
                  <a:srgbClr val="1E2226"/>
                </a:solidFill>
                <a:latin typeface="Arial"/>
              </a:rPr>
              <a:t>229 stores</a:t>
            </a:r>
          </a:p>
        </p:txBody>
      </p:sp>
      <p:sp>
        <p:nvSpPr>
          <p:cNvPr id="15" name="t4-f"/>
          <p:cNvSpPr/>
          <p:nvPr/>
        </p:nvSpPr>
        <p:spPr>
          <a:xfrm>
            <a:off x="9105138" y="3645789"/>
            <a:ext cx="2565654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1F3A5F"/>
                </a:solidFill>
                <a:latin typeface="Georgia"/>
              </a:rPr>
              <a:t>£408m</a:t>
            </a:r>
          </a:p>
        </p:txBody>
      </p:sp>
      <p:sp>
        <p:nvSpPr>
          <p:cNvPr id="16" name="t4-t"/>
          <p:cNvSpPr/>
          <p:nvPr/>
        </p:nvSpPr>
        <p:spPr>
          <a:xfrm>
            <a:off x="9105138" y="3952621"/>
            <a:ext cx="2565654" cy="3009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35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00" b="0" i="0">
                <a:solidFill>
                  <a:srgbClr val="1E2226"/>
                </a:solidFill>
                <a:latin typeface="Arial"/>
              </a:rPr>
              <a:t>of capital released by the 15 exits, which earn</a:t>
            </a:r>
            <a:br/>
            <a:r>
              <a:rPr sz="900" b="0" i="0">
                <a:solidFill>
                  <a:srgbClr val="1E2226"/>
                </a:solidFill>
                <a:latin typeface="Arial"/>
              </a:rPr>
              <a:t>£0.6m today</a:t>
            </a:r>
          </a:p>
        </p:txBody>
      </p:sp>
      <p:sp>
        <p:nvSpPr>
          <p:cNvPr id="17" name="exB-h"/>
          <p:cNvSpPr/>
          <p:nvPr/>
        </p:nvSpPr>
        <p:spPr>
          <a:xfrm>
            <a:off x="411480" y="4669282"/>
            <a:ext cx="1136904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1E2226"/>
                </a:solidFill>
                <a:latin typeface="Arial"/>
              </a:rPr>
              <a:t>Phasing, money and gates</a:t>
            </a:r>
          </a:p>
        </p:txBody>
      </p:sp>
      <p:sp>
        <p:nvSpPr>
          <p:cNvPr id="18" name="exB-u"/>
          <p:cNvSpPr/>
          <p:nvPr/>
        </p:nvSpPr>
        <p:spPr>
          <a:xfrm>
            <a:off x="411480" y="4849114"/>
            <a:ext cx="1136904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C6670"/>
                </a:solidFill>
                <a:latin typeface="Arial"/>
              </a:rPr>
              <a:t>Stores started each year; capex and 2028 EBITDA uplift in £m</a:t>
            </a:r>
          </a:p>
        </p:txBody>
      </p:sp>
      <p:graphicFrame>
        <p:nvGraphicFramePr>
          <p:cNvPr id="19" name="rtab"/>
          <p:cNvGraphicFramePr>
            <a:graphicFrameLocks noGrp="1"/>
          </p:cNvGraphicFramePr>
          <p:nvPr/>
        </p:nvGraphicFramePr>
        <p:xfrm>
          <a:off x="411480" y="4990846"/>
          <a:ext cx="11369040" cy="1239266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2994629"/>
                <a:gridCol w="3751783"/>
                <a:gridCol w="443241"/>
                <a:gridCol w="443241"/>
                <a:gridCol w="443241"/>
                <a:gridCol w="575999"/>
                <a:gridCol w="916729"/>
                <a:gridCol w="1800177"/>
              </a:tblGrid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Workstream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Gate to pass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2026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2027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2028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Stores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Capex (£m)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EBITDA uplift 2028 (£m)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F3A5F"/>
                          </a:solidFill>
                          <a:latin typeface="Arial"/>
                        </a:rPr>
                        <a:t>Reformat superstores and supermarkets</a:t>
                      </a:r>
                      <a:endParaRPr sz="800" b="1" i="0">
                        <a:solidFill>
                          <a:srgbClr val="1F3A5F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E222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Pilot 4 stores by Q2 2026; roll out only above a 10% return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E222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16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E222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25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E222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23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E222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64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E222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222.0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E222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3A5F"/>
                          </a:solidFill>
                          <a:latin typeface="Arial"/>
                        </a:rPr>
                        <a:t>57.5</a:t>
                      </a:r>
                      <a:endParaRPr sz="800" b="1" i="0">
                        <a:solidFill>
                          <a:srgbClr val="1F3A5F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E222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Right-size flat-catchment stores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Landlord talks on sublets; labour model agreed with unions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22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17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10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49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39.2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19.3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Exit loss-making stores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Lease breaks and disposals; staff offered nearby roles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7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5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3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15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36.0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11.8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Open neighbourhood stores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30 sites in the growth catchments; 70% of mature EBITDA by 2028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6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12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12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30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90.0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11.7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6350">
                      <a:solidFill>
                        <a:srgbClr val="C9CFD6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Unchanged large stores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Price and range reset in the 30 unchanged large stores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30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0.0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E2226"/>
                          </a:solidFill>
                          <a:latin typeface="Arial"/>
                        </a:rPr>
                        <a:t>(4.4)</a:t>
                      </a:r>
                      <a:endParaRPr sz="800" b="0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CFD6"/>
                      </a:solidFill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Programme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E2226"/>
                      </a:solidFill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E2226"/>
                      </a:solidFill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E2226"/>
                      </a:solidFill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E2226"/>
                      </a:solidFill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E2226"/>
                      </a:solidFill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E2226"/>
                      </a:solidFill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387.2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E2226"/>
                      </a:solidFill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E2226"/>
                          </a:solidFill>
                          <a:latin typeface="Arial"/>
                        </a:rPr>
                        <a:t>95.9</a:t>
                      </a:r>
                      <a:endParaRPr sz="800" b="1" i="0">
                        <a:solidFill>
                          <a:srgbClr val="1E22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E2226"/>
                      </a:solidFill>
                    </a:lnT>
                    <a:lnB w="12700">
                      <a:solidFill>
                        <a:srgbClr val="1E2226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0" name="source"/>
          <p:cNvSpPr/>
          <p:nvPr/>
        </p:nvSpPr>
        <p:spPr>
          <a:xfrm>
            <a:off x="411480" y="6339840"/>
            <a:ext cx="1136904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C6670"/>
                </a:solidFill>
                <a:latin typeface="Arial"/>
              </a:rPr>
              <a:t>Source: Brindle store P&amp;L, capital register and loyalty-card data, 2025; regional grocery market model; team analysis. All figures illustrative.</a:t>
            </a: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pptx-skill" val="generated"/>
</p:tagLst>
</file>

<file path=ppt/tags/tag2.xml><?xml version="1.0" encoding="utf-8"?>
<p:tagLst xmlns:p="http://schemas.openxmlformats.org/presentationml/2006/main">
  <p:tag name="pptx-skill" val="generated"/>
</p:tagLst>
</file>

<file path=ppt/tags/tag3.xml><?xml version="1.0" encoding="utf-8"?>
<p:tagLst xmlns:p="http://schemas.openxmlformats.org/presentationml/2006/main">
  <p:tag name="pptx-skill" val="generated"/>
</p:tagLst>
</file>

<file path=ppt/tags/tag4.xml><?xml version="1.0" encoding="utf-8"?>
<p:tagLst xmlns:p="http://schemas.openxmlformats.org/presentationml/2006/main">
  <p:tag name="pptx-skill" val="generated"/>
</p:tagLst>
</file>

<file path=ppt/tags/tag5.xml><?xml version="1.0" encoding="utf-8"?>
<p:tagLst xmlns:p="http://schemas.openxmlformats.org/presentationml/2006/main">
  <p:tag name="pptx-skill" val="generate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2026-10-27T11:18:37Z</dcterms:created>
  <dcterms:modified xsi:type="dcterms:W3CDTF">2026-10-27T11:18:37Z</dcterms:modified>
  <cp:category/>
</cp:coreProperties>
</file>