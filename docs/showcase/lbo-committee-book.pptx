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42"/>
          <c:y val="0.02"/>
          <c:w val="0.32"/>
          <c:h val="0.96"/>
        </c:manualLayout>
      </c:layout>
      <c:barChart>
        <c:barDir val="bar"/>
        <c:grouping val="clustered"/>
        <c:varyColors val="0"/>
        <c:ser>
          <c:idx val="0"/>
          <c:order val="0"/>
          <c:tx>
            <c:strRef>
              <c:f>Sheet1!$B$1</c:f>
              <c:strCache>
                <c:ptCount val="1"/>
                <c:pt idx="0">
                  <c:v>Share of FY2026E revenue (%)</c:v>
                </c:pt>
              </c:strCache>
            </c:strRef>
          </c:tx>
          <c:spPr>
            <a:solidFill>
              <a:srgbClr val="1F3D63"/>
            </a:solidFill>
            <a:ln>
              <a:noFill/>
            </a:ln>
          </c:spPr>
          <c:dPt>
            <c:idx val="3"/>
            <c:spPr>
              <a:solidFill>
                <a:srgbClr val="A9B1BB"/>
              </a:solidFill>
            </c:spPr>
          </c:dPt>
          <c:dPt>
            <c:idx val="4"/>
            <c:spPr>
              <a:solidFill>
                <a:srgbClr val="A9B1BB"/>
              </a:solidFill>
            </c:spPr>
          </c:dPt>
          <c:dPt>
            <c:idx val="5"/>
            <c:spPr>
              <a:solidFill>
                <a:srgbClr val="A9B1BB"/>
              </a:solidFill>
            </c:spPr>
          </c:dPt>
          <c:dPt>
            <c:idx val="6"/>
            <c:spPr>
              <a:solidFill>
                <a:srgbClr val="A9B1BB"/>
              </a:solidFill>
            </c:spPr>
          </c:dPt>
          <c:dLbls>
            <c:numFmt formatCode="0.0&quot;%&quot;" sourceLinked="0"/>
            <c:txPr>
              <a:bodyPr/>
              <a:lstStyle/>
              <a:p>
                <a:pPr>
                  <a:defRPr sz="700" b="1" i="0">
                    <a:solidFill>
                      <a:srgbClr val="1B1F24"/>
                    </a:solidFill>
                    <a:latin typeface="Carlito"/>
                  </a:defRPr>
                </a:pPr>
              </a:p>
            </c:txPr>
            <c:dLblPos val="outEnd"/>
            <c:showLegendKey val="0"/>
            <c:showVal val="1"/>
            <c:showCatName val="0"/>
            <c:showSerName val="0"/>
            <c:showPercent val="0"/>
            <c:showBubbleSize val="0"/>
            <c:showLeaderLines val="1"/>
          </c:dLbls>
          <c:cat>
            <c:strRef>
              <c:f>Sheet1!$A$2:$A$8</c:f>
              <c:strCache>
                <c:ptCount val="7"/>
                <c:pt idx="0">
                  <c:v>Water and wastewater</c:v>
                </c:pt>
                <c:pt idx="1">
                  <c:v>Power generation</c:v>
                </c:pt>
                <c:pt idx="2">
                  <c:v>Food, beverage and pharma</c:v>
                </c:pt>
                <c:pt idx="3">
                  <c:v>Chemicals and petrochemicals</c:v>
                </c:pt>
                <c:pt idx="4">
                  <c:v>Midstream oil and gas</c:v>
                </c:pt>
                <c:pt idx="5">
                  <c:v>General industrial</c:v>
                </c:pt>
                <c:pt idx="6">
                  <c:v>Mining and minerals</c:v>
                </c:pt>
              </c:strCache>
            </c:strRef>
          </c:cat>
          <c:val>
            <c:numRef>
              <c:f>Sheet1!$B$2:$B$8</c:f>
              <c:numCache>
                <c:formatCode>0.0</c:formatCode>
                <c:ptCount val="7"/>
                <c:pt idx="0">
                  <c:v>18.6</c:v>
                </c:pt>
                <c:pt idx="1">
                  <c:v>14.2</c:v>
                </c:pt>
                <c:pt idx="2">
                  <c:v>11.3</c:v>
                </c:pt>
                <c:pt idx="3">
                  <c:v>22.4</c:v>
                </c:pt>
                <c:pt idx="4">
                  <c:v>12.1</c:v>
                </c:pt>
                <c:pt idx="5">
                  <c:v>11.8</c:v>
                </c:pt>
                <c:pt idx="6">
                  <c:v>9.6</c:v>
                </c:pt>
              </c:numCache>
            </c:numRef>
          </c:val>
        </c:ser>
        <c:gapWidth val="45"/>
        <c:axId val="-2068027336"/>
        <c:axId val="-2113994440"/>
      </c:barChart>
      <c:catAx>
        <c:axId val="-2068027336"/>
        <c:scaling>
          <c:orientation val="maxMin"/>
        </c:scaling>
        <c:delete val="0"/>
        <c:axPos val="l"/>
        <c:majorTickMark val="none"/>
        <c:minorTickMark val="none"/>
        <c:tickLblPos val="nextTo"/>
        <c:spPr>
          <a:ln w="9525">
            <a:solidFill>
              <a:srgbClr val="C3CAD3"/>
            </a:solidFill>
          </a:ln>
        </c:spPr>
        <c:txPr>
          <a:bodyPr rot="0" vert="horz"/>
          <a:lstStyle/>
          <a:p>
            <a:pPr>
              <a:defRPr sz="700" b="0" i="0">
                <a:solidFill>
                  <a:srgbClr val="56606C"/>
                </a:solidFill>
                <a:latin typeface="Carlito"/>
              </a:defRPr>
            </a:pPr>
          </a:p>
        </c:txPr>
        <c:crossAx val="-2113994440"/>
        <c:crosses val="autoZero"/>
        <c:auto val="1"/>
        <c:lblAlgn val="ctr"/>
        <c:lblOffset val="100"/>
        <c:noMultiLvlLbl val="0"/>
      </c:catAx>
      <c:valAx>
        <c:axId val="-2113994440"/>
        <c:scaling>
          <c:max val="27.0"/>
          <c:min val="0.0"/>
        </c:scaling>
        <c:delete/>
        <c:axPos val="b"/>
        <c:majorTickMark val="out"/>
        <c:minorTickMark val="none"/>
        <c:tickLblPos val="nextTo"/>
        <c:crossAx val="-2068027336"/>
        <c:crosses val="autoZero"/>
        <c:crossBetween val="between"/>
      </c:valAx>
      <c:spPr>
        <a:noFill/>
      </c:spPr>
    </c:plotArea>
    <c:dispBlanksAs val="gap"/>
  </c:chart>
  <c:txPr>
    <a:bodyPr/>
    <a:lstStyle/>
    <a:p>
      <a:pPr>
        <a:defRPr sz="700" b="0" i="0">
          <a:solidFill>
            <a:srgbClr val="56606C"/>
          </a:solidFill>
          <a:latin typeface="Carli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
          <c:w val="1.0"/>
          <c:h val="1.0"/>
        </c:manualLayout>
      </c:layout>
      <c:barChart>
        <c:barDir val="col"/>
        <c:grouping val="stacked"/>
        <c:varyColors val="0"/>
        <c:ser>
          <c:idx val="0"/>
          <c:order val="0"/>
          <c:tx>
            <c:strRef>
              <c:f>Sheet1!$B$1</c:f>
              <c:strCache>
                <c:ptCount val="1"/>
                <c:pt idx="0">
                  <c:v>First-lien term loan B</c:v>
                </c:pt>
              </c:strCache>
            </c:strRef>
          </c:tx>
          <c:spPr>
            <a:solidFill>
              <a:srgbClr val="1F3D63"/>
            </a:solidFill>
            <a:ln w="9525">
              <a:solidFill>
                <a:srgbClr val="FFFFFF"/>
              </a:solidFill>
            </a:ln>
          </c:spPr>
          <c:dLbls>
            <c:dLbl>
              <c:idx val="0"/>
              <c:tx>
                <c:rich>
                  <a:bodyPr/>
                  <a:lstStyle/>
                  <a:p>
                    <a:r>
                      <a:rPr sz="700" b="1" i="0">
                        <a:solidFill>
                          <a:srgbClr val="FFFFFF"/>
                        </a:solidFill>
                        <a:latin typeface="Carlito"/>
                      </a:rPr>
                      <a:t>First-lien TLB</a:t>
                    </a:r>
                  </a:p>
                  <a:p>
                    <a:r>
                      <a:rPr sz="700" b="1" i="0">
                        <a:solidFill>
                          <a:srgbClr val="FFFFFF"/>
                        </a:solidFill>
                        <a:latin typeface="Carlito"/>
                      </a:rPr>
                      <a:t>$567.0m</a:t>
                    </a:r>
                  </a:p>
                  <a:p>
                    <a:r>
                      <a:rPr sz="700" b="1" i="0">
                        <a:solidFill>
                          <a:srgbClr val="FFFFFF"/>
                        </a:solidFill>
                        <a:latin typeface="Carlito"/>
                      </a:rPr>
                      <a:t>4.50x</a:t>
                    </a:r>
                  </a:p>
                </c:rich>
              </c:tx>
              <c:txPr>
                <a:bodyPr/>
                <a:lstStyle/>
                <a:p>
                  <a:pPr>
                    <a:defRPr sz="700" b="1" i="0">
                      <a:solidFill>
                        <a:srgbClr val="FFFFFF"/>
                      </a:solidFill>
                      <a:latin typeface="Carlito"/>
                    </a:defRPr>
                  </a:pPr>
                </a:p>
              </c:txPr>
              <c:dLblPos val="ctr"/>
              <c:showLegendKey val="0"/>
              <c:showVal val="1"/>
              <c:showCatName val="0"/>
              <c:showSerName val="0"/>
              <c:showPercent val="0"/>
              <c:showBubbleSize val="0"/>
            </c:dLbl>
            <c:txPr>
              <a:bodyPr/>
              <a:lstStyle/>
              <a:p>
                <a:pPr>
                  <a:defRPr sz="700" b="1" i="0">
                    <a:solidFill>
                      <a:srgbClr val="FFFFFF"/>
                    </a:solidFill>
                    <a:latin typeface="Carlito"/>
                  </a:defRPr>
                </a:pPr>
              </a:p>
            </c:txPr>
            <c:dLblPos val="ctr"/>
            <c:showLegendKey val="0"/>
            <c:showVal val="1"/>
            <c:showCatName val="0"/>
            <c:showSerName val="0"/>
            <c:showPercent val="0"/>
            <c:showBubbleSize val="0"/>
            <c:showLeaderLines val="1"/>
          </c:dLbls>
          <c:cat>
            <c:strRef>
              <c:f>Sheet1!$A$2:$A$2</c:f>
              <c:strCache>
                <c:ptCount val="1"/>
                <c:pt idx="0">
                  <c:v>Sources at close</c:v>
                </c:pt>
              </c:strCache>
            </c:strRef>
          </c:cat>
          <c:val>
            <c:numRef>
              <c:f>Sheet1!$B$2:$B$2</c:f>
              <c:numCache>
                <c:formatCode>0.00</c:formatCode>
                <c:ptCount val="1"/>
                <c:pt idx="0">
                  <c:v>4.5</c:v>
                </c:pt>
              </c:numCache>
            </c:numRef>
          </c:val>
        </c:ser>
        <c:ser>
          <c:idx val="1"/>
          <c:order val="1"/>
          <c:tx>
            <c:strRef>
              <c:f>Sheet1!$C$1</c:f>
              <c:strCache>
                <c:ptCount val="1"/>
                <c:pt idx="0">
                  <c:v>Senior unsecured notes</c:v>
                </c:pt>
              </c:strCache>
            </c:strRef>
          </c:tx>
          <c:spPr>
            <a:solidFill>
              <a:srgbClr val="6F8DB3"/>
            </a:solidFill>
            <a:ln w="9525">
              <a:solidFill>
                <a:srgbClr val="FFFFFF"/>
              </a:solidFill>
            </a:ln>
          </c:spPr>
          <c:dLbls>
            <c:dLbl>
              <c:idx val="0"/>
              <c:tx>
                <c:rich>
                  <a:bodyPr/>
                  <a:lstStyle/>
                  <a:p>
                    <a:r>
                      <a:rPr sz="700" b="1" i="0">
                        <a:solidFill>
                          <a:srgbClr val="1B1F24"/>
                        </a:solidFill>
                        <a:latin typeface="Carlito"/>
                      </a:rPr>
                      <a:t>Notes 1.25x</a:t>
                    </a:r>
                  </a:p>
                </c:rich>
              </c:tx>
              <c:txPr>
                <a:bodyPr/>
                <a:lstStyle/>
                <a:p>
                  <a:pPr>
                    <a:defRPr sz="700" b="1" i="0">
                      <a:solidFill>
                        <a:srgbClr val="1B1F24"/>
                      </a:solidFill>
                      <a:latin typeface="Carlito"/>
                    </a:defRPr>
                  </a:pPr>
                </a:p>
              </c:txPr>
              <c:dLblPos val="ctr"/>
              <c:showLegendKey val="0"/>
              <c:showVal val="1"/>
              <c:showCatName val="0"/>
              <c:showSerName val="0"/>
              <c:showPercent val="0"/>
              <c:showBubbleSize val="0"/>
            </c:dLbl>
            <c:txPr>
              <a:bodyPr/>
              <a:lstStyle/>
              <a:p>
                <a:pPr>
                  <a:defRPr sz="700" b="1" i="0">
                    <a:solidFill>
                      <a:srgbClr val="1B1F24"/>
                    </a:solidFill>
                    <a:latin typeface="Carlito"/>
                  </a:defRPr>
                </a:pPr>
              </a:p>
            </c:txPr>
            <c:dLblPos val="ctr"/>
            <c:showLegendKey val="0"/>
            <c:showVal val="1"/>
            <c:showCatName val="0"/>
            <c:showSerName val="0"/>
            <c:showPercent val="0"/>
            <c:showBubbleSize val="0"/>
            <c:showLeaderLines val="1"/>
          </c:dLbls>
          <c:cat>
            <c:strRef>
              <c:f>Sheet1!$A$2:$A$2</c:f>
              <c:strCache>
                <c:ptCount val="1"/>
                <c:pt idx="0">
                  <c:v>Sources at close</c:v>
                </c:pt>
              </c:strCache>
            </c:strRef>
          </c:cat>
          <c:val>
            <c:numRef>
              <c:f>Sheet1!$C$2:$C$2</c:f>
              <c:numCache>
                <c:formatCode>0.00</c:formatCode>
                <c:ptCount val="1"/>
                <c:pt idx="0">
                  <c:v>1.25</c:v>
                </c:pt>
              </c:numCache>
            </c:numRef>
          </c:val>
        </c:ser>
        <c:ser>
          <c:idx val="2"/>
          <c:order val="2"/>
          <c:tx>
            <c:strRef>
              <c:f>Sheet1!$D$1</c:f>
              <c:strCache>
                <c:ptCount val="1"/>
                <c:pt idx="0">
                  <c:v>Equity</c:v>
                </c:pt>
              </c:strCache>
            </c:strRef>
          </c:tx>
          <c:spPr>
            <a:solidFill>
              <a:srgbClr val="A9B1BB"/>
            </a:solidFill>
            <a:ln w="9525">
              <a:solidFill>
                <a:srgbClr val="FFFFFF"/>
              </a:solidFill>
            </a:ln>
          </c:spPr>
          <c:dLbls>
            <c:dLbl>
              <c:idx val="0"/>
              <c:tx>
                <c:rich>
                  <a:bodyPr/>
                  <a:lstStyle/>
                  <a:p>
                    <a:r>
                      <a:rPr sz="700" b="1" i="0">
                        <a:solidFill>
                          <a:srgbClr val="1B1F24"/>
                        </a:solidFill>
                        <a:latin typeface="Carlito"/>
                      </a:rPr>
                      <a:t>Equity</a:t>
                    </a:r>
                  </a:p>
                  <a:p>
                    <a:r>
                      <a:rPr sz="700" b="1" i="0">
                        <a:solidFill>
                          <a:srgbClr val="1B1F24"/>
                        </a:solidFill>
                        <a:latin typeface="Carlito"/>
                      </a:rPr>
                      <a:t>$604.0m</a:t>
                    </a:r>
                  </a:p>
                  <a:p>
                    <a:r>
                      <a:rPr sz="700" b="1" i="0">
                        <a:solidFill>
                          <a:srgbClr val="1B1F24"/>
                        </a:solidFill>
                        <a:latin typeface="Carlito"/>
                      </a:rPr>
                      <a:t>4.79x</a:t>
                    </a:r>
                  </a:p>
                </c:rich>
              </c:tx>
              <c:txPr>
                <a:bodyPr/>
                <a:lstStyle/>
                <a:p>
                  <a:pPr>
                    <a:defRPr sz="700" b="1" i="0">
                      <a:solidFill>
                        <a:srgbClr val="1B1F24"/>
                      </a:solidFill>
                      <a:latin typeface="Carlito"/>
                    </a:defRPr>
                  </a:pPr>
                </a:p>
              </c:txPr>
              <c:dLblPos val="ctr"/>
              <c:showLegendKey val="0"/>
              <c:showVal val="1"/>
              <c:showCatName val="0"/>
              <c:showSerName val="0"/>
              <c:showPercent val="0"/>
              <c:showBubbleSize val="0"/>
            </c:dLbl>
            <c:txPr>
              <a:bodyPr/>
              <a:lstStyle/>
              <a:p>
                <a:pPr>
                  <a:defRPr sz="700" b="1" i="0">
                    <a:solidFill>
                      <a:srgbClr val="1B1F24"/>
                    </a:solidFill>
                    <a:latin typeface="Carlito"/>
                  </a:defRPr>
                </a:pPr>
              </a:p>
            </c:txPr>
            <c:dLblPos val="ctr"/>
            <c:showLegendKey val="0"/>
            <c:showVal val="1"/>
            <c:showCatName val="0"/>
            <c:showSerName val="0"/>
            <c:showPercent val="0"/>
            <c:showBubbleSize val="0"/>
            <c:showLeaderLines val="1"/>
          </c:dLbls>
          <c:cat>
            <c:strRef>
              <c:f>Sheet1!$A$2:$A$2</c:f>
              <c:strCache>
                <c:ptCount val="1"/>
                <c:pt idx="0">
                  <c:v>Sources at close</c:v>
                </c:pt>
              </c:strCache>
            </c:strRef>
          </c:cat>
          <c:val>
            <c:numRef>
              <c:f>Sheet1!$D$2:$D$2</c:f>
              <c:numCache>
                <c:formatCode>0.00</c:formatCode>
                <c:ptCount val="1"/>
                <c:pt idx="0">
                  <c:v>4.79</c:v>
                </c:pt>
              </c:numCache>
            </c:numRef>
          </c:val>
        </c:ser>
        <c:gapWidth val="12"/>
        <c:overlap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10.6"/>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700" b="0" i="0">
          <a:solidFill>
            <a:srgbClr val="56606C"/>
          </a:solidFill>
          <a:latin typeface="Carli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8"/>
          <c:w val="1.0"/>
          <c:h val="0.74"/>
        </c:manualLayout>
      </c:layout>
      <c:barChart>
        <c:barDir val="col"/>
        <c:grouping val="clustered"/>
        <c:varyColors val="0"/>
        <c:ser>
          <c:idx val="0"/>
          <c:order val="0"/>
          <c:tx>
            <c:strRef>
              <c:f>Sheet1!$B$1</c:f>
              <c:strCache>
                <c:ptCount val="1"/>
                <c:pt idx="0">
                  <c:v>Adj. EBITDA ($m)</c:v>
                </c:pt>
              </c:strCache>
            </c:strRef>
          </c:tx>
          <c:spPr>
            <a:solidFill>
              <a:srgbClr val="1F3D63"/>
            </a:solidFill>
            <a:ln>
              <a:noFill/>
            </a:ln>
          </c:spPr>
          <c:dPt>
            <c:idx val="0"/>
            <c:spPr>
              <a:solidFill>
                <a:srgbClr val="A9B1BB"/>
              </a:solidFill>
            </c:spPr>
          </c:dPt>
          <c:dPt>
            <c:idx val="1"/>
            <c:spPr>
              <a:solidFill>
                <a:srgbClr val="A9B1BB"/>
              </a:solidFill>
            </c:spPr>
          </c:dPt>
          <c:dPt>
            <c:idx val="2"/>
            <c:spPr>
              <a:solidFill>
                <a:srgbClr val="A9B1BB"/>
              </a:solidFill>
            </c:spPr>
          </c:dPt>
          <c:dPt>
            <c:idx val="3"/>
            <c:spPr>
              <a:solidFill>
                <a:srgbClr val="A9B1BB"/>
              </a:solidFill>
            </c:spPr>
          </c:dPt>
          <c:dPt>
            <c:idx val="4"/>
            <c:spPr>
              <a:solidFill>
                <a:srgbClr val="A9B1BB"/>
              </a:solidFill>
            </c:spPr>
          </c:dPt>
          <c:dPt>
            <c:idx val="5"/>
            <c:spPr>
              <a:solidFill>
                <a:srgbClr val="A9B1BB"/>
              </a:solidFill>
            </c:spPr>
          </c:dPt>
          <c:dLbls>
            <c:numFmt formatCode="0" sourceLinked="0"/>
            <c:txPr>
              <a:bodyPr/>
              <a:lstStyle/>
              <a:p>
                <a:pPr>
                  <a:defRPr sz="700" b="1" i="0">
                    <a:solidFill>
                      <a:srgbClr val="1B1F24"/>
                    </a:solidFill>
                    <a:latin typeface="Carlito"/>
                  </a:defRPr>
                </a:pPr>
              </a:p>
            </c:txPr>
            <c:dLblPos val="outEnd"/>
            <c:showLegendKey val="0"/>
            <c:showVal val="1"/>
            <c:showCatName val="0"/>
            <c:showSerName val="0"/>
            <c:showPercent val="0"/>
            <c:showBubbleSize val="0"/>
            <c:showLeaderLines val="1"/>
          </c:dLbls>
          <c:cat>
            <c:strRef>
              <c:f>Sheet1!$A$2:$A$12</c:f>
              <c:strCache>
                <c:ptCount val="11"/>
                <c:pt idx="0">
                  <c:v>FY21A</c:v>
                </c:pt>
                <c:pt idx="1">
                  <c:v>FY22A</c:v>
                </c:pt>
                <c:pt idx="2">
                  <c:v>FY23A</c:v>
                </c:pt>
                <c:pt idx="3">
                  <c:v>FY24A</c:v>
                </c:pt>
                <c:pt idx="4">
                  <c:v>FY25A</c:v>
                </c:pt>
                <c:pt idx="5">
                  <c:v>FY26E</c:v>
                </c:pt>
                <c:pt idx="6">
                  <c:v>FY27E</c:v>
                </c:pt>
                <c:pt idx="7">
                  <c:v>FY28E</c:v>
                </c:pt>
                <c:pt idx="8">
                  <c:v>FY29E</c:v>
                </c:pt>
                <c:pt idx="9">
                  <c:v>FY30E</c:v>
                </c:pt>
                <c:pt idx="10">
                  <c:v>FY31E</c:v>
                </c:pt>
              </c:strCache>
            </c:strRef>
          </c:cat>
          <c:val>
            <c:numRef>
              <c:f>Sheet1!$B$2:$B$12</c:f>
              <c:numCache>
                <c:formatCode>0</c:formatCode>
                <c:ptCount val="11"/>
                <c:pt idx="0">
                  <c:v>80.0</c:v>
                </c:pt>
                <c:pt idx="1">
                  <c:v>90.6</c:v>
                </c:pt>
                <c:pt idx="2">
                  <c:v>101.2</c:v>
                </c:pt>
                <c:pt idx="3">
                  <c:v>106.6</c:v>
                </c:pt>
                <c:pt idx="4">
                  <c:v>117.1</c:v>
                </c:pt>
                <c:pt idx="5">
                  <c:v>126.0</c:v>
                </c:pt>
                <c:pt idx="6">
                  <c:v>140.2</c:v>
                </c:pt>
                <c:pt idx="7">
                  <c:v>155.2</c:v>
                </c:pt>
                <c:pt idx="8">
                  <c:v>170.8</c:v>
                </c:pt>
                <c:pt idx="9">
                  <c:v>186.0</c:v>
                </c:pt>
                <c:pt idx="10">
                  <c:v>200.2</c:v>
                </c:pt>
              </c:numCache>
            </c:numRef>
          </c:val>
        </c:ser>
        <c:gapWidth val="40"/>
        <c:axId val="-2068027336"/>
        <c:axId val="-2113994440"/>
      </c:barChart>
      <c:catAx>
        <c:axId val="-2068027336"/>
        <c:scaling/>
        <c:delete val="0"/>
        <c:axPos val="b"/>
        <c:majorTickMark val="none"/>
        <c:minorTickMark val="none"/>
        <c:tickLblPos val="nextTo"/>
        <c:spPr>
          <a:ln w="9525">
            <a:solidFill>
              <a:srgbClr val="C3CAD3"/>
            </a:solidFill>
          </a:ln>
        </c:spPr>
        <c:txPr>
          <a:bodyPr rot="0" vert="horz"/>
          <a:lstStyle/>
          <a:p>
            <a:pPr>
              <a:defRPr sz="700" b="0" i="0">
                <a:solidFill>
                  <a:srgbClr val="56606C"/>
                </a:solidFill>
                <a:latin typeface="Carlito"/>
              </a:defRPr>
            </a:pPr>
          </a:p>
        </c:txPr>
        <c:crossAx val="-2113994440"/>
        <c:crosses val="autoZero"/>
        <c:auto val="1"/>
        <c:lblAlgn val="ctr"/>
        <c:lblOffset val="100"/>
        <c:noMultiLvlLbl val="0"/>
      </c:catAx>
      <c:valAx>
        <c:axId val="-2113994440"/>
        <c:scaling>
          <c:max val="230.0"/>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700" b="0" i="0">
          <a:solidFill>
            <a:srgbClr val="56606C"/>
          </a:solidFill>
          <a:latin typeface="Carli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06"/>
          <c:w val="1.0"/>
          <c:h val="0.84"/>
        </c:manualLayout>
      </c:layout>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Equity invested</c:v>
                </c:pt>
                <c:pt idx="1">
                  <c:v>Entry fees and costs</c:v>
                </c:pt>
                <c:pt idx="2">
                  <c:v>Adj. EBITDA growth</c:v>
                </c:pt>
                <c:pt idx="3">
                  <c:v>Debt paydown</c:v>
                </c:pt>
                <c:pt idx="4">
                  <c:v>Exit costs</c:v>
                </c:pt>
                <c:pt idx="5">
                  <c:v>Incentive plan</c:v>
                </c:pt>
                <c:pt idx="6">
                  <c:v>Equity to holders</c:v>
                </c:pt>
              </c:strCache>
            </c:strRef>
          </c:cat>
          <c:val>
            <c:numRef>
              <c:f>Sheet1!$B$2:$B$8</c:f>
              <c:numCache>
                <c:formatCode>0.0</c:formatCode>
                <c:ptCount val="7"/>
                <c:pt idx="0">
                  <c:v>0.0</c:v>
                </c:pt>
                <c:pt idx="1">
                  <c:v>560.5</c:v>
                </c:pt>
                <c:pt idx="2">
                  <c:v>560.5</c:v>
                </c:pt>
                <c:pt idx="3">
                  <c:v>1302.5</c:v>
                </c:pt>
                <c:pt idx="4">
                  <c:v>1605.0</c:v>
                </c:pt>
                <c:pt idx="5">
                  <c:v>1544.9</c:v>
                </c:pt>
                <c:pt idx="6">
                  <c:v>0.0</c:v>
                </c:pt>
              </c:numCache>
            </c:numRef>
          </c:val>
        </c:ser>
        <c:ser>
          <c:idx val="1"/>
          <c:order val="1"/>
          <c:tx>
            <c:strRef>
              <c:f>Sheet1!$C$1</c:f>
              <c:strCache>
                <c:ptCount val="1"/>
                <c:pt idx="0">
                  <c:v>Step</c:v>
                </c:pt>
              </c:strCache>
            </c:strRef>
          </c:tx>
          <c:spPr>
            <a:solidFill>
              <a:srgbClr val="1F3D63"/>
            </a:solidFill>
            <a:ln>
              <a:noFill/>
            </a:ln>
          </c:spPr>
          <c:dPt>
            <c:idx val="0"/>
            <c:spPr>
              <a:solidFill>
                <a:srgbClr val="A9B1BB"/>
              </a:solidFill>
            </c:spPr>
          </c:dPt>
          <c:dPt>
            <c:idx val="1"/>
            <c:spPr>
              <a:solidFill>
                <a:srgbClr val="B0241B"/>
              </a:solidFill>
            </c:spPr>
          </c:dPt>
          <c:dPt>
            <c:idx val="4"/>
            <c:spPr>
              <a:solidFill>
                <a:srgbClr val="B0241B"/>
              </a:solidFill>
            </c:spPr>
          </c:dPt>
          <c:dPt>
            <c:idx val="5"/>
            <c:spPr>
              <a:solidFill>
                <a:srgbClr val="B0241B"/>
              </a:solidFill>
            </c:spPr>
          </c:dPt>
          <c:cat>
            <c:strRef>
              <c:f>Sheet1!$A$2:$A$8</c:f>
              <c:strCache>
                <c:ptCount val="7"/>
                <c:pt idx="0">
                  <c:v>Equity invested</c:v>
                </c:pt>
                <c:pt idx="1">
                  <c:v>Entry fees and costs</c:v>
                </c:pt>
                <c:pt idx="2">
                  <c:v>Adj. EBITDA growth</c:v>
                </c:pt>
                <c:pt idx="3">
                  <c:v>Debt paydown</c:v>
                </c:pt>
                <c:pt idx="4">
                  <c:v>Exit costs</c:v>
                </c:pt>
                <c:pt idx="5">
                  <c:v>Incentive plan</c:v>
                </c:pt>
                <c:pt idx="6">
                  <c:v>Equity to holders</c:v>
                </c:pt>
              </c:strCache>
            </c:strRef>
          </c:cat>
          <c:val>
            <c:numRef>
              <c:f>Sheet1!$C$2:$C$8</c:f>
              <c:numCache>
                <c:formatCode>0.0</c:formatCode>
                <c:ptCount val="7"/>
                <c:pt idx="0">
                  <c:v>604.0</c:v>
                </c:pt>
                <c:pt idx="1">
                  <c:v>43.5</c:v>
                </c:pt>
                <c:pt idx="2">
                  <c:v>742.0</c:v>
                </c:pt>
                <c:pt idx="3">
                  <c:v>332.5</c:v>
                </c:pt>
                <c:pt idx="4">
                  <c:v>30.0</c:v>
                </c:pt>
                <c:pt idx="5">
                  <c:v>60.1</c:v>
                </c:pt>
                <c:pt idx="6">
                  <c:v>1544.9</c:v>
                </c:pt>
              </c:numCache>
            </c:numRef>
          </c:val>
        </c:ser>
        <c:ser>
          <c:idx val="2"/>
          <c:order val="2"/>
          <c:tx>
            <c:strRef>
              <c:f>Sheet1!$D$1</c:f>
              <c:strCache>
                <c:ptCount val="1"/>
                <c:pt idx="0">
                  <c:v>Label</c:v>
                </c:pt>
              </c:strCache>
            </c:strRef>
          </c:tx>
          <c:spPr>
            <a:noFill/>
            <a:ln>
              <a:noFill/>
            </a:ln>
          </c:spPr>
          <c:dLbls>
            <c:dLbl>
              <c:idx val="0"/>
              <c:tx>
                <c:rich>
                  <a:bodyPr/>
                  <a:lstStyle/>
                  <a:p>
                    <a:r>
                      <a:rPr sz="700" b="1" i="0">
                        <a:solidFill>
                          <a:srgbClr val="1B1F24"/>
                        </a:solidFill>
                        <a:latin typeface="Carlito"/>
                      </a:rPr>
                      <a:t>$604.0m</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1"/>
              <c:tx>
                <c:rich>
                  <a:bodyPr/>
                  <a:lstStyle/>
                  <a:p>
                    <a:r>
                      <a:rPr sz="700" b="1" i="0">
                        <a:solidFill>
                          <a:srgbClr val="1B1F24"/>
                        </a:solidFill>
                        <a:latin typeface="Carlito"/>
                      </a:rPr>
                      <a:t>(43.5)</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2"/>
              <c:tx>
                <c:rich>
                  <a:bodyPr/>
                  <a:lstStyle/>
                  <a:p>
                    <a:r>
                      <a:rPr sz="700" b="1" i="0">
                        <a:solidFill>
                          <a:srgbClr val="1B1F24"/>
                        </a:solidFill>
                        <a:latin typeface="Carlito"/>
                      </a:rPr>
                      <a:t>+742.0</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3"/>
              <c:tx>
                <c:rich>
                  <a:bodyPr/>
                  <a:lstStyle/>
                  <a:p>
                    <a:r>
                      <a:rPr sz="700" b="1" i="0">
                        <a:solidFill>
                          <a:srgbClr val="1B1F24"/>
                        </a:solidFill>
                        <a:latin typeface="Carlito"/>
                      </a:rPr>
                      <a:t>+332.5</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4"/>
              <c:tx>
                <c:rich>
                  <a:bodyPr/>
                  <a:lstStyle/>
                  <a:p>
                    <a:r>
                      <a:rPr sz="700" b="1" i="0">
                        <a:solidFill>
                          <a:srgbClr val="1B1F24"/>
                        </a:solidFill>
                        <a:latin typeface="Carlito"/>
                      </a:rPr>
                      <a:t>(30.0)</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5"/>
              <c:tx>
                <c:rich>
                  <a:bodyPr/>
                  <a:lstStyle/>
                  <a:p>
                    <a:r>
                      <a:rPr sz="700" b="1" i="0">
                        <a:solidFill>
                          <a:srgbClr val="1B1F24"/>
                        </a:solidFill>
                        <a:latin typeface="Carlito"/>
                      </a:rPr>
                      <a:t>(60.1)</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6"/>
              <c:tx>
                <c:rich>
                  <a:bodyPr/>
                  <a:lstStyle/>
                  <a:p>
                    <a:r>
                      <a:rPr sz="700" b="1" i="0">
                        <a:solidFill>
                          <a:srgbClr val="1B1F24"/>
                        </a:solidFill>
                        <a:latin typeface="Carlito"/>
                      </a:rPr>
                      <a:t>$1,544.9m</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txPr>
              <a:bodyPr/>
              <a:lstStyle/>
              <a:p>
                <a:pPr>
                  <a:defRPr sz="700" b="1" i="0">
                    <a:solidFill>
                      <a:srgbClr val="1B1F24"/>
                    </a:solidFill>
                    <a:latin typeface="Carlito"/>
                  </a:defRPr>
                </a:pPr>
              </a:p>
            </c:txPr>
            <c:dLblPos val="inBase"/>
            <c:showLegendKey val="0"/>
            <c:showVal val="1"/>
            <c:showCatName val="0"/>
            <c:showSerName val="0"/>
            <c:showPercent val="0"/>
            <c:showBubbleSize val="0"/>
            <c:showLeaderLines val="1"/>
          </c:dLbls>
          <c:cat>
            <c:strRef>
              <c:f>Sheet1!$A$2:$A$8</c:f>
              <c:strCache>
                <c:ptCount val="7"/>
                <c:pt idx="0">
                  <c:v>Equity invested</c:v>
                </c:pt>
                <c:pt idx="1">
                  <c:v>Entry fees and costs</c:v>
                </c:pt>
                <c:pt idx="2">
                  <c:v>Adj. EBITDA growth</c:v>
                </c:pt>
                <c:pt idx="3">
                  <c:v>Debt paydown</c:v>
                </c:pt>
                <c:pt idx="4">
                  <c:v>Exit costs</c:v>
                </c:pt>
                <c:pt idx="5">
                  <c:v>Incentive plan</c:v>
                </c:pt>
                <c:pt idx="6">
                  <c:v>Equity to holders</c:v>
                </c:pt>
              </c:strCache>
            </c:strRef>
          </c:cat>
          <c:val>
            <c:numRef>
              <c:f>Sheet1!$D$2:$D$8</c:f>
              <c:numCache>
                <c:formatCode>0.0</c:formatCode>
                <c:ptCount val="7"/>
                <c:pt idx="0">
                  <c:v>0.0</c:v>
                </c:pt>
                <c:pt idx="1">
                  <c:v>0.0</c:v>
                </c:pt>
                <c:pt idx="2">
                  <c:v>0.0</c:v>
                </c:pt>
                <c:pt idx="3">
                  <c:v>0.0</c:v>
                </c:pt>
                <c:pt idx="4">
                  <c:v>0.0</c:v>
                </c:pt>
                <c:pt idx="5">
                  <c:v>0.0</c:v>
                </c:pt>
                <c:pt idx="6">
                  <c:v>0.0</c:v>
                </c:pt>
              </c:numCache>
            </c:numRef>
          </c:val>
        </c:ser>
        <c:gapWidth val="35"/>
        <c:overlap val="100"/>
        <c:axId val="-2068027336"/>
        <c:axId val="-2113994440"/>
      </c:barChart>
      <c:catAx>
        <c:axId val="-2068027336"/>
        <c:scaling/>
        <c:delete val="0"/>
        <c:axPos val="b"/>
        <c:majorTickMark val="none"/>
        <c:minorTickMark val="none"/>
        <c:tickLblPos val="nextTo"/>
        <c:spPr>
          <a:ln w="9525">
            <a:solidFill>
              <a:srgbClr val="C3CAD3"/>
            </a:solidFill>
          </a:ln>
        </c:spPr>
        <c:txPr>
          <a:bodyPr rot="0" vert="horz"/>
          <a:lstStyle/>
          <a:p>
            <a:pPr>
              <a:defRPr sz="700" b="0" i="0">
                <a:solidFill>
                  <a:srgbClr val="56606C"/>
                </a:solidFill>
                <a:latin typeface="Carlito"/>
              </a:defRPr>
            </a:pPr>
          </a:p>
        </c:txPr>
        <c:crossAx val="-2113994440"/>
        <c:crosses val="autoZero"/>
        <c:auto val="1"/>
        <c:lblAlgn val="ctr"/>
        <c:lblOffset val="100"/>
        <c:noMultiLvlLbl val="0"/>
      </c:catAx>
      <c:valAx>
        <c:axId val="-2113994440"/>
        <c:scaling>
          <c:max val="1700.0"/>
          <c:min val="0.0"/>
        </c:scaling>
        <c:delete/>
        <c:axPos val="l"/>
        <c:majorTickMark val="out"/>
        <c:minorTickMark val="none"/>
        <c:tickLblPos val="nextTo"/>
        <c:crossAx val="-2068027336"/>
        <c:crosses val="autoZero"/>
        <c:crossBetween val="between"/>
      </c:valAx>
      <c:spPr>
        <a:noFill/>
      </c:spPr>
    </c:plotArea>
    <c:dispBlanksAs val="gap"/>
  </c:chart>
  <c:txPr>
    <a:bodyPr/>
    <a:lstStyle/>
    <a:p>
      <a:pPr>
        <a:defRPr sz="700" b="0" i="0">
          <a:solidFill>
            <a:srgbClr val="56606C"/>
          </a:solidFill>
          <a:latin typeface="Carli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
          <c:y val="0.12"/>
          <c:w val="0.86"/>
          <c:h val="0.74"/>
        </c:manualLayout>
      </c:layout>
      <c:barChart>
        <c:barDir val="col"/>
        <c:grouping val="clustered"/>
        <c:varyColors val="0"/>
        <c:ser>
          <c:idx val="0"/>
          <c:order val="0"/>
          <c:tx>
            <c:strRef>
              <c:f>Sheet1!$B$1</c:f>
              <c:strCache>
                <c:ptCount val="1"/>
                <c:pt idx="0">
                  <c:v>Base case</c:v>
                </c:pt>
              </c:strCache>
            </c:strRef>
          </c:tx>
          <c:spPr>
            <a:solidFill>
              <a:srgbClr val="1F3D63"/>
            </a:solidFill>
            <a:ln>
              <a:noFill/>
            </a:ln>
          </c:spPr>
          <c:dLbls>
            <c:numFmt formatCode="0.00&quot;x&quot;" sourceLinked="0"/>
            <c:txPr>
              <a:bodyPr/>
              <a:lstStyle/>
              <a:p>
                <a:pPr>
                  <a:defRPr sz="700" b="1" i="0">
                    <a:solidFill>
                      <a:srgbClr val="1F3D63"/>
                    </a:solidFill>
                    <a:latin typeface="Carlito"/>
                  </a:defRPr>
                </a:pPr>
              </a:p>
            </c:txPr>
            <c:dLblPos val="outEnd"/>
            <c:showLegendKey val="0"/>
            <c:showVal val="1"/>
            <c:showCatName val="0"/>
            <c:showSerName val="0"/>
            <c:showPercent val="0"/>
            <c:showBubbleSize val="0"/>
            <c:showLeaderLines val="1"/>
          </c:dLbls>
          <c:cat>
            <c:strRef>
              <c:f>Sheet1!$A$2:$A$7</c:f>
              <c:strCache>
                <c:ptCount val="6"/>
                <c:pt idx="0">
                  <c:v>PF FY26</c:v>
                </c:pt>
                <c:pt idx="1">
                  <c:v>FY27E</c:v>
                </c:pt>
                <c:pt idx="2">
                  <c:v>FY28E</c:v>
                </c:pt>
                <c:pt idx="3">
                  <c:v>FY29E</c:v>
                </c:pt>
                <c:pt idx="4">
                  <c:v>FY30E</c:v>
                </c:pt>
                <c:pt idx="5">
                  <c:v>FY31E</c:v>
                </c:pt>
              </c:strCache>
            </c:strRef>
          </c:cat>
          <c:val>
            <c:numRef>
              <c:f>Sheet1!$B$2:$B$7</c:f>
              <c:numCache>
                <c:formatCode>0.00</c:formatCode>
                <c:ptCount val="6"/>
                <c:pt idx="0">
                  <c:v>4.3</c:v>
                </c:pt>
                <c:pt idx="1">
                  <c:v>3.58</c:v>
                </c:pt>
                <c:pt idx="2">
                  <c:v>2.89</c:v>
                </c:pt>
                <c:pt idx="3">
                  <c:v>2.24</c:v>
                </c:pt>
                <c:pt idx="4">
                  <c:v>1.63</c:v>
                </c:pt>
                <c:pt idx="5">
                  <c:v>1.05</c:v>
                </c:pt>
              </c:numCache>
            </c:numRef>
          </c:val>
        </c:ser>
        <c:ser>
          <c:idx val="1"/>
          <c:order val="1"/>
          <c:tx>
            <c:strRef>
              <c:f>Sheet1!$C$1</c:f>
              <c:strCache>
                <c:ptCount val="1"/>
                <c:pt idx="0">
                  <c:v>Downside case</c:v>
                </c:pt>
              </c:strCache>
            </c:strRef>
          </c:tx>
          <c:spPr>
            <a:solidFill>
              <a:srgbClr val="B0241B"/>
            </a:solidFill>
            <a:ln>
              <a:noFill/>
            </a:ln>
          </c:spPr>
          <c:dLbls>
            <c:numFmt formatCode="0.00&quot;x&quot;" sourceLinked="0"/>
            <c:txPr>
              <a:bodyPr/>
              <a:lstStyle/>
              <a:p>
                <a:pPr>
                  <a:defRPr sz="700" b="1" i="0">
                    <a:solidFill>
                      <a:srgbClr val="B0241B"/>
                    </a:solidFill>
                    <a:latin typeface="Carlito"/>
                  </a:defRPr>
                </a:pPr>
              </a:p>
            </c:txPr>
            <c:dLblPos val="outEnd"/>
            <c:showLegendKey val="0"/>
            <c:showVal val="1"/>
            <c:showCatName val="0"/>
            <c:showSerName val="0"/>
            <c:showPercent val="0"/>
            <c:showBubbleSize val="0"/>
            <c:showLeaderLines val="1"/>
          </c:dLbls>
          <c:cat>
            <c:strRef>
              <c:f>Sheet1!$A$2:$A$7</c:f>
              <c:strCache>
                <c:ptCount val="6"/>
                <c:pt idx="0">
                  <c:v>PF FY26</c:v>
                </c:pt>
                <c:pt idx="1">
                  <c:v>FY27E</c:v>
                </c:pt>
                <c:pt idx="2">
                  <c:v>FY28E</c:v>
                </c:pt>
                <c:pt idx="3">
                  <c:v>FY29E</c:v>
                </c:pt>
                <c:pt idx="4">
                  <c:v>FY30E</c:v>
                </c:pt>
                <c:pt idx="5">
                  <c:v>FY31E</c:v>
                </c:pt>
              </c:strCache>
            </c:strRef>
          </c:cat>
          <c:val>
            <c:numRef>
              <c:f>Sheet1!$C$2:$C$7</c:f>
              <c:numCache>
                <c:formatCode>0.00</c:formatCode>
                <c:ptCount val="6"/>
                <c:pt idx="0">
                  <c:v>4.3</c:v>
                </c:pt>
                <c:pt idx="1">
                  <c:v>4.84</c:v>
                </c:pt>
                <c:pt idx="2">
                  <c:v>4.28</c:v>
                </c:pt>
                <c:pt idx="3">
                  <c:v>3.58</c:v>
                </c:pt>
                <c:pt idx="4">
                  <c:v>2.97</c:v>
                </c:pt>
                <c:pt idx="5">
                  <c:v>2.41</c:v>
                </c:pt>
              </c:numCache>
            </c:numRef>
          </c:val>
        </c:ser>
        <c:gapWidth val="60"/>
        <c:axId val="-2068027336"/>
        <c:axId val="-2113994440"/>
      </c:barChart>
      <c:lineChart>
        <c:grouping val="standard"/>
        <c:varyColors val="0"/>
        <c:ser>
          <c:idx val="2"/>
          <c:order val="2"/>
          <c:tx>
            <c:strRef>
              <c:f>Sheet1!$D$1</c:f>
              <c:strCache>
                <c:ptCount val="1"/>
                <c:pt idx="0">
                  <c:v>Springing covenant 6.60x</c:v>
                </c:pt>
              </c:strCache>
            </c:strRef>
          </c:tx>
          <c:spPr>
            <a:ln w="19050">
              <a:solidFill>
                <a:srgbClr val="B85400"/>
              </a:solidFill>
            </a:ln>
          </c:spPr>
          <c:marker>
            <c:symbol val="none"/>
          </c:marker>
          <c:cat>
            <c:strRef>
              <c:f>Sheet1!$A$2:$A$7</c:f>
              <c:strCache>
                <c:ptCount val="6"/>
                <c:pt idx="0">
                  <c:v>PF FY26</c:v>
                </c:pt>
                <c:pt idx="1">
                  <c:v>FY27E</c:v>
                </c:pt>
                <c:pt idx="2">
                  <c:v>FY28E</c:v>
                </c:pt>
                <c:pt idx="3">
                  <c:v>FY29E</c:v>
                </c:pt>
                <c:pt idx="4">
                  <c:v>FY30E</c:v>
                </c:pt>
                <c:pt idx="5">
                  <c:v>FY31E</c:v>
                </c:pt>
              </c:strCache>
            </c:strRef>
          </c:cat>
          <c:val>
            <c:numRef>
              <c:f>Sheet1!$D$2:$D$7</c:f>
              <c:numCache>
                <c:formatCode>0.00</c:formatCode>
                <c:ptCount val="6"/>
                <c:pt idx="0">
                  <c:v>6.6</c:v>
                </c:pt>
                <c:pt idx="1">
                  <c:v>6.6</c:v>
                </c:pt>
                <c:pt idx="2">
                  <c:v>6.6</c:v>
                </c:pt>
                <c:pt idx="3">
                  <c:v>6.6</c:v>
                </c:pt>
                <c:pt idx="4">
                  <c:v>6.6</c:v>
                </c:pt>
                <c:pt idx="5">
                  <c:v>6.6</c:v>
                </c:pt>
              </c:numCache>
            </c:numRef>
          </c:val>
          <c:smooth val="0"/>
        </c:ser>
        <c:marker val="1"/>
        <c:smooth val="0"/>
        <c:axId val="-2068027336"/>
        <c:axId val="-2113994440"/>
      </c:lineChart>
      <c:catAx>
        <c:axId val="-2068027336"/>
        <c:scaling/>
        <c:delete val="0"/>
        <c:axPos val="b"/>
        <c:majorTickMark val="none"/>
        <c:minorTickMark val="none"/>
        <c:tickLblPos val="nextTo"/>
        <c:spPr>
          <a:ln w="9525">
            <a:solidFill>
              <a:srgbClr val="C3CAD3"/>
            </a:solidFill>
          </a:ln>
        </c:spPr>
        <c:txPr>
          <a:bodyPr rot="0" vert="horz"/>
          <a:lstStyle/>
          <a:p>
            <a:pPr>
              <a:defRPr sz="700" b="0" i="0">
                <a:solidFill>
                  <a:srgbClr val="56606C"/>
                </a:solidFill>
                <a:latin typeface="Carlito"/>
              </a:defRPr>
            </a:pPr>
          </a:p>
        </c:txPr>
        <c:crossAx val="-2113994440"/>
        <c:crosses val="autoZero"/>
        <c:auto val="1"/>
        <c:lblAlgn val="ctr"/>
        <c:lblOffset val="100"/>
        <c:noMultiLvlLbl val="0"/>
      </c:catAx>
      <c:valAx>
        <c:axId val="-2113994440"/>
        <c:scaling>
          <c:max val="7.2"/>
          <c:min val="0.0"/>
        </c:scaling>
        <c:delete/>
        <c:axPos val="l"/>
        <c:majorTickMark val="out"/>
        <c:minorTickMark val="none"/>
        <c:tickLblPos val="nextTo"/>
        <c:crossAx val="-2068027336"/>
        <c:crosses val="autoZero"/>
        <c:crossBetween val="between"/>
      </c:valAx>
      <c:spPr>
        <a:noFill/>
      </c:spPr>
    </c:plotArea>
    <c:legend>
      <c:legendPos val="t"/>
      <c:overlay val="0"/>
      <c:txPr>
        <a:bodyPr/>
        <a:lstStyle/>
        <a:p>
          <a:pPr>
            <a:defRPr sz="700" b="0" i="0">
              <a:solidFill>
                <a:srgbClr val="1B1F24"/>
              </a:solidFill>
              <a:latin typeface="Carlito"/>
            </a:defRPr>
          </a:pPr>
        </a:p>
      </c:txPr>
    </c:legend>
    <c:dispBlanksAs val="gap"/>
  </c:chart>
  <c:txPr>
    <a:bodyPr/>
    <a:lstStyle/>
    <a:p>
      <a:pPr>
        <a:defRPr sz="700" b="0" i="0">
          <a:solidFill>
            <a:srgbClr val="56606C"/>
          </a:solidFill>
          <a:latin typeface="Carlito"/>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
          <c:y val="0.12"/>
          <c:w val="0.62"/>
          <c:h val="0.86"/>
        </c:manualLayout>
      </c:layout>
      <c:barChart>
        <c:barDir val="bar"/>
        <c:grouping val="clustered"/>
        <c:varyColors val="0"/>
        <c:ser>
          <c:idx val="0"/>
          <c:order val="0"/>
          <c:tx>
            <c:strRef>
              <c:f>Sheet1!$B$1</c:f>
              <c:strCache>
                <c:ptCount val="1"/>
                <c:pt idx="0">
                  <c:v>Sponsor MOIC (x)</c:v>
                </c:pt>
              </c:strCache>
            </c:strRef>
          </c:tx>
          <c:spPr>
            <a:solidFill>
              <a:srgbClr val="1F3D63"/>
            </a:solidFill>
            <a:ln>
              <a:noFill/>
            </a:ln>
          </c:spPr>
          <c:dPt>
            <c:idx val="2"/>
            <c:spPr>
              <a:solidFill>
                <a:srgbClr val="B0241B"/>
              </a:solidFill>
            </c:spPr>
          </c:dPt>
          <c:dPt>
            <c:idx val="3"/>
            <c:spPr>
              <a:solidFill>
                <a:srgbClr val="B0241B"/>
              </a:solidFill>
            </c:spPr>
          </c:dPt>
          <c:dLbls>
            <c:dLbl>
              <c:idx val="0"/>
              <c:tx>
                <c:rich>
                  <a:bodyPr/>
                  <a:lstStyle/>
                  <a:p>
                    <a:r>
                      <a:rPr sz="700" b="1" i="0">
                        <a:solidFill>
                          <a:srgbClr val="FFFFFF"/>
                        </a:solidFill>
                        <a:latin typeface="Carlito"/>
                      </a:rPr>
                      <a:t>2.62x  |  27.3%</a:t>
                    </a:r>
                  </a:p>
                </c:rich>
              </c:tx>
              <c:txPr>
                <a:bodyPr/>
                <a:lstStyle/>
                <a:p>
                  <a:pPr>
                    <a:defRPr sz="700" b="1" i="0">
                      <a:solidFill>
                        <a:srgbClr val="FFFFFF"/>
                      </a:solidFill>
                      <a:latin typeface="Carlito"/>
                    </a:defRPr>
                  </a:pPr>
                </a:p>
              </c:txPr>
              <c:dLblPos val="inBase"/>
              <c:showLegendKey val="0"/>
              <c:showVal val="1"/>
              <c:showCatName val="0"/>
              <c:showSerName val="0"/>
              <c:showPercent val="0"/>
              <c:showBubbleSize val="0"/>
            </c:dLbl>
            <c:dLbl>
              <c:idx val="1"/>
              <c:tx>
                <c:rich>
                  <a:bodyPr/>
                  <a:lstStyle/>
                  <a:p>
                    <a:r>
                      <a:rPr sz="700" b="1" i="0">
                        <a:solidFill>
                          <a:srgbClr val="FFFFFF"/>
                        </a:solidFill>
                        <a:latin typeface="Carlito"/>
                      </a:rPr>
                      <a:t>2.56x  |  20.7%</a:t>
                    </a:r>
                  </a:p>
                </c:rich>
              </c:tx>
              <c:txPr>
                <a:bodyPr/>
                <a:lstStyle/>
                <a:p>
                  <a:pPr>
                    <a:defRPr sz="700" b="1" i="0">
                      <a:solidFill>
                        <a:srgbClr val="FFFFFF"/>
                      </a:solidFill>
                      <a:latin typeface="Carlito"/>
                    </a:defRPr>
                  </a:pPr>
                </a:p>
              </c:txPr>
              <c:dLblPos val="inBase"/>
              <c:showLegendKey val="0"/>
              <c:showVal val="1"/>
              <c:showCatName val="0"/>
              <c:showSerName val="0"/>
              <c:showPercent val="0"/>
              <c:showBubbleSize val="0"/>
            </c:dLbl>
            <c:dLbl>
              <c:idx val="2"/>
              <c:tx>
                <c:rich>
                  <a:bodyPr/>
                  <a:lstStyle/>
                  <a:p>
                    <a:r>
                      <a:rPr sz="700" b="1" i="0">
                        <a:solidFill>
                          <a:srgbClr val="FFFFFF"/>
                        </a:solidFill>
                        <a:latin typeface="Carlito"/>
                      </a:rPr>
                      <a:t>2.36x  |  18.7%</a:t>
                    </a:r>
                  </a:p>
                </c:rich>
              </c:tx>
              <c:txPr>
                <a:bodyPr/>
                <a:lstStyle/>
                <a:p>
                  <a:pPr>
                    <a:defRPr sz="700" b="1" i="0">
                      <a:solidFill>
                        <a:srgbClr val="FFFFFF"/>
                      </a:solidFill>
                      <a:latin typeface="Carlito"/>
                    </a:defRPr>
                  </a:pPr>
                </a:p>
              </c:txPr>
              <c:dLblPos val="inBase"/>
              <c:showLegendKey val="0"/>
              <c:showVal val="1"/>
              <c:showCatName val="0"/>
              <c:showSerName val="0"/>
              <c:showPercent val="0"/>
              <c:showBubbleSize val="0"/>
            </c:dLbl>
            <c:dLbl>
              <c:idx val="3"/>
              <c:tx>
                <c:rich>
                  <a:bodyPr/>
                  <a:lstStyle/>
                  <a:p>
                    <a:r>
                      <a:rPr sz="700" b="1" i="0">
                        <a:solidFill>
                          <a:srgbClr val="FFFFFF"/>
                        </a:solidFill>
                        <a:latin typeface="Carlito"/>
                      </a:rPr>
                      <a:t>1.17x  |  3.1%</a:t>
                    </a:r>
                  </a:p>
                </c:rich>
              </c:tx>
              <c:txPr>
                <a:bodyPr/>
                <a:lstStyle/>
                <a:p>
                  <a:pPr>
                    <a:defRPr sz="700" b="1" i="0">
                      <a:solidFill>
                        <a:srgbClr val="FFFFFF"/>
                      </a:solidFill>
                      <a:latin typeface="Carlito"/>
                    </a:defRPr>
                  </a:pPr>
                </a:p>
              </c:txPr>
              <c:dLblPos val="inBase"/>
              <c:showLegendKey val="0"/>
              <c:showVal val="1"/>
              <c:showCatName val="0"/>
              <c:showSerName val="0"/>
              <c:showPercent val="0"/>
              <c:showBubbleSize val="0"/>
            </c:dLbl>
            <c:txPr>
              <a:bodyPr/>
              <a:lstStyle/>
              <a:p>
                <a:pPr>
                  <a:defRPr sz="700" b="1" i="0">
                    <a:solidFill>
                      <a:srgbClr val="FFFFFF"/>
                    </a:solidFill>
                    <a:latin typeface="Carlito"/>
                  </a:defRPr>
                </a:pPr>
              </a:p>
            </c:txPr>
            <c:dLblPos val="inBase"/>
            <c:showLegendKey val="0"/>
            <c:showVal val="1"/>
            <c:showCatName val="0"/>
            <c:showSerName val="0"/>
            <c:showPercent val="0"/>
            <c:showBubbleSize val="0"/>
            <c:showLeaderLines val="1"/>
          </c:dLbls>
          <c:cat>
            <c:strRef>
              <c:f>Sheet1!$A$2:$A$5</c:f>
              <c:strCache>
                <c:ptCount val="4"/>
                <c:pt idx="0">
                  <c:v>Strategic sale</c:v>
                </c:pt>
                <c:pt idx="1">
                  <c:v>Sponsor to sponsor</c:v>
                </c:pt>
                <c:pt idx="2">
                  <c:v>IPO and sell-down</c:v>
                </c:pt>
                <c:pt idx="3">
                  <c:v>Downside hold</c:v>
                </c:pt>
              </c:strCache>
            </c:strRef>
          </c:cat>
          <c:val>
            <c:numRef>
              <c:f>Sheet1!$B$2:$B$5</c:f>
              <c:numCache>
                <c:formatCode>0.00</c:formatCode>
                <c:ptCount val="4"/>
                <c:pt idx="0">
                  <c:v>2.62</c:v>
                </c:pt>
                <c:pt idx="1">
                  <c:v>2.56</c:v>
                </c:pt>
                <c:pt idx="2">
                  <c:v>2.36</c:v>
                </c:pt>
                <c:pt idx="3">
                  <c:v>1.17</c:v>
                </c:pt>
              </c:numCache>
            </c:numRef>
          </c:val>
        </c:ser>
        <c:gapWidth val="40"/>
        <c:axId val="-2068027336"/>
        <c:axId val="-2113994440"/>
      </c:barChart>
      <c:catAx>
        <c:axId val="-2068027336"/>
        <c:scaling>
          <c:orientation val="maxMin"/>
        </c:scaling>
        <c:delete val="0"/>
        <c:axPos val="l"/>
        <c:majorTickMark val="none"/>
        <c:minorTickMark val="none"/>
        <c:tickLblPos val="nextTo"/>
        <c:spPr>
          <a:ln w="9525">
            <a:solidFill>
              <a:srgbClr val="C3CAD3"/>
            </a:solidFill>
          </a:ln>
        </c:spPr>
        <c:txPr>
          <a:bodyPr rot="0" vert="horz"/>
          <a:lstStyle/>
          <a:p>
            <a:pPr>
              <a:defRPr sz="700" b="0" i="0">
                <a:solidFill>
                  <a:srgbClr val="56606C"/>
                </a:solidFill>
                <a:latin typeface="Carlito"/>
              </a:defRPr>
            </a:pPr>
          </a:p>
        </c:txPr>
        <c:crossAx val="-2113994440"/>
        <c:crosses val="autoZero"/>
        <c:auto val="1"/>
        <c:lblAlgn val="ctr"/>
        <c:lblOffset val="100"/>
        <c:noMultiLvlLbl val="0"/>
      </c:catAx>
      <c:valAx>
        <c:axId val="-2113994440"/>
        <c:scaling>
          <c:max val="2.9"/>
          <c:min val="0.0"/>
        </c:scaling>
        <c:delete/>
        <c:axPos val="b"/>
        <c:majorTickMark val="out"/>
        <c:minorTickMark val="none"/>
        <c:tickLblPos val="nextTo"/>
        <c:crossAx val="-2068027336"/>
        <c:crosses val="autoZero"/>
        <c:crossBetween val="between"/>
      </c:valAx>
      <c:spPr>
        <a:noFill/>
      </c:spPr>
    </c:plotArea>
    <c:dispBlanksAs val="gap"/>
  </c:chart>
  <c:txPr>
    <a:bodyPr/>
    <a:lstStyle/>
    <a:p>
      <a:pPr>
        <a:defRPr sz="700" b="0" i="0">
          <a:solidFill>
            <a:srgbClr val="56606C"/>
          </a:solidFill>
          <a:latin typeface="Carlito"/>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44"/>
          <c:y val="0.12"/>
          <c:w val="0.52"/>
          <c:h val="0.86"/>
        </c:manualLayout>
      </c:layout>
      <c:barChart>
        <c:barDir val="bar"/>
        <c:grouping val="clustered"/>
        <c:varyColors val="0"/>
        <c:ser>
          <c:idx val="0"/>
          <c:order val="0"/>
          <c:tx>
            <c:strRef>
              <c:f>Sheet1!$B$1</c:f>
              <c:strCache>
                <c:ptCount val="1"/>
                <c:pt idx="0">
                  <c:v>EV / EBITDA (x)</c:v>
                </c:pt>
              </c:strCache>
            </c:strRef>
          </c:tx>
          <c:spPr>
            <a:solidFill>
              <a:srgbClr val="A9B1BB"/>
            </a:solidFill>
            <a:ln>
              <a:noFill/>
            </a:ln>
          </c:spPr>
          <c:dLbls>
            <c:dLbl>
              <c:idx val="0"/>
              <c:tx>
                <c:rich>
                  <a:bodyPr/>
                  <a:lstStyle/>
                  <a:p>
                    <a:r>
                      <a:rPr sz="700" b="1" i="0">
                        <a:solidFill>
                          <a:srgbClr val="1B1F24"/>
                        </a:solidFill>
                        <a:latin typeface="Carlito"/>
                      </a:rPr>
                      <a:t>9.8x</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1"/>
              <c:tx>
                <c:rich>
                  <a:bodyPr/>
                  <a:lstStyle/>
                  <a:p>
                    <a:r>
                      <a:rPr sz="700" b="1" i="0">
                        <a:solidFill>
                          <a:srgbClr val="1B1F24"/>
                        </a:solidFill>
                        <a:latin typeface="Carlito"/>
                      </a:rPr>
                      <a:t>10.1x</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2"/>
              <c:tx>
                <c:rich>
                  <a:bodyPr/>
                  <a:lstStyle/>
                  <a:p>
                    <a:r>
                      <a:rPr sz="700" b="1" i="0">
                        <a:solidFill>
                          <a:srgbClr val="1B1F24"/>
                        </a:solidFill>
                        <a:latin typeface="Carlito"/>
                      </a:rPr>
                      <a:t>10.7x</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3"/>
              <c:tx>
                <c:rich>
                  <a:bodyPr/>
                  <a:lstStyle/>
                  <a:p>
                    <a:r>
                      <a:rPr sz="700" b="1" i="0">
                        <a:solidFill>
                          <a:srgbClr val="1B1F24"/>
                        </a:solidFill>
                        <a:latin typeface="Carlito"/>
                      </a:rPr>
                      <a:t>10.8x</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4"/>
              <c:tx>
                <c:rich>
                  <a:bodyPr/>
                  <a:lstStyle/>
                  <a:p>
                    <a:r>
                      <a:rPr sz="700" b="1" i="0">
                        <a:solidFill>
                          <a:srgbClr val="1B1F24"/>
                        </a:solidFill>
                        <a:latin typeface="Carlito"/>
                      </a:rPr>
                      <a:t>11.6x</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5"/>
              <c:tx>
                <c:rich>
                  <a:bodyPr/>
                  <a:lstStyle/>
                  <a:p>
                    <a:r>
                      <a:rPr sz="700" b="1" i="0">
                        <a:solidFill>
                          <a:srgbClr val="1B1F24"/>
                        </a:solidFill>
                        <a:latin typeface="Carlito"/>
                      </a:rPr>
                      <a:t>11.8x</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dLbl>
              <c:idx val="6"/>
              <c:tx>
                <c:rich>
                  <a:bodyPr/>
                  <a:lstStyle/>
                  <a:p>
                    <a:r>
                      <a:rPr sz="700" b="1" i="0">
                        <a:solidFill>
                          <a:srgbClr val="1B1F24"/>
                        </a:solidFill>
                        <a:latin typeface="Carlito"/>
                      </a:rPr>
                      <a:t>12.0x</a:t>
                    </a:r>
                  </a:p>
                </c:rich>
              </c:tx>
              <c:txPr>
                <a:bodyPr/>
                <a:lstStyle/>
                <a:p>
                  <a:pPr>
                    <a:defRPr sz="700" b="1" i="0">
                      <a:solidFill>
                        <a:srgbClr val="1B1F24"/>
                      </a:solidFill>
                      <a:latin typeface="Carlito"/>
                    </a:defRPr>
                  </a:pPr>
                </a:p>
              </c:txPr>
              <c:dLblPos val="inBase"/>
              <c:showLegendKey val="0"/>
              <c:showVal val="1"/>
              <c:showCatName val="0"/>
              <c:showSerName val="0"/>
              <c:showPercent val="0"/>
              <c:showBubbleSize val="0"/>
            </c:dLbl>
            <c:txPr>
              <a:bodyPr/>
              <a:lstStyle/>
              <a:p>
                <a:pPr>
                  <a:defRPr sz="700" b="1" i="0">
                    <a:solidFill>
                      <a:srgbClr val="1B1F24"/>
                    </a:solidFill>
                    <a:latin typeface="Carlito"/>
                  </a:defRPr>
                </a:pPr>
              </a:p>
            </c:txPr>
            <c:dLblPos val="inBase"/>
            <c:showLegendKey val="0"/>
            <c:showVal val="1"/>
            <c:showCatName val="0"/>
            <c:showSerName val="0"/>
            <c:showPercent val="0"/>
            <c:showBubbleSize val="0"/>
            <c:showLeaderLines val="1"/>
          </c:dLbls>
          <c:cat>
            <c:strRef>
              <c:f>Sheet1!$A$2:$A$8</c:f>
              <c:strCache>
                <c:ptCount val="7"/>
                <c:pt idx="0">
                  <c:v>Financial-buyer precedents</c:v>
                </c:pt>
                <c:pt idx="1">
                  <c:v>Listed peers, FY2027E</c:v>
                </c:pt>
                <c:pt idx="2">
                  <c:v>LBO financing comps</c:v>
                </c:pt>
                <c:pt idx="3">
                  <c:v>Listed peers, FY2026E</c:v>
                </c:pt>
                <c:pt idx="4">
                  <c:v>Precedents, all</c:v>
                </c:pt>
                <c:pt idx="5">
                  <c:v>Peers with 30%+ aftermarket</c:v>
                </c:pt>
                <c:pt idx="6">
                  <c:v>Strategic precedents</c:v>
                </c:pt>
              </c:strCache>
            </c:strRef>
          </c:cat>
          <c:val>
            <c:numRef>
              <c:f>Sheet1!$B$2:$B$8</c:f>
              <c:numCache>
                <c:formatCode>0.0</c:formatCode>
                <c:ptCount val="7"/>
                <c:pt idx="0">
                  <c:v>9.85</c:v>
                </c:pt>
                <c:pt idx="1">
                  <c:v>10.1</c:v>
                </c:pt>
                <c:pt idx="2">
                  <c:v>10.65</c:v>
                </c:pt>
                <c:pt idx="3">
                  <c:v>10.75</c:v>
                </c:pt>
                <c:pt idx="4">
                  <c:v>11.6</c:v>
                </c:pt>
                <c:pt idx="5">
                  <c:v>11.8</c:v>
                </c:pt>
                <c:pt idx="6">
                  <c:v>12.0</c:v>
                </c:pt>
              </c:numCache>
            </c:numRef>
          </c:val>
        </c:ser>
        <c:gapWidth val="35"/>
        <c:axId val="-2068027336"/>
        <c:axId val="-2113994440"/>
      </c:barChart>
      <c:catAx>
        <c:axId val="-2068027336"/>
        <c:scaling>
          <c:orientation val="maxMin"/>
        </c:scaling>
        <c:delete val="0"/>
        <c:axPos val="l"/>
        <c:majorTickMark val="none"/>
        <c:minorTickMark val="none"/>
        <c:tickLblPos val="nextTo"/>
        <c:spPr>
          <a:ln w="9525">
            <a:solidFill>
              <a:srgbClr val="C3CAD3"/>
            </a:solidFill>
          </a:ln>
        </c:spPr>
        <c:txPr>
          <a:bodyPr rot="0" vert="horz"/>
          <a:lstStyle/>
          <a:p>
            <a:pPr>
              <a:defRPr sz="700" b="0" i="0">
                <a:solidFill>
                  <a:srgbClr val="56606C"/>
                </a:solidFill>
                <a:latin typeface="Carlito"/>
              </a:defRPr>
            </a:pPr>
          </a:p>
        </c:txPr>
        <c:crossAx val="-2113994440"/>
        <c:crosses val="autoZero"/>
        <c:auto val="1"/>
        <c:lblAlgn val="ctr"/>
        <c:lblOffset val="100"/>
        <c:noMultiLvlLbl val="0"/>
      </c:catAx>
      <c:valAx>
        <c:axId val="-2113994440"/>
        <c:scaling>
          <c:max val="12.5"/>
          <c:min val="6.0"/>
        </c:scaling>
        <c:delete/>
        <c:axPos val="b"/>
        <c:majorTickMark val="out"/>
        <c:minorTickMark val="none"/>
        <c:tickLblPos val="nextTo"/>
        <c:crossAx val="-2068027336"/>
        <c:crosses val="autoZero"/>
        <c:crossBetween val="between"/>
      </c:valAx>
      <c:spPr>
        <a:noFill/>
      </c:spPr>
    </c:plotArea>
    <c:dispBlanksAs val="gap"/>
  </c:chart>
  <c:txPr>
    <a:bodyPr/>
    <a:lstStyle/>
    <a:p>
      <a:pPr>
        <a:defRPr sz="700" b="0" i="0">
          <a:solidFill>
            <a:srgbClr val="56606C"/>
          </a:solidFill>
          <a:latin typeface="Carli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1 orients the committee: what Corvane is, how it has grown, and the two risks the case must underwrite. Illustrative figures. Corvane Flow Systems, its peers, the precedent financings and every figure on this page are fictional, invented for this section and computed by the section's model script.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2 shows how the $1,260.0m price is paid for and what the capital structure looks like at close. Illustrative figures. Corvane Flow Systems, its peers, the precedent financings and every figure on this page are fictional, invented for this section and computed by the section's model script.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3 is the case the returns rest on: every line of the operating model and the debt it repays. Illustrative figures. Corvane Flow Systems, its peers, the precedent financings and every figure on this page are fictional, invented for this section and computed by the section's model script.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4 states what the committee earns in the base case and how far each assumption can move before the hurdle is missed. Illustrative figures. Corvane Flow Systems, its peers, the precedent financings and every figure on this page are fictional, invented for this section and computed by the section's model script.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5 tests whether the business carries the proposed debt, against precedent structures and in a downside. Illustrative figures. Corvane Flow Systems, its peers, the precedent financings and every figure on this page are fictional, invented for this section and computed by the section's model script.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6 shows how the investment is realised and what the listed market pays for comparable businesses. Illustrative figures. Corvane Flow Systems, its peers, the precedent financings and every figure on this page are fictional, invented for this section and computed by the section's model script.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tags" Target="../tags/tag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tags" Target="../tags/tag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tags" Target="../tags/tag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tags" Target="../tags/tag5.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tags" Target="../tags/tag6.xml"/><Relationship Id="rId5"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9" name="chrome-1"/>
          <p:cNvCxnSpPr/>
          <p:nvPr/>
        </p:nvCxnSpPr>
        <p:spPr>
          <a:xfrm>
            <a:off x="365760" y="603504"/>
            <a:ext cx="9326880" cy="0"/>
          </a:xfrm>
          <a:prstGeom prst="line">
            <a:avLst/>
          </a:prstGeom>
          <a:ln w="12700">
            <a:solidFill>
              <a:srgbClr val="1F3D63"/>
            </a:solidFill>
          </a:ln>
        </p:spPr>
      </p:cxnSp>
      <p:cxnSp>
        <p:nvCxnSpPr>
          <p:cNvPr id="70" name="chrome-2"/>
          <p:cNvCxnSpPr/>
          <p:nvPr/>
        </p:nvCxnSpPr>
        <p:spPr>
          <a:xfrm>
            <a:off x="365760" y="7411212"/>
            <a:ext cx="9326880" cy="0"/>
          </a:xfrm>
          <a:prstGeom prst="line">
            <a:avLst/>
          </a:prstGeom>
          <a:ln w="6350">
            <a:solidFill>
              <a:srgbClr val="C3CAD3"/>
            </a:solidFill>
          </a:ln>
        </p:spPr>
      </p:cxnSp>
      <p:sp>
        <p:nvSpPr>
          <p:cNvPr id="71" name="chrome-3"/>
          <p:cNvSpPr txBox="1"/>
          <p:nvPr/>
        </p:nvSpPr>
        <p:spPr>
          <a:xfrm>
            <a:off x="365760" y="7452360"/>
            <a:ext cx="7315200" cy="152400"/>
          </a:xfrm>
          <a:prstGeom prst="rect">
            <a:avLst/>
          </a:prstGeom>
          <a:noFill/>
        </p:spPr>
        <p:txBody>
          <a:bodyPr wrap="none" lIns="0" tIns="0" rIns="0" bIns="0" anchor="t">
            <a:noAutofit/>
          </a:bodyPr>
          <a:lstStyle/>
          <a:p>
            <a:r>
              <a:rPr sz="700" b="0">
                <a:solidFill>
                  <a:srgbClr val="56606C"/>
                </a:solidFill>
                <a:latin typeface="Carlito"/>
              </a:rPr>
              <a:t>Project Corvane  |  Investment committee book  |  Section 4: Leveraged finance and LBO  |  Strictly confidential  |  Illustrative figures, fictional company</a:t>
            </a:r>
          </a:p>
        </p:txBody>
      </p:sp>
      <p:sp>
        <p:nvSpPr>
          <p:cNvPr id="72" name="chrome-4"/>
          <p:cNvSpPr txBox="1"/>
          <p:nvPr/>
        </p:nvSpPr>
        <p:spPr>
          <a:xfrm>
            <a:off x="8595360" y="7452360"/>
            <a:ext cx="1097280" cy="152400"/>
          </a:xfrm>
          <a:prstGeom prst="rect">
            <a:avLst/>
          </a:prstGeom>
          <a:noFill/>
        </p:spPr>
        <p:txBody>
          <a:bodyPr wrap="none" lIns="0" tIns="0" rIns="0" bIns="0" anchor="t">
            <a:noAutofit/>
          </a:bodyPr>
          <a:lstStyle/>
          <a:p>
            <a:pPr algn="r"/>
            <a:r>
              <a:rPr sz="700" b="1">
                <a:solidFill>
                  <a:srgbClr val="1B1F24"/>
                </a:solidFill>
                <a:latin typeface="Carlito"/>
              </a:rPr>
              <a:t>Sheet </a:t>
            </a:r>
            <a:fld id="{B6F15528-21DE-4FAA-801E-634DDDAF5B2F}" type="slidenum">
              <a:rPr sz="700">
                <a:solidFill>
                  <a:srgbClr val="1B1F24"/>
                </a:solidFill>
                <a:latin typeface="Carlito"/>
              </a:rPr>
              <a:t>1</a:t>
            </a:fld>
          </a:p>
        </p:txBody>
      </p:sp>
      <p:sp>
        <p:nvSpPr>
          <p:cNvPr id="2" name="kicker"/>
          <p:cNvSpPr/>
          <p:nvPr/>
        </p:nvSpPr>
        <p:spPr>
          <a:xfrm>
            <a:off x="358445" y="268834"/>
            <a:ext cx="934151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1F3D63"/>
                </a:solidFill>
                <a:latin typeface="Carlito"/>
              </a:rPr>
              <a:t>SECTION 4  |  LEVERAGED FINANCE AND LBO  |  4.1 COMPANY OVERVIEW</a:t>
            </a:r>
          </a:p>
        </p:txBody>
      </p:sp>
      <p:sp>
        <p:nvSpPr>
          <p:cNvPr id="3" name="title"/>
          <p:cNvSpPr/>
          <p:nvPr/>
        </p:nvSpPr>
        <p:spPr>
          <a:xfrm>
            <a:off x="358445" y="375656"/>
            <a:ext cx="9341510" cy="184150"/>
          </a:xfrm>
          <a:prstGeom prst="rect">
            <a:avLst/>
          </a:prstGeom>
          <a:noFill/>
        </p:spPr>
        <p:txBody>
          <a:bodyPr wrap="square" lIns="0" tIns="0" rIns="0" bIns="0" anchor="t">
            <a:noAutofit/>
          </a:bodyPr>
          <a:lstStyle/>
          <a:p>
            <a:pPr algn="l" marL="0" indent="0">
              <a:lnSpc>
                <a:spcPts val="1450"/>
              </a:lnSpc>
              <a:spcBef>
                <a:spcPts val="0"/>
              </a:spcBef>
              <a:spcAft>
                <a:spcPts val="0"/>
              </a:spcAft>
              <a:buNone/>
            </a:pPr>
            <a:r>
              <a:rPr sz="1450" b="1" i="0">
                <a:solidFill>
                  <a:srgbClr val="1B1F24"/>
                </a:solidFill>
                <a:latin typeface="Carlito"/>
              </a:rPr>
              <a:t>Corvane Flow Systems: company overview and key performance indicators</a:t>
            </a:r>
          </a:p>
        </p:txBody>
      </p:sp>
      <p:sp>
        <p:nvSpPr>
          <p:cNvPr id="4" name="k0_v"/>
          <p:cNvSpPr/>
          <p:nvPr/>
        </p:nvSpPr>
        <p:spPr>
          <a:xfrm>
            <a:off x="358445" y="688543"/>
            <a:ext cx="1219287" cy="171450"/>
          </a:xfrm>
          <a:prstGeom prst="rect">
            <a:avLst/>
          </a:prstGeom>
          <a:noFill/>
        </p:spPr>
        <p:txBody>
          <a:bodyPr wrap="square" lIns="0" tIns="0" rIns="0" bIns="0" anchor="t">
            <a:noAutofit/>
          </a:bodyPr>
          <a:lstStyle/>
          <a:p>
            <a:pPr algn="l" marL="0" indent="0">
              <a:lnSpc>
                <a:spcPts val="1350"/>
              </a:lnSpc>
              <a:spcBef>
                <a:spcPts val="0"/>
              </a:spcBef>
              <a:spcAft>
                <a:spcPts val="0"/>
              </a:spcAft>
              <a:buNone/>
            </a:pPr>
            <a:r>
              <a:rPr sz="1350" b="1" i="0">
                <a:solidFill>
                  <a:srgbClr val="1F3D63"/>
                </a:solidFill>
                <a:latin typeface="Carlito"/>
              </a:rPr>
              <a:t>$667.2m</a:t>
            </a:r>
          </a:p>
        </p:txBody>
      </p:sp>
      <p:sp>
        <p:nvSpPr>
          <p:cNvPr id="5" name="k0_l"/>
          <p:cNvSpPr/>
          <p:nvPr/>
        </p:nvSpPr>
        <p:spPr>
          <a:xfrm>
            <a:off x="358445" y="877915"/>
            <a:ext cx="1219287"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Revenue, FY2026E</a:t>
            </a:r>
          </a:p>
        </p:txBody>
      </p:sp>
      <p:sp>
        <p:nvSpPr>
          <p:cNvPr id="6" name="k0_c"/>
          <p:cNvSpPr/>
          <p:nvPr/>
        </p:nvSpPr>
        <p:spPr>
          <a:xfrm>
            <a:off x="358445" y="1002517"/>
            <a:ext cx="1219287"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+5.4% on FY2025A</a:t>
            </a:r>
          </a:p>
        </p:txBody>
      </p:sp>
      <p:sp>
        <p:nvSpPr>
          <p:cNvPr id="7" name="k1_v"/>
          <p:cNvSpPr/>
          <p:nvPr/>
        </p:nvSpPr>
        <p:spPr>
          <a:xfrm>
            <a:off x="1712149" y="688543"/>
            <a:ext cx="1219287" cy="171450"/>
          </a:xfrm>
          <a:prstGeom prst="rect">
            <a:avLst/>
          </a:prstGeom>
          <a:noFill/>
        </p:spPr>
        <p:txBody>
          <a:bodyPr wrap="square" lIns="0" tIns="0" rIns="0" bIns="0" anchor="t">
            <a:noAutofit/>
          </a:bodyPr>
          <a:lstStyle/>
          <a:p>
            <a:pPr algn="l" marL="0" indent="0">
              <a:lnSpc>
                <a:spcPts val="1350"/>
              </a:lnSpc>
              <a:spcBef>
                <a:spcPts val="0"/>
              </a:spcBef>
              <a:spcAft>
                <a:spcPts val="0"/>
              </a:spcAft>
              <a:buNone/>
            </a:pPr>
            <a:r>
              <a:rPr sz="1350" b="1" i="0">
                <a:solidFill>
                  <a:srgbClr val="1F3D63"/>
                </a:solidFill>
                <a:latin typeface="Carlito"/>
              </a:rPr>
              <a:t>$126.0m</a:t>
            </a:r>
          </a:p>
        </p:txBody>
      </p:sp>
      <p:sp>
        <p:nvSpPr>
          <p:cNvPr id="8" name="k1_l"/>
          <p:cNvSpPr/>
          <p:nvPr/>
        </p:nvSpPr>
        <p:spPr>
          <a:xfrm>
            <a:off x="1712149" y="877915"/>
            <a:ext cx="1219287"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Adj. EBITDA, FY2026E</a:t>
            </a:r>
          </a:p>
        </p:txBody>
      </p:sp>
      <p:sp>
        <p:nvSpPr>
          <p:cNvPr id="9" name="k1_c"/>
          <p:cNvSpPr/>
          <p:nvPr/>
        </p:nvSpPr>
        <p:spPr>
          <a:xfrm>
            <a:off x="1712149" y="1002517"/>
            <a:ext cx="1219287"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18.9% margin, +0.4pp</a:t>
            </a:r>
          </a:p>
        </p:txBody>
      </p:sp>
      <p:sp>
        <p:nvSpPr>
          <p:cNvPr id="10" name="k2_v"/>
          <p:cNvSpPr/>
          <p:nvPr/>
        </p:nvSpPr>
        <p:spPr>
          <a:xfrm>
            <a:off x="3065853" y="688543"/>
            <a:ext cx="1219287" cy="171450"/>
          </a:xfrm>
          <a:prstGeom prst="rect">
            <a:avLst/>
          </a:prstGeom>
          <a:noFill/>
        </p:spPr>
        <p:txBody>
          <a:bodyPr wrap="square" lIns="0" tIns="0" rIns="0" bIns="0" anchor="t">
            <a:noAutofit/>
          </a:bodyPr>
          <a:lstStyle/>
          <a:p>
            <a:pPr algn="l" marL="0" indent="0">
              <a:lnSpc>
                <a:spcPts val="1350"/>
              </a:lnSpc>
              <a:spcBef>
                <a:spcPts val="0"/>
              </a:spcBef>
              <a:spcAft>
                <a:spcPts val="0"/>
              </a:spcAft>
              <a:buNone/>
            </a:pPr>
            <a:r>
              <a:rPr sz="1350" b="1" i="0">
                <a:solidFill>
                  <a:srgbClr val="1F3D63"/>
                </a:solidFill>
                <a:latin typeface="Carlito"/>
              </a:rPr>
              <a:t>6.5%</a:t>
            </a:r>
          </a:p>
        </p:txBody>
      </p:sp>
      <p:sp>
        <p:nvSpPr>
          <p:cNvPr id="11" name="k2_l"/>
          <p:cNvSpPr/>
          <p:nvPr/>
        </p:nvSpPr>
        <p:spPr>
          <a:xfrm>
            <a:off x="3065853" y="877915"/>
            <a:ext cx="1219287" cy="21336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Revenue CAGR, FY2021A-</a:t>
            </a:r>
            <a:br/>
            <a:r>
              <a:rPr sz="800" b="1" i="0">
                <a:solidFill>
                  <a:srgbClr val="1B1F24"/>
                </a:solidFill>
                <a:latin typeface="Carlito"/>
              </a:rPr>
              <a:t>26E</a:t>
            </a:r>
          </a:p>
        </p:txBody>
      </p:sp>
      <p:sp>
        <p:nvSpPr>
          <p:cNvPr id="12" name="k2_c"/>
          <p:cNvSpPr/>
          <p:nvPr/>
        </p:nvSpPr>
        <p:spPr>
          <a:xfrm>
            <a:off x="3065853" y="1109197"/>
            <a:ext cx="1219287"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Adj. EBITDA CAGR 9.5%</a:t>
            </a:r>
          </a:p>
        </p:txBody>
      </p:sp>
      <p:sp>
        <p:nvSpPr>
          <p:cNvPr id="13" name="k3_v"/>
          <p:cNvSpPr/>
          <p:nvPr/>
        </p:nvSpPr>
        <p:spPr>
          <a:xfrm>
            <a:off x="4419557" y="688543"/>
            <a:ext cx="1219287" cy="171450"/>
          </a:xfrm>
          <a:prstGeom prst="rect">
            <a:avLst/>
          </a:prstGeom>
          <a:noFill/>
        </p:spPr>
        <p:txBody>
          <a:bodyPr wrap="square" lIns="0" tIns="0" rIns="0" bIns="0" anchor="t">
            <a:noAutofit/>
          </a:bodyPr>
          <a:lstStyle/>
          <a:p>
            <a:pPr algn="l" marL="0" indent="0">
              <a:lnSpc>
                <a:spcPts val="1350"/>
              </a:lnSpc>
              <a:spcBef>
                <a:spcPts val="0"/>
              </a:spcBef>
              <a:spcAft>
                <a:spcPts val="0"/>
              </a:spcAft>
              <a:buNone/>
            </a:pPr>
            <a:r>
              <a:rPr sz="1350" b="1" i="0">
                <a:solidFill>
                  <a:srgbClr val="1F3D63"/>
                </a:solidFill>
                <a:latin typeface="Carlito"/>
              </a:rPr>
              <a:t>27.3%</a:t>
            </a:r>
          </a:p>
        </p:txBody>
      </p:sp>
      <p:sp>
        <p:nvSpPr>
          <p:cNvPr id="14" name="k3_l"/>
          <p:cNvSpPr/>
          <p:nvPr/>
        </p:nvSpPr>
        <p:spPr>
          <a:xfrm>
            <a:off x="4419557" y="877915"/>
            <a:ext cx="1219287" cy="21336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Aftermarket share of</a:t>
            </a:r>
            <a:br/>
            <a:r>
              <a:rPr sz="800" b="1" i="0">
                <a:solidFill>
                  <a:srgbClr val="1B1F24"/>
                </a:solidFill>
                <a:latin typeface="Carlito"/>
              </a:rPr>
              <a:t>revenue</a:t>
            </a:r>
          </a:p>
        </p:txBody>
      </p:sp>
      <p:sp>
        <p:nvSpPr>
          <p:cNvPr id="15" name="k3_c"/>
          <p:cNvSpPr/>
          <p:nvPr/>
        </p:nvSpPr>
        <p:spPr>
          <a:xfrm>
            <a:off x="4419557" y="1109197"/>
            <a:ext cx="1219287"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24.3% in FY2021A</a:t>
            </a:r>
          </a:p>
        </p:txBody>
      </p:sp>
      <p:sp>
        <p:nvSpPr>
          <p:cNvPr id="16" name="k4_v"/>
          <p:cNvSpPr/>
          <p:nvPr/>
        </p:nvSpPr>
        <p:spPr>
          <a:xfrm>
            <a:off x="5773261" y="688543"/>
            <a:ext cx="1219287" cy="171450"/>
          </a:xfrm>
          <a:prstGeom prst="rect">
            <a:avLst/>
          </a:prstGeom>
          <a:noFill/>
        </p:spPr>
        <p:txBody>
          <a:bodyPr wrap="square" lIns="0" tIns="0" rIns="0" bIns="0" anchor="t">
            <a:noAutofit/>
          </a:bodyPr>
          <a:lstStyle/>
          <a:p>
            <a:pPr algn="l" marL="0" indent="0">
              <a:lnSpc>
                <a:spcPts val="1350"/>
              </a:lnSpc>
              <a:spcBef>
                <a:spcPts val="0"/>
              </a:spcBef>
              <a:spcAft>
                <a:spcPts val="0"/>
              </a:spcAft>
              <a:buNone/>
            </a:pPr>
            <a:r>
              <a:rPr sz="1350" b="1" i="0">
                <a:solidFill>
                  <a:srgbClr val="1F3D63"/>
                </a:solidFill>
                <a:latin typeface="Carlito"/>
              </a:rPr>
              <a:t>82.0%</a:t>
            </a:r>
          </a:p>
        </p:txBody>
      </p:sp>
      <p:sp>
        <p:nvSpPr>
          <p:cNvPr id="17" name="k4_l"/>
          <p:cNvSpPr/>
          <p:nvPr/>
        </p:nvSpPr>
        <p:spPr>
          <a:xfrm>
            <a:off x="5773261" y="877915"/>
            <a:ext cx="1219287"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Cash conversion, FY2026E</a:t>
            </a:r>
          </a:p>
        </p:txBody>
      </p:sp>
      <p:sp>
        <p:nvSpPr>
          <p:cNvPr id="18" name="k4_c"/>
          <p:cNvSpPr/>
          <p:nvPr/>
        </p:nvSpPr>
        <p:spPr>
          <a:xfrm>
            <a:off x="5773261" y="1002517"/>
            <a:ext cx="1219287"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(Adj. EBITDA - capex) / Adj.</a:t>
            </a:r>
            <a:br/>
            <a:r>
              <a:rPr sz="700" b="0" i="1">
                <a:solidFill>
                  <a:srgbClr val="56606C"/>
                </a:solidFill>
                <a:latin typeface="Carlito"/>
              </a:rPr>
              <a:t>EBITDA</a:t>
            </a:r>
          </a:p>
        </p:txBody>
      </p:sp>
      <p:sp>
        <p:nvSpPr>
          <p:cNvPr id="19" name="k5_v"/>
          <p:cNvSpPr/>
          <p:nvPr/>
        </p:nvSpPr>
        <p:spPr>
          <a:xfrm>
            <a:off x="7126965" y="688543"/>
            <a:ext cx="1219287" cy="171450"/>
          </a:xfrm>
          <a:prstGeom prst="rect">
            <a:avLst/>
          </a:prstGeom>
          <a:noFill/>
        </p:spPr>
        <p:txBody>
          <a:bodyPr wrap="square" lIns="0" tIns="0" rIns="0" bIns="0" anchor="t">
            <a:noAutofit/>
          </a:bodyPr>
          <a:lstStyle/>
          <a:p>
            <a:pPr algn="l" marL="0" indent="0">
              <a:lnSpc>
                <a:spcPts val="1350"/>
              </a:lnSpc>
              <a:spcBef>
                <a:spcPts val="0"/>
              </a:spcBef>
              <a:spcAft>
                <a:spcPts val="0"/>
              </a:spcAft>
              <a:buNone/>
            </a:pPr>
            <a:r>
              <a:rPr sz="1350" b="1" i="0">
                <a:solidFill>
                  <a:srgbClr val="1F3D63"/>
                </a:solidFill>
                <a:latin typeface="Carlito"/>
              </a:rPr>
              <a:t>$274.6m</a:t>
            </a:r>
          </a:p>
        </p:txBody>
      </p:sp>
      <p:sp>
        <p:nvSpPr>
          <p:cNvPr id="20" name="k5_l"/>
          <p:cNvSpPr/>
          <p:nvPr/>
        </p:nvSpPr>
        <p:spPr>
          <a:xfrm>
            <a:off x="7126965" y="877915"/>
            <a:ext cx="1219287"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Order backlog, FY2026E</a:t>
            </a:r>
          </a:p>
        </p:txBody>
      </p:sp>
      <p:sp>
        <p:nvSpPr>
          <p:cNvPr id="21" name="k5_c"/>
          <p:cNvSpPr/>
          <p:nvPr/>
        </p:nvSpPr>
        <p:spPr>
          <a:xfrm>
            <a:off x="7126965" y="1002517"/>
            <a:ext cx="1219287"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0.41x FY2026E revenue</a:t>
            </a:r>
          </a:p>
        </p:txBody>
      </p:sp>
      <p:sp>
        <p:nvSpPr>
          <p:cNvPr id="22" name="k6_v"/>
          <p:cNvSpPr/>
          <p:nvPr/>
        </p:nvSpPr>
        <p:spPr>
          <a:xfrm>
            <a:off x="8480669" y="688543"/>
            <a:ext cx="1219286" cy="171450"/>
          </a:xfrm>
          <a:prstGeom prst="rect">
            <a:avLst/>
          </a:prstGeom>
          <a:noFill/>
        </p:spPr>
        <p:txBody>
          <a:bodyPr wrap="square" lIns="0" tIns="0" rIns="0" bIns="0" anchor="t">
            <a:noAutofit/>
          </a:bodyPr>
          <a:lstStyle/>
          <a:p>
            <a:pPr algn="l" marL="0" indent="0">
              <a:lnSpc>
                <a:spcPts val="1350"/>
              </a:lnSpc>
              <a:spcBef>
                <a:spcPts val="0"/>
              </a:spcBef>
              <a:spcAft>
                <a:spcPts val="0"/>
              </a:spcAft>
              <a:buNone/>
            </a:pPr>
            <a:r>
              <a:rPr sz="1350" b="1" i="0">
                <a:solidFill>
                  <a:srgbClr val="1F3D63"/>
                </a:solidFill>
                <a:latin typeface="Carlito"/>
              </a:rPr>
              <a:t>10.0x</a:t>
            </a:r>
          </a:p>
        </p:txBody>
      </p:sp>
      <p:sp>
        <p:nvSpPr>
          <p:cNvPr id="23" name="k6_l"/>
          <p:cNvSpPr/>
          <p:nvPr/>
        </p:nvSpPr>
        <p:spPr>
          <a:xfrm>
            <a:off x="8480669" y="877915"/>
            <a:ext cx="1219286" cy="21336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Entry EV / FY2026E Adj.</a:t>
            </a:r>
            <a:br/>
            <a:r>
              <a:rPr sz="800" b="1" i="0">
                <a:solidFill>
                  <a:srgbClr val="1B1F24"/>
                </a:solidFill>
                <a:latin typeface="Carlito"/>
              </a:rPr>
              <a:t>EBITDA</a:t>
            </a:r>
          </a:p>
        </p:txBody>
      </p:sp>
      <p:sp>
        <p:nvSpPr>
          <p:cNvPr id="24" name="k6_c"/>
          <p:cNvSpPr/>
          <p:nvPr/>
        </p:nvSpPr>
        <p:spPr>
          <a:xfrm>
            <a:off x="8480669" y="1109197"/>
            <a:ext cx="1219286"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EV $1,260.0m</a:t>
            </a:r>
          </a:p>
        </p:txBody>
      </p:sp>
      <p:sp>
        <p:nvSpPr>
          <p:cNvPr id="25" name="fx_h"/>
          <p:cNvSpPr/>
          <p:nvPr/>
        </p:nvSpPr>
        <p:spPr>
          <a:xfrm>
            <a:off x="358445" y="1287708"/>
            <a:ext cx="2540349"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Business at a glance</a:t>
            </a:r>
          </a:p>
        </p:txBody>
      </p:sp>
      <p:sp>
        <p:nvSpPr>
          <p:cNvPr id="26" name="fx_u"/>
          <p:cNvSpPr/>
          <p:nvPr/>
        </p:nvSpPr>
        <p:spPr>
          <a:xfrm>
            <a:off x="358445" y="1419930"/>
            <a:ext cx="2540349"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FY2026E unless stated</a:t>
            </a:r>
          </a:p>
        </p:txBody>
      </p:sp>
      <p:graphicFrame>
        <p:nvGraphicFramePr>
          <p:cNvPr id="27" name="facts"/>
          <p:cNvGraphicFramePr>
            <a:graphicFrameLocks noGrp="1"/>
          </p:cNvGraphicFramePr>
          <p:nvPr/>
        </p:nvGraphicFramePr>
        <p:xfrm>
          <a:off x="358445" y="1526752"/>
          <a:ext cx="2540349" cy="1994484"/>
        </p:xfrm>
        <a:graphic>
          <a:graphicData uri="http://schemas.openxmlformats.org/drawingml/2006/table">
            <a:tbl>
              <a:tblPr firstRow="0" bandRow="0" lastRow="0" firstCol="0" lastCol="0" bandCol="0"/>
              <a:tblGrid>
                <a:gridCol w="914526"/>
                <a:gridCol w="1625823"/>
              </a:tblGrid>
              <a:tr h="142524">
                <a:tc>
                  <a:txBody>
                    <a:bodyPr wrap="square"/>
                    <a:lstStyle/>
                    <a:p>
                      <a:pPr algn="l"/>
                      <a:r>
                        <a:rPr sz="700" b="1" i="0">
                          <a:solidFill>
                            <a:srgbClr val="1B1F24"/>
                          </a:solidFill>
                          <a:latin typeface="Carlito"/>
                        </a:rPr>
                        <a:t>Item</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Corvane</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r>
              <a:tr h="249204">
                <a:tc>
                  <a:txBody>
                    <a:bodyPr wrap="square"/>
                    <a:lstStyle/>
                    <a:p>
                      <a:pPr algn="l"/>
                      <a:r>
                        <a:rPr sz="700" b="1" i="0">
                          <a:solidFill>
                            <a:srgbClr val="1B1F24"/>
                          </a:solidFill>
                          <a:latin typeface="Carlito"/>
                        </a:rPr>
                        <a:t>Business</a:t>
                      </a: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Engineered valves, pumps and aftermarket services for process industries</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r>
              <a:tr h="142524">
                <a:tc>
                  <a:txBody>
                    <a:bodyPr wrap="square"/>
                    <a:lstStyle/>
                    <a:p>
                      <a:pPr algn="l"/>
                      <a:r>
                        <a:rPr sz="700" b="1" i="0">
                          <a:solidFill>
                            <a:srgbClr val="1B1F24"/>
                          </a:solidFill>
                          <a:latin typeface="Carlito"/>
                        </a:rPr>
                        <a:t>Headquarters</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Dayton, Ohio; founded 1962</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Employees</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4,350, of whom 610 field-service engineers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Plants</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14: 8 Americas, 4 Europe, 2 Asia</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Installed base</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c.1.9m valves and 61,000 pumps in service</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249204">
                <a:tc>
                  <a:txBody>
                    <a:bodyPr wrap="square"/>
                    <a:lstStyle/>
                    <a:p>
                      <a:pPr algn="l"/>
                      <a:r>
                        <a:rPr sz="700" b="1" i="0">
                          <a:solidFill>
                            <a:srgbClr val="1B1F24"/>
                          </a:solidFill>
                          <a:latin typeface="Carlito"/>
                        </a:rPr>
                        <a:t>Geography</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N. America 58%, Europe 27%, APAC and RoW 15%</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Customers</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Top 10 are 21% of revenue; largest 4.2%</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249204">
                <a:tc>
                  <a:txBody>
                    <a:bodyPr wrap="square"/>
                    <a:lstStyle/>
                    <a:p>
                      <a:pPr algn="l"/>
                      <a:r>
                        <a:rPr sz="700" b="1" i="0">
                          <a:solidFill>
                            <a:srgbClr val="1B1F24"/>
                          </a:solidFill>
                          <a:latin typeface="Carlito"/>
                        </a:rPr>
                        <a:t>Contracts</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46% of revenue under multi-year frame agreements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Inputs</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Castings and bar stock 31% of cost of sales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249204">
                <a:tc>
                  <a:txBody>
                    <a:bodyPr wrap="square"/>
                    <a:lstStyle/>
                    <a:p>
                      <a:pPr algn="l"/>
                      <a:r>
                        <a:rPr sz="700" b="1" i="0">
                          <a:solidFill>
                            <a:srgbClr val="1B1F24"/>
                          </a:solidFill>
                          <a:latin typeface="Carlito"/>
                        </a:rPr>
                        <a:t>Seller</a:t>
                      </a:r>
                      <a:endParaRPr sz="700" b="1"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l"/>
                      <a:r>
                        <a:rPr sz="700" b="0" i="0">
                          <a:solidFill>
                            <a:srgbClr val="1B1F24"/>
                          </a:solidFill>
                          <a:latin typeface="Carlito"/>
                        </a:rPr>
                        <a:t>Founding family (68%) and a minority investor</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r>
            </a:tbl>
          </a:graphicData>
        </a:graphic>
      </p:graphicFrame>
      <p:sp>
        <p:nvSpPr>
          <p:cNvPr id="28" name="em_h"/>
          <p:cNvSpPr/>
          <p:nvPr/>
        </p:nvSpPr>
        <p:spPr>
          <a:xfrm>
            <a:off x="358445" y="3610847"/>
            <a:ext cx="2540349"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Revenue by end market</a:t>
            </a:r>
          </a:p>
        </p:txBody>
      </p:sp>
      <p:sp>
        <p:nvSpPr>
          <p:cNvPr id="29" name="em_u"/>
          <p:cNvSpPr/>
          <p:nvPr/>
        </p:nvSpPr>
        <p:spPr>
          <a:xfrm>
            <a:off x="358445" y="3743069"/>
            <a:ext cx="2540349"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 of FY2026E revenue; defensive markets in blue, cyclical in grey</a:t>
            </a:r>
          </a:p>
        </p:txBody>
      </p:sp>
      <p:graphicFrame>
        <p:nvGraphicFramePr>
          <p:cNvPr id="30" name="endmkt"/>
          <p:cNvGraphicFramePr>
            <a:graphicFrameLocks noGrp="1"/>
          </p:cNvGraphicFramePr>
          <p:nvPr/>
        </p:nvGraphicFramePr>
        <p:xfrm>
          <a:off x="358445" y="3849891"/>
          <a:ext cx="2540349" cy="2211995"/>
        </p:xfrm>
        <a:graphic>
          <a:graphicData uri="http://schemas.openxmlformats.org/drawingml/2006/chart">
            <c:chart xmlns:c="http://schemas.openxmlformats.org/drawingml/2006/chart" r:id="rId2"/>
          </a:graphicData>
        </a:graphic>
      </p:graphicFrame>
      <p:sp>
        <p:nvSpPr>
          <p:cNvPr id="31" name="gx_h"/>
          <p:cNvSpPr/>
          <p:nvPr/>
        </p:nvSpPr>
        <p:spPr>
          <a:xfrm>
            <a:off x="358445" y="6151497"/>
            <a:ext cx="2540349"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Revenue by region</a:t>
            </a:r>
          </a:p>
        </p:txBody>
      </p:sp>
      <p:sp>
        <p:nvSpPr>
          <p:cNvPr id="32" name="gx_u"/>
          <p:cNvSpPr/>
          <p:nvPr/>
        </p:nvSpPr>
        <p:spPr>
          <a:xfrm>
            <a:off x="358445" y="6283719"/>
            <a:ext cx="2540349"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and share of revenue (%); by customer location</a:t>
            </a:r>
          </a:p>
        </p:txBody>
      </p:sp>
      <p:graphicFrame>
        <p:nvGraphicFramePr>
          <p:cNvPr id="33" name="geo"/>
          <p:cNvGraphicFramePr>
            <a:graphicFrameLocks noGrp="1"/>
          </p:cNvGraphicFramePr>
          <p:nvPr/>
        </p:nvGraphicFramePr>
        <p:xfrm>
          <a:off x="358445" y="6390541"/>
          <a:ext cx="2540349" cy="819300"/>
        </p:xfrm>
        <a:graphic>
          <a:graphicData uri="http://schemas.openxmlformats.org/drawingml/2006/table">
            <a:tbl>
              <a:tblPr firstRow="0" bandRow="0" lastRow="0" firstCol="0" lastCol="0" bandCol="0"/>
              <a:tblGrid>
                <a:gridCol w="965333"/>
                <a:gridCol w="304122"/>
                <a:gridCol w="275516"/>
                <a:gridCol w="292992"/>
                <a:gridCol w="275516"/>
                <a:gridCol w="426870"/>
              </a:tblGrid>
              <a:tr h="142524">
                <a:tc>
                  <a:txBody>
                    <a:bodyPr wrap="square"/>
                    <a:lstStyle/>
                    <a:p>
                      <a:pPr algn="l"/>
                      <a:r>
                        <a:rPr sz="700" b="1" i="0">
                          <a:solidFill>
                            <a:srgbClr val="1B1F24"/>
                          </a:solidFill>
                          <a:latin typeface="Carlito"/>
                        </a:rPr>
                        <a:t>Region</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FY21A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FY26E</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CAGR (%)</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r>
              <a:tr h="142524">
                <a:tc>
                  <a:txBody>
                    <a:bodyPr wrap="square"/>
                    <a:lstStyle/>
                    <a:p>
                      <a:pPr algn="l"/>
                      <a:r>
                        <a:rPr sz="700" b="0" i="0">
                          <a:solidFill>
                            <a:srgbClr val="1B1F24"/>
                          </a:solidFill>
                          <a:latin typeface="Carlito"/>
                        </a:rPr>
                        <a:t>North America</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297.6</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61.0</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387.0</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58.0</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5.4</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r>
              <a:tr h="142524">
                <a:tc>
                  <a:txBody>
                    <a:bodyPr wrap="square"/>
                    <a:lstStyle/>
                    <a:p>
                      <a:pPr algn="l"/>
                      <a:r>
                        <a:rPr sz="700" b="0" i="0">
                          <a:solidFill>
                            <a:srgbClr val="1B1F24"/>
                          </a:solidFill>
                          <a:latin typeface="Carlito"/>
                        </a:rPr>
                        <a:t>Europe</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126.8</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180.1</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27.0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7.3</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249204">
                <a:tc>
                  <a:txBody>
                    <a:bodyPr wrap="square"/>
                    <a:lstStyle/>
                    <a:p>
                      <a:pPr algn="l"/>
                      <a:r>
                        <a:rPr sz="700" b="0" i="0">
                          <a:solidFill>
                            <a:srgbClr val="1B1F24"/>
                          </a:solidFill>
                          <a:latin typeface="Carlito"/>
                        </a:rPr>
                        <a:t>Asia Pacific and rest of world</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63.4</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13.0</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100.1</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15.0</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1F3D63"/>
                          </a:solidFill>
                          <a:latin typeface="Carlito"/>
                        </a:rPr>
                        <a:t>9.6</a:t>
                      </a:r>
                      <a:endParaRPr sz="700" b="1" i="0">
                        <a:solidFill>
                          <a:srgbClr val="1F3D63"/>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r>
              <a:tr h="142524">
                <a:tc>
                  <a:txBody>
                    <a:bodyPr wrap="square"/>
                    <a:lstStyle/>
                    <a:p>
                      <a:pPr algn="l"/>
                      <a:r>
                        <a:rPr sz="700" b="1" i="0">
                          <a:solidFill>
                            <a:srgbClr val="1B1F24"/>
                          </a:solidFill>
                          <a:latin typeface="Carlito"/>
                        </a:rPr>
                        <a:t>Total</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487.8</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100.0</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667.2</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100.0</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6.5</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r>
            </a:tbl>
          </a:graphicData>
        </a:graphic>
      </p:graphicFrame>
      <p:sp>
        <p:nvSpPr>
          <p:cNvPr id="34" name="sg_h"/>
          <p:cNvSpPr/>
          <p:nvPr/>
        </p:nvSpPr>
        <p:spPr>
          <a:xfrm>
            <a:off x="3033211" y="1287708"/>
            <a:ext cx="4233916"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Segment summary</a:t>
            </a:r>
          </a:p>
        </p:txBody>
      </p:sp>
      <p:sp>
        <p:nvSpPr>
          <p:cNvPr id="35" name="sg_u"/>
          <p:cNvSpPr/>
          <p:nvPr/>
        </p:nvSpPr>
        <p:spPr>
          <a:xfrm>
            <a:off x="3033211" y="1419930"/>
            <a:ext cx="4233916"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FY2021A to FY2026E; segment EBITDA before corporate costs</a:t>
            </a:r>
          </a:p>
        </p:txBody>
      </p:sp>
      <p:graphicFrame>
        <p:nvGraphicFramePr>
          <p:cNvPr id="36" name="seg"/>
          <p:cNvGraphicFramePr>
            <a:graphicFrameLocks noGrp="1"/>
          </p:cNvGraphicFramePr>
          <p:nvPr/>
        </p:nvGraphicFramePr>
        <p:xfrm>
          <a:off x="3033211" y="1526752"/>
          <a:ext cx="4233916" cy="855144"/>
        </p:xfrm>
        <a:graphic>
          <a:graphicData uri="http://schemas.openxmlformats.org/drawingml/2006/table">
            <a:tbl>
              <a:tblPr firstRow="0" bandRow="0" lastRow="0" firstCol="0" lastCol="0" bandCol="0"/>
              <a:tblGrid>
                <a:gridCol w="1312514"/>
                <a:gridCol w="489666"/>
                <a:gridCol w="478478"/>
                <a:gridCol w="429145"/>
                <a:gridCol w="431734"/>
                <a:gridCol w="602202"/>
                <a:gridCol w="490177"/>
              </a:tblGrid>
              <a:tr h="142524">
                <a:tc>
                  <a:txBody>
                    <a:bodyPr wrap="square"/>
                    <a:lstStyle/>
                    <a:p>
                      <a:pPr algn="l"/>
                      <a:r>
                        <a:rPr sz="700" b="1" i="0">
                          <a:solidFill>
                            <a:srgbClr val="1B1F24"/>
                          </a:solidFill>
                          <a:latin typeface="Carlito"/>
                        </a:rPr>
                        <a:t>Segment</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Rev. FY21A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Rev. FY26E</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CAGR (%)</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Share (%)</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EBITDA FY26E</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Margin (%)</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r>
              <a:tr h="142524">
                <a:tc>
                  <a:txBody>
                    <a:bodyPr wrap="square"/>
                    <a:lstStyle/>
                    <a:p>
                      <a:pPr algn="l"/>
                      <a:r>
                        <a:rPr sz="700" b="0" i="0">
                          <a:solidFill>
                            <a:srgbClr val="1B1F24"/>
                          </a:solidFill>
                          <a:latin typeface="Carlito"/>
                        </a:rPr>
                        <a:t>Engineered valves</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228.0</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309.8</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6.3</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46.4</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65.1</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21.0</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r>
              <a:tr h="142524">
                <a:tc>
                  <a:txBody>
                    <a:bodyPr wrap="square"/>
                    <a:lstStyle/>
                    <a:p>
                      <a:pPr algn="l"/>
                      <a:r>
                        <a:rPr sz="700" b="0" i="0">
                          <a:solidFill>
                            <a:srgbClr val="1B1F24"/>
                          </a:solidFill>
                          <a:latin typeface="Carlito"/>
                        </a:rPr>
                        <a:t>Pumps and systems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141.2</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175.1</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26.2</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13.5</a:t>
                      </a:r>
                      <a:endParaRPr sz="700" b="0" i="0">
                        <a:solidFill>
                          <a:srgbClr val="B0241B"/>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Aftermarket and services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118.6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182.3</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9.0</a:t>
                      </a:r>
                      <a:endParaRPr sz="700" b="1"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27.3</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55.6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30.5</a:t>
                      </a:r>
                      <a:endParaRPr sz="700" b="1"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Corporate costs</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(18.3)</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r>
              <a:tr h="142524">
                <a:tc>
                  <a:txBody>
                    <a:bodyPr wrap="square"/>
                    <a:lstStyle/>
                    <a:p>
                      <a:pPr algn="l"/>
                      <a:r>
                        <a:rPr sz="700" b="1" i="0">
                          <a:solidFill>
                            <a:srgbClr val="1B1F24"/>
                          </a:solidFill>
                          <a:latin typeface="Carlito"/>
                        </a:rPr>
                        <a:t>Total</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487.8</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667.2</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6.5</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100.0</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126.0</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18.9</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r>
            </a:tbl>
          </a:graphicData>
        </a:graphic>
      </p:graphicFrame>
      <p:sp>
        <p:nvSpPr>
          <p:cNvPr id="37" name="hs_h"/>
          <p:cNvSpPr/>
          <p:nvPr/>
        </p:nvSpPr>
        <p:spPr>
          <a:xfrm>
            <a:off x="3033211" y="2471507"/>
            <a:ext cx="4233916"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Historical financial summary</a:t>
            </a:r>
          </a:p>
        </p:txBody>
      </p:sp>
      <p:sp>
        <p:nvSpPr>
          <p:cNvPr id="38" name="hs_u"/>
          <p:cNvSpPr/>
          <p:nvPr/>
        </p:nvSpPr>
        <p:spPr>
          <a:xfrm>
            <a:off x="3033211" y="2603729"/>
            <a:ext cx="4233916"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unless stated; fiscal years to December; FY2026E is nine months actual and three budget</a:t>
            </a:r>
          </a:p>
        </p:txBody>
      </p:sp>
      <p:graphicFrame>
        <p:nvGraphicFramePr>
          <p:cNvPr id="39" name="hist"/>
          <p:cNvGraphicFramePr>
            <a:graphicFrameLocks noGrp="1"/>
          </p:cNvGraphicFramePr>
          <p:nvPr/>
        </p:nvGraphicFramePr>
        <p:xfrm>
          <a:off x="3033211" y="2710551"/>
          <a:ext cx="4233916" cy="2707956"/>
        </p:xfrm>
        <a:graphic>
          <a:graphicData uri="http://schemas.openxmlformats.org/drawingml/2006/table">
            <a:tbl>
              <a:tblPr firstRow="0" bandRow="0" lastRow="0" firstCol="0" lastCol="0" bandCol="0"/>
              <a:tblGrid>
                <a:gridCol w="1143157"/>
                <a:gridCol w="419540"/>
                <a:gridCol w="419540"/>
                <a:gridCol w="419540"/>
                <a:gridCol w="419540"/>
                <a:gridCol w="419540"/>
                <a:gridCol w="404187"/>
                <a:gridCol w="588872"/>
              </a:tblGrid>
              <a:tr h="142524">
                <a:tc>
                  <a:txBody>
                    <a:bodyPr wrap="square"/>
                    <a:lstStyle/>
                    <a:p>
                      <a:pPr algn="l"/>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FY21A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FY22A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FY23A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FY24A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FY25A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FY26E</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CAGR (%)</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r>
              <a:tr h="142524">
                <a:tc>
                  <a:txBody>
                    <a:bodyPr wrap="square"/>
                    <a:lstStyle/>
                    <a:p>
                      <a:pPr algn="l"/>
                      <a:r>
                        <a:rPr sz="700" b="1" i="0">
                          <a:solidFill>
                            <a:srgbClr val="1B1F24"/>
                          </a:solidFill>
                          <a:latin typeface="Carlito"/>
                        </a:rPr>
                        <a:t>Revenue ($m)</a:t>
                      </a: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solidFill>
                      <a:srgbClr val="E9EDF2"/>
                    </a:solidFill>
                  </a:tcPr>
                </a:tc>
              </a:tr>
              <a:tr h="142524">
                <a:tc>
                  <a:txBody>
                    <a:bodyPr wrap="square"/>
                    <a:lstStyle/>
                    <a:p>
                      <a:pPr algn="l"/>
                      <a:r>
                        <a:rPr sz="700" b="0" i="0">
                          <a:solidFill>
                            <a:srgbClr val="1B1F24"/>
                          </a:solidFill>
                          <a:latin typeface="Carlito"/>
                        </a:rPr>
                        <a:t>Engineered valves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228.0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251.5</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270.2</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281.9</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296.4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309.8</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6.3</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Pumps and systems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141.2</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155.0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161.8</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158.3</a:t>
                      </a:r>
                      <a:endParaRPr sz="700" b="0" i="0">
                        <a:solidFill>
                          <a:srgbClr val="B0241B"/>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167.5</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175.1</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Aftermarket and services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118.6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129.4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142.7</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155.2</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168.9</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182.3</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Total revenue</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487.8</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535.9</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574.7</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595.4</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632.8</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667.2</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6.5</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1">
                          <a:solidFill>
                            <a:srgbClr val="1B1F24"/>
                          </a:solidFill>
                          <a:latin typeface="Carlito"/>
                        </a:rPr>
                        <a:t>Growth (%)</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NA</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9.9</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7.2</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3.6</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6.3</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5.4</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Profitability ($m)</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r>
              <a:tr h="142524">
                <a:tc>
                  <a:txBody>
                    <a:bodyPr wrap="square"/>
                    <a:lstStyle/>
                    <a:p>
                      <a:pPr algn="l"/>
                      <a:r>
                        <a:rPr sz="700" b="0" i="0">
                          <a:solidFill>
                            <a:srgbClr val="1B1F24"/>
                          </a:solidFill>
                          <a:latin typeface="Carlito"/>
                        </a:rPr>
                        <a:t>Gross profit (pre-D&amp;A)</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156.6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174.7</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192.5</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203.0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219.6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234.9</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1">
                          <a:solidFill>
                            <a:srgbClr val="1B1F24"/>
                          </a:solidFill>
                          <a:latin typeface="Carlito"/>
                        </a:rPr>
                        <a:t>Gross margin (%)</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32.1</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32.6</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33.5</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34.1</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34.7</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35.2</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Adj. EBITDA</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80.0</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90.6</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101.2</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106.6</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117.1</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126.0</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9.5</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1">
                          <a:solidFill>
                            <a:srgbClr val="1B1F24"/>
                          </a:solidFill>
                          <a:latin typeface="Carlito"/>
                        </a:rPr>
                        <a:t>Adj. EBITDA margin (%)</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16.4</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16.9</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17.6</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17.9</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18.5</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18.9</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Cash and orders ($m)</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solidFill>
                      <a:srgbClr val="E9EDF2"/>
                    </a:solidFill>
                  </a:tcPr>
                </a:tc>
              </a:tr>
              <a:tr h="142524">
                <a:tc>
                  <a:txBody>
                    <a:bodyPr wrap="square"/>
                    <a:lstStyle/>
                    <a:p>
                      <a:pPr algn="l"/>
                      <a:r>
                        <a:rPr sz="700" b="0" i="0">
                          <a:solidFill>
                            <a:srgbClr val="1B1F24"/>
                          </a:solidFill>
                          <a:latin typeface="Carlito"/>
                        </a:rPr>
                        <a:t>Capex</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16.9</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18.3</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20.8</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21.5</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22.7</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6.1</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1">
                          <a:solidFill>
                            <a:srgbClr val="1B1F24"/>
                          </a:solidFill>
                          <a:latin typeface="Carlito"/>
                        </a:rPr>
                        <a:t>Capex / revenue (%)</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3.5</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3.4</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3.4</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3.5</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3.4</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3.4</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1" i="0">
                          <a:solidFill>
                            <a:srgbClr val="1B1F24"/>
                          </a:solidFill>
                          <a:latin typeface="Carlito"/>
                        </a:rPr>
                        <a:t>Adj. EBITDA - capex</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63.1</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72.3</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81.6</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85.8</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95.6</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103.3</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10.4</a:t>
                      </a:r>
                      <a:endParaRPr sz="700" b="1"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1">
                          <a:solidFill>
                            <a:srgbClr val="1B1F24"/>
                          </a:solidFill>
                          <a:latin typeface="Carlito"/>
                        </a:rPr>
                        <a:t>Cash conversion (%)</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78.9</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79.8</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80.6</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80.5</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81.6</a:t>
                      </a: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82.0</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Order backlog</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198.4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221.7</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238.0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241.9</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259.3</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274.6</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6.7</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1">
                          <a:solidFill>
                            <a:srgbClr val="1B1F24"/>
                          </a:solidFill>
                          <a:latin typeface="Carlito"/>
                        </a:rPr>
                        <a:t>Backlog / revenue (x)</a:t>
                      </a:r>
                      <a:endParaRPr sz="700" b="0" i="1">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0.41</a:t>
                      </a:r>
                      <a:endParaRPr sz="700" b="0" i="1">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0.41</a:t>
                      </a:r>
                      <a:endParaRPr sz="700" b="0" i="1">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0.41</a:t>
                      </a:r>
                      <a:endParaRPr sz="700" b="0" i="1">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0.41</a:t>
                      </a:r>
                      <a:endParaRPr sz="700" b="0" i="1">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0.41</a:t>
                      </a:r>
                      <a:endParaRPr sz="700" b="0" i="1">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F3D63"/>
                          </a:solidFill>
                          <a:latin typeface="Carlito"/>
                        </a:rPr>
                        <a:t>0.41</a:t>
                      </a:r>
                      <a:endParaRPr sz="700" b="0" i="0">
                        <a:solidFill>
                          <a:srgbClr val="1F3D63"/>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endParaRPr sz="700" b="0" i="1">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r>
            </a:tbl>
          </a:graphicData>
        </a:graphic>
      </p:graphicFrame>
      <p:sp>
        <p:nvSpPr>
          <p:cNvPr id="40" name="hs_fn"/>
          <p:cNvSpPr/>
          <p:nvPr/>
        </p:nvSpPr>
        <p:spPr>
          <a:xfrm>
            <a:off x="3033211" y="5463313"/>
            <a:ext cx="4233916"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Adj. EBITDA excludes one-off restructuring and the seller's management fees. Gross profit before D&amp;A. Cash</a:t>
            </a:r>
            <a:br/>
            <a:r>
              <a:rPr sz="700" b="0" i="0">
                <a:solidFill>
                  <a:srgbClr val="56606C"/>
                </a:solidFill>
                <a:latin typeface="Carlito"/>
              </a:rPr>
              <a:t>conversion is (Adj. EBITDA - capex) / Adj. EBITDA. Negatives in parentheses; FY2026E in blue, a fall in red.</a:t>
            </a:r>
          </a:p>
        </p:txBody>
      </p:sp>
      <p:sp>
        <p:nvSpPr>
          <p:cNvPr id="41" name="ox1_h"/>
          <p:cNvSpPr/>
          <p:nvPr/>
        </p:nvSpPr>
        <p:spPr>
          <a:xfrm>
            <a:off x="3033211" y="5730724"/>
            <a:ext cx="4233916"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Operating indicators</a:t>
            </a:r>
          </a:p>
        </p:txBody>
      </p:sp>
      <p:sp>
        <p:nvSpPr>
          <p:cNvPr id="42" name="ox1_u"/>
          <p:cNvSpPr/>
          <p:nvPr/>
        </p:nvSpPr>
        <p:spPr>
          <a:xfrm>
            <a:off x="3033211" y="5862946"/>
            <a:ext cx="4233916"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FY2021A to FY2026E; FY2024A book-to-bill under 1.00x in red</a:t>
            </a:r>
          </a:p>
        </p:txBody>
      </p:sp>
      <p:graphicFrame>
        <p:nvGraphicFramePr>
          <p:cNvPr id="43" name="ops"/>
          <p:cNvGraphicFramePr>
            <a:graphicFrameLocks noGrp="1"/>
          </p:cNvGraphicFramePr>
          <p:nvPr/>
        </p:nvGraphicFramePr>
        <p:xfrm>
          <a:off x="3033211" y="5969768"/>
          <a:ext cx="4233916" cy="997668"/>
        </p:xfrm>
        <a:graphic>
          <a:graphicData uri="http://schemas.openxmlformats.org/drawingml/2006/table">
            <a:tbl>
              <a:tblPr firstRow="0" bandRow="0" lastRow="0" firstCol="0" lastCol="0" bandCol="0"/>
              <a:tblGrid>
                <a:gridCol w="1397192"/>
                <a:gridCol w="475688"/>
                <a:gridCol w="475688"/>
                <a:gridCol w="475688"/>
                <a:gridCol w="475688"/>
                <a:gridCol w="475688"/>
                <a:gridCol w="458284"/>
              </a:tblGrid>
              <a:tr h="142524">
                <a:tc>
                  <a:txBody>
                    <a:bodyPr wrap="square"/>
                    <a:lstStyle/>
                    <a:p>
                      <a:pPr algn="l"/>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FY21A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FY22A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FY23A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FY24A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FY25A</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FY26E</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r>
              <a:tr h="142524">
                <a:tc>
                  <a:txBody>
                    <a:bodyPr wrap="square"/>
                    <a:lstStyle/>
                    <a:p>
                      <a:pPr algn="l"/>
                      <a:r>
                        <a:rPr sz="700" b="0" i="0">
                          <a:solidFill>
                            <a:srgbClr val="1B1F24"/>
                          </a:solidFill>
                          <a:latin typeface="Carlito"/>
                        </a:rPr>
                        <a:t>Book-to-bill (x)</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1.06</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1.08</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1.03</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0.99</a:t>
                      </a:r>
                      <a:endParaRPr sz="700" b="0" i="0">
                        <a:solidFill>
                          <a:srgbClr val="B0241B"/>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1.05</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F3D63"/>
                          </a:solidFill>
                          <a:latin typeface="Carlito"/>
                        </a:rPr>
                        <a:t>1.04</a:t>
                      </a:r>
                      <a:endParaRPr sz="700" b="0" i="0">
                        <a:solidFill>
                          <a:srgbClr val="1F3D63"/>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r>
              <a:tr h="142524">
                <a:tc>
                  <a:txBody>
                    <a:bodyPr wrap="square"/>
                    <a:lstStyle/>
                    <a:p>
                      <a:pPr algn="l"/>
                      <a:r>
                        <a:rPr sz="700" b="0" i="0">
                          <a:solidFill>
                            <a:srgbClr val="1B1F24"/>
                          </a:solidFill>
                          <a:latin typeface="Carlito"/>
                        </a:rPr>
                        <a:t>Price realisation (%)</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5.8</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2.9</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2.7</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On-time delivery (%)</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88.4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84.9</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89.7</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92.3</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93.8</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94.6</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Top 10 customers (% of revenue)</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23.1</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22.5</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21.9</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21.0</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Employees (year end)</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3,920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4,040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4,150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4,210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4,290</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4,350</a:t>
                      </a:r>
                      <a:endParaRPr sz="700" b="0" i="0">
                        <a:solidFill>
                          <a:srgbClr val="1F3D63"/>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Revenue per employee ($000)</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124</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133</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138</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141</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148</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F3D63"/>
                          </a:solidFill>
                          <a:latin typeface="Carlito"/>
                        </a:rPr>
                        <a:t>153</a:t>
                      </a:r>
                      <a:endParaRPr sz="700" b="0" i="0">
                        <a:solidFill>
                          <a:srgbClr val="1F3D63"/>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r>
            </a:tbl>
          </a:graphicData>
        </a:graphic>
      </p:graphicFrame>
      <p:sp>
        <p:nvSpPr>
          <p:cNvPr id="44" name="ox1_fn"/>
          <p:cNvSpPr/>
          <p:nvPr/>
        </p:nvSpPr>
        <p:spPr>
          <a:xfrm>
            <a:off x="3033211" y="7012242"/>
            <a:ext cx="4233916"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Price realisation: list-price increase realised on like-for-like volume. On-time delivery: order lines shipped by the</a:t>
            </a:r>
            <a:br/>
            <a:r>
              <a:rPr sz="700" b="0" i="0">
                <a:solidFill>
                  <a:srgbClr val="56606C"/>
                </a:solidFill>
                <a:latin typeface="Carlito"/>
              </a:rPr>
              <a:t>confirmed date.</a:t>
            </a:r>
          </a:p>
        </p:txBody>
      </p:sp>
      <p:sp>
        <p:nvSpPr>
          <p:cNvPr id="45" name="n_h1"/>
          <p:cNvSpPr/>
          <p:nvPr/>
        </p:nvSpPr>
        <p:spPr>
          <a:xfrm>
            <a:off x="7401544" y="1287708"/>
            <a:ext cx="2298411"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Strengths</a:t>
            </a:r>
          </a:p>
        </p:txBody>
      </p:sp>
      <p:sp>
        <p:nvSpPr>
          <p:cNvPr id="46" name="n1"/>
          <p:cNvSpPr/>
          <p:nvPr/>
        </p:nvSpPr>
        <p:spPr>
          <a:xfrm>
            <a:off x="7401544" y="1412310"/>
            <a:ext cx="2298411" cy="34493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Aftermarket and services grew 9.0% a year from</a:t>
            </a:r>
            <a:br/>
            <a:r>
              <a:rPr sz="800" b="0" i="0">
                <a:solidFill>
                  <a:srgbClr val="1B1F24"/>
                </a:solidFill>
                <a:latin typeface="Carlito"/>
              </a:rPr>
              <a:t>FY2021A, to 27.3% of revenue at a 30.5% segment</a:t>
            </a:r>
            <a:br/>
            <a:r>
              <a:rPr sz="800" b="0" i="0">
                <a:solidFill>
                  <a:srgbClr val="1B1F24"/>
                </a:solidFill>
                <a:latin typeface="Carlito"/>
              </a:rPr>
              <a:t>margin, earned on an installed base of c.1.9m valves.</a:t>
            </a:r>
          </a:p>
        </p:txBody>
      </p:sp>
      <p:sp>
        <p:nvSpPr>
          <p:cNvPr id="47" name="n2"/>
          <p:cNvSpPr/>
          <p:nvPr/>
        </p:nvSpPr>
        <p:spPr>
          <a:xfrm>
            <a:off x="7401544" y="1775164"/>
            <a:ext cx="2298411" cy="34493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Adj. EBITDA margin widened in each of the five</a:t>
            </a:r>
            <a:br/>
            <a:r>
              <a:rPr sz="800" b="0" i="0">
                <a:solidFill>
                  <a:srgbClr val="1B1F24"/>
                </a:solidFill>
                <a:latin typeface="Carlito"/>
              </a:rPr>
              <a:t>years, from 16.4% to 18.9%, as aftermarket mix rose</a:t>
            </a:r>
            <a:br/>
            <a:r>
              <a:rPr sz="800" b="0" i="0">
                <a:solidFill>
                  <a:srgbClr val="1B1F24"/>
                </a:solidFill>
                <a:latin typeface="Carlito"/>
              </a:rPr>
              <a:t>and valve pricing held through two input-cost cycles.</a:t>
            </a:r>
          </a:p>
        </p:txBody>
      </p:sp>
      <p:sp>
        <p:nvSpPr>
          <p:cNvPr id="48" name="n3"/>
          <p:cNvSpPr/>
          <p:nvPr/>
        </p:nvSpPr>
        <p:spPr>
          <a:xfrm>
            <a:off x="7401544" y="2138018"/>
            <a:ext cx="2298411" cy="23825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Capex of 3.4% of revenue leaves 82.0% of Adj.</a:t>
            </a:r>
            <a:br/>
            <a:r>
              <a:rPr sz="800" b="0" i="0">
                <a:solidFill>
                  <a:srgbClr val="1B1F24"/>
                </a:solidFill>
                <a:latin typeface="Carlito"/>
              </a:rPr>
              <a:t>EBITDA as cash before tax and interest.</a:t>
            </a:r>
          </a:p>
        </p:txBody>
      </p:sp>
      <p:sp>
        <p:nvSpPr>
          <p:cNvPr id="49" name="n4"/>
          <p:cNvSpPr/>
          <p:nvPr/>
        </p:nvSpPr>
        <p:spPr>
          <a:xfrm>
            <a:off x="7401544" y="2394192"/>
            <a:ext cx="2298411" cy="34493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No end market is over 22.4% of revenue; water,</a:t>
            </a:r>
            <a:br/>
            <a:r>
              <a:rPr sz="800" b="0" i="0">
                <a:solidFill>
                  <a:srgbClr val="1B1F24"/>
                </a:solidFill>
                <a:latin typeface="Carlito"/>
              </a:rPr>
              <a:t>power and food and pharma, 44.1%, are regulated</a:t>
            </a:r>
            <a:br/>
            <a:r>
              <a:rPr sz="800" b="0" i="0">
                <a:solidFill>
                  <a:srgbClr val="1B1F24"/>
                </a:solidFill>
                <a:latin typeface="Carlito"/>
              </a:rPr>
              <a:t>and less cyclical (blue in the chart).</a:t>
            </a:r>
          </a:p>
        </p:txBody>
      </p:sp>
      <p:sp>
        <p:nvSpPr>
          <p:cNvPr id="50" name="n5"/>
          <p:cNvSpPr/>
          <p:nvPr/>
        </p:nvSpPr>
        <p:spPr>
          <a:xfrm>
            <a:off x="7401544" y="2757046"/>
            <a:ext cx="2298411" cy="34493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Backlog of $274.6m covers 0.41x of FY2026E</a:t>
            </a:r>
            <a:br/>
            <a:r>
              <a:rPr sz="800" b="0" i="0">
                <a:solidFill>
                  <a:srgbClr val="1B1F24"/>
                </a:solidFill>
                <a:latin typeface="Carlito"/>
              </a:rPr>
              <a:t>revenue; 46% of revenue is under frame</a:t>
            </a:r>
            <a:br/>
            <a:r>
              <a:rPr sz="800" b="0" i="0">
                <a:solidFill>
                  <a:srgbClr val="1B1F24"/>
                </a:solidFill>
                <a:latin typeface="Carlito"/>
              </a:rPr>
              <a:t>agreements.</a:t>
            </a:r>
          </a:p>
        </p:txBody>
      </p:sp>
      <p:sp>
        <p:nvSpPr>
          <p:cNvPr id="51" name="n_h2"/>
          <p:cNvSpPr/>
          <p:nvPr/>
        </p:nvSpPr>
        <p:spPr>
          <a:xfrm>
            <a:off x="7401544" y="3119900"/>
            <a:ext cx="2298411"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Risks to underwrite</a:t>
            </a:r>
          </a:p>
        </p:txBody>
      </p:sp>
      <p:sp>
        <p:nvSpPr>
          <p:cNvPr id="52" name="n6"/>
          <p:cNvSpPr/>
          <p:nvPr/>
        </p:nvSpPr>
        <p:spPr>
          <a:xfrm>
            <a:off x="7401544" y="3244502"/>
            <a:ext cx="2298411" cy="34493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Pumps and systems fell 2.2% in FY2024A (red) and</a:t>
            </a:r>
            <a:br/>
            <a:r>
              <a:rPr sz="800" b="0" i="0">
                <a:solidFill>
                  <a:srgbClr val="1B1F24"/>
                </a:solidFill>
                <a:latin typeface="Carlito"/>
              </a:rPr>
              <a:t>earns 13.5%, the lowest segment margin; the plan</a:t>
            </a:r>
            <a:br/>
            <a:r>
              <a:rPr sz="800" b="0" i="0">
                <a:solidFill>
                  <a:srgbClr val="1B1F24"/>
                </a:solidFill>
                <a:latin typeface="Carlito"/>
              </a:rPr>
              <a:t>assumes no margin recovery there.</a:t>
            </a:r>
          </a:p>
        </p:txBody>
      </p:sp>
      <p:sp>
        <p:nvSpPr>
          <p:cNvPr id="53" name="n7"/>
          <p:cNvSpPr/>
          <p:nvPr/>
        </p:nvSpPr>
        <p:spPr>
          <a:xfrm>
            <a:off x="7401544" y="3607356"/>
            <a:ext cx="2298411" cy="45161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Chemicals and midstream oil and gas, 34.5% of</a:t>
            </a:r>
            <a:br/>
            <a:r>
              <a:rPr sz="800" b="0" i="0">
                <a:solidFill>
                  <a:srgbClr val="1B1F24"/>
                </a:solidFill>
                <a:latin typeface="Carlito"/>
              </a:rPr>
              <a:t>revenue, follow customers' capex cycles; the</a:t>
            </a:r>
            <a:br/>
            <a:r>
              <a:rPr sz="800" b="0" i="0">
                <a:solidFill>
                  <a:srgbClr val="1B1F24"/>
                </a:solidFill>
                <a:latin typeface="Carlito"/>
              </a:rPr>
              <a:t>downside case cuts FY2027E pumps revenue by</a:t>
            </a:r>
            <a:br/>
            <a:r>
              <a:rPr sz="800" b="0" i="0">
                <a:solidFill>
                  <a:srgbClr val="1B1F24"/>
                </a:solidFill>
                <a:latin typeface="Carlito"/>
              </a:rPr>
              <a:t>12.0%.</a:t>
            </a:r>
          </a:p>
        </p:txBody>
      </p:sp>
      <p:sp>
        <p:nvSpPr>
          <p:cNvPr id="54" name="n8"/>
          <p:cNvSpPr/>
          <p:nvPr/>
        </p:nvSpPr>
        <p:spPr>
          <a:xfrm>
            <a:off x="7401544" y="4076890"/>
            <a:ext cx="2298411" cy="23825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Castings and bar stock are 31% of cost of sales and</a:t>
            </a:r>
            <a:br/>
            <a:r>
              <a:rPr sz="800" b="0" i="0">
                <a:solidFill>
                  <a:srgbClr val="1B1F24"/>
                </a:solidFill>
                <a:latin typeface="Carlito"/>
              </a:rPr>
              <a:t>price pass-through lags about two quarters.</a:t>
            </a:r>
          </a:p>
        </p:txBody>
      </p:sp>
      <p:sp>
        <p:nvSpPr>
          <p:cNvPr id="55" name="n9"/>
          <p:cNvSpPr/>
          <p:nvPr/>
        </p:nvSpPr>
        <p:spPr>
          <a:xfrm>
            <a:off x="7401544" y="4333064"/>
            <a:ext cx="2298411" cy="23825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The top 10 customers take 21% of revenue; none is</a:t>
            </a:r>
            <a:br/>
            <a:r>
              <a:rPr sz="800" b="0" i="0">
                <a:solidFill>
                  <a:srgbClr val="1B1F24"/>
                </a:solidFill>
                <a:latin typeface="Carlito"/>
              </a:rPr>
              <a:t>over 4.2%.</a:t>
            </a:r>
          </a:p>
        </p:txBody>
      </p:sp>
      <p:sp>
        <p:nvSpPr>
          <p:cNvPr id="56" name="n9b"/>
          <p:cNvSpPr/>
          <p:nvPr/>
        </p:nvSpPr>
        <p:spPr>
          <a:xfrm>
            <a:off x="7401544" y="4589238"/>
            <a:ext cx="2298411" cy="23825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Book-to-bill dipped to 0.99x in FY2024A (red) as</a:t>
            </a:r>
            <a:br/>
            <a:r>
              <a:rPr sz="800" b="0" i="0">
                <a:solidFill>
                  <a:srgbClr val="1B1F24"/>
                </a:solidFill>
                <a:latin typeface="Carlito"/>
              </a:rPr>
              <a:t>pumps orders fell, and recovered to 1.05x.</a:t>
            </a:r>
          </a:p>
        </p:txBody>
      </p:sp>
      <p:sp>
        <p:nvSpPr>
          <p:cNvPr id="57" name="n_h3"/>
          <p:cNvSpPr/>
          <p:nvPr/>
        </p:nvSpPr>
        <p:spPr>
          <a:xfrm>
            <a:off x="7401544" y="4845412"/>
            <a:ext cx="2298411"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Diligence findings</a:t>
            </a:r>
          </a:p>
        </p:txBody>
      </p:sp>
      <p:sp>
        <p:nvSpPr>
          <p:cNvPr id="58" name="n10"/>
          <p:cNvSpPr/>
          <p:nvPr/>
        </p:nvSpPr>
        <p:spPr>
          <a:xfrm>
            <a:off x="7401544" y="4970014"/>
            <a:ext cx="2298411" cy="34493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Quality of earnings accepts FY2025A Adj. EBITDA of</a:t>
            </a:r>
            <a:br/>
            <a:r>
              <a:rPr sz="800" b="0" i="0">
                <a:solidFill>
                  <a:srgbClr val="1B1F24"/>
                </a:solidFill>
                <a:latin typeface="Carlito"/>
              </a:rPr>
              <a:t>$117.1m, including $3.8m of add-backs</a:t>
            </a:r>
            <a:br/>
            <a:r>
              <a:rPr sz="800" b="0" i="0">
                <a:solidFill>
                  <a:srgbClr val="1B1F24"/>
                </a:solidFill>
                <a:latin typeface="Carlito"/>
              </a:rPr>
              <a:t>(restructuring $2.6m, seller fees $1.2m).</a:t>
            </a:r>
          </a:p>
        </p:txBody>
      </p:sp>
      <p:sp>
        <p:nvSpPr>
          <p:cNvPr id="59" name="n11"/>
          <p:cNvSpPr/>
          <p:nvPr/>
        </p:nvSpPr>
        <p:spPr>
          <a:xfrm>
            <a:off x="7401544" y="5332868"/>
            <a:ext cx="2298411" cy="23825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Asia Pacific grew 9.6% a year, the fastest region, on</a:t>
            </a:r>
            <a:br/>
            <a:r>
              <a:rPr sz="800" b="0" i="0">
                <a:solidFill>
                  <a:srgbClr val="1B1F24"/>
                </a:solidFill>
                <a:latin typeface="Carlito"/>
              </a:rPr>
              <a:t>water and power projects.</a:t>
            </a:r>
          </a:p>
        </p:txBody>
      </p:sp>
      <p:sp>
        <p:nvSpPr>
          <p:cNvPr id="60" name="n12"/>
          <p:cNvSpPr/>
          <p:nvPr/>
        </p:nvSpPr>
        <p:spPr>
          <a:xfrm>
            <a:off x="7401544" y="5589042"/>
            <a:ext cx="2298411" cy="238252"/>
          </a:xfrm>
          <a:prstGeom prst="rect">
            <a:avLst/>
          </a:prstGeom>
          <a:noFill/>
        </p:spPr>
        <p:txBody>
          <a:bodyPr wrap="square" lIns="0" tIns="0" rIns="0" bIns="0" anchor="t">
            <a:noAutofit/>
          </a:bodyPr>
          <a:lstStyle/>
          <a:p>
            <a:pPr algn="l" lvl="0" marL="89611" indent="-89611">
              <a:lnSpc>
                <a:spcPts val="840"/>
              </a:lnSpc>
              <a:spcBef>
                <a:spcPts val="0"/>
              </a:spcBef>
              <a:spcAft>
                <a:spcPts val="196"/>
              </a:spcAft>
              <a:buFont typeface="Carlito"/>
              <a:buChar char="•"/>
            </a:pPr>
            <a:r>
              <a:rPr sz="800" b="0" i="0">
                <a:solidFill>
                  <a:srgbClr val="1B1F24"/>
                </a:solidFill>
                <a:latin typeface="Carlito"/>
              </a:rPr>
              <a:t>Two plants in Europe run under 70% utilisation; the</a:t>
            </a:r>
            <a:br/>
            <a:r>
              <a:rPr sz="800" b="0" i="0">
                <a:solidFill>
                  <a:srgbClr val="1B1F24"/>
                </a:solidFill>
                <a:latin typeface="Carlito"/>
              </a:rPr>
              <a:t>plan holds them open.</a:t>
            </a:r>
          </a:p>
        </p:txBody>
      </p:sp>
      <p:sp>
        <p:nvSpPr>
          <p:cNvPr id="61" name="cux_h"/>
          <p:cNvSpPr/>
          <p:nvPr/>
        </p:nvSpPr>
        <p:spPr>
          <a:xfrm>
            <a:off x="7401544" y="5845216"/>
            <a:ext cx="2298411"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Largest customers</a:t>
            </a:r>
          </a:p>
        </p:txBody>
      </p:sp>
      <p:sp>
        <p:nvSpPr>
          <p:cNvPr id="62" name="cux_u"/>
          <p:cNvSpPr/>
          <p:nvPr/>
        </p:nvSpPr>
        <p:spPr>
          <a:xfrm>
            <a:off x="7401544" y="5977438"/>
            <a:ext cx="2298411"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 of FY2026E revenue; names withheld until exclusivity</a:t>
            </a:r>
          </a:p>
        </p:txBody>
      </p:sp>
      <p:graphicFrame>
        <p:nvGraphicFramePr>
          <p:cNvPr id="63" name="cust"/>
          <p:cNvGraphicFramePr>
            <a:graphicFrameLocks noGrp="1"/>
          </p:cNvGraphicFramePr>
          <p:nvPr/>
        </p:nvGraphicFramePr>
        <p:xfrm>
          <a:off x="7401544" y="6084260"/>
          <a:ext cx="2298411" cy="997668"/>
        </p:xfrm>
        <a:graphic>
          <a:graphicData uri="http://schemas.openxmlformats.org/drawingml/2006/table">
            <a:tbl>
              <a:tblPr firstRow="0" bandRow="0" lastRow="0" firstCol="0" lastCol="0" bandCol="0"/>
              <a:tblGrid>
                <a:gridCol w="1516951"/>
                <a:gridCol w="467391"/>
                <a:gridCol w="314069"/>
              </a:tblGrid>
              <a:tr h="142524">
                <a:tc>
                  <a:txBody>
                    <a:bodyPr wrap="square"/>
                    <a:lstStyle/>
                    <a:p>
                      <a:pPr algn="l"/>
                      <a:r>
                        <a:rPr sz="700" b="1" i="0">
                          <a:solidFill>
                            <a:srgbClr val="1B1F24"/>
                          </a:solidFill>
                          <a:latin typeface="Carlito"/>
                        </a:rPr>
                        <a:t>Customer</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 of rev.</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Since</a:t>
                      </a:r>
                      <a:endParaRPr sz="700" b="1" i="0">
                        <a:solidFill>
                          <a:srgbClr val="1B1F24"/>
                        </a:solidFill>
                        <a:latin typeface="Carlito"/>
                      </a:endParaRPr>
                    </a:p>
                  </a:txBody>
                  <a:tcPr marL="17922" marR="17922" marT="17922" marB="17922" anchor="ctr">
                    <a:lnL w="0">
                      <a:noFill/>
                    </a:lnL>
                    <a:lnR w="0">
                      <a:noFill/>
                    </a:lnR>
                    <a:lnT w="0">
                      <a:noFill/>
                    </a:lnT>
                    <a:lnB w="12700">
                      <a:solidFill>
                        <a:srgbClr val="1B1F24"/>
                      </a:solidFill>
                    </a:lnB>
                    <a:noFill/>
                  </a:tcPr>
                </a:tc>
              </a:tr>
              <a:tr h="142524">
                <a:tc>
                  <a:txBody>
                    <a:bodyPr wrap="square"/>
                    <a:lstStyle/>
                    <a:p>
                      <a:pPr algn="l"/>
                      <a:r>
                        <a:rPr sz="700" b="0" i="0">
                          <a:solidFill>
                            <a:srgbClr val="1B1F24"/>
                          </a:solidFill>
                          <a:latin typeface="Carlito"/>
                        </a:rPr>
                        <a:t>Customer 1: US water utility</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4.2</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1998</a:t>
                      </a:r>
                      <a:endParaRPr sz="700" b="0" i="0">
                        <a:solidFill>
                          <a:srgbClr val="1B1F24"/>
                        </a:solidFill>
                        <a:latin typeface="Carlito"/>
                      </a:endParaRPr>
                    </a:p>
                  </a:txBody>
                  <a:tcPr marL="17922" marR="17922" marT="17922" marB="17922" anchor="ctr">
                    <a:lnL w="0">
                      <a:noFill/>
                    </a:lnL>
                    <a:lnR w="0">
                      <a:noFill/>
                    </a:lnR>
                    <a:lnT w="12700">
                      <a:solidFill>
                        <a:srgbClr val="1B1F24"/>
                      </a:solidFill>
                    </a:lnT>
                    <a:lnB w="6350">
                      <a:solidFill>
                        <a:srgbClr val="C3CAD3"/>
                      </a:solidFill>
                    </a:lnB>
                    <a:noFill/>
                  </a:tcPr>
                </a:tc>
              </a:tr>
              <a:tr h="142524">
                <a:tc>
                  <a:txBody>
                    <a:bodyPr wrap="square"/>
                    <a:lstStyle/>
                    <a:p>
                      <a:pPr algn="l"/>
                      <a:r>
                        <a:rPr sz="700" b="0" i="0">
                          <a:solidFill>
                            <a:srgbClr val="1B1F24"/>
                          </a:solidFill>
                          <a:latin typeface="Carlito"/>
                        </a:rPr>
                        <a:t>Customer 2: chemicals major, Europe</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3.6</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2004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Customer 3: EPC contractor, US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2011</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Customer 4: power generator, US</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2007</a:t>
                      </a:r>
                      <a:endParaRPr sz="700" b="0" i="0">
                        <a:solidFill>
                          <a:srgbClr val="1B1F24"/>
                        </a:solidFill>
                        <a:latin typeface="Carlito"/>
                      </a:endParaRPr>
                    </a:p>
                  </a:txBody>
                  <a:tcPr marL="17922" marR="17922" marT="17922" marB="17922" anchor="ctr">
                    <a:lnL w="0">
                      <a:noFill/>
                    </a:lnL>
                    <a:lnR w="0">
                      <a:noFill/>
                    </a:lnR>
                    <a:lnT w="6350">
                      <a:solidFill>
                        <a:srgbClr val="C3CAD3"/>
                      </a:solidFill>
                    </a:lnT>
                    <a:lnB w="6350">
                      <a:solidFill>
                        <a:srgbClr val="C3CAD3"/>
                      </a:solidFill>
                    </a:lnB>
                    <a:noFill/>
                  </a:tcPr>
                </a:tc>
              </a:tr>
              <a:tr h="142524">
                <a:tc>
                  <a:txBody>
                    <a:bodyPr wrap="square"/>
                    <a:lstStyle/>
                    <a:p>
                      <a:pPr algn="l"/>
                      <a:r>
                        <a:rPr sz="700" b="0" i="0">
                          <a:solidFill>
                            <a:srgbClr val="1B1F24"/>
                          </a:solidFill>
                          <a:latin typeface="Carlito"/>
                        </a:rPr>
                        <a:t>Customer 5: food processor, Europe</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2.2</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2015</a:t>
                      </a:r>
                      <a:endParaRPr sz="700" b="0" i="0">
                        <a:solidFill>
                          <a:srgbClr val="1B1F24"/>
                        </a:solidFill>
                        <a:latin typeface="Carlito"/>
                      </a:endParaRPr>
                    </a:p>
                  </a:txBody>
                  <a:tcPr marL="17922" marR="17922" marT="17922" marB="17922" anchor="ctr">
                    <a:lnL w="0">
                      <a:noFill/>
                    </a:lnL>
                    <a:lnR w="0">
                      <a:noFill/>
                    </a:lnR>
                    <a:lnT w="6350">
                      <a:solidFill>
                        <a:srgbClr val="C3CAD3"/>
                      </a:solidFill>
                    </a:lnT>
                    <a:lnB w="12700">
                      <a:solidFill>
                        <a:srgbClr val="1B1F24"/>
                      </a:solidFill>
                    </a:lnB>
                    <a:noFill/>
                  </a:tcPr>
                </a:tc>
              </a:tr>
              <a:tr h="142524">
                <a:tc>
                  <a:txBody>
                    <a:bodyPr wrap="square"/>
                    <a:lstStyle/>
                    <a:p>
                      <a:pPr algn="l"/>
                      <a:r>
                        <a:rPr sz="700" b="1" i="0">
                          <a:solidFill>
                            <a:srgbClr val="1B1F24"/>
                          </a:solidFill>
                          <a:latin typeface="Carlito"/>
                        </a:rPr>
                        <a:t>Top 5</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15.5</a:t>
                      </a: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c>
                  <a:txBody>
                    <a:bodyPr wrap="square"/>
                    <a:lstStyle/>
                    <a:p>
                      <a:pPr algn="r"/>
                      <a:endParaRPr sz="700" b="1" i="0">
                        <a:solidFill>
                          <a:srgbClr val="1B1F24"/>
                        </a:solidFill>
                        <a:latin typeface="Carlito"/>
                      </a:endParaRPr>
                    </a:p>
                  </a:txBody>
                  <a:tcPr marL="17922" marR="17922" marT="17922" marB="17922" anchor="ctr">
                    <a:lnL w="0">
                      <a:noFill/>
                    </a:lnL>
                    <a:lnR w="0">
                      <a:noFill/>
                    </a:lnR>
                    <a:lnT w="12700">
                      <a:solidFill>
                        <a:srgbClr val="1B1F24"/>
                      </a:solidFill>
                    </a:lnT>
                    <a:lnB w="12700">
                      <a:solidFill>
                        <a:srgbClr val="1B1F24"/>
                      </a:solidFill>
                    </a:lnB>
                    <a:noFill/>
                  </a:tcPr>
                </a:tc>
              </a:tr>
            </a:tbl>
          </a:graphicData>
        </a:graphic>
      </p:graphicFrame>
      <p:sp>
        <p:nvSpPr>
          <p:cNvPr id="64" name="source"/>
          <p:cNvSpPr/>
          <p:nvPr/>
        </p:nvSpPr>
        <p:spPr>
          <a:xfrm>
            <a:off x="358445" y="7299452"/>
            <a:ext cx="934151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Source: Corvane management accounts FY2021A-FY2025A, FY2026E budget (nine months actual), sponsor diligence; all figures illustrative.</a:t>
            </a:r>
          </a:p>
        </p:txBody>
      </p:sp>
      <p:sp>
        <p:nvSpPr>
          <p:cNvPr id="65" name="def_br-bracket"/>
          <p:cNvSpPr/>
          <p:nvPr/>
        </p:nvSpPr>
        <p:spPr>
          <a:xfrm>
            <a:off x="2254231" y="3941204"/>
            <a:ext cx="17922" cy="815932"/>
          </a:xfrm>
          <a:prstGeom prst="rightBracket">
            <a:avLst/>
          </a:prstGeom>
          <a:noFill/>
          <a:ln w="9525">
            <a:solidFill>
              <a:srgbClr val="1F3D63"/>
            </a:solidFill>
          </a:ln>
        </p:spPr>
        <p:txBody>
          <a:bodyPr rtlCol="0" anchor="ctr"/>
          <a:lstStyle/>
          <a:p>
            <a:pPr algn="ctr"/>
          </a:p>
        </p:txBody>
      </p:sp>
      <p:sp>
        <p:nvSpPr>
          <p:cNvPr id="66" name="def_br-label"/>
          <p:cNvSpPr/>
          <p:nvPr/>
        </p:nvSpPr>
        <p:spPr>
          <a:xfrm>
            <a:off x="2540987" y="4260270"/>
            <a:ext cx="402926"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1F3D63"/>
                </a:solidFill>
                <a:latin typeface="Carlito"/>
              </a:rPr>
              <a:t>Defensive</a:t>
            </a:r>
            <a:br/>
            <a:r>
              <a:rPr sz="700" b="1" i="0">
                <a:solidFill>
                  <a:srgbClr val="1F3D63"/>
                </a:solidFill>
                <a:latin typeface="Carlito"/>
              </a:rPr>
              <a:t>44.1%</a:t>
            </a:r>
          </a:p>
        </p:txBody>
      </p:sp>
      <p:sp>
        <p:nvSpPr>
          <p:cNvPr id="67" name="cyc_br-bracket"/>
          <p:cNvSpPr/>
          <p:nvPr/>
        </p:nvSpPr>
        <p:spPr>
          <a:xfrm>
            <a:off x="2368641" y="4851282"/>
            <a:ext cx="17922" cy="1119291"/>
          </a:xfrm>
          <a:prstGeom prst="rightBracket">
            <a:avLst/>
          </a:prstGeom>
          <a:noFill/>
          <a:ln w="9525">
            <a:solidFill>
              <a:srgbClr val="56606C"/>
            </a:solidFill>
          </a:ln>
        </p:spPr>
        <p:txBody>
          <a:bodyPr rtlCol="0" anchor="ctr"/>
          <a:lstStyle/>
          <a:p>
            <a:pPr algn="ctr"/>
          </a:p>
        </p:txBody>
      </p:sp>
      <p:sp>
        <p:nvSpPr>
          <p:cNvPr id="68" name="cyc_br-label"/>
          <p:cNvSpPr/>
          <p:nvPr/>
        </p:nvSpPr>
        <p:spPr>
          <a:xfrm>
            <a:off x="2655397" y="5322027"/>
            <a:ext cx="311769"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56606C"/>
                </a:solidFill>
                <a:latin typeface="Carlito"/>
              </a:rPr>
              <a:t>Cyclical</a:t>
            </a:r>
            <a:br/>
            <a:r>
              <a:rPr sz="700" b="1" i="0">
                <a:solidFill>
                  <a:srgbClr val="56606C"/>
                </a:solidFill>
                <a:latin typeface="Carlito"/>
              </a:rPr>
              <a:t>55.9%</a:t>
            </a:r>
          </a:p>
        </p:txBody>
      </p:sp>
    </p:spTree>
    <p:custDataLst>
      <p:tags r:id="rId3"/>
    </p:custData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41" name="chrome-1"/>
          <p:cNvCxnSpPr/>
          <p:nvPr/>
        </p:nvCxnSpPr>
        <p:spPr>
          <a:xfrm>
            <a:off x="365760" y="603504"/>
            <a:ext cx="9326880" cy="0"/>
          </a:xfrm>
          <a:prstGeom prst="line">
            <a:avLst/>
          </a:prstGeom>
          <a:ln w="12700">
            <a:solidFill>
              <a:srgbClr val="1F3D63"/>
            </a:solidFill>
          </a:ln>
        </p:spPr>
      </p:cxnSp>
      <p:cxnSp>
        <p:nvCxnSpPr>
          <p:cNvPr id="42" name="chrome-2"/>
          <p:cNvCxnSpPr/>
          <p:nvPr/>
        </p:nvCxnSpPr>
        <p:spPr>
          <a:xfrm>
            <a:off x="365760" y="7411212"/>
            <a:ext cx="9326880" cy="0"/>
          </a:xfrm>
          <a:prstGeom prst="line">
            <a:avLst/>
          </a:prstGeom>
          <a:ln w="6350">
            <a:solidFill>
              <a:srgbClr val="C3CAD3"/>
            </a:solidFill>
          </a:ln>
        </p:spPr>
      </p:cxnSp>
      <p:sp>
        <p:nvSpPr>
          <p:cNvPr id="43" name="chrome-3"/>
          <p:cNvSpPr txBox="1"/>
          <p:nvPr/>
        </p:nvSpPr>
        <p:spPr>
          <a:xfrm>
            <a:off x="365760" y="7452360"/>
            <a:ext cx="7315200" cy="152400"/>
          </a:xfrm>
          <a:prstGeom prst="rect">
            <a:avLst/>
          </a:prstGeom>
          <a:noFill/>
        </p:spPr>
        <p:txBody>
          <a:bodyPr wrap="none" lIns="0" tIns="0" rIns="0" bIns="0" anchor="t">
            <a:noAutofit/>
          </a:bodyPr>
          <a:lstStyle/>
          <a:p>
            <a:r>
              <a:rPr sz="700" b="0">
                <a:solidFill>
                  <a:srgbClr val="56606C"/>
                </a:solidFill>
                <a:latin typeface="Carlito"/>
              </a:rPr>
              <a:t>Project Corvane  |  Investment committee book  |  Section 4: Leveraged finance and LBO  |  Strictly confidential  |  Illustrative figures, fictional company</a:t>
            </a:r>
          </a:p>
        </p:txBody>
      </p:sp>
      <p:sp>
        <p:nvSpPr>
          <p:cNvPr id="44" name="chrome-4"/>
          <p:cNvSpPr txBox="1"/>
          <p:nvPr/>
        </p:nvSpPr>
        <p:spPr>
          <a:xfrm>
            <a:off x="8595360" y="7452360"/>
            <a:ext cx="1097280" cy="152400"/>
          </a:xfrm>
          <a:prstGeom prst="rect">
            <a:avLst/>
          </a:prstGeom>
          <a:noFill/>
        </p:spPr>
        <p:txBody>
          <a:bodyPr wrap="none" lIns="0" tIns="0" rIns="0" bIns="0" anchor="t">
            <a:noAutofit/>
          </a:bodyPr>
          <a:lstStyle/>
          <a:p>
            <a:pPr algn="r"/>
            <a:r>
              <a:rPr sz="700" b="1">
                <a:solidFill>
                  <a:srgbClr val="1B1F24"/>
                </a:solidFill>
                <a:latin typeface="Carlito"/>
              </a:rPr>
              <a:t>Sheet </a:t>
            </a:r>
            <a:fld id="{B6F15528-21DE-4FAA-801E-634DDDAF5B2F}" type="slidenum">
              <a:rPr sz="700">
                <a:solidFill>
                  <a:srgbClr val="1B1F24"/>
                </a:solidFill>
                <a:latin typeface="Carlito"/>
              </a:rPr>
              <a:t>1</a:t>
            </a:fld>
          </a:p>
        </p:txBody>
      </p:sp>
      <p:sp>
        <p:nvSpPr>
          <p:cNvPr id="2" name="kicker"/>
          <p:cNvSpPr/>
          <p:nvPr/>
        </p:nvSpPr>
        <p:spPr>
          <a:xfrm>
            <a:off x="365760" y="274320"/>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1F3D63"/>
                </a:solidFill>
                <a:latin typeface="Carlito"/>
              </a:rPr>
              <a:t>SECTION 4  |  LEVERAGED FINANCE AND LBO  |  4.2 TRANSACTION STRUCTURE</a:t>
            </a:r>
          </a:p>
        </p:txBody>
      </p:sp>
      <p:sp>
        <p:nvSpPr>
          <p:cNvPr id="3" name="title"/>
          <p:cNvSpPr/>
          <p:nvPr/>
        </p:nvSpPr>
        <p:spPr>
          <a:xfrm>
            <a:off x="365760" y="381508"/>
            <a:ext cx="9326880" cy="190500"/>
          </a:xfrm>
          <a:prstGeom prst="rect">
            <a:avLst/>
          </a:prstGeom>
          <a:noFill/>
        </p:spPr>
        <p:txBody>
          <a:bodyPr wrap="square" lIns="0" tIns="0" rIns="0" bIns="0" anchor="t">
            <a:noAutofit/>
          </a:bodyPr>
          <a:lstStyle/>
          <a:p>
            <a:pPr algn="l" marL="0" indent="0">
              <a:lnSpc>
                <a:spcPts val="1500"/>
              </a:lnSpc>
              <a:spcBef>
                <a:spcPts val="0"/>
              </a:spcBef>
              <a:spcAft>
                <a:spcPts val="0"/>
              </a:spcAft>
              <a:buNone/>
            </a:pPr>
            <a:r>
              <a:rPr sz="1500" b="1" i="0">
                <a:solidFill>
                  <a:srgbClr val="1B1F24"/>
                </a:solidFill>
                <a:latin typeface="Carlito"/>
              </a:rPr>
              <a:t>Sources and uses and pro forma capital structure</a:t>
            </a:r>
          </a:p>
        </p:txBody>
      </p:sp>
      <p:sp>
        <p:nvSpPr>
          <p:cNvPr id="4" name="sx_h"/>
          <p:cNvSpPr/>
          <p:nvPr/>
        </p:nvSpPr>
        <p:spPr>
          <a:xfrm>
            <a:off x="365760" y="690372"/>
            <a:ext cx="2390188"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Sources of funds</a:t>
            </a:r>
          </a:p>
        </p:txBody>
      </p:sp>
      <p:sp>
        <p:nvSpPr>
          <p:cNvPr id="5" name="sx_u"/>
          <p:cNvSpPr/>
          <p:nvPr/>
        </p:nvSpPr>
        <p:spPr>
          <a:xfrm>
            <a:off x="365760" y="822960"/>
            <a:ext cx="2390188"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x FY2026E Adj. EBITDA of $126.0m</a:t>
            </a:r>
          </a:p>
        </p:txBody>
      </p:sp>
      <p:graphicFrame>
        <p:nvGraphicFramePr>
          <p:cNvPr id="6" name="src"/>
          <p:cNvGraphicFramePr>
            <a:graphicFrameLocks noGrp="1"/>
          </p:cNvGraphicFramePr>
          <p:nvPr/>
        </p:nvGraphicFramePr>
        <p:xfrm>
          <a:off x="365760" y="930148"/>
          <a:ext cx="2390188" cy="1002792"/>
        </p:xfrm>
        <a:graphic>
          <a:graphicData uri="http://schemas.openxmlformats.org/drawingml/2006/table">
            <a:tbl>
              <a:tblPr firstRow="0" bandRow="0" lastRow="0" firstCol="0" lastCol="0" bandCol="0"/>
              <a:tblGrid>
                <a:gridCol w="1195094"/>
                <a:gridCol w="348809"/>
                <a:gridCol w="436222"/>
                <a:gridCol w="410063"/>
              </a:tblGrid>
              <a:tr h="143256">
                <a:tc>
                  <a:txBody>
                    <a:bodyPr wrap="square"/>
                    <a:lstStyle/>
                    <a:p>
                      <a:pPr algn="l"/>
                      <a:r>
                        <a:rPr sz="700" b="1" i="0">
                          <a:solidFill>
                            <a:srgbClr val="1B1F24"/>
                          </a:solidFill>
                          <a:latin typeface="Carlito"/>
                        </a:rPr>
                        <a:t>Sources</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 of total</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x EBITDA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Revolver ($175.0m), undrawn</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0.0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0.0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0.00x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First-lien term loan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567.0</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42.7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Senior unsecured notes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157.5</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Management rollover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0.32x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Sponsor equity</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564.0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42.5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4.48x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r h="143256">
                <a:tc>
                  <a:txBody>
                    <a:bodyPr wrap="square"/>
                    <a:lstStyle/>
                    <a:p>
                      <a:pPr algn="l"/>
                      <a:r>
                        <a:rPr sz="700" b="1" i="0">
                          <a:solidFill>
                            <a:srgbClr val="1B1F24"/>
                          </a:solidFill>
                          <a:latin typeface="Carlito"/>
                        </a:rPr>
                        <a:t>Total sources</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1,328.5</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100.0</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10.54x</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r>
            </a:tbl>
          </a:graphicData>
        </a:graphic>
      </p:graphicFrame>
      <p:sp>
        <p:nvSpPr>
          <p:cNvPr id="7" name="ux_h"/>
          <p:cNvSpPr/>
          <p:nvPr/>
        </p:nvSpPr>
        <p:spPr>
          <a:xfrm>
            <a:off x="2893108" y="690372"/>
            <a:ext cx="2390188"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Uses of funds</a:t>
            </a:r>
          </a:p>
        </p:txBody>
      </p:sp>
      <p:sp>
        <p:nvSpPr>
          <p:cNvPr id="8" name="ux_u"/>
          <p:cNvSpPr/>
          <p:nvPr/>
        </p:nvSpPr>
        <p:spPr>
          <a:xfrm>
            <a:off x="2893108" y="822960"/>
            <a:ext cx="2390188"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close assumed 31 December 2026</a:t>
            </a:r>
          </a:p>
        </p:txBody>
      </p:sp>
      <p:graphicFrame>
        <p:nvGraphicFramePr>
          <p:cNvPr id="9" name="use"/>
          <p:cNvGraphicFramePr>
            <a:graphicFrameLocks noGrp="1"/>
          </p:cNvGraphicFramePr>
          <p:nvPr/>
        </p:nvGraphicFramePr>
        <p:xfrm>
          <a:off x="2893108" y="930148"/>
          <a:ext cx="2390188" cy="1002792"/>
        </p:xfrm>
        <a:graphic>
          <a:graphicData uri="http://schemas.openxmlformats.org/drawingml/2006/table">
            <a:tbl>
              <a:tblPr firstRow="0" bandRow="0" lastRow="0" firstCol="0" lastCol="0" bandCol="0"/>
              <a:tblGrid>
                <a:gridCol w="1195094"/>
                <a:gridCol w="348809"/>
                <a:gridCol w="436222"/>
                <a:gridCol w="410063"/>
              </a:tblGrid>
              <a:tr h="143256">
                <a:tc>
                  <a:txBody>
                    <a:bodyPr wrap="square"/>
                    <a:lstStyle/>
                    <a:p>
                      <a:pPr algn="l"/>
                      <a:r>
                        <a:rPr sz="700" b="1" i="0">
                          <a:solidFill>
                            <a:srgbClr val="1B1F24"/>
                          </a:solidFill>
                          <a:latin typeface="Carlito"/>
                        </a:rPr>
                        <a:t>Uses</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 of total</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x EBITDA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Purchase of equity</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973.6</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73.3</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7.73x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Refinance existing debt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286.4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Cash to balance sheet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0.20x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Financing fees and OID</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0.17x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M&amp;A advisory and other costs</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1.6</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0.17x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r h="143256">
                <a:tc>
                  <a:txBody>
                    <a:bodyPr wrap="square"/>
                    <a:lstStyle/>
                    <a:p>
                      <a:pPr algn="l"/>
                      <a:r>
                        <a:rPr sz="700" b="1" i="0">
                          <a:solidFill>
                            <a:srgbClr val="1B1F24"/>
                          </a:solidFill>
                          <a:latin typeface="Carlito"/>
                        </a:rPr>
                        <a:t>Total uses</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1,328.5</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100.0</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10.54x</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r>
            </a:tbl>
          </a:graphicData>
        </a:graphic>
      </p:graphicFrame>
      <p:sp>
        <p:nvSpPr>
          <p:cNvPr id="10" name="ux_fn"/>
          <p:cNvSpPr/>
          <p:nvPr/>
        </p:nvSpPr>
        <p:spPr>
          <a:xfrm>
            <a:off x="2893108" y="1978660"/>
            <a:ext cx="2390188"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Purchase of equity on a cash-free, debt-free basis; existing debt</a:t>
            </a:r>
            <a:br/>
            <a:r>
              <a:rPr sz="700" b="0" i="0">
                <a:solidFill>
                  <a:srgbClr val="56606C"/>
                </a:solidFill>
                <a:latin typeface="Carlito"/>
              </a:rPr>
              <a:t>of $286.4m refinanced.</a:t>
            </a:r>
          </a:p>
        </p:txBody>
      </p:sp>
      <p:sp>
        <p:nvSpPr>
          <p:cNvPr id="11" name="kx_h"/>
          <p:cNvSpPr/>
          <p:nvPr/>
        </p:nvSpPr>
        <p:spPr>
          <a:xfrm>
            <a:off x="5420456" y="690372"/>
            <a:ext cx="1864346"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Capital stack at close</a:t>
            </a:r>
          </a:p>
        </p:txBody>
      </p:sp>
      <p:sp>
        <p:nvSpPr>
          <p:cNvPr id="12" name="kx_u"/>
          <p:cNvSpPr/>
          <p:nvPr/>
        </p:nvSpPr>
        <p:spPr>
          <a:xfrm>
            <a:off x="5420456" y="822960"/>
            <a:ext cx="1864346"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x FY2026E Adj. EBITDA; sources only</a:t>
            </a:r>
          </a:p>
        </p:txBody>
      </p:sp>
      <p:graphicFrame>
        <p:nvGraphicFramePr>
          <p:cNvPr id="13" name="stack"/>
          <p:cNvGraphicFramePr>
            <a:graphicFrameLocks noGrp="1"/>
          </p:cNvGraphicFramePr>
          <p:nvPr/>
        </p:nvGraphicFramePr>
        <p:xfrm>
          <a:off x="5420456" y="930148"/>
          <a:ext cx="1864346" cy="1278128"/>
        </p:xfrm>
        <a:graphic>
          <a:graphicData uri="http://schemas.openxmlformats.org/drawingml/2006/chart">
            <c:chart xmlns:c="http://schemas.openxmlformats.org/drawingml/2006/chart" r:id="rId2"/>
          </a:graphicData>
        </a:graphic>
      </p:graphicFrame>
      <p:sp>
        <p:nvSpPr>
          <p:cNvPr id="14" name="fe_h"/>
          <p:cNvSpPr/>
          <p:nvPr/>
        </p:nvSpPr>
        <p:spPr>
          <a:xfrm>
            <a:off x="7421962" y="690372"/>
            <a:ext cx="2270678"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Fees and costs</a:t>
            </a:r>
          </a:p>
        </p:txBody>
      </p:sp>
      <p:sp>
        <p:nvSpPr>
          <p:cNvPr id="15" name="fe_u"/>
          <p:cNvSpPr/>
          <p:nvPr/>
        </p:nvSpPr>
        <p:spPr>
          <a:xfrm>
            <a:off x="7421962" y="822960"/>
            <a:ext cx="2270678"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inside total uses</a:t>
            </a:r>
          </a:p>
        </p:txBody>
      </p:sp>
      <p:graphicFrame>
        <p:nvGraphicFramePr>
          <p:cNvPr id="16" name="fees"/>
          <p:cNvGraphicFramePr>
            <a:graphicFrameLocks noGrp="1"/>
          </p:cNvGraphicFramePr>
          <p:nvPr/>
        </p:nvGraphicFramePr>
        <p:xfrm>
          <a:off x="7421962" y="930148"/>
          <a:ext cx="2270678" cy="1109472"/>
        </p:xfrm>
        <a:graphic>
          <a:graphicData uri="http://schemas.openxmlformats.org/drawingml/2006/table">
            <a:tbl>
              <a:tblPr firstRow="0" bandRow="0" lastRow="0" firstCol="0" lastCol="0" bandCol="0"/>
              <a:tblGrid>
                <a:gridCol w="1407820"/>
                <a:gridCol w="338813"/>
                <a:gridCol w="524045"/>
              </a:tblGrid>
              <a:tr h="143256">
                <a:tc>
                  <a:txBody>
                    <a:bodyPr wrap="square"/>
                    <a:lstStyle/>
                    <a:p>
                      <a:pPr algn="l"/>
                      <a:r>
                        <a:rPr sz="700" b="1" i="0">
                          <a:solidFill>
                            <a:srgbClr val="1B1F24"/>
                          </a:solidFill>
                          <a:latin typeface="Carlito"/>
                        </a:rPr>
                        <a:t>Item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 of EV</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249936">
                <a:tc>
                  <a:txBody>
                    <a:bodyPr wrap="square"/>
                    <a:lstStyle/>
                    <a:p>
                      <a:pPr algn="l"/>
                      <a:r>
                        <a:rPr sz="700" b="0" i="0">
                          <a:solidFill>
                            <a:srgbClr val="1B1F24"/>
                          </a:solidFill>
                          <a:latin typeface="Carlito"/>
                        </a:rPr>
                        <a:t>Financing fees (2.25% of funded debt)</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16.3</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1.3</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Original issue discount (1.0% of TLB)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0.5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M&amp;A advisory</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Legal, accounting and diligence</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0.5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R&amp;W insurance and other</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0.2</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r h="143256">
                <a:tc>
                  <a:txBody>
                    <a:bodyPr wrap="square"/>
                    <a:lstStyle/>
                    <a:p>
                      <a:pPr algn="l"/>
                      <a:r>
                        <a:rPr sz="700" b="1" i="0">
                          <a:solidFill>
                            <a:srgbClr val="1B1F24"/>
                          </a:solidFill>
                          <a:latin typeface="Carlito"/>
                        </a:rPr>
                        <a:t>Total fees and costs</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43.5</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3.5</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r>
            </a:tbl>
          </a:graphicData>
        </a:graphic>
      </p:graphicFrame>
      <p:sp>
        <p:nvSpPr>
          <p:cNvPr id="17" name="cx_h"/>
          <p:cNvSpPr/>
          <p:nvPr/>
        </p:nvSpPr>
        <p:spPr>
          <a:xfrm>
            <a:off x="365760" y="2299716"/>
            <a:ext cx="932688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Pro forma capitalisation at close</a:t>
            </a:r>
          </a:p>
        </p:txBody>
      </p:sp>
      <p:sp>
        <p:nvSpPr>
          <p:cNvPr id="18" name="cx_u"/>
          <p:cNvSpPr/>
          <p:nvPr/>
        </p:nvSpPr>
        <p:spPr>
          <a:xfrm>
            <a:off x="365760" y="2432304"/>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x FY2026E Adj. EBITDA of $126.0m; S = term SOFR; key terms below</a:t>
            </a:r>
          </a:p>
        </p:txBody>
      </p:sp>
      <p:graphicFrame>
        <p:nvGraphicFramePr>
          <p:cNvPr id="19" name="cap"/>
          <p:cNvGraphicFramePr>
            <a:graphicFrameLocks noGrp="1"/>
          </p:cNvGraphicFramePr>
          <p:nvPr/>
        </p:nvGraphicFramePr>
        <p:xfrm>
          <a:off x="365760" y="2539492"/>
          <a:ext cx="9326880" cy="1719072"/>
        </p:xfrm>
        <a:graphic>
          <a:graphicData uri="http://schemas.openxmlformats.org/drawingml/2006/table">
            <a:tbl>
              <a:tblPr firstRow="0" bandRow="0" lastRow="0" firstCol="0" lastCol="0" bandCol="0"/>
              <a:tblGrid>
                <a:gridCol w="1399032"/>
                <a:gridCol w="437225"/>
                <a:gridCol w="514005"/>
                <a:gridCol w="410381"/>
                <a:gridCol w="518334"/>
                <a:gridCol w="1266388"/>
                <a:gridCol w="594595"/>
                <a:gridCol w="692965"/>
                <a:gridCol w="1717425"/>
                <a:gridCol w="718828"/>
                <a:gridCol w="1057702"/>
              </a:tblGrid>
              <a:tr h="143256">
                <a:tc>
                  <a:txBody>
                    <a:bodyPr wrap="square"/>
                    <a:lstStyle/>
                    <a:p>
                      <a:pPr algn="l"/>
                      <a:r>
                        <a:rPr sz="700" b="1" i="0">
                          <a:solidFill>
                            <a:srgbClr val="1B1F24"/>
                          </a:solidFill>
                          <a:latin typeface="Carlito"/>
                        </a:rPr>
                        <a:t>Tranche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x EBITDA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Cum. 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 of cap.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Pricing</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Issue price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Maturity</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Call protection</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Amortisation</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Ranking</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Revolving credit facility</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0.0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0.00x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0.00x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0.0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S + 325, 37.5bp undrawn</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100.0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Dec-31 (5 yr)</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None</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First lien</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First-lien term loan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567.0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42.7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S + 350, 0.50% floor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Dec-33 (7 yr)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101 soft call, 6 months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1.0% a year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First lien</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Total first-lien debt</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567.0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4.50x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4.50x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42.7</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Senior unsecured notes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5.75x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8.25% fixed</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Dec-34 (8 yr)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NC3, then 104.125 / 102.063 / par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Bullet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Senior unsecured</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Total debt</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724.5</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5.75x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5.75x</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54.5</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Less: cash</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Net debt</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699.5</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5.55x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Sponsor equity</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4.48x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Common</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Management rollover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0.32x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Common, pari passu</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Total equity</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604.0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4.79x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10.54x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45.5</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Total capitalisation</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B1F24"/>
                          </a:solidFill>
                          <a:latin typeface="Carlito"/>
                        </a:rPr>
                        <a:t>1,328.5</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B1F24"/>
                          </a:solidFill>
                          <a:latin typeface="Carlito"/>
                        </a:rPr>
                        <a:t>10.54x</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B1F24"/>
                          </a:solidFill>
                          <a:latin typeface="Carlito"/>
                        </a:rPr>
                        <a:t>100.0</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r>
            </a:tbl>
          </a:graphicData>
        </a:graphic>
      </p:graphicFrame>
      <p:sp>
        <p:nvSpPr>
          <p:cNvPr id="20" name="tx_h"/>
          <p:cNvSpPr/>
          <p:nvPr/>
        </p:nvSpPr>
        <p:spPr>
          <a:xfrm>
            <a:off x="365760" y="4350004"/>
            <a:ext cx="5965257"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Key terms of the debt financing</a:t>
            </a:r>
          </a:p>
        </p:txBody>
      </p:sp>
      <p:sp>
        <p:nvSpPr>
          <p:cNvPr id="21" name="tx_u"/>
          <p:cNvSpPr/>
          <p:nvPr/>
        </p:nvSpPr>
        <p:spPr>
          <a:xfrm>
            <a:off x="365760" y="4482592"/>
            <a:ext cx="5965257"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per the commitment papers</a:t>
            </a:r>
          </a:p>
        </p:txBody>
      </p:sp>
      <p:graphicFrame>
        <p:nvGraphicFramePr>
          <p:cNvPr id="22" name="terms"/>
          <p:cNvGraphicFramePr>
            <a:graphicFrameLocks noGrp="1"/>
          </p:cNvGraphicFramePr>
          <p:nvPr/>
        </p:nvGraphicFramePr>
        <p:xfrm>
          <a:off x="365760" y="4589780"/>
          <a:ext cx="5965257" cy="1146048"/>
        </p:xfrm>
        <a:graphic>
          <a:graphicData uri="http://schemas.openxmlformats.org/drawingml/2006/table">
            <a:tbl>
              <a:tblPr firstRow="0" bandRow="0" lastRow="0" firstCol="0" lastCol="0" bandCol="0"/>
              <a:tblGrid>
                <a:gridCol w="954441"/>
                <a:gridCol w="1550967"/>
                <a:gridCol w="1908882"/>
                <a:gridCol w="1550967"/>
              </a:tblGrid>
              <a:tr h="143256">
                <a:tc>
                  <a:txBody>
                    <a:bodyPr wrap="square"/>
                    <a:lstStyle/>
                    <a:p>
                      <a:pPr algn="l"/>
                      <a:r>
                        <a:rPr sz="700" b="1" i="0">
                          <a:solidFill>
                            <a:srgbClr val="1B1F24"/>
                          </a:solidFill>
                          <a:latin typeface="Carlito"/>
                        </a:rPr>
                        <a:t>Term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Revolver</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Term loan B</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Senior notes</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1" i="0">
                          <a:solidFill>
                            <a:srgbClr val="1B1F24"/>
                          </a:solidFill>
                          <a:latin typeface="Carlito"/>
                        </a:rPr>
                        <a:t>Financial covenant</a:t>
                      </a: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First-lien net 6.60x if over 40% drawn</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None (covenant-lite)</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None</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1" i="0">
                          <a:solidFill>
                            <a:srgbClr val="1B1F24"/>
                          </a:solidFill>
                          <a:latin typeface="Carlito"/>
                        </a:rPr>
                        <a:t>Incurrence test</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Pari with TLB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First-lien net 4.50x; total net 6.25x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Fixed charge cover 2.00x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Excess cash flow sweep</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50%, to 25% under 4.00x, nil under 3.50x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Incremental capacity</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Greater of $126.0m and 100% EBITDA, plus ratio</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Ratio debt only</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MFN protection</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50bp for 12 months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Restricted payments</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Pari with TLB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Builder basket; unlimited under 4.25x first-lien net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50% of net income</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Security and guarantees</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l"/>
                      <a:r>
                        <a:rPr sz="700" b="0" i="0">
                          <a:solidFill>
                            <a:srgbClr val="1B1F24"/>
                          </a:solidFill>
                          <a:latin typeface="Carlito"/>
                        </a:rPr>
                        <a:t>First lien on all assets</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l"/>
                      <a:r>
                        <a:rPr sz="700" b="0" i="0">
                          <a:solidFill>
                            <a:srgbClr val="1B1F24"/>
                          </a:solidFill>
                          <a:latin typeface="Carlito"/>
                        </a:rPr>
                        <a:t>First lien on all assets</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l"/>
                      <a:r>
                        <a:rPr sz="700" b="0" i="0">
                          <a:solidFill>
                            <a:srgbClr val="1B1F24"/>
                          </a:solidFill>
                          <a:latin typeface="Carlito"/>
                        </a:rPr>
                        <a:t>Unsecured; same guarantors</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23" name="n2_h1"/>
          <p:cNvSpPr/>
          <p:nvPr/>
        </p:nvSpPr>
        <p:spPr>
          <a:xfrm>
            <a:off x="6468177" y="4350004"/>
            <a:ext cx="3224463"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Structure</a:t>
            </a:r>
          </a:p>
        </p:txBody>
      </p:sp>
      <p:sp>
        <p:nvSpPr>
          <p:cNvPr id="24" name="m1"/>
          <p:cNvSpPr/>
          <p:nvPr/>
        </p:nvSpPr>
        <p:spPr>
          <a:xfrm>
            <a:off x="6468177" y="4474972"/>
            <a:ext cx="3224463"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Debt of $724.5m is 5.75x, the median of 12 industrial LBOs (sheet 5); first</a:t>
            </a:r>
            <a:br/>
            <a:r>
              <a:rPr sz="800" b="0" i="0">
                <a:solidFill>
                  <a:srgbClr val="1B1F24"/>
                </a:solidFill>
                <a:latin typeface="Carlito"/>
              </a:rPr>
              <a:t>lien 4.50x against 4.75x.</a:t>
            </a:r>
          </a:p>
        </p:txBody>
      </p:sp>
      <p:sp>
        <p:nvSpPr>
          <p:cNvPr id="25" name="m2"/>
          <p:cNvSpPr/>
          <p:nvPr/>
        </p:nvSpPr>
        <p:spPr>
          <a:xfrm>
            <a:off x="6468177" y="4732020"/>
            <a:ext cx="3224463" cy="13208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Equity is 45.5% of sources ($604.0m), against a 46.0% comps median.</a:t>
            </a:r>
          </a:p>
        </p:txBody>
      </p:sp>
      <p:sp>
        <p:nvSpPr>
          <p:cNvPr id="26" name="m3"/>
          <p:cNvSpPr/>
          <p:nvPr/>
        </p:nvSpPr>
        <p:spPr>
          <a:xfrm>
            <a:off x="6468177" y="4882388"/>
            <a:ext cx="3224463"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Liquidity at close of $200.0m: $25.0m cash and the undrawn $175.0m</a:t>
            </a:r>
            <a:br/>
            <a:r>
              <a:rPr sz="800" b="0" i="0">
                <a:solidFill>
                  <a:srgbClr val="1B1F24"/>
                </a:solidFill>
                <a:latin typeface="Carlito"/>
              </a:rPr>
              <a:t>revolver.</a:t>
            </a:r>
          </a:p>
        </p:txBody>
      </p:sp>
      <p:sp>
        <p:nvSpPr>
          <p:cNvPr id="27" name="m4"/>
          <p:cNvSpPr/>
          <p:nvPr/>
        </p:nvSpPr>
        <p:spPr>
          <a:xfrm>
            <a:off x="6468177" y="5139436"/>
            <a:ext cx="3224463" cy="13208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Fees and costs of $43.5m are 3.5% of the $1,260.0m EV.</a:t>
            </a:r>
          </a:p>
        </p:txBody>
      </p:sp>
      <p:sp>
        <p:nvSpPr>
          <p:cNvPr id="28" name="m4b"/>
          <p:cNvSpPr/>
          <p:nvPr/>
        </p:nvSpPr>
        <p:spPr>
          <a:xfrm>
            <a:off x="6468177" y="5289804"/>
            <a:ext cx="3224463"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FY2027E cash interest of $54.0m; each 100bp on term SOFR adds $5.6m, as</a:t>
            </a:r>
            <a:br/>
            <a:r>
              <a:rPr sz="800" b="0" i="0">
                <a:solidFill>
                  <a:srgbClr val="1B1F24"/>
                </a:solidFill>
                <a:latin typeface="Carlito"/>
              </a:rPr>
              <a:t>the TLB is unhedged in the case.</a:t>
            </a:r>
          </a:p>
        </p:txBody>
      </p:sp>
      <p:sp>
        <p:nvSpPr>
          <p:cNvPr id="29" name="n2_h2"/>
          <p:cNvSpPr/>
          <p:nvPr/>
        </p:nvSpPr>
        <p:spPr>
          <a:xfrm>
            <a:off x="6468177" y="5546852"/>
            <a:ext cx="3224463"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Price</a:t>
            </a:r>
          </a:p>
        </p:txBody>
      </p:sp>
      <p:sp>
        <p:nvSpPr>
          <p:cNvPr id="30" name="m5"/>
          <p:cNvSpPr/>
          <p:nvPr/>
        </p:nvSpPr>
        <p:spPr>
          <a:xfrm>
            <a:off x="6468177" y="5671820"/>
            <a:ext cx="3224463"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10.0x FY2026E Adj. EBITDA is 0.8x under the listed-peer median of 10.8x</a:t>
            </a:r>
            <a:br/>
            <a:r>
              <a:rPr sz="800" b="0" i="0">
                <a:solidFill>
                  <a:srgbClr val="1B1F24"/>
                </a:solidFill>
                <a:latin typeface="Carlito"/>
              </a:rPr>
              <a:t>and 0.7x under the LBO comps median of 10.7x.</a:t>
            </a:r>
          </a:p>
        </p:txBody>
      </p:sp>
      <p:sp>
        <p:nvSpPr>
          <p:cNvPr id="31" name="px_h"/>
          <p:cNvSpPr/>
          <p:nvPr/>
        </p:nvSpPr>
        <p:spPr>
          <a:xfrm>
            <a:off x="365760" y="6002020"/>
            <a:ext cx="397764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Purchase price analysis</a:t>
            </a:r>
          </a:p>
        </p:txBody>
      </p:sp>
      <p:sp>
        <p:nvSpPr>
          <p:cNvPr id="32" name="px_u"/>
          <p:cNvSpPr/>
          <p:nvPr/>
        </p:nvSpPr>
        <p:spPr>
          <a:xfrm>
            <a:off x="365760" y="6134608"/>
            <a:ext cx="397764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x; peers: consensus for the 12 listed peers (sheet 6); LBO comps: EV / LTM EBITDA (sheet 5)</a:t>
            </a:r>
          </a:p>
        </p:txBody>
      </p:sp>
      <p:graphicFrame>
        <p:nvGraphicFramePr>
          <p:cNvPr id="33" name="pp"/>
          <p:cNvGraphicFramePr>
            <a:graphicFrameLocks noGrp="1"/>
          </p:cNvGraphicFramePr>
          <p:nvPr/>
        </p:nvGraphicFramePr>
        <p:xfrm>
          <a:off x="365760" y="6241796"/>
          <a:ext cx="3977640" cy="966216"/>
        </p:xfrm>
        <a:graphic>
          <a:graphicData uri="http://schemas.openxmlformats.org/drawingml/2006/table">
            <a:tbl>
              <a:tblPr firstRow="0" bandRow="0" lastRow="0" firstCol="0" lastCol="0" bandCol="0"/>
              <a:tblGrid>
                <a:gridCol w="1591056"/>
                <a:gridCol w="621494"/>
                <a:gridCol w="621494"/>
                <a:gridCol w="522103"/>
                <a:gridCol w="621493"/>
              </a:tblGrid>
              <a:tr h="249936">
                <a:tc>
                  <a:txBody>
                    <a:bodyPr wrap="square"/>
                    <a:lstStyle/>
                    <a:p>
                      <a:pPr algn="l"/>
                      <a:r>
                        <a:rPr sz="700" b="1" i="0">
                          <a:solidFill>
                            <a:srgbClr val="1B1F24"/>
                          </a:solidFill>
                          <a:latin typeface="Carlito"/>
                        </a:rPr>
                        <a:t>Multiple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Corvane metric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Implied at $1,260.0m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Peer median</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LBO comps median</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EV / FY2025A Adj. EBITDA</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117.1</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10.76x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1" i="0">
                          <a:solidFill>
                            <a:srgbClr val="1B1F24"/>
                          </a:solidFill>
                          <a:latin typeface="Carlito"/>
                        </a:rPr>
                        <a:t>EV / FY2026E Adj. EBITDA</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126.0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10.00x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10.8x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10.7x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r>
              <a:tr h="143256">
                <a:tc>
                  <a:txBody>
                    <a:bodyPr wrap="square"/>
                    <a:lstStyle/>
                    <a:p>
                      <a:pPr algn="l"/>
                      <a:r>
                        <a:rPr sz="700" b="0" i="0">
                          <a:solidFill>
                            <a:srgbClr val="1B1F24"/>
                          </a:solidFill>
                          <a:latin typeface="Carlito"/>
                        </a:rPr>
                        <a:t>EV / FY2027E Adj. EBITDA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140.2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8.99x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EV / FY2026E revenue</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667.2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EV / FY2026E (Adj. EBITDA - capex)</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103.3</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12.20x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34" name="ix_h"/>
          <p:cNvSpPr/>
          <p:nvPr/>
        </p:nvSpPr>
        <p:spPr>
          <a:xfrm>
            <a:off x="4480560" y="6002020"/>
            <a:ext cx="27432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Cash interest, first year</a:t>
            </a:r>
          </a:p>
        </p:txBody>
      </p:sp>
      <p:sp>
        <p:nvSpPr>
          <p:cNvPr id="35" name="ix_u"/>
          <p:cNvSpPr/>
          <p:nvPr/>
        </p:nvSpPr>
        <p:spPr>
          <a:xfrm>
            <a:off x="4480560" y="6134608"/>
            <a:ext cx="274320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FY2027E rates on opening balances</a:t>
            </a:r>
          </a:p>
        </p:txBody>
      </p:sp>
      <p:graphicFrame>
        <p:nvGraphicFramePr>
          <p:cNvPr id="36" name="intr"/>
          <p:cNvGraphicFramePr>
            <a:graphicFrameLocks noGrp="1"/>
          </p:cNvGraphicFramePr>
          <p:nvPr/>
        </p:nvGraphicFramePr>
        <p:xfrm>
          <a:off x="4480560" y="6241796"/>
          <a:ext cx="2743200" cy="716280"/>
        </p:xfrm>
        <a:graphic>
          <a:graphicData uri="http://schemas.openxmlformats.org/drawingml/2006/table">
            <a:tbl>
              <a:tblPr firstRow="0" bandRow="0" lastRow="0" firstCol="0" lastCol="0" bandCol="0"/>
              <a:tblGrid>
                <a:gridCol w="1207008"/>
                <a:gridCol w="590255"/>
                <a:gridCol w="383281"/>
                <a:gridCol w="562656"/>
              </a:tblGrid>
              <a:tr h="143256">
                <a:tc>
                  <a:txBody>
                    <a:bodyPr wrap="square"/>
                    <a:lstStyle/>
                    <a:p>
                      <a:pPr algn="l"/>
                      <a:r>
                        <a:rPr sz="700" b="1" i="0">
                          <a:solidFill>
                            <a:srgbClr val="1B1F24"/>
                          </a:solidFill>
                          <a:latin typeface="Carlito"/>
                        </a:rPr>
                        <a:t>Tranche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Opening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Rate (%)</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Interest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First-lien term loan B</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567.0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7.10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40.3</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Senior unsecured notes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Revolver commitment fee</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175.0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0.375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0.7</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r h="143256">
                <a:tc>
                  <a:txBody>
                    <a:bodyPr wrap="square"/>
                    <a:lstStyle/>
                    <a:p>
                      <a:pPr algn="l"/>
                      <a:r>
                        <a:rPr sz="700" b="1" i="0">
                          <a:solidFill>
                            <a:srgbClr val="1B1F24"/>
                          </a:solidFill>
                          <a:latin typeface="Carlito"/>
                        </a:rPr>
                        <a:t>FY2027E cash interest</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7.45</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54.0</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r>
            </a:tbl>
          </a:graphicData>
        </a:graphic>
      </p:graphicFrame>
      <p:sp>
        <p:nvSpPr>
          <p:cNvPr id="37" name="ox_h"/>
          <p:cNvSpPr/>
          <p:nvPr/>
        </p:nvSpPr>
        <p:spPr>
          <a:xfrm>
            <a:off x="7360920" y="6002020"/>
            <a:ext cx="233172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Equity ownership at close</a:t>
            </a:r>
          </a:p>
        </p:txBody>
      </p:sp>
      <p:sp>
        <p:nvSpPr>
          <p:cNvPr id="38" name="ox_u"/>
          <p:cNvSpPr/>
          <p:nvPr/>
        </p:nvSpPr>
        <p:spPr>
          <a:xfrm>
            <a:off x="7360920" y="6134608"/>
            <a:ext cx="233172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incentive plan: 6.0% of the equity gain at exit</a:t>
            </a:r>
          </a:p>
        </p:txBody>
      </p:sp>
      <p:graphicFrame>
        <p:nvGraphicFramePr>
          <p:cNvPr id="39" name="own"/>
          <p:cNvGraphicFramePr>
            <a:graphicFrameLocks noGrp="1"/>
          </p:cNvGraphicFramePr>
          <p:nvPr/>
        </p:nvGraphicFramePr>
        <p:xfrm>
          <a:off x="7360920" y="6241796"/>
          <a:ext cx="2331720" cy="573024"/>
        </p:xfrm>
        <a:graphic>
          <a:graphicData uri="http://schemas.openxmlformats.org/drawingml/2006/table">
            <a:tbl>
              <a:tblPr firstRow="0" bandRow="0" lastRow="0" firstCol="0" lastCol="0" bandCol="0"/>
              <a:tblGrid>
                <a:gridCol w="1165860"/>
                <a:gridCol w="564523"/>
                <a:gridCol w="601337"/>
              </a:tblGrid>
              <a:tr h="143256">
                <a:tc>
                  <a:txBody>
                    <a:bodyPr wrap="square"/>
                    <a:lstStyle/>
                    <a:p>
                      <a:pPr algn="l"/>
                      <a:r>
                        <a:rPr sz="700" b="1" i="0">
                          <a:solidFill>
                            <a:srgbClr val="1B1F24"/>
                          </a:solidFill>
                          <a:latin typeface="Carlito"/>
                        </a:rPr>
                        <a:t>Holder</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Invested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Ownership (%)</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Sponsor</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564.0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93.4</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Management rollover</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40.0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6.6</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r h="143256">
                <a:tc>
                  <a:txBody>
                    <a:bodyPr wrap="square"/>
                    <a:lstStyle/>
                    <a:p>
                      <a:pPr algn="l"/>
                      <a:r>
                        <a:rPr sz="700" b="1" i="0">
                          <a:solidFill>
                            <a:srgbClr val="1B1F24"/>
                          </a:solidFill>
                          <a:latin typeface="Carlito"/>
                        </a:rPr>
                        <a:t>Total</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604.0</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100.0</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r>
            </a:tbl>
          </a:graphicData>
        </a:graphic>
      </p:graphicFrame>
      <p:sp>
        <p:nvSpPr>
          <p:cNvPr id="40" name="source"/>
          <p:cNvSpPr/>
          <p:nvPr/>
        </p:nvSpPr>
        <p:spPr>
          <a:xfrm>
            <a:off x="365760" y="7299452"/>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Source: sponsor financing commitment papers (illustrative), lender term sheets, sponsor model; all figures illustrative.</a:t>
            </a:r>
          </a:p>
        </p:txBody>
      </p:sp>
    </p:spTree>
    <p:custDataLst>
      <p:tags r:id="rId3"/>
    </p:custData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5" name="chrome-1"/>
          <p:cNvCxnSpPr/>
          <p:nvPr/>
        </p:nvCxnSpPr>
        <p:spPr>
          <a:xfrm>
            <a:off x="365760" y="603504"/>
            <a:ext cx="9326880" cy="0"/>
          </a:xfrm>
          <a:prstGeom prst="line">
            <a:avLst/>
          </a:prstGeom>
          <a:ln w="12700">
            <a:solidFill>
              <a:srgbClr val="1F3D63"/>
            </a:solidFill>
          </a:ln>
        </p:spPr>
      </p:cxnSp>
      <p:cxnSp>
        <p:nvCxnSpPr>
          <p:cNvPr id="26" name="chrome-2"/>
          <p:cNvCxnSpPr/>
          <p:nvPr/>
        </p:nvCxnSpPr>
        <p:spPr>
          <a:xfrm>
            <a:off x="365760" y="7411212"/>
            <a:ext cx="9326880" cy="0"/>
          </a:xfrm>
          <a:prstGeom prst="line">
            <a:avLst/>
          </a:prstGeom>
          <a:ln w="6350">
            <a:solidFill>
              <a:srgbClr val="C3CAD3"/>
            </a:solidFill>
          </a:ln>
        </p:spPr>
      </p:cxnSp>
      <p:sp>
        <p:nvSpPr>
          <p:cNvPr id="27" name="chrome-3"/>
          <p:cNvSpPr txBox="1"/>
          <p:nvPr/>
        </p:nvSpPr>
        <p:spPr>
          <a:xfrm>
            <a:off x="365760" y="7452360"/>
            <a:ext cx="7315200" cy="152400"/>
          </a:xfrm>
          <a:prstGeom prst="rect">
            <a:avLst/>
          </a:prstGeom>
          <a:noFill/>
        </p:spPr>
        <p:txBody>
          <a:bodyPr wrap="none" lIns="0" tIns="0" rIns="0" bIns="0" anchor="t">
            <a:noAutofit/>
          </a:bodyPr>
          <a:lstStyle/>
          <a:p>
            <a:r>
              <a:rPr sz="700" b="0">
                <a:solidFill>
                  <a:srgbClr val="56606C"/>
                </a:solidFill>
                <a:latin typeface="Carlito"/>
              </a:rPr>
              <a:t>Project Corvane  |  Investment committee book  |  Section 4: Leveraged finance and LBO  |  Strictly confidential  |  Illustrative figures, fictional company</a:t>
            </a:r>
          </a:p>
        </p:txBody>
      </p:sp>
      <p:sp>
        <p:nvSpPr>
          <p:cNvPr id="28" name="chrome-4"/>
          <p:cNvSpPr txBox="1"/>
          <p:nvPr/>
        </p:nvSpPr>
        <p:spPr>
          <a:xfrm>
            <a:off x="8595360" y="7452360"/>
            <a:ext cx="1097280" cy="152400"/>
          </a:xfrm>
          <a:prstGeom prst="rect">
            <a:avLst/>
          </a:prstGeom>
          <a:noFill/>
        </p:spPr>
        <p:txBody>
          <a:bodyPr wrap="none" lIns="0" tIns="0" rIns="0" bIns="0" anchor="t">
            <a:noAutofit/>
          </a:bodyPr>
          <a:lstStyle/>
          <a:p>
            <a:pPr algn="r"/>
            <a:r>
              <a:rPr sz="700" b="1">
                <a:solidFill>
                  <a:srgbClr val="1B1F24"/>
                </a:solidFill>
                <a:latin typeface="Carlito"/>
              </a:rPr>
              <a:t>Sheet </a:t>
            </a:r>
            <a:fld id="{B6F15528-21DE-4FAA-801E-634DDDAF5B2F}" type="slidenum">
              <a:rPr sz="700">
                <a:solidFill>
                  <a:srgbClr val="1B1F24"/>
                </a:solidFill>
                <a:latin typeface="Carlito"/>
              </a:rPr>
              <a:t>1</a:t>
            </a:fld>
          </a:p>
        </p:txBody>
      </p:sp>
      <p:sp>
        <p:nvSpPr>
          <p:cNvPr id="2" name="kicker"/>
          <p:cNvSpPr/>
          <p:nvPr/>
        </p:nvSpPr>
        <p:spPr>
          <a:xfrm>
            <a:off x="365760" y="274320"/>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1F3D63"/>
                </a:solidFill>
                <a:latin typeface="Carlito"/>
              </a:rPr>
              <a:t>SECTION 4  |  LEVERAGED FINANCE AND LBO  |  4.3 OPERATING MODEL</a:t>
            </a:r>
          </a:p>
        </p:txBody>
      </p:sp>
      <p:sp>
        <p:nvSpPr>
          <p:cNvPr id="3" name="title"/>
          <p:cNvSpPr/>
          <p:nvPr/>
        </p:nvSpPr>
        <p:spPr>
          <a:xfrm>
            <a:off x="365760" y="381508"/>
            <a:ext cx="9326880" cy="190500"/>
          </a:xfrm>
          <a:prstGeom prst="rect">
            <a:avLst/>
          </a:prstGeom>
          <a:noFill/>
        </p:spPr>
        <p:txBody>
          <a:bodyPr wrap="square" lIns="0" tIns="0" rIns="0" bIns="0" anchor="t">
            <a:noAutofit/>
          </a:bodyPr>
          <a:lstStyle/>
          <a:p>
            <a:pPr algn="l" marL="0" indent="0">
              <a:lnSpc>
                <a:spcPts val="1500"/>
              </a:lnSpc>
              <a:spcBef>
                <a:spcPts val="0"/>
              </a:spcBef>
              <a:spcAft>
                <a:spcPts val="0"/>
              </a:spcAft>
              <a:buNone/>
            </a:pPr>
            <a:r>
              <a:rPr sz="1500" b="1" i="0">
                <a:solidFill>
                  <a:srgbClr val="1B1F24"/>
                </a:solidFill>
                <a:latin typeface="Carlito"/>
              </a:rPr>
              <a:t>Five-year operating model and debt schedule</a:t>
            </a:r>
          </a:p>
        </p:txBody>
      </p:sp>
      <p:sp>
        <p:nvSpPr>
          <p:cNvPr id="4" name="mx_h"/>
          <p:cNvSpPr/>
          <p:nvPr/>
        </p:nvSpPr>
        <p:spPr>
          <a:xfrm>
            <a:off x="365760" y="690372"/>
            <a:ext cx="644652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Five-year operating model: sponsor base case</a:t>
            </a:r>
          </a:p>
        </p:txBody>
      </p:sp>
      <p:sp>
        <p:nvSpPr>
          <p:cNvPr id="5" name="mx_u"/>
          <p:cNvSpPr/>
          <p:nvPr/>
        </p:nvSpPr>
        <p:spPr>
          <a:xfrm>
            <a:off x="365760" y="822960"/>
            <a:ext cx="644652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unless stated; FY2023A-FY2025A audited, FY2026E budget, FY2027E-FY2031E sponsor base case in blue</a:t>
            </a:r>
          </a:p>
        </p:txBody>
      </p:sp>
      <p:graphicFrame>
        <p:nvGraphicFramePr>
          <p:cNvPr id="6" name="model"/>
          <p:cNvGraphicFramePr>
            <a:graphicFrameLocks noGrp="1"/>
          </p:cNvGraphicFramePr>
          <p:nvPr/>
        </p:nvGraphicFramePr>
        <p:xfrm>
          <a:off x="365760" y="930148"/>
          <a:ext cx="6446520" cy="4727448"/>
        </p:xfrm>
        <a:graphic>
          <a:graphicData uri="http://schemas.openxmlformats.org/drawingml/2006/table">
            <a:tbl>
              <a:tblPr firstRow="0" bandRow="0" lastRow="0" firstCol="0" lastCol="0" bandCol="0"/>
              <a:tblGrid>
                <a:gridCol w="1289304"/>
                <a:gridCol w="436453"/>
                <a:gridCol w="436453"/>
                <a:gridCol w="475293"/>
                <a:gridCol w="475293"/>
                <a:gridCol w="475293"/>
                <a:gridCol w="475293"/>
                <a:gridCol w="475293"/>
                <a:gridCol w="475293"/>
                <a:gridCol w="475293"/>
                <a:gridCol w="957259"/>
              </a:tblGrid>
              <a:tr h="143256">
                <a:tc>
                  <a:txBody>
                    <a:bodyPr wrap="square"/>
                    <a:lstStyle/>
                    <a:p>
                      <a:pPr algn="l"/>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FY23A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FY24A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FY25A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FY26E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0" i="0">
                          <a:solidFill>
                            <a:srgbClr val="1F3D63"/>
                          </a:solidFill>
                          <a:latin typeface="Carlito"/>
                        </a:rPr>
                        <a:t>FY27E</a:t>
                      </a:r>
                      <a:endParaRPr sz="700" b="0" i="0">
                        <a:solidFill>
                          <a:srgbClr val="1F3D63"/>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0" i="0">
                          <a:solidFill>
                            <a:srgbClr val="1F3D63"/>
                          </a:solidFill>
                          <a:latin typeface="Carlito"/>
                        </a:rPr>
                        <a:t>FY28E</a:t>
                      </a:r>
                      <a:endParaRPr sz="700" b="0" i="0">
                        <a:solidFill>
                          <a:srgbClr val="1F3D63"/>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0" i="0">
                          <a:solidFill>
                            <a:srgbClr val="1F3D63"/>
                          </a:solidFill>
                          <a:latin typeface="Carlito"/>
                        </a:rPr>
                        <a:t>FY29E</a:t>
                      </a:r>
                      <a:endParaRPr sz="700" b="0" i="0">
                        <a:solidFill>
                          <a:srgbClr val="1F3D63"/>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0" i="0">
                          <a:solidFill>
                            <a:srgbClr val="1F3D63"/>
                          </a:solidFill>
                          <a:latin typeface="Carlito"/>
                        </a:rPr>
                        <a:t>FY30E</a:t>
                      </a:r>
                      <a:endParaRPr sz="700" b="0" i="0">
                        <a:solidFill>
                          <a:srgbClr val="1F3D63"/>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0" i="0">
                          <a:solidFill>
                            <a:srgbClr val="1F3D63"/>
                          </a:solidFill>
                          <a:latin typeface="Carlito"/>
                        </a:rPr>
                        <a:t>FY31E</a:t>
                      </a:r>
                      <a:endParaRPr sz="700" b="0" i="0">
                        <a:solidFill>
                          <a:srgbClr val="1F3D63"/>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CAGR 26-31 (%)</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1" i="0">
                          <a:solidFill>
                            <a:srgbClr val="1B1F24"/>
                          </a:solidFill>
                          <a:latin typeface="Carlito"/>
                        </a:rPr>
                        <a:t>Revenue ($m)</a:t>
                      </a: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r>
              <a:tr h="143256">
                <a:tc>
                  <a:txBody>
                    <a:bodyPr wrap="square"/>
                    <a:lstStyle/>
                    <a:p>
                      <a:pPr algn="l"/>
                      <a:r>
                        <a:rPr sz="700" b="0" i="0">
                          <a:solidFill>
                            <a:srgbClr val="1B1F24"/>
                          </a:solidFill>
                          <a:latin typeface="Carlito"/>
                        </a:rPr>
                        <a:t>Engineered valves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270.2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281.9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296.4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309.8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325.3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343.2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362.1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380.2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397.3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Pumps and systems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161.8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158.3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175.1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181.2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188.4</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196.9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204.8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213.0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Aftermarket and services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142.7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155.2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168.9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182.3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197.8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214.6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231.8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249.2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267.9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Total revenue</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574.7</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595.4</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632.8</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667.2</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704.3</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746.2</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790.8</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834.2</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878.2</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5.6</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Growth (%)</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7.2</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3.6</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6.3</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5.4</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6.0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Profit and loss ($m)</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r>
              <a:tr h="143256">
                <a:tc>
                  <a:txBody>
                    <a:bodyPr wrap="square"/>
                    <a:lstStyle/>
                    <a:p>
                      <a:pPr algn="l"/>
                      <a:r>
                        <a:rPr sz="700" b="0" i="0">
                          <a:solidFill>
                            <a:srgbClr val="1B1F24"/>
                          </a:solidFill>
                          <a:latin typeface="Carlito"/>
                        </a:rPr>
                        <a:t>Gross profit (pre-D&amp;A)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219.6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234.9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251.4</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270.1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290.2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310.3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331.1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Gross margin (%)</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33.5</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34.1</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34.7</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35.2</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35.7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36.2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36.7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37.2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37.7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SG&amp;A (pre-D&amp;A)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(91.3)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(96.4)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(108.9)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(111.2)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(114.9)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(119.4)</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(124.3)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(130.9)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Adj. EBITDA</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101.2</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106.6</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117.1</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126.0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140.2</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155.2</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170.8</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186.0</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200.2</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9.7</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Adj. EBITDA margin (%)</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17.6</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17.9</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18.5</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18.9</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19.9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20.8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21.6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22.3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22.8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D&amp;A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(21.8)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(23.1)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(24.5)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(25.9)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(27.2)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EBIT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118.4</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132.1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146.3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160.1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173.0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Cash interest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(54.0)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(50.0)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(45.9)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(41.2)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(35.8)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Cash taxes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(16.1)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(20.5)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(25.1)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(29.7)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(34.3)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Net income</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48.3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61.6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75.3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89.2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102.9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Cash flow ($m)</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r>
              <a:tr h="143256">
                <a:tc>
                  <a:txBody>
                    <a:bodyPr wrap="square"/>
                    <a:lstStyle/>
                    <a:p>
                      <a:pPr algn="l"/>
                      <a:r>
                        <a:rPr sz="700" b="0" i="0">
                          <a:solidFill>
                            <a:srgbClr val="1B1F24"/>
                          </a:solidFill>
                          <a:latin typeface="Carlito"/>
                        </a:rPr>
                        <a:t>Adj. EBITDA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101.2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106.6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117.1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140.2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155.2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170.8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186.0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200.2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Capex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(23.2)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(24.6)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(26.1)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(27.5)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(29.0)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Change in net working capital</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(6.5)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(7.3)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(7.8)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(7.6)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(7.7)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Cash interest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(54.0)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(50.0)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(45.9)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(41.2)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(35.8)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Cash taxes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(16.1)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(20.5)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(25.1)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(29.7)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(34.3)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Levered free cash flow</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40.4</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52.8</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65.9</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80.0</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93.4</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FCF / Adj. EBITDA (%)</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28.8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34.0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38.6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43.0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46.7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Debt ($m, year end)</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r>
              <a:tr h="143256">
                <a:tc>
                  <a:txBody>
                    <a:bodyPr wrap="square"/>
                    <a:lstStyle/>
                    <a:p>
                      <a:pPr algn="l"/>
                      <a:r>
                        <a:rPr sz="700" b="0" i="0">
                          <a:solidFill>
                            <a:srgbClr val="1B1F24"/>
                          </a:solidFill>
                          <a:latin typeface="Carlito"/>
                        </a:rPr>
                        <a:t>Mandatory amortisation</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Cash sweep prepayment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(34.7)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(47.1)</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(60.2)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(74.3)</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(87.7)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First-lien term loan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567.0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526.6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473.8</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407.9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327.9</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234.5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Senior unsecured notes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157.5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157.5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157.5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157.5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157.5</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Net debt</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699.5</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659.1</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606.3</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540.4</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460.4</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367.0</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Net debt / Adj. EBITDA (x)</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5.55</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F3D63"/>
                          </a:solidFill>
                          <a:latin typeface="Carlito"/>
                        </a:rPr>
                        <a:t>4.70</a:t>
                      </a:r>
                      <a:endParaRPr sz="700" b="0"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F3D63"/>
                          </a:solidFill>
                          <a:latin typeface="Carlito"/>
                        </a:rPr>
                        <a:t>3.91</a:t>
                      </a:r>
                      <a:endParaRPr sz="700" b="0"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F3D63"/>
                          </a:solidFill>
                          <a:latin typeface="Carlito"/>
                        </a:rPr>
                        <a:t>3.16</a:t>
                      </a:r>
                      <a:endParaRPr sz="700" b="0"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F3D63"/>
                          </a:solidFill>
                          <a:latin typeface="Carlito"/>
                        </a:rPr>
                        <a:t>2.48</a:t>
                      </a:r>
                      <a:endParaRPr sz="700" b="0"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F3D63"/>
                          </a:solidFill>
                          <a:latin typeface="Carlito"/>
                        </a:rPr>
                        <a:t>1.83</a:t>
                      </a:r>
                      <a:endParaRPr sz="700" b="0"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7" name="mx_fn"/>
          <p:cNvSpPr/>
          <p:nvPr/>
        </p:nvSpPr>
        <p:spPr>
          <a:xfrm>
            <a:off x="365760" y="5703316"/>
            <a:ext cx="6446520" cy="2667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Interest on opening balances: TLB at term SOFR (0.50% floor) + 3.50%, notes 8.25%, 0.375% on the undrawn $175.0m revolver. Taxes at 25.0% of pre-tax income, no interest</a:t>
            </a:r>
            <a:br/>
            <a:r>
              <a:rPr sz="700" b="0" i="0">
                <a:solidFill>
                  <a:srgbClr val="56606C"/>
                </a:solidFill>
                <a:latin typeface="Carlito"/>
              </a:rPr>
              <a:t>limitation modelled. Cash sweep: all levered FCF after amortisation prepays the TLB; cash held at $25.0m. Lines set by the new capital structure start at close (FY2026E pro forma).</a:t>
            </a:r>
            <a:br/>
            <a:r>
              <a:rPr sz="700" b="0" i="0">
                <a:solidFill>
                  <a:srgbClr val="56606C"/>
                </a:solidFill>
                <a:latin typeface="Carlito"/>
              </a:rPr>
              <a:t>Outflows in parentheses.</a:t>
            </a:r>
          </a:p>
        </p:txBody>
      </p:sp>
      <p:sp>
        <p:nvSpPr>
          <p:cNvPr id="8" name="mvx_h"/>
          <p:cNvSpPr/>
          <p:nvPr/>
        </p:nvSpPr>
        <p:spPr>
          <a:xfrm>
            <a:off x="365760" y="6061456"/>
            <a:ext cx="35052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Sponsor base case against management plan</a:t>
            </a:r>
          </a:p>
        </p:txBody>
      </p:sp>
      <p:sp>
        <p:nvSpPr>
          <p:cNvPr id="9" name="mvx_u"/>
          <p:cNvSpPr/>
          <p:nvPr/>
        </p:nvSpPr>
        <p:spPr>
          <a:xfrm>
            <a:off x="365760" y="6194044"/>
            <a:ext cx="350520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by forecast year</a:t>
            </a:r>
          </a:p>
        </p:txBody>
      </p:sp>
      <p:graphicFrame>
        <p:nvGraphicFramePr>
          <p:cNvPr id="10" name="mvs"/>
          <p:cNvGraphicFramePr>
            <a:graphicFrameLocks noGrp="1"/>
          </p:cNvGraphicFramePr>
          <p:nvPr/>
        </p:nvGraphicFramePr>
        <p:xfrm>
          <a:off x="365760" y="6301232"/>
          <a:ext cx="3505200" cy="716280"/>
        </p:xfrm>
        <a:graphic>
          <a:graphicData uri="http://schemas.openxmlformats.org/drawingml/2006/table">
            <a:tbl>
              <a:tblPr firstRow="0" bandRow="0" lastRow="0" firstCol="0" lastCol="0" bandCol="0"/>
              <a:tblGrid>
                <a:gridCol w="1051560"/>
                <a:gridCol w="490728"/>
                <a:gridCol w="490728"/>
                <a:gridCol w="490728"/>
                <a:gridCol w="490728"/>
                <a:gridCol w="490728"/>
              </a:tblGrid>
              <a:tr h="143256">
                <a:tc>
                  <a:txBody>
                    <a:bodyPr wrap="square"/>
                    <a:lstStyle/>
                    <a:p>
                      <a:pPr algn="l"/>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FY27E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FY28E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FY29E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FY30E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FY31E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Mgmt. revenue ($m)</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711.0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760.5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813.5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866.2</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920.5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1">
                          <a:solidFill>
                            <a:srgbClr val="1F3D63"/>
                          </a:solidFill>
                          <a:latin typeface="Carlito"/>
                        </a:rPr>
                        <a:t>Base vs mgmt. (%)</a:t>
                      </a:r>
                      <a:endParaRPr sz="700" b="0" i="1">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F3D63"/>
                          </a:solidFill>
                          <a:latin typeface="Carlito"/>
                        </a:rPr>
                        <a:t>(0.9)</a:t>
                      </a:r>
                      <a:endParaRPr sz="700" b="0" i="1">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F3D63"/>
                          </a:solidFill>
                          <a:latin typeface="Carlito"/>
                        </a:rPr>
                        <a:t>(1.9)</a:t>
                      </a:r>
                      <a:endParaRPr sz="700" b="0" i="1">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F3D63"/>
                          </a:solidFill>
                          <a:latin typeface="Carlito"/>
                        </a:rPr>
                        <a:t>(2.8)</a:t>
                      </a:r>
                      <a:endParaRPr sz="700" b="0" i="1">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F3D63"/>
                          </a:solidFill>
                          <a:latin typeface="Carlito"/>
                        </a:rPr>
                        <a:t>(3.7)</a:t>
                      </a:r>
                      <a:endParaRPr sz="700" b="0" i="1">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F3D63"/>
                          </a:solidFill>
                          <a:latin typeface="Carlito"/>
                        </a:rPr>
                        <a:t>(4.6)</a:t>
                      </a:r>
                      <a:endParaRPr sz="700" b="0" i="1">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Mgmt. Adj. EBITDA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144.3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163.5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183.9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203.6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222.8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F3D63"/>
                          </a:solidFill>
                          <a:latin typeface="Carlito"/>
                        </a:rPr>
                        <a:t>Base vs mgmt. (%)</a:t>
                      </a:r>
                      <a:endParaRPr sz="700" b="0" i="1">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F3D63"/>
                          </a:solidFill>
                          <a:latin typeface="Carlito"/>
                        </a:rPr>
                        <a:t>(2.8)</a:t>
                      </a:r>
                      <a:endParaRPr sz="700" b="0" i="1">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F3D63"/>
                          </a:solidFill>
                          <a:latin typeface="Carlito"/>
                        </a:rPr>
                        <a:t>(5.1)</a:t>
                      </a:r>
                      <a:endParaRPr sz="700" b="0" i="1">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F3D63"/>
                          </a:solidFill>
                          <a:latin typeface="Carlito"/>
                        </a:rPr>
                        <a:t>(7.1)</a:t>
                      </a:r>
                      <a:endParaRPr sz="700" b="0" i="1">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F3D63"/>
                          </a:solidFill>
                          <a:latin typeface="Carlito"/>
                        </a:rPr>
                        <a:t>(8.6)</a:t>
                      </a:r>
                      <a:endParaRPr sz="700" b="0" i="1">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F3D63"/>
                          </a:solidFill>
                          <a:latin typeface="Carlito"/>
                        </a:rPr>
                        <a:t>(10.1)</a:t>
                      </a:r>
                      <a:endParaRPr sz="700" b="0" i="1">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11" name="cxx_h"/>
          <p:cNvSpPr/>
          <p:nvPr/>
        </p:nvSpPr>
        <p:spPr>
          <a:xfrm>
            <a:off x="4008120" y="6061456"/>
            <a:ext cx="280416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Reinvestment</a:t>
            </a:r>
          </a:p>
        </p:txBody>
      </p:sp>
      <p:sp>
        <p:nvSpPr>
          <p:cNvPr id="12" name="cxx_u"/>
          <p:cNvSpPr/>
          <p:nvPr/>
        </p:nvSpPr>
        <p:spPr>
          <a:xfrm>
            <a:off x="4008120" y="6194044"/>
            <a:ext cx="28041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maintenance capex at 2.1% of revenue</a:t>
            </a:r>
          </a:p>
        </p:txBody>
      </p:sp>
      <p:graphicFrame>
        <p:nvGraphicFramePr>
          <p:cNvPr id="13" name="cx3"/>
          <p:cNvGraphicFramePr>
            <a:graphicFrameLocks noGrp="1"/>
          </p:cNvGraphicFramePr>
          <p:nvPr/>
        </p:nvGraphicFramePr>
        <p:xfrm>
          <a:off x="4008120" y="6301232"/>
          <a:ext cx="2804160" cy="859536"/>
        </p:xfrm>
        <a:graphic>
          <a:graphicData uri="http://schemas.openxmlformats.org/drawingml/2006/table">
            <a:tbl>
              <a:tblPr firstRow="0" bandRow="0" lastRow="0" firstCol="0" lastCol="0" bandCol="0"/>
              <a:tblGrid>
                <a:gridCol w="1177747"/>
                <a:gridCol w="325282"/>
                <a:gridCol w="325282"/>
                <a:gridCol w="325282"/>
                <a:gridCol w="325282"/>
                <a:gridCol w="325285"/>
              </a:tblGrid>
              <a:tr h="143256">
                <a:tc>
                  <a:txBody>
                    <a:bodyPr wrap="square"/>
                    <a:lstStyle/>
                    <a:p>
                      <a:pPr algn="l"/>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FY27E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FY28E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FY29E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FY30E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FY31E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Maintenance capex ($m)</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14.8</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15.7</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16.6</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17.5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18.4</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Growth capex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Total capex ($m)</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23.2</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24.6</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26.1</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27.5</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29.0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Change in NWC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(Capex + NWC) / EBITDA (%)</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21.2</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20.6</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19.8</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18.9</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18.3</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14" name="ax_h"/>
          <p:cNvSpPr/>
          <p:nvPr/>
        </p:nvSpPr>
        <p:spPr>
          <a:xfrm>
            <a:off x="6949440" y="690372"/>
            <a:ext cx="27432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Key assumptions, base case</a:t>
            </a:r>
          </a:p>
        </p:txBody>
      </p:sp>
      <p:sp>
        <p:nvSpPr>
          <p:cNvPr id="15" name="ax_u"/>
          <p:cNvSpPr/>
          <p:nvPr/>
        </p:nvSpPr>
        <p:spPr>
          <a:xfrm>
            <a:off x="6949440" y="822960"/>
            <a:ext cx="274320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 unless stated</a:t>
            </a:r>
          </a:p>
        </p:txBody>
      </p:sp>
      <p:graphicFrame>
        <p:nvGraphicFramePr>
          <p:cNvPr id="16" name="asm"/>
          <p:cNvGraphicFramePr>
            <a:graphicFrameLocks noGrp="1"/>
          </p:cNvGraphicFramePr>
          <p:nvPr/>
        </p:nvGraphicFramePr>
        <p:xfrm>
          <a:off x="6949440" y="930148"/>
          <a:ext cx="2743200" cy="1719072"/>
        </p:xfrm>
        <a:graphic>
          <a:graphicData uri="http://schemas.openxmlformats.org/drawingml/2006/table">
            <a:tbl>
              <a:tblPr firstRow="0" bandRow="0" lastRow="0" firstCol="0" lastCol="0" bandCol="0"/>
              <a:tblGrid>
                <a:gridCol w="1097280"/>
                <a:gridCol w="329184"/>
                <a:gridCol w="329184"/>
                <a:gridCol w="329184"/>
                <a:gridCol w="329184"/>
                <a:gridCol w="329184"/>
              </a:tblGrid>
              <a:tr h="143256">
                <a:tc>
                  <a:txBody>
                    <a:bodyPr wrap="square"/>
                    <a:lstStyle/>
                    <a:p>
                      <a:pPr algn="l"/>
                      <a:r>
                        <a:rPr sz="700" b="1" i="0">
                          <a:solidFill>
                            <a:srgbClr val="1B1F24"/>
                          </a:solidFill>
                          <a:latin typeface="Carlito"/>
                        </a:rPr>
                        <a:t>Assumption</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FY27E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FY28E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FY29E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FY30E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FY31E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Valves growth (%)</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4.5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Pumps growth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Aftermarket growth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Gross margin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35.7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36.2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36.7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37.2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37.7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Adj. EBITDA margin (%)</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19.9</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20.8</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21.6</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22.3</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B1F24"/>
                          </a:solidFill>
                          <a:latin typeface="Carlito"/>
                        </a:rPr>
                        <a:t>22.8</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r>
              <a:tr h="143256">
                <a:tc>
                  <a:txBody>
                    <a:bodyPr wrap="square"/>
                    <a:lstStyle/>
                    <a:p>
                      <a:pPr algn="l"/>
                      <a:r>
                        <a:rPr sz="700" b="0" i="0">
                          <a:solidFill>
                            <a:srgbClr val="1B1F24"/>
                          </a:solidFill>
                          <a:latin typeface="Carlito"/>
                        </a:rPr>
                        <a:t>D&amp;A / revenue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Capex / revenue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NWC / revenue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Term SOFR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TLB all-in rate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7.10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6.90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6.80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Cash tax rate (%)</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17" name="ex_h"/>
          <p:cNvSpPr/>
          <p:nvPr/>
        </p:nvSpPr>
        <p:spPr>
          <a:xfrm>
            <a:off x="6949440" y="2740660"/>
            <a:ext cx="27432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Adj. EBITDA, FY2021A-FY2031E</a:t>
            </a:r>
          </a:p>
        </p:txBody>
      </p:sp>
      <p:sp>
        <p:nvSpPr>
          <p:cNvPr id="18" name="ex_u"/>
          <p:cNvSpPr/>
          <p:nvPr/>
        </p:nvSpPr>
        <p:spPr>
          <a:xfrm>
            <a:off x="6949440" y="2873248"/>
            <a:ext cx="274320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history in grey, sponsor base case in blue</a:t>
            </a:r>
          </a:p>
        </p:txBody>
      </p:sp>
      <p:graphicFrame>
        <p:nvGraphicFramePr>
          <p:cNvPr id="19" name="ebitda"/>
          <p:cNvGraphicFramePr>
            <a:graphicFrameLocks noGrp="1"/>
          </p:cNvGraphicFramePr>
          <p:nvPr/>
        </p:nvGraphicFramePr>
        <p:xfrm>
          <a:off x="6949440" y="2980436"/>
          <a:ext cx="2743200" cy="1497076"/>
        </p:xfrm>
        <a:graphic>
          <a:graphicData uri="http://schemas.openxmlformats.org/drawingml/2006/chart">
            <c:chart xmlns:c="http://schemas.openxmlformats.org/drawingml/2006/chart" r:id="rId2"/>
          </a:graphicData>
        </a:graphic>
      </p:graphicFrame>
      <p:sp>
        <p:nvSpPr>
          <p:cNvPr id="20" name="cs_h"/>
          <p:cNvSpPr/>
          <p:nvPr/>
        </p:nvSpPr>
        <p:spPr>
          <a:xfrm>
            <a:off x="6949440" y="4568952"/>
            <a:ext cx="274320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Cases compared</a:t>
            </a:r>
          </a:p>
        </p:txBody>
      </p:sp>
      <p:sp>
        <p:nvSpPr>
          <p:cNvPr id="21" name="cs_u"/>
          <p:cNvSpPr/>
          <p:nvPr/>
        </p:nvSpPr>
        <p:spPr>
          <a:xfrm>
            <a:off x="6949440" y="4701540"/>
            <a:ext cx="2743200"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management, sponsor base and downside; downside: FY2027E revenue</a:t>
            </a:r>
            <a:br/>
            <a:r>
              <a:rPr sz="700" b="0" i="1">
                <a:solidFill>
                  <a:srgbClr val="56606C"/>
                </a:solidFill>
                <a:latin typeface="Carlito"/>
              </a:rPr>
              <a:t>8.3% under FY2026E, margin 17.2%</a:t>
            </a:r>
          </a:p>
        </p:txBody>
      </p:sp>
      <p:graphicFrame>
        <p:nvGraphicFramePr>
          <p:cNvPr id="22" name="cases"/>
          <p:cNvGraphicFramePr>
            <a:graphicFrameLocks noGrp="1"/>
          </p:cNvGraphicFramePr>
          <p:nvPr/>
        </p:nvGraphicFramePr>
        <p:xfrm>
          <a:off x="6949440" y="4897628"/>
          <a:ext cx="2743200" cy="1289304"/>
        </p:xfrm>
        <a:graphic>
          <a:graphicData uri="http://schemas.openxmlformats.org/drawingml/2006/table">
            <a:tbl>
              <a:tblPr firstRow="0" bandRow="0" lastRow="0" firstCol="0" lastCol="0" bandCol="0"/>
              <a:tblGrid>
                <a:gridCol w="1179576"/>
                <a:gridCol w="479242"/>
                <a:gridCol w="412858"/>
                <a:gridCol w="671524"/>
              </a:tblGrid>
              <a:tr h="143256">
                <a:tc>
                  <a:txBody>
                    <a:bodyPr wrap="square"/>
                    <a:lstStyle/>
                    <a:p>
                      <a:pPr algn="l"/>
                      <a:r>
                        <a:rPr sz="700" b="1" i="0">
                          <a:solidFill>
                            <a:srgbClr val="1B1F24"/>
                          </a:solidFill>
                          <a:latin typeface="Carlito"/>
                        </a:rPr>
                        <a:t>FY2031E unless stated</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Mgmt.</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F3D63"/>
                          </a:solidFill>
                          <a:latin typeface="Carlito"/>
                        </a:rPr>
                        <a:t>Base</a:t>
                      </a:r>
                      <a:endParaRPr sz="700" b="1" i="0">
                        <a:solidFill>
                          <a:srgbClr val="1F3D63"/>
                        </a:solidFill>
                        <a:latin typeface="Carlito"/>
                      </a:endParaRPr>
                    </a:p>
                  </a:txBody>
                  <a:tcPr marL="18288" marR="18288" marT="18288" marB="18288" anchor="ctr">
                    <a:lnL w="0">
                      <a:noFill/>
                    </a:lnL>
                    <a:lnR w="0">
                      <a:noFill/>
                    </a:lnR>
                    <a:lnT w="0">
                      <a:noFill/>
                    </a:lnT>
                    <a:lnB w="12700">
                      <a:solidFill>
                        <a:srgbClr val="1B1F24"/>
                      </a:solidFill>
                    </a:lnB>
                    <a:solidFill>
                      <a:srgbClr val="E9EDF2"/>
                    </a:solidFill>
                  </a:tcPr>
                </a:tc>
                <a:tc>
                  <a:txBody>
                    <a:bodyPr wrap="square"/>
                    <a:lstStyle/>
                    <a:p>
                      <a:pPr algn="r"/>
                      <a:r>
                        <a:rPr sz="700" b="1" i="0">
                          <a:solidFill>
                            <a:srgbClr val="1B1F24"/>
                          </a:solidFill>
                          <a:latin typeface="Carlito"/>
                        </a:rPr>
                        <a:t>Downside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Revenue FY2031E ($m)</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920.5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1" i="0">
                          <a:solidFill>
                            <a:srgbClr val="1F3D63"/>
                          </a:solidFill>
                          <a:latin typeface="Carlito"/>
                        </a:rPr>
                        <a:t>878.2</a:t>
                      </a:r>
                      <a:endParaRPr sz="700" b="1" i="0">
                        <a:solidFill>
                          <a:srgbClr val="1F3D63"/>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r>
                        <a:rPr sz="700" b="0" i="0">
                          <a:solidFill>
                            <a:srgbClr val="1B1F24"/>
                          </a:solidFill>
                          <a:latin typeface="Carlito"/>
                        </a:rPr>
                        <a:t>735.6</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Revenue CAGR 26-31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5.6</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Adj. EBITDA FY2031E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222.8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200.2</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145.6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Adj. EBITDA margin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22.8</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19.8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Cumulative levered FCF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373.4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332.5</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190.8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Net debt / EBITDA FY2031E (x)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1.83</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3.49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Sponsor IRR at 10.0x exit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20.7</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B0241B"/>
                          </a:solidFill>
                          <a:latin typeface="Carlito"/>
                        </a:rPr>
                        <a:t>8.5</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Sponsor MOIC at 10.0x exit (x)</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2.97</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1F3D63"/>
                          </a:solidFill>
                          <a:latin typeface="Carlito"/>
                        </a:rPr>
                        <a:t>2.56</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B0241B"/>
                          </a:solidFill>
                          <a:latin typeface="Carlito"/>
                        </a:rPr>
                        <a:t>1.50</a:t>
                      </a:r>
                      <a:endParaRPr sz="700" b="1"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23" name="p3n"/>
          <p:cNvSpPr/>
          <p:nvPr/>
        </p:nvSpPr>
        <p:spPr>
          <a:xfrm>
            <a:off x="6949440" y="6278372"/>
            <a:ext cx="2743200" cy="92964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Model notes</a:t>
            </a:r>
          </a:p>
          <a:p>
            <a:pPr algn="l" lvl="0" marL="91440" indent="-91440">
              <a:lnSpc>
                <a:spcPts val="840"/>
              </a:lnSpc>
              <a:spcBef>
                <a:spcPts val="0"/>
              </a:spcBef>
              <a:spcAft>
                <a:spcPts val="200"/>
              </a:spcAft>
              <a:buFont typeface="Carlito"/>
              <a:buChar char="•"/>
            </a:pPr>
            <a:r>
              <a:rPr sz="800" b="0" i="0">
                <a:solidFill>
                  <a:srgbClr val="1B1F24"/>
                </a:solidFill>
                <a:latin typeface="Carlito"/>
              </a:rPr>
              <a:t>Revenue grows 5.6% a year to $878.2m, under the 6.5% of</a:t>
            </a:r>
            <a:br/>
            <a:r>
              <a:rPr sz="800" b="0" i="0">
                <a:solidFill>
                  <a:srgbClr val="1B1F24"/>
                </a:solidFill>
                <a:latin typeface="Carlito"/>
              </a:rPr>
              <a:t>FY2021A-26E; aftermarket rises to 30.5% of revenue.</a:t>
            </a:r>
          </a:p>
          <a:p>
            <a:pPr algn="l" lvl="0" marL="91440" indent="-91440">
              <a:lnSpc>
                <a:spcPts val="840"/>
              </a:lnSpc>
              <a:spcBef>
                <a:spcPts val="0"/>
              </a:spcBef>
              <a:spcAft>
                <a:spcPts val="200"/>
              </a:spcAft>
              <a:buFont typeface="Carlito"/>
              <a:buChar char="•"/>
            </a:pPr>
            <a:r>
              <a:rPr sz="800" b="0" i="0">
                <a:solidFill>
                  <a:srgbClr val="1B1F24"/>
                </a:solidFill>
                <a:latin typeface="Carlito"/>
              </a:rPr>
              <a:t>Adj. EBITDA margin rises 3.9pp to 22.8% on mix and a $14m</a:t>
            </a:r>
            <a:br/>
            <a:r>
              <a:rPr sz="800" b="0" i="0">
                <a:solidFill>
                  <a:srgbClr val="1B1F24"/>
                </a:solidFill>
                <a:latin typeface="Carlito"/>
              </a:rPr>
              <a:t>procurement programme; the sponsor case sits 10.1% under</a:t>
            </a:r>
            <a:br/>
            <a:r>
              <a:rPr sz="800" b="0" i="0">
                <a:solidFill>
                  <a:srgbClr val="1B1F24"/>
                </a:solidFill>
                <a:latin typeface="Carlito"/>
              </a:rPr>
              <a:t>management's FY2031E Adj. EBITDA.</a:t>
            </a:r>
          </a:p>
          <a:p>
            <a:pPr algn="l" lvl="0" marL="91440" indent="-91440">
              <a:lnSpc>
                <a:spcPts val="840"/>
              </a:lnSpc>
              <a:spcBef>
                <a:spcPts val="0"/>
              </a:spcBef>
              <a:spcAft>
                <a:spcPts val="200"/>
              </a:spcAft>
              <a:buFont typeface="Carlito"/>
              <a:buChar char="•"/>
            </a:pPr>
            <a:r>
              <a:rPr sz="800" b="0" i="0">
                <a:solidFill>
                  <a:srgbClr val="1B1F24"/>
                </a:solidFill>
                <a:latin typeface="Carlito"/>
              </a:rPr>
              <a:t>Levered free cash flow of $332.5m over five years repays 58.6%</a:t>
            </a:r>
            <a:br/>
            <a:r>
              <a:rPr sz="800" b="0" i="0">
                <a:solidFill>
                  <a:srgbClr val="1B1F24"/>
                </a:solidFill>
                <a:latin typeface="Carlito"/>
              </a:rPr>
              <a:t>of the term loan; net leverage falls from 5.55x to 1.83x.</a:t>
            </a:r>
          </a:p>
        </p:txBody>
      </p:sp>
      <p:sp>
        <p:nvSpPr>
          <p:cNvPr id="24" name="source"/>
          <p:cNvSpPr/>
          <p:nvPr/>
        </p:nvSpPr>
        <p:spPr>
          <a:xfrm>
            <a:off x="365760" y="7299452"/>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Source: Corvane management accounts and FY2026E budget; sponsor base case built from management plan with sponsor adjustments; all figures illustrative.</a:t>
            </a:r>
          </a:p>
        </p:txBody>
      </p:sp>
    </p:spTree>
    <p:custDataLst>
      <p:tags r:id="rId3"/>
    </p:custData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44" name="chrome-1"/>
          <p:cNvCxnSpPr/>
          <p:nvPr/>
        </p:nvCxnSpPr>
        <p:spPr>
          <a:xfrm>
            <a:off x="365760" y="603504"/>
            <a:ext cx="9326880" cy="0"/>
          </a:xfrm>
          <a:prstGeom prst="line">
            <a:avLst/>
          </a:prstGeom>
          <a:ln w="12700">
            <a:solidFill>
              <a:srgbClr val="1F3D63"/>
            </a:solidFill>
          </a:ln>
        </p:spPr>
      </p:cxnSp>
      <p:cxnSp>
        <p:nvCxnSpPr>
          <p:cNvPr id="45" name="chrome-2"/>
          <p:cNvCxnSpPr/>
          <p:nvPr/>
        </p:nvCxnSpPr>
        <p:spPr>
          <a:xfrm>
            <a:off x="365760" y="7411212"/>
            <a:ext cx="9326880" cy="0"/>
          </a:xfrm>
          <a:prstGeom prst="line">
            <a:avLst/>
          </a:prstGeom>
          <a:ln w="6350">
            <a:solidFill>
              <a:srgbClr val="C3CAD3"/>
            </a:solidFill>
          </a:ln>
        </p:spPr>
      </p:cxnSp>
      <p:sp>
        <p:nvSpPr>
          <p:cNvPr id="46" name="chrome-3"/>
          <p:cNvSpPr txBox="1"/>
          <p:nvPr/>
        </p:nvSpPr>
        <p:spPr>
          <a:xfrm>
            <a:off x="365760" y="7452360"/>
            <a:ext cx="7315200" cy="152400"/>
          </a:xfrm>
          <a:prstGeom prst="rect">
            <a:avLst/>
          </a:prstGeom>
          <a:noFill/>
        </p:spPr>
        <p:txBody>
          <a:bodyPr wrap="none" lIns="0" tIns="0" rIns="0" bIns="0" anchor="t">
            <a:noAutofit/>
          </a:bodyPr>
          <a:lstStyle/>
          <a:p>
            <a:r>
              <a:rPr sz="700" b="0">
                <a:solidFill>
                  <a:srgbClr val="56606C"/>
                </a:solidFill>
                <a:latin typeface="Carlito"/>
              </a:rPr>
              <a:t>Project Corvane  |  Investment committee book  |  Section 4: Leveraged finance and LBO  |  Strictly confidential  |  Illustrative figures, fictional company</a:t>
            </a:r>
          </a:p>
        </p:txBody>
      </p:sp>
      <p:sp>
        <p:nvSpPr>
          <p:cNvPr id="47" name="chrome-4"/>
          <p:cNvSpPr txBox="1"/>
          <p:nvPr/>
        </p:nvSpPr>
        <p:spPr>
          <a:xfrm>
            <a:off x="8595360" y="7452360"/>
            <a:ext cx="1097280" cy="152400"/>
          </a:xfrm>
          <a:prstGeom prst="rect">
            <a:avLst/>
          </a:prstGeom>
          <a:noFill/>
        </p:spPr>
        <p:txBody>
          <a:bodyPr wrap="none" lIns="0" tIns="0" rIns="0" bIns="0" anchor="t">
            <a:noAutofit/>
          </a:bodyPr>
          <a:lstStyle/>
          <a:p>
            <a:pPr algn="r"/>
            <a:r>
              <a:rPr sz="700" b="1">
                <a:solidFill>
                  <a:srgbClr val="1B1F24"/>
                </a:solidFill>
                <a:latin typeface="Carlito"/>
              </a:rPr>
              <a:t>Sheet </a:t>
            </a:r>
            <a:fld id="{B6F15528-21DE-4FAA-801E-634DDDAF5B2F}" type="slidenum">
              <a:rPr sz="700">
                <a:solidFill>
                  <a:srgbClr val="1B1F24"/>
                </a:solidFill>
                <a:latin typeface="Carlito"/>
              </a:rPr>
              <a:t>1</a:t>
            </a:fld>
          </a:p>
        </p:txBody>
      </p:sp>
      <p:sp>
        <p:nvSpPr>
          <p:cNvPr id="2" name="kicker"/>
          <p:cNvSpPr/>
          <p:nvPr/>
        </p:nvSpPr>
        <p:spPr>
          <a:xfrm>
            <a:off x="365760" y="274320"/>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1F3D63"/>
                </a:solidFill>
                <a:latin typeface="Carlito"/>
              </a:rPr>
              <a:t>SECTION 4  |  LEVERAGED FINANCE AND LBO  |  4.4 RETURNS ANALYSIS</a:t>
            </a:r>
          </a:p>
        </p:txBody>
      </p:sp>
      <p:sp>
        <p:nvSpPr>
          <p:cNvPr id="3" name="title"/>
          <p:cNvSpPr/>
          <p:nvPr/>
        </p:nvSpPr>
        <p:spPr>
          <a:xfrm>
            <a:off x="365760" y="381508"/>
            <a:ext cx="9326880" cy="190500"/>
          </a:xfrm>
          <a:prstGeom prst="rect">
            <a:avLst/>
          </a:prstGeom>
          <a:noFill/>
        </p:spPr>
        <p:txBody>
          <a:bodyPr wrap="square" lIns="0" tIns="0" rIns="0" bIns="0" anchor="t">
            <a:noAutofit/>
          </a:bodyPr>
          <a:lstStyle/>
          <a:p>
            <a:pPr algn="l" marL="0" indent="0">
              <a:lnSpc>
                <a:spcPts val="1500"/>
              </a:lnSpc>
              <a:spcBef>
                <a:spcPts val="0"/>
              </a:spcBef>
              <a:spcAft>
                <a:spcPts val="0"/>
              </a:spcAft>
              <a:buNone/>
            </a:pPr>
            <a:r>
              <a:rPr sz="1500" b="1" i="0">
                <a:solidFill>
                  <a:srgbClr val="1B1F24"/>
                </a:solidFill>
                <a:latin typeface="Carlito"/>
              </a:rPr>
              <a:t>Returns analysis: IRR and MOIC sensitivities</a:t>
            </a:r>
          </a:p>
        </p:txBody>
      </p:sp>
      <p:sp>
        <p:nvSpPr>
          <p:cNvPr id="4" name="rx_h"/>
          <p:cNvSpPr/>
          <p:nvPr/>
        </p:nvSpPr>
        <p:spPr>
          <a:xfrm>
            <a:off x="365760" y="690372"/>
            <a:ext cx="2149983"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Sponsor returns, base case</a:t>
            </a:r>
          </a:p>
        </p:txBody>
      </p:sp>
      <p:sp>
        <p:nvSpPr>
          <p:cNvPr id="5" name="rx_u"/>
          <p:cNvSpPr/>
          <p:nvPr/>
        </p:nvSpPr>
        <p:spPr>
          <a:xfrm>
            <a:off x="365760" y="822960"/>
            <a:ext cx="2149983"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unless stated</a:t>
            </a:r>
          </a:p>
        </p:txBody>
      </p:sp>
      <p:graphicFrame>
        <p:nvGraphicFramePr>
          <p:cNvPr id="6" name="rs"/>
          <p:cNvGraphicFramePr>
            <a:graphicFrameLocks noGrp="1"/>
          </p:cNvGraphicFramePr>
          <p:nvPr/>
        </p:nvGraphicFramePr>
        <p:xfrm>
          <a:off x="365760" y="930148"/>
          <a:ext cx="2149983" cy="1862328"/>
        </p:xfrm>
        <a:graphic>
          <a:graphicData uri="http://schemas.openxmlformats.org/drawingml/2006/table">
            <a:tbl>
              <a:tblPr firstRow="0" bandRow="0" lastRow="0" firstCol="0" lastCol="0" bandCol="0"/>
              <a:tblGrid>
                <a:gridCol w="1461988"/>
                <a:gridCol w="687995"/>
              </a:tblGrid>
              <a:tr h="143256">
                <a:tc>
                  <a:txBody>
                    <a:bodyPr wrap="square"/>
                    <a:lstStyle/>
                    <a:p>
                      <a:pPr algn="l"/>
                      <a:r>
                        <a:rPr sz="700" b="1" i="0">
                          <a:solidFill>
                            <a:srgbClr val="1B1F24"/>
                          </a:solidFill>
                          <a:latin typeface="Carlito"/>
                        </a:rPr>
                        <a:t>Base case, exit 31 December 2031</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FY2031E Adj. EBITDA</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200.2</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Exit multiple (x)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Enterprise value at exit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2,002.0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Less: exit costs (1.5%)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Less: net debt at exit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(367.0)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Equity value at exit</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1,605.0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Less: management incentive plan</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(60.1)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Equity to holders</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1,544.9</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Sponsor share (93.4%)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1,442.6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Sponsor equity invested</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F3D63"/>
                          </a:solidFill>
                          <a:latin typeface="Carlito"/>
                        </a:rPr>
                        <a:t>MOIC (x)</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1F3D63"/>
                          </a:solidFill>
                          <a:latin typeface="Carlito"/>
                        </a:rPr>
                        <a:t>2.56x</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r>
              <a:tr h="143256">
                <a:tc>
                  <a:txBody>
                    <a:bodyPr wrap="square"/>
                    <a:lstStyle/>
                    <a:p>
                      <a:pPr algn="l"/>
                      <a:r>
                        <a:rPr sz="700" b="1" i="0">
                          <a:solidFill>
                            <a:srgbClr val="1F3D63"/>
                          </a:solidFill>
                          <a:latin typeface="Carlito"/>
                        </a:rPr>
                        <a:t>IRR, five-year hold (%)</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20.7%</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r>
            </a:tbl>
          </a:graphicData>
        </a:graphic>
      </p:graphicFrame>
      <p:sp>
        <p:nvSpPr>
          <p:cNvPr id="7" name="n4_h"/>
          <p:cNvSpPr/>
          <p:nvPr/>
        </p:nvSpPr>
        <p:spPr>
          <a:xfrm>
            <a:off x="365760" y="2883916"/>
            <a:ext cx="2149983"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Returns</a:t>
            </a:r>
          </a:p>
        </p:txBody>
      </p:sp>
      <p:sp>
        <p:nvSpPr>
          <p:cNvPr id="8" name="r1"/>
          <p:cNvSpPr/>
          <p:nvPr/>
        </p:nvSpPr>
        <p:spPr>
          <a:xfrm>
            <a:off x="365760" y="3008884"/>
            <a:ext cx="2149983" cy="34544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Base case: 2.56x and 20.7% to the sponsor on a</a:t>
            </a:r>
            <a:br/>
            <a:r>
              <a:rPr sz="800" b="0" i="0">
                <a:solidFill>
                  <a:srgbClr val="1B1F24"/>
                </a:solidFill>
                <a:latin typeface="Carlito"/>
              </a:rPr>
              <a:t>10.0x exit, 0.7pp over the 20.0% hurdle, with no</a:t>
            </a:r>
            <a:br/>
            <a:r>
              <a:rPr sz="800" b="0" i="0">
                <a:solidFill>
                  <a:srgbClr val="1B1F24"/>
                </a:solidFill>
                <a:latin typeface="Carlito"/>
              </a:rPr>
              <a:t>multiple expansion.</a:t>
            </a:r>
          </a:p>
        </p:txBody>
      </p:sp>
      <p:sp>
        <p:nvSpPr>
          <p:cNvPr id="9" name="r2"/>
          <p:cNvSpPr/>
          <p:nvPr/>
        </p:nvSpPr>
        <p:spPr>
          <a:xfrm>
            <a:off x="365760" y="3372612"/>
            <a:ext cx="2149983"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Adj. EBITDA growth is 69.1% of the value created</a:t>
            </a:r>
            <a:br/>
            <a:r>
              <a:rPr sz="800" b="0" i="0">
                <a:solidFill>
                  <a:srgbClr val="1B1F24"/>
                </a:solidFill>
                <a:latin typeface="Carlito"/>
              </a:rPr>
              <a:t>before costs; debt paydown the rest.</a:t>
            </a:r>
          </a:p>
        </p:txBody>
      </p:sp>
      <p:sp>
        <p:nvSpPr>
          <p:cNvPr id="10" name="r3"/>
          <p:cNvSpPr/>
          <p:nvPr/>
        </p:nvSpPr>
        <p:spPr>
          <a:xfrm>
            <a:off x="365760" y="3629660"/>
            <a:ext cx="2149983" cy="34544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The hurdle holds down to a 9.77x exit, or to Adj.</a:t>
            </a:r>
            <a:br/>
            <a:r>
              <a:rPr sz="800" b="0" i="0">
                <a:solidFill>
                  <a:srgbClr val="1B1F24"/>
                </a:solidFill>
                <a:latin typeface="Carlito"/>
              </a:rPr>
              <a:t>EBITDA margins 37bp a year under plan; it is</a:t>
            </a:r>
            <a:br/>
            <a:r>
              <a:rPr sz="800" b="0" i="0">
                <a:solidFill>
                  <a:srgbClr val="1B1F24"/>
                </a:solidFill>
                <a:latin typeface="Carlito"/>
              </a:rPr>
              <a:t>least sensitive to rates (+221bp of SOFR).</a:t>
            </a:r>
          </a:p>
        </p:txBody>
      </p:sp>
      <p:sp>
        <p:nvSpPr>
          <p:cNvPr id="11" name="r3b"/>
          <p:cNvSpPr/>
          <p:nvPr/>
        </p:nvSpPr>
        <p:spPr>
          <a:xfrm>
            <a:off x="365760" y="3993388"/>
            <a:ext cx="2149983" cy="34544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Each turn of entry debt adds about 2.4pp of IRR</a:t>
            </a:r>
            <a:br/>
            <a:r>
              <a:rPr sz="800" b="0" i="0">
                <a:solidFill>
                  <a:srgbClr val="1B1F24"/>
                </a:solidFill>
                <a:latin typeface="Carlito"/>
              </a:rPr>
              <a:t>at a 10.0x exit, before the cost to headroom on</a:t>
            </a:r>
            <a:br/>
            <a:r>
              <a:rPr sz="800" b="0" i="0">
                <a:solidFill>
                  <a:srgbClr val="1B1F24"/>
                </a:solidFill>
                <a:latin typeface="Carlito"/>
              </a:rPr>
              <a:t>sheet 5.</a:t>
            </a:r>
          </a:p>
        </p:txBody>
      </p:sp>
      <p:sp>
        <p:nvSpPr>
          <p:cNvPr id="12" name="r4"/>
          <p:cNvSpPr/>
          <p:nvPr/>
        </p:nvSpPr>
        <p:spPr>
          <a:xfrm>
            <a:off x="365760" y="4357116"/>
            <a:ext cx="2149983"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15 of 35 entry and exit pairs miss 20.0% (red);</a:t>
            </a:r>
            <a:br/>
            <a:r>
              <a:rPr sz="800" b="0" i="0">
                <a:solidFill>
                  <a:srgbClr val="1B1F24"/>
                </a:solidFill>
                <a:latin typeface="Carlito"/>
              </a:rPr>
              <a:t>none exits above its entry multiple.</a:t>
            </a:r>
          </a:p>
        </p:txBody>
      </p:sp>
      <p:sp>
        <p:nvSpPr>
          <p:cNvPr id="13" name="bx_h"/>
          <p:cNvSpPr/>
          <p:nvPr/>
        </p:nvSpPr>
        <p:spPr>
          <a:xfrm>
            <a:off x="2652903" y="690372"/>
            <a:ext cx="4299966"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Value creation bridge: total equity</a:t>
            </a:r>
          </a:p>
        </p:txBody>
      </p:sp>
      <p:sp>
        <p:nvSpPr>
          <p:cNvPr id="14" name="bx_u"/>
          <p:cNvSpPr/>
          <p:nvPr/>
        </p:nvSpPr>
        <p:spPr>
          <a:xfrm>
            <a:off x="2652903" y="822960"/>
            <a:ext cx="4299966"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entry to exit FY2031E; 10.0x in and out, so no multiple step; costs in red</a:t>
            </a:r>
          </a:p>
        </p:txBody>
      </p:sp>
      <p:graphicFrame>
        <p:nvGraphicFramePr>
          <p:cNvPr id="15" name="bridge"/>
          <p:cNvGraphicFramePr>
            <a:graphicFrameLocks noGrp="1"/>
          </p:cNvGraphicFramePr>
          <p:nvPr/>
        </p:nvGraphicFramePr>
        <p:xfrm>
          <a:off x="2652903" y="930148"/>
          <a:ext cx="4299966" cy="3635756"/>
        </p:xfrm>
        <a:graphic>
          <a:graphicData uri="http://schemas.openxmlformats.org/drawingml/2006/chart">
            <c:chart xmlns:c="http://schemas.openxmlformats.org/drawingml/2006/chart" r:id="rId2"/>
          </a:graphicData>
        </a:graphic>
      </p:graphicFrame>
      <p:sp>
        <p:nvSpPr>
          <p:cNvPr id="16" name="bx_fn"/>
          <p:cNvSpPr/>
          <p:nvPr/>
        </p:nvSpPr>
        <p:spPr>
          <a:xfrm>
            <a:off x="2652903" y="4611624"/>
            <a:ext cx="4299966"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Equity invested includes management's $40.0m rollover; the sponsor receives 93.4% of equity to holders.</a:t>
            </a:r>
          </a:p>
        </p:txBody>
      </p:sp>
      <p:sp>
        <p:nvSpPr>
          <p:cNvPr id="17" name="hx_h"/>
          <p:cNvSpPr/>
          <p:nvPr/>
        </p:nvSpPr>
        <p:spPr>
          <a:xfrm>
            <a:off x="7090029" y="690372"/>
            <a:ext cx="2602611"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IRR by exit year</a:t>
            </a:r>
          </a:p>
        </p:txBody>
      </p:sp>
      <p:sp>
        <p:nvSpPr>
          <p:cNvPr id="18" name="hx_u"/>
          <p:cNvSpPr/>
          <p:nvPr/>
        </p:nvSpPr>
        <p:spPr>
          <a:xfrm>
            <a:off x="7090029" y="822960"/>
            <a:ext cx="2602611"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base case; MOIC at 10.0x</a:t>
            </a:r>
          </a:p>
        </p:txBody>
      </p:sp>
      <p:graphicFrame>
        <p:nvGraphicFramePr>
          <p:cNvPr id="19" name="hold"/>
          <p:cNvGraphicFramePr>
            <a:graphicFrameLocks noGrp="1"/>
          </p:cNvGraphicFramePr>
          <p:nvPr/>
        </p:nvGraphicFramePr>
        <p:xfrm>
          <a:off x="7090029" y="930148"/>
          <a:ext cx="2602611" cy="679704"/>
        </p:xfrm>
        <a:graphic>
          <a:graphicData uri="http://schemas.openxmlformats.org/drawingml/2006/table">
            <a:tbl>
              <a:tblPr firstRow="0" bandRow="0" lastRow="0" firstCol="0" lastCol="0" bandCol="0"/>
              <a:tblGrid>
                <a:gridCol w="780783"/>
                <a:gridCol w="449394"/>
                <a:gridCol w="457478"/>
                <a:gridCol w="457478"/>
                <a:gridCol w="457478"/>
              </a:tblGrid>
              <a:tr h="249936">
                <a:tc>
                  <a:txBody>
                    <a:bodyPr wrap="square"/>
                    <a:lstStyle/>
                    <a:p>
                      <a:pPr algn="l"/>
                      <a:r>
                        <a:rPr sz="700" b="1" i="0">
                          <a:solidFill>
                            <a:srgbClr val="1B1F24"/>
                          </a:solidFill>
                          <a:latin typeface="Carlito"/>
                        </a:rPr>
                        <a:t>Exit at year end</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IRR at 9.0x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IRR at 10.0x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IRR at 11.0x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MOIC at 10.0x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FY2029</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16.4%</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22.5%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28.0%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1.84x</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FY2030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17.6%</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25.5%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2.19x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FY2031</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17.6%</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1F3D63"/>
                          </a:solidFill>
                          <a:latin typeface="Carlito"/>
                        </a:rPr>
                        <a:t>20.7%</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0" i="0">
                          <a:solidFill>
                            <a:srgbClr val="1B1F24"/>
                          </a:solidFill>
                          <a:latin typeface="Carlito"/>
                        </a:rPr>
                        <a:t>23.4%</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2.56x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20" name="hdx_h"/>
          <p:cNvSpPr/>
          <p:nvPr/>
        </p:nvSpPr>
        <p:spPr>
          <a:xfrm>
            <a:off x="7090029" y="1701292"/>
            <a:ext cx="2602611"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Proceeds by holder at exit</a:t>
            </a:r>
          </a:p>
        </p:txBody>
      </p:sp>
      <p:sp>
        <p:nvSpPr>
          <p:cNvPr id="21" name="hdx_u"/>
          <p:cNvSpPr/>
          <p:nvPr/>
        </p:nvSpPr>
        <p:spPr>
          <a:xfrm>
            <a:off x="7090029" y="1833880"/>
            <a:ext cx="2602611"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base case; the plan takes 3.7% of exit equity</a:t>
            </a:r>
          </a:p>
        </p:txBody>
      </p:sp>
      <p:graphicFrame>
        <p:nvGraphicFramePr>
          <p:cNvPr id="22" name="holders"/>
          <p:cNvGraphicFramePr>
            <a:graphicFrameLocks noGrp="1"/>
          </p:cNvGraphicFramePr>
          <p:nvPr/>
        </p:nvGraphicFramePr>
        <p:xfrm>
          <a:off x="7090029" y="1941068"/>
          <a:ext cx="2602611" cy="716280"/>
        </p:xfrm>
        <a:graphic>
          <a:graphicData uri="http://schemas.openxmlformats.org/drawingml/2006/table">
            <a:tbl>
              <a:tblPr firstRow="0" bandRow="0" lastRow="0" firstCol="0" lastCol="0" bandCol="0"/>
              <a:tblGrid>
                <a:gridCol w="1093097"/>
                <a:gridCol w="497211"/>
                <a:gridCol w="601335"/>
                <a:gridCol w="410968"/>
              </a:tblGrid>
              <a:tr h="143256">
                <a:tc>
                  <a:txBody>
                    <a:bodyPr wrap="square"/>
                    <a:lstStyle/>
                    <a:p>
                      <a:pPr algn="l"/>
                      <a:r>
                        <a:rPr sz="700" b="1" i="0">
                          <a:solidFill>
                            <a:srgbClr val="1B1F24"/>
                          </a:solidFill>
                          <a:latin typeface="Carlito"/>
                        </a:rPr>
                        <a:t>Holder</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In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Out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MOIC</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Sponsor</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564.0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1,442.6</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2.56x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Management rollover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102.3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2.56x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Management incentive plan</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60.1</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r h="143256">
                <a:tc>
                  <a:txBody>
                    <a:bodyPr wrap="square"/>
                    <a:lstStyle/>
                    <a:p>
                      <a:pPr algn="l"/>
                      <a:r>
                        <a:rPr sz="700" b="1" i="0">
                          <a:solidFill>
                            <a:srgbClr val="1B1F24"/>
                          </a:solidFill>
                          <a:latin typeface="Carlito"/>
                        </a:rPr>
                        <a:t>Total equity</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604.0</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1,605.0</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c>
                  <a:txBody>
                    <a:bodyPr wrap="square"/>
                    <a:lstStyle/>
                    <a:p>
                      <a:pPr algn="r"/>
                      <a:r>
                        <a:rPr sz="700" b="1" i="0">
                          <a:solidFill>
                            <a:srgbClr val="1B1F24"/>
                          </a:solidFill>
                          <a:latin typeface="Carlito"/>
                        </a:rPr>
                        <a:t>2.66x</a:t>
                      </a:r>
                      <a:endParaRPr sz="700" b="1" i="0">
                        <a:solidFill>
                          <a:srgbClr val="1B1F24"/>
                        </a:solidFill>
                        <a:latin typeface="Carlito"/>
                      </a:endParaRPr>
                    </a:p>
                  </a:txBody>
                  <a:tcPr marL="18288" marR="18288" marT="18288" marB="18288" anchor="ctr">
                    <a:lnL w="0">
                      <a:noFill/>
                    </a:lnL>
                    <a:lnR w="0">
                      <a:noFill/>
                    </a:lnR>
                    <a:lnT w="12700">
                      <a:solidFill>
                        <a:srgbClr val="1B1F24"/>
                      </a:solidFill>
                    </a:lnT>
                    <a:lnB w="12700">
                      <a:solidFill>
                        <a:srgbClr val="1B1F24"/>
                      </a:solidFill>
                    </a:lnB>
                    <a:noFill/>
                  </a:tcPr>
                </a:tc>
              </a:tr>
            </a:tbl>
          </a:graphicData>
        </a:graphic>
      </p:graphicFrame>
      <p:sp>
        <p:nvSpPr>
          <p:cNvPr id="23" name="bex_h"/>
          <p:cNvSpPr/>
          <p:nvPr/>
        </p:nvSpPr>
        <p:spPr>
          <a:xfrm>
            <a:off x="7090029" y="2748788"/>
            <a:ext cx="2602611"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Break-even inputs for a 20.0% IRR</a:t>
            </a:r>
          </a:p>
        </p:txBody>
      </p:sp>
      <p:sp>
        <p:nvSpPr>
          <p:cNvPr id="24" name="bex_u"/>
          <p:cNvSpPr/>
          <p:nvPr/>
        </p:nvSpPr>
        <p:spPr>
          <a:xfrm>
            <a:off x="7090029" y="2881376"/>
            <a:ext cx="2602611"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each input moved alone from the base case; exit FY2031E</a:t>
            </a:r>
          </a:p>
        </p:txBody>
      </p:sp>
      <p:graphicFrame>
        <p:nvGraphicFramePr>
          <p:cNvPr id="25" name="beven"/>
          <p:cNvGraphicFramePr>
            <a:graphicFrameLocks noGrp="1"/>
          </p:cNvGraphicFramePr>
          <p:nvPr/>
        </p:nvGraphicFramePr>
        <p:xfrm>
          <a:off x="7090029" y="2988564"/>
          <a:ext cx="2602611" cy="1286256"/>
        </p:xfrm>
        <a:graphic>
          <a:graphicData uri="http://schemas.openxmlformats.org/drawingml/2006/table">
            <a:tbl>
              <a:tblPr firstRow="0" bandRow="0" lastRow="0" firstCol="0" lastCol="0" bandCol="0"/>
              <a:tblGrid>
                <a:gridCol w="1041044"/>
                <a:gridCol w="604346"/>
                <a:gridCol w="604346"/>
                <a:gridCol w="352875"/>
              </a:tblGrid>
              <a:tr h="143256">
                <a:tc>
                  <a:txBody>
                    <a:bodyPr wrap="square"/>
                    <a:lstStyle/>
                    <a:p>
                      <a:pPr algn="l"/>
                      <a:r>
                        <a:rPr sz="700" b="1" i="0">
                          <a:solidFill>
                            <a:srgbClr val="1B1F24"/>
                          </a:solidFill>
                          <a:latin typeface="Carlito"/>
                        </a:rPr>
                        <a:t>Input</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Base case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At 20.0% IRR</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Cushion</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249936">
                <a:tc>
                  <a:txBody>
                    <a:bodyPr wrap="square"/>
                    <a:lstStyle/>
                    <a:p>
                      <a:pPr algn="l"/>
                      <a:r>
                        <a:rPr sz="700" b="0" i="0">
                          <a:solidFill>
                            <a:srgbClr val="1B1F24"/>
                          </a:solidFill>
                          <a:latin typeface="Carlito"/>
                        </a:rPr>
                        <a:t>Exit EV / FY2031E Adj. EBITDA</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10.0x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9.77x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1" i="0">
                          <a:solidFill>
                            <a:srgbClr val="1B1F24"/>
                          </a:solidFill>
                          <a:latin typeface="Carlito"/>
                        </a:rPr>
                        <a:t>-0.23x</a:t>
                      </a: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249936">
                <a:tc>
                  <a:txBody>
                    <a:bodyPr wrap="square"/>
                    <a:lstStyle/>
                    <a:p>
                      <a:pPr algn="l"/>
                      <a:r>
                        <a:rPr sz="700" b="0" i="0">
                          <a:solidFill>
                            <a:srgbClr val="1B1F24"/>
                          </a:solidFill>
                          <a:latin typeface="Carlito"/>
                        </a:rPr>
                        <a:t>Adj. EBITDA margin, every year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22.8% in FY31E</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-37bp</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249936">
                <a:tc>
                  <a:txBody>
                    <a:bodyPr wrap="square"/>
                    <a:lstStyle/>
                    <a:p>
                      <a:pPr algn="l"/>
                      <a:r>
                        <a:rPr sz="700" b="0" i="0">
                          <a:solidFill>
                            <a:srgbClr val="1B1F24"/>
                          </a:solidFill>
                          <a:latin typeface="Carlito"/>
                        </a:rPr>
                        <a:t>Revenue growth, every segment and year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 CAGR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5.2% CAGR</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-0.43pp</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249936">
                <a:tc>
                  <a:txBody>
                    <a:bodyPr wrap="square"/>
                    <a:lstStyle/>
                    <a:p>
                      <a:pPr algn="l"/>
                      <a:r>
                        <a:rPr sz="700" b="0" i="0">
                          <a:solidFill>
                            <a:srgbClr val="1B1F24"/>
                          </a:solidFill>
                          <a:latin typeface="Carlito"/>
                        </a:rPr>
                        <a:t>Entry EV / FY2026E Adj. EBITDA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10.14x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+0.14x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Term SOFR, every year</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3.60% in FY27E</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5.81% in FY27E</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1B1F24"/>
                          </a:solidFill>
                          <a:latin typeface="Carlito"/>
                        </a:rPr>
                        <a:t>+221bp</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26" name="bex_fn"/>
          <p:cNvSpPr/>
          <p:nvPr/>
        </p:nvSpPr>
        <p:spPr>
          <a:xfrm>
            <a:off x="7090029" y="4320540"/>
            <a:ext cx="2602611"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Margin and growth move by the same amount in every forecast year;</a:t>
            </a:r>
            <a:br/>
            <a:r>
              <a:rPr sz="700" b="0" i="0">
                <a:solidFill>
                  <a:srgbClr val="56606C"/>
                </a:solidFill>
                <a:latin typeface="Carlito"/>
              </a:rPr>
              <a:t>SOFR moves in parallel across the curve.</a:t>
            </a:r>
          </a:p>
        </p:txBody>
      </p:sp>
      <p:sp>
        <p:nvSpPr>
          <p:cNvPr id="27" name="lgx_h"/>
          <p:cNvSpPr/>
          <p:nvPr/>
        </p:nvSpPr>
        <p:spPr>
          <a:xfrm>
            <a:off x="365760" y="4791964"/>
            <a:ext cx="459486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Sponsor IRR: entry debt and exit multiple</a:t>
            </a:r>
          </a:p>
        </p:txBody>
      </p:sp>
      <p:sp>
        <p:nvSpPr>
          <p:cNvPr id="28" name="lgx_u"/>
          <p:cNvSpPr/>
          <p:nvPr/>
        </p:nvSpPr>
        <p:spPr>
          <a:xfrm>
            <a:off x="365760" y="4924552"/>
            <a:ext cx="45948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 total debt / FY2026E Adj. EBITDA, notes held at 1.25x</a:t>
            </a:r>
          </a:p>
        </p:txBody>
      </p:sp>
      <p:graphicFrame>
        <p:nvGraphicFramePr>
          <p:cNvPr id="29" name="levg"/>
          <p:cNvGraphicFramePr>
            <a:graphicFrameLocks noGrp="1"/>
          </p:cNvGraphicFramePr>
          <p:nvPr/>
        </p:nvGraphicFramePr>
        <p:xfrm>
          <a:off x="365760" y="5031740"/>
          <a:ext cx="4594860" cy="716280"/>
        </p:xfrm>
        <a:graphic>
          <a:graphicData uri="http://schemas.openxmlformats.org/drawingml/2006/table">
            <a:tbl>
              <a:tblPr firstRow="0" bandRow="0" lastRow="0" firstCol="0" lastCol="0" bandCol="0"/>
              <a:tblGrid>
                <a:gridCol w="918972"/>
                <a:gridCol w="733825"/>
                <a:gridCol w="733825"/>
                <a:gridCol w="740586"/>
                <a:gridCol w="733825"/>
                <a:gridCol w="733827"/>
              </a:tblGrid>
              <a:tr h="143256">
                <a:tc>
                  <a:txBody>
                    <a:bodyPr wrap="square"/>
                    <a:lstStyle/>
                    <a:p>
                      <a:pPr algn="l"/>
                      <a:r>
                        <a:rPr sz="700" b="1" i="0">
                          <a:solidFill>
                            <a:srgbClr val="1B1F24"/>
                          </a:solidFill>
                          <a:latin typeface="Carlito"/>
                        </a:rPr>
                        <a:t>Debt \ exit</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9.0x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9.5x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10.0x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10.5x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11.0x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1" i="0">
                          <a:solidFill>
                            <a:srgbClr val="1B1F24"/>
                          </a:solidFill>
                          <a:latin typeface="Carlito"/>
                        </a:rPr>
                        <a:t>4.75x</a:t>
                      </a: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15.9%</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17.3%</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18.6%</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19.9%</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21.1%</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1" i="0">
                          <a:solidFill>
                            <a:srgbClr val="1B1F24"/>
                          </a:solidFill>
                          <a:latin typeface="Carlito"/>
                        </a:rPr>
                        <a:t>5.25x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16.7%</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18.2%</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19.6%</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5.75x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17.6%</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19.2%</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20.7%</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22.1%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6.25x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18.7%</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20.4%</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23.5%</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24.9%</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30" name="lgx_fn"/>
          <p:cNvSpPr/>
          <p:nvPr/>
        </p:nvSpPr>
        <p:spPr>
          <a:xfrm>
            <a:off x="365760" y="5793740"/>
            <a:ext cx="45948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Red: under the 20.0% hurdle. Shaded: base case.</a:t>
            </a:r>
          </a:p>
        </p:txBody>
      </p:sp>
      <p:sp>
        <p:nvSpPr>
          <p:cNvPr id="31" name="og_h"/>
          <p:cNvSpPr/>
          <p:nvPr/>
        </p:nvSpPr>
        <p:spPr>
          <a:xfrm>
            <a:off x="5097780" y="4791964"/>
            <a:ext cx="459486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Sponsor IRR: revenue growth and margin</a:t>
            </a:r>
          </a:p>
        </p:txBody>
      </p:sp>
      <p:sp>
        <p:nvSpPr>
          <p:cNvPr id="32" name="og_u"/>
          <p:cNvSpPr/>
          <p:nvPr/>
        </p:nvSpPr>
        <p:spPr>
          <a:xfrm>
            <a:off x="5097780" y="4924552"/>
            <a:ext cx="45948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 10.0x in and out; growth vs base in every year and segment</a:t>
            </a:r>
          </a:p>
        </p:txBody>
      </p:sp>
      <p:graphicFrame>
        <p:nvGraphicFramePr>
          <p:cNvPr id="33" name="opg"/>
          <p:cNvGraphicFramePr>
            <a:graphicFrameLocks noGrp="1"/>
          </p:cNvGraphicFramePr>
          <p:nvPr/>
        </p:nvGraphicFramePr>
        <p:xfrm>
          <a:off x="5097780" y="5031740"/>
          <a:ext cx="4594860" cy="716280"/>
        </p:xfrm>
        <a:graphic>
          <a:graphicData uri="http://schemas.openxmlformats.org/drawingml/2006/table">
            <a:tbl>
              <a:tblPr firstRow="0" bandRow="0" lastRow="0" firstCol="0" lastCol="0" bandCol="0"/>
              <a:tblGrid>
                <a:gridCol w="918972"/>
                <a:gridCol w="595333"/>
                <a:gridCol w="595333"/>
                <a:gridCol w="595333"/>
                <a:gridCol w="629962"/>
                <a:gridCol w="629962"/>
                <a:gridCol w="629965"/>
              </a:tblGrid>
              <a:tr h="143256">
                <a:tc>
                  <a:txBody>
                    <a:bodyPr wrap="square"/>
                    <a:lstStyle/>
                    <a:p>
                      <a:pPr algn="l"/>
                      <a:r>
                        <a:rPr sz="700" b="1" i="0">
                          <a:solidFill>
                            <a:srgbClr val="1B1F24"/>
                          </a:solidFill>
                          <a:latin typeface="Carlito"/>
                        </a:rPr>
                        <a:t>Growth \ margin</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-2.0pp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-1.0pp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-0.5pp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+0.0pp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+0.5pp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+1.0pp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1" i="0">
                          <a:solidFill>
                            <a:srgbClr val="1B1F24"/>
                          </a:solidFill>
                          <a:latin typeface="Carlito"/>
                        </a:rPr>
                        <a:t>-2.0pp</a:t>
                      </a: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13.8%</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15.8%</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16.7%</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17.6%</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18.5%</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B0241B"/>
                          </a:solidFill>
                          <a:latin typeface="Carlito"/>
                        </a:rPr>
                        <a:t>19.3%</a:t>
                      </a:r>
                      <a:endParaRPr sz="700" b="0"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1" i="0">
                          <a:solidFill>
                            <a:srgbClr val="1B1F24"/>
                          </a:solidFill>
                          <a:latin typeface="Carlito"/>
                        </a:rPr>
                        <a:t>-1.0pp</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15.4%</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17.3%</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18.3%</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19.2%</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+0.0pp</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16.9%</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18.9%</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19.8%</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20.7%</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21.5%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+1.0pp</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18.5%</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20.4%</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21.3%</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22.2%</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23.8%</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34" name="og_fn"/>
          <p:cNvSpPr/>
          <p:nvPr/>
        </p:nvSpPr>
        <p:spPr>
          <a:xfrm>
            <a:off x="5097780" y="5793740"/>
            <a:ext cx="45948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Red: under the 20.0% hurdle. Shaded: base case.</a:t>
            </a:r>
          </a:p>
        </p:txBody>
      </p:sp>
      <p:sp>
        <p:nvSpPr>
          <p:cNvPr id="35" name="ig_h"/>
          <p:cNvSpPr/>
          <p:nvPr/>
        </p:nvSpPr>
        <p:spPr>
          <a:xfrm>
            <a:off x="365760" y="5974080"/>
            <a:ext cx="459486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Sponsor IRR: entry and exit multiple</a:t>
            </a:r>
          </a:p>
        </p:txBody>
      </p:sp>
      <p:sp>
        <p:nvSpPr>
          <p:cNvPr id="36" name="ig_u"/>
          <p:cNvSpPr/>
          <p:nvPr/>
        </p:nvSpPr>
        <p:spPr>
          <a:xfrm>
            <a:off x="365760" y="6106668"/>
            <a:ext cx="45948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 exit FY2031E; debt sized at 5.75x at every entry multiple</a:t>
            </a:r>
          </a:p>
        </p:txBody>
      </p:sp>
      <p:graphicFrame>
        <p:nvGraphicFramePr>
          <p:cNvPr id="37" name="irrg"/>
          <p:cNvGraphicFramePr>
            <a:graphicFrameLocks noGrp="1"/>
          </p:cNvGraphicFramePr>
          <p:nvPr/>
        </p:nvGraphicFramePr>
        <p:xfrm>
          <a:off x="365760" y="6213856"/>
          <a:ext cx="4594860" cy="859536"/>
        </p:xfrm>
        <a:graphic>
          <a:graphicData uri="http://schemas.openxmlformats.org/drawingml/2006/table">
            <a:tbl>
              <a:tblPr firstRow="0" bandRow="0" lastRow="0" firstCol="0" lastCol="0" bandCol="0"/>
              <a:tblGrid>
                <a:gridCol w="735178"/>
                <a:gridCol w="550658"/>
                <a:gridCol w="550658"/>
                <a:gridCol w="550658"/>
                <a:gridCol w="555731"/>
                <a:gridCol w="550658"/>
                <a:gridCol w="550658"/>
                <a:gridCol w="550661"/>
              </a:tblGrid>
              <a:tr h="143256">
                <a:tc>
                  <a:txBody>
                    <a:bodyPr wrap="square"/>
                    <a:lstStyle/>
                    <a:p>
                      <a:pPr algn="l"/>
                      <a:r>
                        <a:rPr sz="700" b="1" i="0">
                          <a:solidFill>
                            <a:srgbClr val="1B1F24"/>
                          </a:solidFill>
                          <a:latin typeface="Carlito"/>
                        </a:rPr>
                        <a:t>In \ out</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8.5x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9.0x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9.5x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10.0x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10.5x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11.0x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11.5x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1" i="0">
                          <a:solidFill>
                            <a:srgbClr val="1B1F24"/>
                          </a:solidFill>
                          <a:latin typeface="Carlito"/>
                        </a:rPr>
                        <a:t>9.0x</a:t>
                      </a: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21.4%</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23.1%</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24.8%</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26.3%</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27.8%</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29.2%</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30.6%</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1" i="0">
                          <a:solidFill>
                            <a:srgbClr val="1B1F24"/>
                          </a:solidFill>
                          <a:latin typeface="Carlito"/>
                        </a:rPr>
                        <a:t>9.5x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18.5%</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27.4%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10.0x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16.0%</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17.6%</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19.2%</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20.7%</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22.1%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10.5x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13.8%</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15.4%</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16.9%</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18.3%</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19.7%</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11.0x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11.8%</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13.4%</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14.9%</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16.3%</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17.6%</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18.9%</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20.2%</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38" name="ig_fn"/>
          <p:cNvSpPr/>
          <p:nvPr/>
        </p:nvSpPr>
        <p:spPr>
          <a:xfrm>
            <a:off x="365760" y="7119112"/>
            <a:ext cx="45948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Red: under the 20.0% IRR hurdle. Shaded: base case, 10.0x in and out.</a:t>
            </a:r>
          </a:p>
        </p:txBody>
      </p:sp>
      <p:sp>
        <p:nvSpPr>
          <p:cNvPr id="39" name="mg_h"/>
          <p:cNvSpPr/>
          <p:nvPr/>
        </p:nvSpPr>
        <p:spPr>
          <a:xfrm>
            <a:off x="5097780" y="5974080"/>
            <a:ext cx="4594860"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Sponsor MOIC: entry and exit multiple</a:t>
            </a:r>
          </a:p>
        </p:txBody>
      </p:sp>
      <p:sp>
        <p:nvSpPr>
          <p:cNvPr id="40" name="mg_u"/>
          <p:cNvSpPr/>
          <p:nvPr/>
        </p:nvSpPr>
        <p:spPr>
          <a:xfrm>
            <a:off x="5097780" y="6106668"/>
            <a:ext cx="45948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x; exit FY2031E</a:t>
            </a:r>
          </a:p>
        </p:txBody>
      </p:sp>
      <p:graphicFrame>
        <p:nvGraphicFramePr>
          <p:cNvPr id="41" name="moicg"/>
          <p:cNvGraphicFramePr>
            <a:graphicFrameLocks noGrp="1"/>
          </p:cNvGraphicFramePr>
          <p:nvPr/>
        </p:nvGraphicFramePr>
        <p:xfrm>
          <a:off x="5097780" y="6213856"/>
          <a:ext cx="4594860" cy="859536"/>
        </p:xfrm>
        <a:graphic>
          <a:graphicData uri="http://schemas.openxmlformats.org/drawingml/2006/table">
            <a:tbl>
              <a:tblPr firstRow="0" bandRow="0" lastRow="0" firstCol="0" lastCol="0" bandCol="0"/>
              <a:tblGrid>
                <a:gridCol w="735178"/>
                <a:gridCol w="546878"/>
                <a:gridCol w="546878"/>
                <a:gridCol w="546878"/>
                <a:gridCol w="554761"/>
                <a:gridCol w="554761"/>
                <a:gridCol w="554761"/>
                <a:gridCol w="554765"/>
              </a:tblGrid>
              <a:tr h="143256">
                <a:tc>
                  <a:txBody>
                    <a:bodyPr wrap="square"/>
                    <a:lstStyle/>
                    <a:p>
                      <a:pPr algn="l"/>
                      <a:r>
                        <a:rPr sz="700" b="1" i="0">
                          <a:solidFill>
                            <a:srgbClr val="1B1F24"/>
                          </a:solidFill>
                          <a:latin typeface="Carlito"/>
                        </a:rPr>
                        <a:t>In \ out</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8.5x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9.0x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9.5x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10.0x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10.5x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11.0x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11.5x</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1" i="0">
                          <a:solidFill>
                            <a:srgbClr val="1B1F24"/>
                          </a:solidFill>
                          <a:latin typeface="Carlito"/>
                        </a:rPr>
                        <a:t>9.0x</a:t>
                      </a: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2.63x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2.83x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3.02x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3.22x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3.41x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3.60x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3.80x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1" i="0">
                          <a:solidFill>
                            <a:srgbClr val="1B1F24"/>
                          </a:solidFill>
                          <a:latin typeface="Carlito"/>
                        </a:rPr>
                        <a:t>9.5x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2.33x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2.51x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2.85x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3.02x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10.0x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2.10x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2.25x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2.40x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2.56x</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2.71x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2.86x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3.02x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10.5x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1.91x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2.04x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2.18x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2.32x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B0241B"/>
                          </a:solidFill>
                          <a:latin typeface="Carlito"/>
                        </a:rPr>
                        <a:t>2.46x</a:t>
                      </a:r>
                      <a:endParaRPr sz="700" b="0"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2.74x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11.0x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1.75x</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1.87x</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2.00x</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2.13x</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2.25x</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B0241B"/>
                          </a:solidFill>
                          <a:latin typeface="Carlito"/>
                        </a:rPr>
                        <a:t>2.38x</a:t>
                      </a:r>
                      <a:endParaRPr sz="700" b="0"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2.51x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42" name="mg_fn"/>
          <p:cNvSpPr/>
          <p:nvPr/>
        </p:nvSpPr>
        <p:spPr>
          <a:xfrm>
            <a:off x="5097780" y="7119112"/>
            <a:ext cx="459486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Red: under the 2.5x MOIC hurdle. Shaded: base case.</a:t>
            </a:r>
          </a:p>
        </p:txBody>
      </p:sp>
      <p:sp>
        <p:nvSpPr>
          <p:cNvPr id="43" name="source"/>
          <p:cNvSpPr/>
          <p:nvPr/>
        </p:nvSpPr>
        <p:spPr>
          <a:xfrm>
            <a:off x="365760" y="7299452"/>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Source: sponsor model; returns to the sponsor after the management incentive plan, gross of fund fees and carry; all figures illustrative.</a:t>
            </a:r>
          </a:p>
        </p:txBody>
      </p:sp>
    </p:spTree>
    <p:custDataLst>
      <p:tags r:id="rId3"/>
    </p:custData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32" name="chrome-1"/>
          <p:cNvCxnSpPr/>
          <p:nvPr/>
        </p:nvCxnSpPr>
        <p:spPr>
          <a:xfrm>
            <a:off x="365760" y="603504"/>
            <a:ext cx="9326880" cy="0"/>
          </a:xfrm>
          <a:prstGeom prst="line">
            <a:avLst/>
          </a:prstGeom>
          <a:ln w="12700">
            <a:solidFill>
              <a:srgbClr val="1F3D63"/>
            </a:solidFill>
          </a:ln>
        </p:spPr>
      </p:cxnSp>
      <p:cxnSp>
        <p:nvCxnSpPr>
          <p:cNvPr id="33" name="chrome-2"/>
          <p:cNvCxnSpPr/>
          <p:nvPr/>
        </p:nvCxnSpPr>
        <p:spPr>
          <a:xfrm>
            <a:off x="365760" y="7411212"/>
            <a:ext cx="9326880" cy="0"/>
          </a:xfrm>
          <a:prstGeom prst="line">
            <a:avLst/>
          </a:prstGeom>
          <a:ln w="6350">
            <a:solidFill>
              <a:srgbClr val="C3CAD3"/>
            </a:solidFill>
          </a:ln>
        </p:spPr>
      </p:cxnSp>
      <p:sp>
        <p:nvSpPr>
          <p:cNvPr id="34" name="chrome-3"/>
          <p:cNvSpPr txBox="1"/>
          <p:nvPr/>
        </p:nvSpPr>
        <p:spPr>
          <a:xfrm>
            <a:off x="365760" y="7452360"/>
            <a:ext cx="7315200" cy="152400"/>
          </a:xfrm>
          <a:prstGeom prst="rect">
            <a:avLst/>
          </a:prstGeom>
          <a:noFill/>
        </p:spPr>
        <p:txBody>
          <a:bodyPr wrap="none" lIns="0" tIns="0" rIns="0" bIns="0" anchor="t">
            <a:noAutofit/>
          </a:bodyPr>
          <a:lstStyle/>
          <a:p>
            <a:r>
              <a:rPr sz="700" b="0">
                <a:solidFill>
                  <a:srgbClr val="56606C"/>
                </a:solidFill>
                <a:latin typeface="Carlito"/>
              </a:rPr>
              <a:t>Project Corvane  |  Investment committee book  |  Section 4: Leveraged finance and LBO  |  Strictly confidential  |  Illustrative figures, fictional company</a:t>
            </a:r>
          </a:p>
        </p:txBody>
      </p:sp>
      <p:sp>
        <p:nvSpPr>
          <p:cNvPr id="35" name="chrome-4"/>
          <p:cNvSpPr txBox="1"/>
          <p:nvPr/>
        </p:nvSpPr>
        <p:spPr>
          <a:xfrm>
            <a:off x="8595360" y="7452360"/>
            <a:ext cx="1097280" cy="152400"/>
          </a:xfrm>
          <a:prstGeom prst="rect">
            <a:avLst/>
          </a:prstGeom>
          <a:noFill/>
        </p:spPr>
        <p:txBody>
          <a:bodyPr wrap="none" lIns="0" tIns="0" rIns="0" bIns="0" anchor="t">
            <a:noAutofit/>
          </a:bodyPr>
          <a:lstStyle/>
          <a:p>
            <a:pPr algn="r"/>
            <a:r>
              <a:rPr sz="700" b="1">
                <a:solidFill>
                  <a:srgbClr val="1B1F24"/>
                </a:solidFill>
                <a:latin typeface="Carlito"/>
              </a:rPr>
              <a:t>Sheet </a:t>
            </a:r>
            <a:fld id="{B6F15528-21DE-4FAA-801E-634DDDAF5B2F}" type="slidenum">
              <a:rPr sz="700">
                <a:solidFill>
                  <a:srgbClr val="1B1F24"/>
                </a:solidFill>
                <a:latin typeface="Carlito"/>
              </a:rPr>
              <a:t>1</a:t>
            </a:fld>
          </a:p>
        </p:txBody>
      </p:sp>
      <p:sp>
        <p:nvSpPr>
          <p:cNvPr id="2" name="kicker"/>
          <p:cNvSpPr/>
          <p:nvPr/>
        </p:nvSpPr>
        <p:spPr>
          <a:xfrm>
            <a:off x="365760" y="274320"/>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1F3D63"/>
                </a:solidFill>
                <a:latin typeface="Carlito"/>
              </a:rPr>
              <a:t>SECTION 4  |  LEVERAGED FINANCE AND LBO  |  4.5 DEBT CAPACITY</a:t>
            </a:r>
          </a:p>
        </p:txBody>
      </p:sp>
      <p:sp>
        <p:nvSpPr>
          <p:cNvPr id="3" name="title"/>
          <p:cNvSpPr/>
          <p:nvPr/>
        </p:nvSpPr>
        <p:spPr>
          <a:xfrm>
            <a:off x="365760" y="381508"/>
            <a:ext cx="9326880" cy="190500"/>
          </a:xfrm>
          <a:prstGeom prst="rect">
            <a:avLst/>
          </a:prstGeom>
          <a:noFill/>
        </p:spPr>
        <p:txBody>
          <a:bodyPr wrap="square" lIns="0" tIns="0" rIns="0" bIns="0" anchor="t">
            <a:noAutofit/>
          </a:bodyPr>
          <a:lstStyle/>
          <a:p>
            <a:pPr algn="l" marL="0" indent="0">
              <a:lnSpc>
                <a:spcPts val="1500"/>
              </a:lnSpc>
              <a:spcBef>
                <a:spcPts val="0"/>
              </a:spcBef>
              <a:spcAft>
                <a:spcPts val="0"/>
              </a:spcAft>
              <a:buNone/>
            </a:pPr>
            <a:r>
              <a:rPr sz="1500" b="1" i="0">
                <a:solidFill>
                  <a:srgbClr val="1B1F24"/>
                </a:solidFill>
                <a:latin typeface="Carlito"/>
              </a:rPr>
              <a:t>Debt capacity and covenant headroom</a:t>
            </a:r>
          </a:p>
        </p:txBody>
      </p:sp>
      <p:sp>
        <p:nvSpPr>
          <p:cNvPr id="4" name="lx_h"/>
          <p:cNvSpPr/>
          <p:nvPr/>
        </p:nvSpPr>
        <p:spPr>
          <a:xfrm>
            <a:off x="365760" y="690372"/>
            <a:ext cx="4177145"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First-lien net leverage against the springing covenant</a:t>
            </a:r>
          </a:p>
        </p:txBody>
      </p:sp>
      <p:sp>
        <p:nvSpPr>
          <p:cNvPr id="5" name="lx_u"/>
          <p:cNvSpPr/>
          <p:nvPr/>
        </p:nvSpPr>
        <p:spPr>
          <a:xfrm>
            <a:off x="365760" y="822960"/>
            <a:ext cx="4177145"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x Adj. EBITDA, at each year end; downside cuts FY2027E revenue and margin</a:t>
            </a:r>
          </a:p>
        </p:txBody>
      </p:sp>
      <p:graphicFrame>
        <p:nvGraphicFramePr>
          <p:cNvPr id="6" name="lev"/>
          <p:cNvGraphicFramePr>
            <a:graphicFrameLocks noGrp="1"/>
          </p:cNvGraphicFramePr>
          <p:nvPr/>
        </p:nvGraphicFramePr>
        <p:xfrm>
          <a:off x="365760" y="930148"/>
          <a:ext cx="4177145" cy="2318512"/>
        </p:xfrm>
        <a:graphic>
          <a:graphicData uri="http://schemas.openxmlformats.org/drawingml/2006/chart">
            <c:chart xmlns:c="http://schemas.openxmlformats.org/drawingml/2006/chart" r:id="rId2"/>
          </a:graphicData>
        </a:graphic>
      </p:graphicFrame>
      <p:sp>
        <p:nvSpPr>
          <p:cNvPr id="7" name="sx5_h"/>
          <p:cNvSpPr/>
          <p:nvPr/>
        </p:nvSpPr>
        <p:spPr>
          <a:xfrm>
            <a:off x="365760" y="3340100"/>
            <a:ext cx="4177145"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Credit statistics, base and downside</a:t>
            </a:r>
          </a:p>
        </p:txBody>
      </p:sp>
      <p:sp>
        <p:nvSpPr>
          <p:cNvPr id="8" name="sx5_u"/>
          <p:cNvSpPr/>
          <p:nvPr/>
        </p:nvSpPr>
        <p:spPr>
          <a:xfrm>
            <a:off x="365760" y="3472688"/>
            <a:ext cx="4177145"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unless stated; x unless stated</a:t>
            </a:r>
          </a:p>
        </p:txBody>
      </p:sp>
      <p:graphicFrame>
        <p:nvGraphicFramePr>
          <p:cNvPr id="9" name="cstat"/>
          <p:cNvGraphicFramePr>
            <a:graphicFrameLocks noGrp="1"/>
          </p:cNvGraphicFramePr>
          <p:nvPr/>
        </p:nvGraphicFramePr>
        <p:xfrm>
          <a:off x="365760" y="3579876"/>
          <a:ext cx="4177145" cy="2435352"/>
        </p:xfrm>
        <a:graphic>
          <a:graphicData uri="http://schemas.openxmlformats.org/drawingml/2006/table">
            <a:tbl>
              <a:tblPr firstRow="0" bandRow="0" lastRow="0" firstCol="0" lastCol="0" bandCol="0"/>
              <a:tblGrid>
                <a:gridCol w="1253144"/>
                <a:gridCol w="578753"/>
                <a:gridCol w="469049"/>
                <a:gridCol w="469049"/>
                <a:gridCol w="469049"/>
                <a:gridCol w="469049"/>
                <a:gridCol w="469052"/>
              </a:tblGrid>
              <a:tr h="143256">
                <a:tc>
                  <a:txBody>
                    <a:bodyPr wrap="square"/>
                    <a:lstStyle/>
                    <a:p>
                      <a:pPr algn="l"/>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PF FY26</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FY27E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FY28E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FY29E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FY30E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FY31E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1" i="0">
                          <a:solidFill>
                            <a:srgbClr val="1B1F24"/>
                          </a:solidFill>
                          <a:latin typeface="Carlito"/>
                        </a:rPr>
                        <a:t>Base case</a:t>
                      </a: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r>
              <a:tr h="143256">
                <a:tc>
                  <a:txBody>
                    <a:bodyPr wrap="square"/>
                    <a:lstStyle/>
                    <a:p>
                      <a:pPr algn="l"/>
                      <a:r>
                        <a:rPr sz="700" b="0" i="0">
                          <a:solidFill>
                            <a:srgbClr val="1B1F24"/>
                          </a:solidFill>
                          <a:latin typeface="Carlito"/>
                        </a:rPr>
                        <a:t>Adj. EBITDA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140.2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155.2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170.8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200.2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Total debt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724.5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684.1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631.3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565.4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485.4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392.0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Net debt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699.5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659.1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606.3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540.4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460.4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367.0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Total debt / EBITDA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5.75x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4.88x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First-lien net / EBITDA</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4.30x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3.58x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2.89x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2.24x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1.63x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EBITDA / cash interest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3.72x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5.59x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(EBITDA - capex) / cash interest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3.85x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4.78x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FCF / total debt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TLB repaid, cumulative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28.1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42.2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58.6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Covenant headroom (%)</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34.8</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45.8</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56.2</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66.0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75.3</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84.1</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Downside case</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r>
              <a:tr h="143256">
                <a:tc>
                  <a:txBody>
                    <a:bodyPr wrap="square"/>
                    <a:lstStyle/>
                    <a:p>
                      <a:pPr algn="l"/>
                      <a:r>
                        <a:rPr sz="700" b="0" i="0">
                          <a:solidFill>
                            <a:srgbClr val="1B1F24"/>
                          </a:solidFill>
                          <a:latin typeface="Carlito"/>
                        </a:rPr>
                        <a:t>Adj. EBITDA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105.2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112.7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124.8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135.7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145.6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B0241B"/>
                          </a:solidFill>
                          <a:latin typeface="Carlito"/>
                        </a:rPr>
                        <a:t>First-lien net / EBITDA</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4.30x</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4.84x</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4.28x</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3.58x</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2.97x</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2.41x</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EBITDA / cash interest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NA</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2.23x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2.59x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2.98x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3.42x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B0241B"/>
                          </a:solidFill>
                          <a:latin typeface="Carlito"/>
                        </a:rPr>
                        <a:t>Covenant headroom (%)</a:t>
                      </a:r>
                      <a:endParaRPr sz="700" b="1"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B0241B"/>
                          </a:solidFill>
                          <a:latin typeface="Carlito"/>
                        </a:rPr>
                        <a:t>34.8</a:t>
                      </a:r>
                      <a:endParaRPr sz="700" b="1"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B0241B"/>
                          </a:solidFill>
                          <a:latin typeface="Carlito"/>
                        </a:rPr>
                        <a:t>26.6</a:t>
                      </a:r>
                      <a:endParaRPr sz="700" b="1"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B0241B"/>
                          </a:solidFill>
                          <a:latin typeface="Carlito"/>
                        </a:rPr>
                        <a:t>35.2</a:t>
                      </a:r>
                      <a:endParaRPr sz="700" b="1"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B0241B"/>
                          </a:solidFill>
                          <a:latin typeface="Carlito"/>
                        </a:rPr>
                        <a:t>45.7</a:t>
                      </a:r>
                      <a:endParaRPr sz="700" b="1"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B0241B"/>
                          </a:solidFill>
                          <a:latin typeface="Carlito"/>
                        </a:rPr>
                        <a:t>54.9</a:t>
                      </a:r>
                      <a:endParaRPr sz="700" b="1"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B0241B"/>
                          </a:solidFill>
                          <a:latin typeface="Carlito"/>
                        </a:rPr>
                        <a:t>63.5</a:t>
                      </a:r>
                      <a:endParaRPr sz="700" b="1" i="0">
                        <a:solidFill>
                          <a:srgbClr val="B0241B"/>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10" name="sx5_fn"/>
          <p:cNvSpPr/>
          <p:nvPr/>
        </p:nvSpPr>
        <p:spPr>
          <a:xfrm>
            <a:off x="365760" y="6060948"/>
            <a:ext cx="4177145"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Covenant headroom: the share by which Adj. EBITDA could fall before first-lien net leverage reaches 6.60x. FCF /</a:t>
            </a:r>
            <a:br/>
            <a:r>
              <a:rPr sz="700" b="0" i="0">
                <a:solidFill>
                  <a:srgbClr val="56606C"/>
                </a:solidFill>
                <a:latin typeface="Carlito"/>
              </a:rPr>
              <a:t>total debt on opening debt.</a:t>
            </a:r>
          </a:p>
        </p:txBody>
      </p:sp>
      <p:sp>
        <p:nvSpPr>
          <p:cNvPr id="11" name="n5_h"/>
          <p:cNvSpPr/>
          <p:nvPr/>
        </p:nvSpPr>
        <p:spPr>
          <a:xfrm>
            <a:off x="365760" y="6330188"/>
            <a:ext cx="4177145"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Debt capacity</a:t>
            </a:r>
          </a:p>
        </p:txBody>
      </p:sp>
      <p:sp>
        <p:nvSpPr>
          <p:cNvPr id="12" name="d1"/>
          <p:cNvSpPr/>
          <p:nvPr/>
        </p:nvSpPr>
        <p:spPr>
          <a:xfrm>
            <a:off x="365760" y="6455156"/>
            <a:ext cx="4177145"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The proposed 5.75x sits under three of four capacity tests; on (EBITDA - capex) cover it is $21.8m</a:t>
            </a:r>
            <a:br/>
            <a:r>
              <a:rPr sz="800" b="0" i="0">
                <a:solidFill>
                  <a:srgbClr val="1B1F24"/>
                </a:solidFill>
                <a:latin typeface="Carlito"/>
              </a:rPr>
              <a:t>over a 2.0x line at close (1.94x), which the base case clears by FY2028E (2.61x).</a:t>
            </a:r>
          </a:p>
        </p:txBody>
      </p:sp>
      <p:sp>
        <p:nvSpPr>
          <p:cNvPr id="13" name="d2"/>
          <p:cNvSpPr/>
          <p:nvPr/>
        </p:nvSpPr>
        <p:spPr>
          <a:xfrm>
            <a:off x="365760" y="6712204"/>
            <a:ext cx="4177145"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In the downside case Adj. EBITDA falls 16.5% in FY2027E and first-lien net leverage peaks at 4.84x,</a:t>
            </a:r>
            <a:br/>
            <a:r>
              <a:rPr sz="800" b="0" i="0">
                <a:solidFill>
                  <a:srgbClr val="1B1F24"/>
                </a:solidFill>
                <a:latin typeface="Carlito"/>
              </a:rPr>
              <a:t>still 26.6% inside the 6.60x covenant.</a:t>
            </a:r>
          </a:p>
        </p:txBody>
      </p:sp>
      <p:sp>
        <p:nvSpPr>
          <p:cNvPr id="14" name="d3"/>
          <p:cNvSpPr/>
          <p:nvPr/>
        </p:nvSpPr>
        <p:spPr>
          <a:xfrm>
            <a:off x="365760" y="6969252"/>
            <a:ext cx="4177145"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The revolver is undrawn in both cases, so the springing test is never live; interest cover bottoms at</a:t>
            </a:r>
            <a:br/>
            <a:r>
              <a:rPr sz="800" b="0" i="0">
                <a:solidFill>
                  <a:srgbClr val="1B1F24"/>
                </a:solidFill>
                <a:latin typeface="Carlito"/>
              </a:rPr>
              <a:t>1.95x.</a:t>
            </a:r>
          </a:p>
        </p:txBody>
      </p:sp>
      <p:sp>
        <p:nvSpPr>
          <p:cNvPr id="15" name="fx5_h"/>
          <p:cNvSpPr/>
          <p:nvPr/>
        </p:nvSpPr>
        <p:spPr>
          <a:xfrm>
            <a:off x="4680065" y="690372"/>
            <a:ext cx="5012575"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Industrial LBO financings, 2025-2026</a:t>
            </a:r>
          </a:p>
        </p:txBody>
      </p:sp>
      <p:sp>
        <p:nvSpPr>
          <p:cNvPr id="16" name="fx5_u"/>
          <p:cNvSpPr/>
          <p:nvPr/>
        </p:nvSpPr>
        <p:spPr>
          <a:xfrm>
            <a:off x="4680065" y="822960"/>
            <a:ext cx="5012575"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fictional precedents; leverage and EV / EBITDA on LTM EBITDA at close</a:t>
            </a:r>
          </a:p>
        </p:txBody>
      </p:sp>
      <p:graphicFrame>
        <p:nvGraphicFramePr>
          <p:cNvPr id="17" name="fin"/>
          <p:cNvGraphicFramePr>
            <a:graphicFrameLocks noGrp="1"/>
          </p:cNvGraphicFramePr>
          <p:nvPr/>
        </p:nvGraphicFramePr>
        <p:xfrm>
          <a:off x="4680065" y="930148"/>
          <a:ext cx="5012575" cy="2685288"/>
        </p:xfrm>
        <a:graphic>
          <a:graphicData uri="http://schemas.openxmlformats.org/drawingml/2006/table">
            <a:tbl>
              <a:tblPr firstRow="0" bandRow="0" lastRow="0" firstCol="0" lastCol="0" bandCol="0"/>
              <a:tblGrid>
                <a:gridCol w="1253144"/>
                <a:gridCol w="363186"/>
                <a:gridCol w="345605"/>
                <a:gridCol w="499878"/>
                <a:gridCol w="382372"/>
                <a:gridCol w="522190"/>
                <a:gridCol w="429340"/>
                <a:gridCol w="611771"/>
                <a:gridCol w="260786"/>
                <a:gridCol w="344303"/>
              </a:tblGrid>
              <a:tr h="249936">
                <a:tc>
                  <a:txBody>
                    <a:bodyPr wrap="square"/>
                    <a:lstStyle/>
                    <a:p>
                      <a:pPr algn="l"/>
                      <a:r>
                        <a:rPr sz="700" b="1" i="0">
                          <a:solidFill>
                            <a:srgbClr val="1B1F24"/>
                          </a:solidFill>
                          <a:latin typeface="Carlito"/>
                        </a:rPr>
                        <a:t>Borrower</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Closed</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 EBITDA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Total lev.</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First-lien lev.</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Equity (%)</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TLB spread (bp)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OID</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Ratings</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Halberd Pumps</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Q3 2026</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1,840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11.2x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6.00x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4.75x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44</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350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99.50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B2 / B</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Ostrava Valve Holdings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Q3 2026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B2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Marrow Industrial Controls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Q2 2026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5.75x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B2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Tidewell Fluid Handling</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Q2 2026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98.50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B3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Ferrous Flow Partners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Q1 2026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4.75x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B2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Lindqvist Actuation</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Q1 2026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610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5.00x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5.00x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98.50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B3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Corran Seals and Gaskets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Q4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5.75x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B2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Westbury Process Equipment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Q4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880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B2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Aurel Metering</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Q3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6.00x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B2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Brennan Compressor Group</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Q3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1,990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5.75x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4.75x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99.50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B1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Stellan Filtration</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Q2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5.25x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98.75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B3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Pell and Rook Instruments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Q2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6.00x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B2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Mean</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1,290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10.6x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5.67x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4.79x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46.2</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367</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99.10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Median</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1,202</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10.7x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5.75x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4.75x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46.0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362</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99.00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High</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2,350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12.0x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6.25x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5.50x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49.0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425</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99.75</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Low</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610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9.4x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5.00x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4.25x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44.0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325</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98.50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F3D63"/>
                          </a:solidFill>
                          <a:latin typeface="Carlito"/>
                        </a:rPr>
                        <a:t>Corvane (proposed)</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l"/>
                      <a:r>
                        <a:rPr sz="700" b="1" i="0">
                          <a:solidFill>
                            <a:srgbClr val="1F3D63"/>
                          </a:solidFill>
                          <a:latin typeface="Carlito"/>
                        </a:rPr>
                        <a:t>Q4 2026</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1,260.0</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10.0x</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5.75x</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4.50x</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45.5</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350</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99.00</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l"/>
                      <a:r>
                        <a:rPr sz="700" b="1" i="0">
                          <a:solidFill>
                            <a:srgbClr val="1F3D63"/>
                          </a:solidFill>
                          <a:latin typeface="Carlito"/>
                        </a:rPr>
                        <a:t>B2 / B *</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r>
            </a:tbl>
          </a:graphicData>
        </a:graphic>
      </p:graphicFrame>
      <p:sp>
        <p:nvSpPr>
          <p:cNvPr id="18" name="fx5_fn"/>
          <p:cNvSpPr/>
          <p:nvPr/>
        </p:nvSpPr>
        <p:spPr>
          <a:xfrm>
            <a:off x="4680065" y="3661156"/>
            <a:ext cx="5012575"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Statistics of the 12 precedents in italics, median bold; Corvane at the proposed terms shaded. * Expected ratings.</a:t>
            </a:r>
          </a:p>
        </p:txBody>
      </p:sp>
      <p:sp>
        <p:nvSpPr>
          <p:cNvPr id="19" name="dx_h"/>
          <p:cNvSpPr/>
          <p:nvPr/>
        </p:nvSpPr>
        <p:spPr>
          <a:xfrm>
            <a:off x="4680065" y="3841496"/>
            <a:ext cx="5012575"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Debt capacity</a:t>
            </a:r>
          </a:p>
        </p:txBody>
      </p:sp>
      <p:sp>
        <p:nvSpPr>
          <p:cNvPr id="20" name="dx_u"/>
          <p:cNvSpPr/>
          <p:nvPr/>
        </p:nvSpPr>
        <p:spPr>
          <a:xfrm>
            <a:off x="4680065" y="3974084"/>
            <a:ext cx="5012575"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$m; FY2026E Adj. EBITDA of $126.0m</a:t>
            </a:r>
          </a:p>
        </p:txBody>
      </p:sp>
      <p:graphicFrame>
        <p:nvGraphicFramePr>
          <p:cNvPr id="21" name="capm"/>
          <p:cNvGraphicFramePr>
            <a:graphicFrameLocks noGrp="1"/>
          </p:cNvGraphicFramePr>
          <p:nvPr/>
        </p:nvGraphicFramePr>
        <p:xfrm>
          <a:off x="4680065" y="4081272"/>
          <a:ext cx="5012575" cy="859536"/>
        </p:xfrm>
        <a:graphic>
          <a:graphicData uri="http://schemas.openxmlformats.org/drawingml/2006/table">
            <a:tbl>
              <a:tblPr firstRow="0" bandRow="0" lastRow="0" firstCol="0" lastCol="0" bandCol="0"/>
              <a:tblGrid>
                <a:gridCol w="1804527"/>
                <a:gridCol w="1804527"/>
                <a:gridCol w="867634"/>
                <a:gridCol w="535887"/>
              </a:tblGrid>
              <a:tr h="143256">
                <a:tc>
                  <a:txBody>
                    <a:bodyPr wrap="square"/>
                    <a:lstStyle/>
                    <a:p>
                      <a:pPr algn="l"/>
                      <a:r>
                        <a:rPr sz="700" b="1" i="0">
                          <a:solidFill>
                            <a:srgbClr val="1B1F24"/>
                          </a:solidFill>
                          <a:latin typeface="Carlito"/>
                        </a:rPr>
                        <a:t>Method</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Basis</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Max. debt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x EBITDA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LBO comps median total leverage</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5.75x x FY2026E Adj. EBITDA</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724.5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5.75x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Rating threshold, B2 / 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6.00x total leverage at close</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756.0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6.00x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(EBITDA - capex) / interest of 2.0x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at a 7.35% blended cost</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702.7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5.58x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Repay 50% of first lien in 5 years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cumulative FCF $332.5m against TLB</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822.5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6.53x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F3D63"/>
                          </a:solidFill>
                          <a:latin typeface="Carlito"/>
                        </a:rPr>
                        <a:t>Proposed structure</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l"/>
                      <a:r>
                        <a:rPr sz="700" b="1" i="0">
                          <a:solidFill>
                            <a:srgbClr val="1F3D63"/>
                          </a:solidFill>
                          <a:latin typeface="Carlito"/>
                        </a:rPr>
                        <a:t>TLB and senior notes</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724.5</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5.75x</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r>
            </a:tbl>
          </a:graphicData>
        </a:graphic>
      </p:graphicFrame>
      <p:sp>
        <p:nvSpPr>
          <p:cNvPr id="22" name="dx_fn"/>
          <p:cNvSpPr/>
          <p:nvPr/>
        </p:nvSpPr>
        <p:spPr>
          <a:xfrm>
            <a:off x="4680065" y="4986528"/>
            <a:ext cx="5012575"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Repayment test: debt such that five years of base-case levered FCF would repay half the first lien, with the notes outstanding.</a:t>
            </a:r>
          </a:p>
        </p:txBody>
      </p:sp>
      <p:sp>
        <p:nvSpPr>
          <p:cNvPr id="23" name="dnx_h"/>
          <p:cNvSpPr/>
          <p:nvPr/>
        </p:nvSpPr>
        <p:spPr>
          <a:xfrm>
            <a:off x="4680065" y="5166868"/>
            <a:ext cx="2708564"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Downside case definition</a:t>
            </a:r>
          </a:p>
        </p:txBody>
      </p:sp>
      <p:sp>
        <p:nvSpPr>
          <p:cNvPr id="24" name="dnx_u"/>
          <p:cNvSpPr/>
          <p:nvPr/>
        </p:nvSpPr>
        <p:spPr>
          <a:xfrm>
            <a:off x="4680065" y="5299456"/>
            <a:ext cx="2708564"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a 2009-style volume shock in FY2027E, then recovery</a:t>
            </a:r>
          </a:p>
        </p:txBody>
      </p:sp>
      <p:graphicFrame>
        <p:nvGraphicFramePr>
          <p:cNvPr id="25" name="dncase"/>
          <p:cNvGraphicFramePr>
            <a:graphicFrameLocks noGrp="1"/>
          </p:cNvGraphicFramePr>
          <p:nvPr/>
        </p:nvGraphicFramePr>
        <p:xfrm>
          <a:off x="4680065" y="5406644"/>
          <a:ext cx="2708564" cy="1002792"/>
        </p:xfrm>
        <a:graphic>
          <a:graphicData uri="http://schemas.openxmlformats.org/drawingml/2006/table">
            <a:tbl>
              <a:tblPr firstRow="0" bandRow="0" lastRow="0" firstCol="0" lastCol="0" bandCol="0"/>
              <a:tblGrid>
                <a:gridCol w="1083426"/>
                <a:gridCol w="325027"/>
                <a:gridCol w="325027"/>
                <a:gridCol w="325027"/>
                <a:gridCol w="325027"/>
                <a:gridCol w="325030"/>
              </a:tblGrid>
              <a:tr h="143256">
                <a:tc>
                  <a:txBody>
                    <a:bodyPr wrap="square"/>
                    <a:lstStyle/>
                    <a:p>
                      <a:pPr algn="l"/>
                      <a:r>
                        <a:rPr sz="700" b="1" i="0">
                          <a:solidFill>
                            <a:srgbClr val="1B1F24"/>
                          </a:solidFill>
                          <a:latin typeface="Carlito"/>
                        </a:rPr>
                        <a:t>Downside case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FY27E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FY28E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FY29E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FY30E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FY31E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Valves growth (%)</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1" i="0">
                          <a:solidFill>
                            <a:srgbClr val="B0241B"/>
                          </a:solidFill>
                          <a:latin typeface="Carlito"/>
                        </a:rPr>
                        <a:t>(10.0)</a:t>
                      </a:r>
                      <a:endParaRPr sz="700" b="1" i="0">
                        <a:solidFill>
                          <a:srgbClr val="B0241B"/>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5.0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4.5</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Pumps growth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(12.0)</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Aftermarket growth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(2.0)</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Adj. EBITDA margin (%)</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Margin vs base (pp)</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(2.7)</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(2.9)</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(2.8)</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(2.9)</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Revenue vs base (%)</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(13.2)</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(15.7)</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(16.0)</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(16.1)</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(16.2)</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26" name="rtx_h"/>
          <p:cNvSpPr/>
          <p:nvPr/>
        </p:nvSpPr>
        <p:spPr>
          <a:xfrm>
            <a:off x="7525789" y="5166868"/>
            <a:ext cx="2166851"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Rate sensitivity</a:t>
            </a:r>
          </a:p>
        </p:txBody>
      </p:sp>
      <p:sp>
        <p:nvSpPr>
          <p:cNvPr id="27" name="rtx_u"/>
          <p:cNvSpPr/>
          <p:nvPr/>
        </p:nvSpPr>
        <p:spPr>
          <a:xfrm>
            <a:off x="7525789" y="5299456"/>
            <a:ext cx="2166851"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term SOFR moved in parallel; TLB unhedged</a:t>
            </a:r>
          </a:p>
        </p:txBody>
      </p:sp>
      <p:graphicFrame>
        <p:nvGraphicFramePr>
          <p:cNvPr id="28" name="rate"/>
          <p:cNvGraphicFramePr>
            <a:graphicFrameLocks noGrp="1"/>
          </p:cNvGraphicFramePr>
          <p:nvPr/>
        </p:nvGraphicFramePr>
        <p:xfrm>
          <a:off x="7525789" y="5406644"/>
          <a:ext cx="2166851" cy="859536"/>
        </p:xfrm>
        <a:graphic>
          <a:graphicData uri="http://schemas.openxmlformats.org/drawingml/2006/table">
            <a:tbl>
              <a:tblPr firstRow="0" bandRow="0" lastRow="0" firstCol="0" lastCol="0" bandCol="0"/>
              <a:tblGrid>
                <a:gridCol w="996751"/>
                <a:gridCol w="338441"/>
                <a:gridCol w="415829"/>
                <a:gridCol w="415830"/>
              </a:tblGrid>
              <a:tr h="143256">
                <a:tc>
                  <a:txBody>
                    <a:bodyPr wrap="square"/>
                    <a:lstStyle/>
                    <a:p>
                      <a:pPr algn="l"/>
                      <a:r>
                        <a:rPr sz="700" b="1" i="0">
                          <a:solidFill>
                            <a:srgbClr val="1B1F24"/>
                          </a:solidFill>
                          <a:latin typeface="Carlito"/>
                        </a:rPr>
                        <a:t>Base operating case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F3D63"/>
                          </a:solidFill>
                          <a:latin typeface="Carlito"/>
                        </a:rPr>
                        <a:t>Curve</a:t>
                      </a:r>
                      <a:endParaRPr sz="700" b="1" i="0">
                        <a:solidFill>
                          <a:srgbClr val="1F3D63"/>
                        </a:solidFill>
                        <a:latin typeface="Carlito"/>
                      </a:endParaRPr>
                    </a:p>
                  </a:txBody>
                  <a:tcPr marL="18288" marR="18288" marT="18288" marB="18288" anchor="ctr">
                    <a:lnL w="0">
                      <a:noFill/>
                    </a:lnL>
                    <a:lnR w="0">
                      <a:noFill/>
                    </a:lnR>
                    <a:lnT w="0">
                      <a:noFill/>
                    </a:lnT>
                    <a:lnB w="12700">
                      <a:solidFill>
                        <a:srgbClr val="1B1F24"/>
                      </a:solidFill>
                    </a:lnB>
                    <a:solidFill>
                      <a:srgbClr val="E9EDF2"/>
                    </a:solidFill>
                  </a:tcPr>
                </a:tc>
                <a:tc>
                  <a:txBody>
                    <a:bodyPr wrap="square"/>
                    <a:lstStyle/>
                    <a:p>
                      <a:pPr algn="r"/>
                      <a:r>
                        <a:rPr sz="700" b="1" i="0">
                          <a:solidFill>
                            <a:srgbClr val="1B1F24"/>
                          </a:solidFill>
                          <a:latin typeface="Carlito"/>
                        </a:rPr>
                        <a:t>+100bp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+200bp</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FY27E interest ($m)</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1" i="0">
                          <a:solidFill>
                            <a:srgbClr val="1F3D63"/>
                          </a:solidFill>
                          <a:latin typeface="Carlito"/>
                        </a:rPr>
                        <a:t>54.0</a:t>
                      </a:r>
                      <a:endParaRPr sz="700" b="1" i="0">
                        <a:solidFill>
                          <a:srgbClr val="1F3D63"/>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r>
                        <a:rPr sz="700" b="0" i="0">
                          <a:solidFill>
                            <a:srgbClr val="1B1F24"/>
                          </a:solidFill>
                          <a:latin typeface="Carlito"/>
                        </a:rPr>
                        <a:t>59.6</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65.3</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FY27E cover (x)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2.60</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2.35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5-year FCF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332.5</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312.6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292.3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FY31E net lev. (x)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F3D63"/>
                          </a:solidFill>
                          <a:latin typeface="Carlito"/>
                        </a:rPr>
                        <a:t>1.83</a:t>
                      </a:r>
                      <a:endParaRPr sz="700" b="1"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1.93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Sponsor IRR (%)</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1" i="0">
                          <a:solidFill>
                            <a:srgbClr val="1F3D63"/>
                          </a:solidFill>
                          <a:latin typeface="Carlito"/>
                        </a:rPr>
                        <a:t>20.7</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0" i="0">
                          <a:solidFill>
                            <a:srgbClr val="1B1F24"/>
                          </a:solidFill>
                          <a:latin typeface="Carlito"/>
                        </a:rPr>
                        <a:t>20.4</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20.1</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29" name="source"/>
          <p:cNvSpPr/>
          <p:nvPr/>
        </p:nvSpPr>
        <p:spPr>
          <a:xfrm>
            <a:off x="365760" y="7299452"/>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Source: sponsor model; lender term sheets; precedent financings compiled by the deal team (fictional); all figures illustrative.</a:t>
            </a:r>
          </a:p>
        </p:txBody>
      </p:sp>
      <p:sp>
        <p:nvSpPr>
          <p:cNvPr id="30" name="dim-bracket"/>
          <p:cNvSpPr/>
          <p:nvPr/>
        </p:nvSpPr>
        <p:spPr>
          <a:xfrm>
            <a:off x="1581496" y="1351344"/>
            <a:ext cx="18288" cy="419393"/>
          </a:xfrm>
          <a:prstGeom prst="rightBracket">
            <a:avLst/>
          </a:prstGeom>
          <a:noFill/>
          <a:ln w="9525">
            <a:solidFill>
              <a:srgbClr val="1B1F24"/>
            </a:solidFill>
          </a:ln>
        </p:spPr>
        <p:txBody>
          <a:bodyPr rtlCol="0" anchor="ctr"/>
          <a:lstStyle/>
          <a:p>
            <a:pPr algn="ctr"/>
          </a:p>
        </p:txBody>
      </p:sp>
      <p:sp>
        <p:nvSpPr>
          <p:cNvPr id="31" name="dim-label"/>
          <p:cNvSpPr/>
          <p:nvPr/>
        </p:nvSpPr>
        <p:spPr>
          <a:xfrm>
            <a:off x="1618072" y="1516591"/>
            <a:ext cx="666762"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1B1F24"/>
                </a:solidFill>
                <a:latin typeface="Carlito"/>
              </a:rPr>
              <a:t>26.6% headroom</a:t>
            </a:r>
          </a:p>
        </p:txBody>
      </p:sp>
    </p:spTree>
    <p:custDataLst>
      <p:tags r:id="rId3"/>
    </p:custData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35" name="chrome-1"/>
          <p:cNvCxnSpPr/>
          <p:nvPr/>
        </p:nvCxnSpPr>
        <p:spPr>
          <a:xfrm>
            <a:off x="365760" y="603504"/>
            <a:ext cx="9326880" cy="0"/>
          </a:xfrm>
          <a:prstGeom prst="line">
            <a:avLst/>
          </a:prstGeom>
          <a:ln w="12700">
            <a:solidFill>
              <a:srgbClr val="1F3D63"/>
            </a:solidFill>
          </a:ln>
        </p:spPr>
      </p:cxnSp>
      <p:cxnSp>
        <p:nvCxnSpPr>
          <p:cNvPr id="36" name="chrome-2"/>
          <p:cNvCxnSpPr/>
          <p:nvPr/>
        </p:nvCxnSpPr>
        <p:spPr>
          <a:xfrm>
            <a:off x="365760" y="7411212"/>
            <a:ext cx="9326880" cy="0"/>
          </a:xfrm>
          <a:prstGeom prst="line">
            <a:avLst/>
          </a:prstGeom>
          <a:ln w="6350">
            <a:solidFill>
              <a:srgbClr val="C3CAD3"/>
            </a:solidFill>
          </a:ln>
        </p:spPr>
      </p:cxnSp>
      <p:sp>
        <p:nvSpPr>
          <p:cNvPr id="37" name="chrome-3"/>
          <p:cNvSpPr txBox="1"/>
          <p:nvPr/>
        </p:nvSpPr>
        <p:spPr>
          <a:xfrm>
            <a:off x="365760" y="7452360"/>
            <a:ext cx="7315200" cy="152400"/>
          </a:xfrm>
          <a:prstGeom prst="rect">
            <a:avLst/>
          </a:prstGeom>
          <a:noFill/>
        </p:spPr>
        <p:txBody>
          <a:bodyPr wrap="none" lIns="0" tIns="0" rIns="0" bIns="0" anchor="t">
            <a:noAutofit/>
          </a:bodyPr>
          <a:lstStyle/>
          <a:p>
            <a:r>
              <a:rPr sz="700" b="0">
                <a:solidFill>
                  <a:srgbClr val="56606C"/>
                </a:solidFill>
                <a:latin typeface="Carlito"/>
              </a:rPr>
              <a:t>Project Corvane  |  Investment committee book  |  Section 4: Leveraged finance and LBO  |  Strictly confidential  |  Illustrative figures, fictional company</a:t>
            </a:r>
          </a:p>
        </p:txBody>
      </p:sp>
      <p:sp>
        <p:nvSpPr>
          <p:cNvPr id="38" name="chrome-4"/>
          <p:cNvSpPr txBox="1"/>
          <p:nvPr/>
        </p:nvSpPr>
        <p:spPr>
          <a:xfrm>
            <a:off x="8595360" y="7452360"/>
            <a:ext cx="1097280" cy="152400"/>
          </a:xfrm>
          <a:prstGeom prst="rect">
            <a:avLst/>
          </a:prstGeom>
          <a:noFill/>
        </p:spPr>
        <p:txBody>
          <a:bodyPr wrap="none" lIns="0" tIns="0" rIns="0" bIns="0" anchor="t">
            <a:noAutofit/>
          </a:bodyPr>
          <a:lstStyle/>
          <a:p>
            <a:pPr algn="r"/>
            <a:r>
              <a:rPr sz="700" b="1">
                <a:solidFill>
                  <a:srgbClr val="1B1F24"/>
                </a:solidFill>
                <a:latin typeface="Carlito"/>
              </a:rPr>
              <a:t>Sheet </a:t>
            </a:r>
            <a:fld id="{B6F15528-21DE-4FAA-801E-634DDDAF5B2F}" type="slidenum">
              <a:rPr sz="700">
                <a:solidFill>
                  <a:srgbClr val="1B1F24"/>
                </a:solidFill>
                <a:latin typeface="Carlito"/>
              </a:rPr>
              <a:t>1</a:t>
            </a:fld>
          </a:p>
        </p:txBody>
      </p:sp>
      <p:sp>
        <p:nvSpPr>
          <p:cNvPr id="2" name="kicker"/>
          <p:cNvSpPr/>
          <p:nvPr/>
        </p:nvSpPr>
        <p:spPr>
          <a:xfrm>
            <a:off x="365760" y="274320"/>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1" i="0">
                <a:solidFill>
                  <a:srgbClr val="1F3D63"/>
                </a:solidFill>
                <a:latin typeface="Carlito"/>
              </a:rPr>
              <a:t>SECTION 4  |  LEVERAGED FINANCE AND LBO  |  4.6 EXIT SCENARIOS</a:t>
            </a:r>
          </a:p>
        </p:txBody>
      </p:sp>
      <p:sp>
        <p:nvSpPr>
          <p:cNvPr id="3" name="title"/>
          <p:cNvSpPr/>
          <p:nvPr/>
        </p:nvSpPr>
        <p:spPr>
          <a:xfrm>
            <a:off x="365760" y="381508"/>
            <a:ext cx="9326880" cy="190500"/>
          </a:xfrm>
          <a:prstGeom prst="rect">
            <a:avLst/>
          </a:prstGeom>
          <a:noFill/>
        </p:spPr>
        <p:txBody>
          <a:bodyPr wrap="square" lIns="0" tIns="0" rIns="0" bIns="0" anchor="t">
            <a:noAutofit/>
          </a:bodyPr>
          <a:lstStyle/>
          <a:p>
            <a:pPr algn="l" marL="0" indent="0">
              <a:lnSpc>
                <a:spcPts val="1500"/>
              </a:lnSpc>
              <a:spcBef>
                <a:spcPts val="0"/>
              </a:spcBef>
              <a:spcAft>
                <a:spcPts val="0"/>
              </a:spcAft>
              <a:buNone/>
            </a:pPr>
            <a:r>
              <a:rPr sz="1500" b="1" i="0">
                <a:solidFill>
                  <a:srgbClr val="1B1F24"/>
                </a:solidFill>
                <a:latin typeface="Carlito"/>
              </a:rPr>
              <a:t>Exit scenarios and listed peer valuation</a:t>
            </a:r>
          </a:p>
        </p:txBody>
      </p:sp>
      <p:sp>
        <p:nvSpPr>
          <p:cNvPr id="4" name="scx_h"/>
          <p:cNvSpPr/>
          <p:nvPr/>
        </p:nvSpPr>
        <p:spPr>
          <a:xfrm>
            <a:off x="365760" y="690372"/>
            <a:ext cx="4167051"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Exit scenarios</a:t>
            </a:r>
          </a:p>
        </p:txBody>
      </p:sp>
      <p:sp>
        <p:nvSpPr>
          <p:cNvPr id="5" name="scx_u"/>
          <p:cNvSpPr/>
          <p:nvPr/>
        </p:nvSpPr>
        <p:spPr>
          <a:xfrm>
            <a:off x="365760" y="822960"/>
            <a:ext cx="4167051"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sponsor returns after net debt, exit costs and the incentive plan; base case shaded</a:t>
            </a:r>
          </a:p>
        </p:txBody>
      </p:sp>
      <p:graphicFrame>
        <p:nvGraphicFramePr>
          <p:cNvPr id="6" name="scen"/>
          <p:cNvGraphicFramePr>
            <a:graphicFrameLocks noGrp="1"/>
          </p:cNvGraphicFramePr>
          <p:nvPr/>
        </p:nvGraphicFramePr>
        <p:xfrm>
          <a:off x="365760" y="930148"/>
          <a:ext cx="4167051" cy="2039112"/>
        </p:xfrm>
        <a:graphic>
          <a:graphicData uri="http://schemas.openxmlformats.org/drawingml/2006/table">
            <a:tbl>
              <a:tblPr firstRow="0" bandRow="0" lastRow="0" firstCol="0" lastCol="0" bandCol="0"/>
              <a:tblGrid>
                <a:gridCol w="1041763"/>
                <a:gridCol w="781322"/>
                <a:gridCol w="781322"/>
                <a:gridCol w="781322"/>
                <a:gridCol w="781322"/>
              </a:tblGrid>
              <a:tr h="143256">
                <a:tc>
                  <a:txBody>
                    <a:bodyPr wrap="square"/>
                    <a:lstStyle/>
                    <a:p>
                      <a:pPr algn="l"/>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Strategic sale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0" i="0">
                          <a:solidFill>
                            <a:srgbClr val="1F3D63"/>
                          </a:solidFill>
                          <a:latin typeface="Carlito"/>
                        </a:rPr>
                        <a:t>Sponsor to sponsor</a:t>
                      </a:r>
                      <a:endParaRPr sz="700" b="0" i="0">
                        <a:solidFill>
                          <a:srgbClr val="1F3D63"/>
                        </a:solidFill>
                        <a:latin typeface="Carlito"/>
                      </a:endParaRPr>
                    </a:p>
                  </a:txBody>
                  <a:tcPr marL="18288" marR="18288" marT="18288" marB="18288" anchor="ctr">
                    <a:lnL w="0">
                      <a:noFill/>
                    </a:lnL>
                    <a:lnR w="0">
                      <a:noFill/>
                    </a:lnR>
                    <a:lnT w="0">
                      <a:noFill/>
                    </a:lnT>
                    <a:lnB w="12700">
                      <a:solidFill>
                        <a:srgbClr val="1B1F24"/>
                      </a:solidFill>
                    </a:lnB>
                    <a:solidFill>
                      <a:srgbClr val="E9EDF2"/>
                    </a:solidFill>
                  </a:tcPr>
                </a:tc>
                <a:tc>
                  <a:txBody>
                    <a:bodyPr wrap="square"/>
                    <a:lstStyle/>
                    <a:p>
                      <a:pPr algn="r"/>
                      <a:r>
                        <a:rPr sz="700" b="1" i="0">
                          <a:solidFill>
                            <a:srgbClr val="1B1F24"/>
                          </a:solidFill>
                          <a:latin typeface="Carlito"/>
                        </a:rPr>
                        <a:t>IPO and sell-down</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Downside hold</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Exit at year end</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FY2030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F3D63"/>
                          </a:solidFill>
                          <a:latin typeface="Carlito"/>
                        </a:rPr>
                        <a:t>FY2031</a:t>
                      </a:r>
                      <a:endParaRPr sz="700" b="0" i="0">
                        <a:solidFill>
                          <a:srgbClr val="1F3D63"/>
                        </a:solidFill>
                        <a:latin typeface="Carlito"/>
                      </a:endParaRPr>
                    </a:p>
                  </a:txBody>
                  <a:tcPr marL="18288" marR="18288" marT="18288" marB="18288" anchor="ctr">
                    <a:lnL w="0">
                      <a:noFill/>
                    </a:lnL>
                    <a:lnR w="0">
                      <a:noFill/>
                    </a:lnR>
                    <a:lnT w="12700">
                      <a:solidFill>
                        <a:srgbClr val="1B1F24"/>
                      </a:solidFill>
                    </a:lnT>
                    <a:lnB w="6350">
                      <a:solidFill>
                        <a:srgbClr val="C3CAD3"/>
                      </a:solidFill>
                    </a:lnB>
                    <a:solidFill>
                      <a:srgbClr val="E9EDF2"/>
                    </a:solidFill>
                  </a:tcPr>
                </a:tc>
                <a:tc>
                  <a:txBody>
                    <a:bodyPr wrap="square"/>
                    <a:lstStyle/>
                    <a:p>
                      <a:pPr algn="r"/>
                      <a:r>
                        <a:rPr sz="700" b="0" i="0">
                          <a:solidFill>
                            <a:srgbClr val="1B1F24"/>
                          </a:solidFill>
                          <a:latin typeface="Carlito"/>
                        </a:rPr>
                        <a:t>FY2031</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FY2031</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356616">
                <a:tc>
                  <a:txBody>
                    <a:bodyPr wrap="square"/>
                    <a:lstStyle/>
                    <a:p>
                      <a:pPr algn="l"/>
                      <a:r>
                        <a:rPr sz="700" b="0" i="0">
                          <a:solidFill>
                            <a:srgbClr val="1B1F24"/>
                          </a:solidFill>
                          <a:latin typeface="Carlito"/>
                        </a:rPr>
                        <a:t>Buyer universe</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Flow-control strategics; synergy-paying</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Large-cap industrial sponsors</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Listed flow-control peers; 15% IPO discount to 11.0x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Sponsors; cyclical trough multiple</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Exit-year Adj. EBITDA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200.2</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200.2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145.6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Exit EV / Adj. EBITDA (x)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10.00x</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9.35x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8.50x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Enterprise value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2,139.0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2,002.0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1,871.9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1,237.6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249936">
                <a:tc>
                  <a:txBody>
                    <a:bodyPr wrap="square"/>
                    <a:lstStyle/>
                    <a:p>
                      <a:pPr algn="l"/>
                      <a:r>
                        <a:rPr sz="700" b="0" i="0">
                          <a:solidFill>
                            <a:srgbClr val="1B1F24"/>
                          </a:solidFill>
                          <a:latin typeface="Carlito"/>
                        </a:rPr>
                        <a:t>Less: net debt and exit costs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(492.5)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(397.0)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(395.1)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(527.3)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Equity value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1,646.5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1,605.0</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1,476.8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710.3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Sponsor proceeds ($m)</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1,479.0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1,442.6</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0" i="0">
                          <a:solidFill>
                            <a:srgbClr val="1B1F24"/>
                          </a:solidFill>
                          <a:latin typeface="Carlito"/>
                        </a:rPr>
                        <a:t>1,330.1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657.3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MOIC (x)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2.62x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2.56x</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B0241B"/>
                          </a:solidFill>
                          <a:latin typeface="Carlito"/>
                        </a:rPr>
                        <a:t>2.36x</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1.17x</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IRR (%)</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27.3%</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F3D63"/>
                          </a:solidFill>
                          <a:latin typeface="Carlito"/>
                        </a:rPr>
                        <a:t>20.7%</a:t>
                      </a:r>
                      <a:endParaRPr sz="700" b="0" i="0">
                        <a:solidFill>
                          <a:srgbClr val="1F3D63"/>
                        </a:solidFill>
                        <a:latin typeface="Carlito"/>
                      </a:endParaRPr>
                    </a:p>
                  </a:txBody>
                  <a:tcPr marL="18288" marR="18288" marT="18288" marB="18288" anchor="ctr">
                    <a:lnL w="0">
                      <a:noFill/>
                    </a:lnL>
                    <a:lnR w="0">
                      <a:noFill/>
                    </a:lnR>
                    <a:lnT w="6350">
                      <a:solidFill>
                        <a:srgbClr val="C3CAD3"/>
                      </a:solidFill>
                    </a:lnT>
                    <a:lnB w="6350">
                      <a:solidFill>
                        <a:srgbClr val="C3CAD3"/>
                      </a:solidFill>
                    </a:lnB>
                    <a:solidFill>
                      <a:srgbClr val="E9EDF2"/>
                    </a:solidFill>
                  </a:tcPr>
                </a:tc>
                <a:tc>
                  <a:txBody>
                    <a:bodyPr wrap="square"/>
                    <a:lstStyle/>
                    <a:p>
                      <a:pPr algn="r"/>
                      <a:r>
                        <a:rPr sz="700" b="1" i="0">
                          <a:solidFill>
                            <a:srgbClr val="B0241B"/>
                          </a:solidFill>
                          <a:latin typeface="Carlito"/>
                        </a:rPr>
                        <a:t>18.7%</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B0241B"/>
                          </a:solidFill>
                          <a:latin typeface="Carlito"/>
                        </a:rPr>
                        <a:t>3.1%</a:t>
                      </a:r>
                      <a:endParaRPr sz="700" b="1" i="0">
                        <a:solidFill>
                          <a:srgbClr val="B0241B"/>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Probability (%)</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F3D63"/>
                          </a:solidFill>
                          <a:latin typeface="Carlito"/>
                        </a:rPr>
                        <a:t>40</a:t>
                      </a:r>
                      <a:endParaRPr sz="700" b="0"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0" i="0">
                          <a:solidFill>
                            <a:srgbClr val="1B1F24"/>
                          </a:solidFill>
                          <a:latin typeface="Carlito"/>
                        </a:rPr>
                        <a:t>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0">
                          <a:solidFill>
                            <a:srgbClr val="1B1F24"/>
                          </a:solidFill>
                          <a:latin typeface="Carlito"/>
                        </a:rPr>
                        <a:t>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7" name="scx_fn"/>
          <p:cNvSpPr/>
          <p:nvPr/>
        </p:nvSpPr>
        <p:spPr>
          <a:xfrm>
            <a:off x="365760" y="3014980"/>
            <a:ext cx="4167051"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IPO: 11.0x listed value less a 15% discount (9.35x), sell-down treated as one exit at FY2031 year end. Downside</a:t>
            </a:r>
            <a:br/>
            <a:r>
              <a:rPr sz="700" b="0" i="0">
                <a:solidFill>
                  <a:srgbClr val="56606C"/>
                </a:solidFill>
                <a:latin typeface="Carlito"/>
              </a:rPr>
              <a:t>hold: downside case at 8.5x.</a:t>
            </a:r>
          </a:p>
        </p:txBody>
      </p:sp>
      <p:sp>
        <p:nvSpPr>
          <p:cNvPr id="8" name="mcx_h"/>
          <p:cNvSpPr/>
          <p:nvPr/>
        </p:nvSpPr>
        <p:spPr>
          <a:xfrm>
            <a:off x="4669971" y="690372"/>
            <a:ext cx="2299063"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Sponsor MOIC and IRR by exit route</a:t>
            </a:r>
          </a:p>
        </p:txBody>
      </p:sp>
      <p:sp>
        <p:nvSpPr>
          <p:cNvPr id="9" name="mcx_u"/>
          <p:cNvSpPr/>
          <p:nvPr/>
        </p:nvSpPr>
        <p:spPr>
          <a:xfrm>
            <a:off x="4669971" y="822960"/>
            <a:ext cx="2299063"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x and %; below the 2.5x MOIC hurdle in red</a:t>
            </a:r>
          </a:p>
        </p:txBody>
      </p:sp>
      <p:graphicFrame>
        <p:nvGraphicFramePr>
          <p:cNvPr id="10" name="moic"/>
          <p:cNvGraphicFramePr>
            <a:graphicFrameLocks noGrp="1"/>
          </p:cNvGraphicFramePr>
          <p:nvPr/>
        </p:nvGraphicFramePr>
        <p:xfrm>
          <a:off x="4669971" y="930148"/>
          <a:ext cx="2299063" cy="2428240"/>
        </p:xfrm>
        <a:graphic>
          <a:graphicData uri="http://schemas.openxmlformats.org/drawingml/2006/chart">
            <c:chart xmlns:c="http://schemas.openxmlformats.org/drawingml/2006/chart" r:id="rId2"/>
          </a:graphicData>
        </a:graphic>
      </p:graphicFrame>
      <p:sp>
        <p:nvSpPr>
          <p:cNvPr id="11" name="n6_h"/>
          <p:cNvSpPr/>
          <p:nvPr/>
        </p:nvSpPr>
        <p:spPr>
          <a:xfrm>
            <a:off x="7106194" y="690372"/>
            <a:ext cx="2586446"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Exit view</a:t>
            </a:r>
          </a:p>
        </p:txBody>
      </p:sp>
      <p:sp>
        <p:nvSpPr>
          <p:cNvPr id="12" name="x1"/>
          <p:cNvSpPr/>
          <p:nvPr/>
        </p:nvSpPr>
        <p:spPr>
          <a:xfrm>
            <a:off x="7106194" y="815340"/>
            <a:ext cx="2586446"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Probability-weighted: 2.34x and 19.7%. Two of four routes</a:t>
            </a:r>
            <a:br/>
            <a:r>
              <a:rPr sz="800" b="0" i="0">
                <a:solidFill>
                  <a:srgbClr val="1B1F24"/>
                </a:solidFill>
                <a:latin typeface="Carlito"/>
              </a:rPr>
              <a:t>clear both hurdles; the IPO's 15% discount takes it to 18.7%.</a:t>
            </a:r>
          </a:p>
        </p:txBody>
      </p:sp>
      <p:sp>
        <p:nvSpPr>
          <p:cNvPr id="13" name="x3"/>
          <p:cNvSpPr/>
          <p:nvPr/>
        </p:nvSpPr>
        <p:spPr>
          <a:xfrm>
            <a:off x="7106194" y="1072388"/>
            <a:ext cx="2586446" cy="34544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Peers with 30% or more aftermarket trade at a median of</a:t>
            </a:r>
            <a:br/>
            <a:r>
              <a:rPr sz="800" b="0" i="0">
                <a:solidFill>
                  <a:srgbClr val="1B1F24"/>
                </a:solidFill>
                <a:latin typeface="Carlito"/>
              </a:rPr>
              <a:t>11.8x against 9.8x for the rest; Corvane reaches 30.5%</a:t>
            </a:r>
            <a:br/>
            <a:r>
              <a:rPr sz="800" b="0" i="0">
                <a:solidFill>
                  <a:srgbClr val="1B1F24"/>
                </a:solidFill>
                <a:latin typeface="Carlito"/>
              </a:rPr>
              <a:t>aftermarket by FY2031E.</a:t>
            </a:r>
          </a:p>
        </p:txBody>
      </p:sp>
      <p:sp>
        <p:nvSpPr>
          <p:cNvPr id="14" name="x4"/>
          <p:cNvSpPr/>
          <p:nvPr/>
        </p:nvSpPr>
        <p:spPr>
          <a:xfrm>
            <a:off x="7106194" y="1436116"/>
            <a:ext cx="2586446"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The downside hold at 8.5x returns 1.17x, capital back with a</a:t>
            </a:r>
            <a:br/>
            <a:r>
              <a:rPr sz="800" b="0" i="0">
                <a:solidFill>
                  <a:srgbClr val="1B1F24"/>
                </a:solidFill>
                <a:latin typeface="Carlito"/>
              </a:rPr>
              <a:t>3.1% IRR.</a:t>
            </a:r>
          </a:p>
        </p:txBody>
      </p:sp>
      <p:sp>
        <p:nvSpPr>
          <p:cNvPr id="15" name="rfx_h"/>
          <p:cNvSpPr/>
          <p:nvPr/>
        </p:nvSpPr>
        <p:spPr>
          <a:xfrm>
            <a:off x="7106194" y="1766316"/>
            <a:ext cx="2586446"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Reference multiples against the base exit</a:t>
            </a:r>
          </a:p>
        </p:txBody>
      </p:sp>
      <p:sp>
        <p:nvSpPr>
          <p:cNvPr id="16" name="rfx_u"/>
          <p:cNvSpPr/>
          <p:nvPr/>
        </p:nvSpPr>
        <p:spPr>
          <a:xfrm>
            <a:off x="7106194" y="1898904"/>
            <a:ext cx="2586446"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x EBITDA; bars from 6.0x; 6 of 7 sit above the 10.0x base exit (blue line)</a:t>
            </a:r>
          </a:p>
        </p:txBody>
      </p:sp>
      <p:graphicFrame>
        <p:nvGraphicFramePr>
          <p:cNvPr id="17" name="refm"/>
          <p:cNvGraphicFramePr>
            <a:graphicFrameLocks noGrp="1"/>
          </p:cNvGraphicFramePr>
          <p:nvPr/>
        </p:nvGraphicFramePr>
        <p:xfrm>
          <a:off x="7106194" y="2006092"/>
          <a:ext cx="2586446" cy="1352296"/>
        </p:xfrm>
        <a:graphic>
          <a:graphicData uri="http://schemas.openxmlformats.org/drawingml/2006/chart">
            <c:chart xmlns:c="http://schemas.openxmlformats.org/drawingml/2006/chart" r:id="rId3"/>
          </a:graphicData>
        </a:graphic>
      </p:graphicFrame>
      <p:sp>
        <p:nvSpPr>
          <p:cNvPr id="18" name="pcx_h"/>
          <p:cNvSpPr/>
          <p:nvPr/>
        </p:nvSpPr>
        <p:spPr>
          <a:xfrm>
            <a:off x="365760" y="3449828"/>
            <a:ext cx="5655212"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Listed flow-control peers: trading multiples</a:t>
            </a:r>
          </a:p>
        </p:txBody>
      </p:sp>
      <p:sp>
        <p:nvSpPr>
          <p:cNvPr id="19" name="pcx_u"/>
          <p:cNvSpPr/>
          <p:nvPr/>
        </p:nvSpPr>
        <p:spPr>
          <a:xfrm>
            <a:off x="365760" y="3582416"/>
            <a:ext cx="5655212"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fictional companies; consensus estimates; EV in $m; statistics exclude Corvane</a:t>
            </a:r>
          </a:p>
        </p:txBody>
      </p:sp>
      <p:graphicFrame>
        <p:nvGraphicFramePr>
          <p:cNvPr id="20" name="peers"/>
          <p:cNvGraphicFramePr>
            <a:graphicFrameLocks noGrp="1"/>
          </p:cNvGraphicFramePr>
          <p:nvPr/>
        </p:nvGraphicFramePr>
        <p:xfrm>
          <a:off x="365760" y="3689604"/>
          <a:ext cx="5655212" cy="2898648"/>
        </p:xfrm>
        <a:graphic>
          <a:graphicData uri="http://schemas.openxmlformats.org/drawingml/2006/table">
            <a:tbl>
              <a:tblPr firstRow="0" bandRow="0" lastRow="0" firstCol="0" lastCol="0" bandCol="0"/>
              <a:tblGrid>
                <a:gridCol w="1131042"/>
                <a:gridCol w="345605"/>
                <a:gridCol w="537296"/>
                <a:gridCol w="543635"/>
                <a:gridCol w="543634"/>
                <a:gridCol w="543634"/>
                <a:gridCol w="543634"/>
                <a:gridCol w="543634"/>
                <a:gridCol w="543634"/>
                <a:gridCol w="379464"/>
              </a:tblGrid>
              <a:tr h="356616">
                <a:tc>
                  <a:txBody>
                    <a:bodyPr wrap="square"/>
                    <a:lstStyle/>
                    <a:p>
                      <a:pPr algn="l"/>
                      <a:r>
                        <a:rPr sz="700" b="1" i="0">
                          <a:solidFill>
                            <a:srgbClr val="1B1F24"/>
                          </a:solidFill>
                          <a:latin typeface="Carlito"/>
                        </a:rPr>
                        <a:t>Company</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 Rev. 26E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 EBITDA 26E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 EBITDA 27E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Rev. growth 26E (%)</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EBITDA margin 26E (%)</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Aftermarket (%)</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Net debt / EBITDA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P / E 27E</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Brightwater Valve Group</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9,840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2.91x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13.6x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12.5x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6.1</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21.4</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38</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1.4x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19.8x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Aldergate Controls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7,215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Norrland Flow</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4.8</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249936">
                <a:tc>
                  <a:txBody>
                    <a:bodyPr wrap="square"/>
                    <a:lstStyle/>
                    <a:p>
                      <a:pPr algn="l"/>
                      <a:r>
                        <a:rPr sz="700" b="0" i="0">
                          <a:solidFill>
                            <a:srgbClr val="1B1F24"/>
                          </a:solidFill>
                          <a:latin typeface="Carlito"/>
                        </a:rPr>
                        <a:t>Castellan Process Technologies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4,980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Saxe-Halden</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4,410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10.3x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27</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Tessaly Pumps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3,865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Pemberton Fluid Systems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1.83x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Hartwell Motion and Flow</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2,775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13.7x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Orenvale Engineering</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16.1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Quillon Instruments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18.3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17.0x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Varga Hydraulics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Kormoran Industrial</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1,180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1.37x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3.6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15.1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21</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13.2x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Mean</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4,061</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1.89x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10.8x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10.1x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4.4</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17.3</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28</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2.3x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15.8x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B1F24"/>
                          </a:solidFill>
                          <a:latin typeface="Carlito"/>
                        </a:rPr>
                        <a:t>Median</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3,492</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1.77x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10.8x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10.1x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4.3</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16.7</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28</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2.3x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15.8x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High</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9,840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2.91x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13.6x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12.5x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6.4</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21.4</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38</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3.4x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19.8x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1">
                          <a:solidFill>
                            <a:srgbClr val="1B1F24"/>
                          </a:solidFill>
                          <a:latin typeface="Carlito"/>
                        </a:rPr>
                        <a:t>Low</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1,180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1.21x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8.6x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8.1x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2.2</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14.1</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19</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1.2x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12.6x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1" i="0">
                          <a:solidFill>
                            <a:srgbClr val="1F3D63"/>
                          </a:solidFill>
                          <a:latin typeface="Carlito"/>
                        </a:rPr>
                        <a:t>Corvane at entry</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1,260.0</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1.89x</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10.0x</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9.0x</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5.4</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18.9</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27.3</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5.6x</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c>
                  <a:txBody>
                    <a:bodyPr wrap="square"/>
                    <a:lstStyle/>
                    <a:p>
                      <a:pPr algn="r"/>
                      <a:r>
                        <a:rPr sz="700" b="1" i="0">
                          <a:solidFill>
                            <a:srgbClr val="1F3D63"/>
                          </a:solidFill>
                          <a:latin typeface="Carlito"/>
                        </a:rPr>
                        <a:t>NA</a:t>
                      </a:r>
                      <a:endParaRPr sz="700" b="1" i="0">
                        <a:solidFill>
                          <a:srgbClr val="1F3D63"/>
                        </a:solidFill>
                        <a:latin typeface="Carlito"/>
                      </a:endParaRPr>
                    </a:p>
                  </a:txBody>
                  <a:tcPr marL="18288" marR="18288" marT="18288" marB="18288" anchor="ctr">
                    <a:lnL w="0">
                      <a:noFill/>
                    </a:lnL>
                    <a:lnR w="0">
                      <a:noFill/>
                    </a:lnR>
                    <a:lnT w="6350">
                      <a:solidFill>
                        <a:srgbClr val="C3CAD3"/>
                      </a:solidFill>
                    </a:lnT>
                    <a:lnB w="12700">
                      <a:solidFill>
                        <a:srgbClr val="1B1F24"/>
                      </a:solidFill>
                    </a:lnB>
                    <a:solidFill>
                      <a:srgbClr val="E9EDF2"/>
                    </a:solidFill>
                  </a:tcPr>
                </a:tc>
              </a:tr>
            </a:tbl>
          </a:graphicData>
        </a:graphic>
      </p:graphicFrame>
      <p:sp>
        <p:nvSpPr>
          <p:cNvPr id="21" name="pcx_fn"/>
          <p:cNvSpPr/>
          <p:nvPr/>
        </p:nvSpPr>
        <p:spPr>
          <a:xfrm>
            <a:off x="365760" y="6633972"/>
            <a:ext cx="5655212"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Corvane at entry: EV of $1,260.0m on FY2026E and FY2027E base-case Adj. EBITDA; growth, margin and aftermarket share for FY2026E. Peers at 30% or</a:t>
            </a:r>
            <a:br/>
            <a:r>
              <a:rPr sz="700" b="0" i="0">
                <a:solidFill>
                  <a:srgbClr val="56606C"/>
                </a:solidFill>
                <a:latin typeface="Carlito"/>
              </a:rPr>
              <a:t>more aftermarket: Brightwater Valve Group, Aldergate Controls, Norrland Flow, Pemberton Fluid Systems, Quillon Instruments.</a:t>
            </a:r>
          </a:p>
        </p:txBody>
      </p:sp>
      <p:sp>
        <p:nvSpPr>
          <p:cNvPr id="22" name="prx_h"/>
          <p:cNvSpPr/>
          <p:nvPr/>
        </p:nvSpPr>
        <p:spPr>
          <a:xfrm>
            <a:off x="6158132" y="3449828"/>
            <a:ext cx="3534508" cy="114300"/>
          </a:xfrm>
          <a:prstGeom prst="rect">
            <a:avLst/>
          </a:prstGeom>
          <a:noFill/>
        </p:spPr>
        <p:txBody>
          <a:bodyPr wrap="square" lIns="0" tIns="0" rIns="0" bIns="0" anchor="t">
            <a:noAutofit/>
          </a:bodyPr>
          <a:lstStyle/>
          <a:p>
            <a:pPr algn="l" marL="0" indent="0">
              <a:lnSpc>
                <a:spcPts val="900"/>
              </a:lnSpc>
              <a:spcBef>
                <a:spcPts val="0"/>
              </a:spcBef>
              <a:spcAft>
                <a:spcPts val="0"/>
              </a:spcAft>
              <a:buNone/>
            </a:pPr>
            <a:r>
              <a:rPr sz="900" b="1" i="0">
                <a:solidFill>
                  <a:srgbClr val="1F3D63"/>
                </a:solidFill>
                <a:latin typeface="Carlito"/>
              </a:rPr>
              <a:t>Flow-control precedent transactions, 2023-2026</a:t>
            </a:r>
          </a:p>
        </p:txBody>
      </p:sp>
      <p:sp>
        <p:nvSpPr>
          <p:cNvPr id="23" name="prx_u"/>
          <p:cNvSpPr/>
          <p:nvPr/>
        </p:nvSpPr>
        <p:spPr>
          <a:xfrm>
            <a:off x="6158132" y="3582416"/>
            <a:ext cx="3534508"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1">
                <a:solidFill>
                  <a:srgbClr val="56606C"/>
                </a:solidFill>
                <a:latin typeface="Carlito"/>
              </a:rPr>
              <a:t>fictional deals; EV in $m; multiples of LTM EBITDA and revenue at announcement</a:t>
            </a:r>
          </a:p>
        </p:txBody>
      </p:sp>
      <p:graphicFrame>
        <p:nvGraphicFramePr>
          <p:cNvPr id="24" name="prec"/>
          <p:cNvGraphicFramePr>
            <a:graphicFrameLocks noGrp="1"/>
          </p:cNvGraphicFramePr>
          <p:nvPr/>
        </p:nvGraphicFramePr>
        <p:xfrm>
          <a:off x="6158132" y="3689604"/>
          <a:ext cx="3534508" cy="2325624"/>
        </p:xfrm>
        <a:graphic>
          <a:graphicData uri="http://schemas.openxmlformats.org/drawingml/2006/table">
            <a:tbl>
              <a:tblPr firstRow="0" bandRow="0" lastRow="0" firstCol="0" lastCol="0" bandCol="0"/>
              <a:tblGrid>
                <a:gridCol w="478955"/>
                <a:gridCol w="954317"/>
                <a:gridCol w="1060352"/>
                <a:gridCol w="345605"/>
                <a:gridCol w="347640"/>
                <a:gridCol w="347639"/>
              </a:tblGrid>
              <a:tr h="249936">
                <a:tc>
                  <a:txBody>
                    <a:bodyPr wrap="square"/>
                    <a:lstStyle/>
                    <a:p>
                      <a:pPr algn="l"/>
                      <a:r>
                        <a:rPr sz="700" b="1" i="0">
                          <a:solidFill>
                            <a:srgbClr val="1B1F24"/>
                          </a:solidFill>
                          <a:latin typeface="Carlito"/>
                        </a:rPr>
                        <a:t>Announced</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Target</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l"/>
                      <a:r>
                        <a:rPr sz="700" b="1" i="0">
                          <a:solidFill>
                            <a:srgbClr val="1B1F24"/>
                          </a:solidFill>
                          <a:latin typeface="Carlito"/>
                        </a:rPr>
                        <a:t>Acquirer</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($m)</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 EBITDA</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c>
                  <a:txBody>
                    <a:bodyPr wrap="square"/>
                    <a:lstStyle/>
                    <a:p>
                      <a:pPr algn="r"/>
                      <a:r>
                        <a:rPr sz="700" b="1" i="0">
                          <a:solidFill>
                            <a:srgbClr val="1B1F24"/>
                          </a:solidFill>
                          <a:latin typeface="Carlito"/>
                        </a:rPr>
                        <a:t>EV / Rev.</a:t>
                      </a:r>
                      <a:endParaRPr sz="700" b="1" i="0">
                        <a:solidFill>
                          <a:srgbClr val="1B1F24"/>
                        </a:solidFill>
                        <a:latin typeface="Carlito"/>
                      </a:endParaRPr>
                    </a:p>
                  </a:txBody>
                  <a:tcPr marL="18288" marR="18288" marT="18288" marB="18288" anchor="ctr">
                    <a:lnL w="0">
                      <a:noFill/>
                    </a:lnL>
                    <a:lnR w="0">
                      <a:noFill/>
                    </a:lnR>
                    <a:lnT w="0">
                      <a:noFill/>
                    </a:lnT>
                    <a:lnB w="12700">
                      <a:solidFill>
                        <a:srgbClr val="1B1F24"/>
                      </a:solidFill>
                    </a:lnB>
                    <a:noFill/>
                  </a:tcPr>
                </a:tc>
              </a:tr>
              <a:tr h="143256">
                <a:tc>
                  <a:txBody>
                    <a:bodyPr wrap="square"/>
                    <a:lstStyle/>
                    <a:p>
                      <a:pPr algn="l"/>
                      <a:r>
                        <a:rPr sz="700" b="0" i="0">
                          <a:solidFill>
                            <a:srgbClr val="1B1F24"/>
                          </a:solidFill>
                          <a:latin typeface="Carlito"/>
                        </a:rPr>
                        <a:t>Jun 2026</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Ostrava Valve Holdings</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l"/>
                      <a:r>
                        <a:rPr sz="700" b="0" i="0">
                          <a:solidFill>
                            <a:srgbClr val="1B1F24"/>
                          </a:solidFill>
                          <a:latin typeface="Carlito"/>
                        </a:rPr>
                        <a:t>Halvard Capital</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960</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10.1x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c>
                  <a:txBody>
                    <a:bodyPr wrap="square"/>
                    <a:lstStyle/>
                    <a:p>
                      <a:pPr algn="r"/>
                      <a:r>
                        <a:rPr sz="700" b="0" i="0">
                          <a:solidFill>
                            <a:srgbClr val="1B1F24"/>
                          </a:solidFill>
                          <a:latin typeface="Carlito"/>
                        </a:rPr>
                        <a:t>1.86x</a:t>
                      </a:r>
                      <a:endParaRPr sz="700" b="0" i="0">
                        <a:solidFill>
                          <a:srgbClr val="1B1F24"/>
                        </a:solidFill>
                        <a:latin typeface="Carlito"/>
                      </a:endParaRPr>
                    </a:p>
                  </a:txBody>
                  <a:tcPr marL="18288" marR="18288" marT="18288" marB="18288" anchor="ctr">
                    <a:lnL w="0">
                      <a:noFill/>
                    </a:lnL>
                    <a:lnR w="0">
                      <a:noFill/>
                    </a:lnR>
                    <a:lnT w="12700">
                      <a:solidFill>
                        <a:srgbClr val="1B1F24"/>
                      </a:solidFill>
                    </a:lnT>
                    <a:lnB w="6350">
                      <a:solidFill>
                        <a:srgbClr val="C3CAD3"/>
                      </a:solidFill>
                    </a:lnB>
                    <a:noFill/>
                  </a:tcPr>
                </a:tc>
              </a:tr>
              <a:tr h="143256">
                <a:tc>
                  <a:txBody>
                    <a:bodyPr wrap="square"/>
                    <a:lstStyle/>
                    <a:p>
                      <a:pPr algn="l"/>
                      <a:r>
                        <a:rPr sz="700" b="0" i="0">
                          <a:solidFill>
                            <a:srgbClr val="1B1F24"/>
                          </a:solidFill>
                          <a:latin typeface="Carlito"/>
                        </a:rPr>
                        <a:t>Mar 2026</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Lumen Fluid Controls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Brightwater Valve Group</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2.44x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Nov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Delacroix Pompes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Saxe-Halden</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1.97x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Aug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Ridgeway Actuators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Aldergate Controls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880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2.62x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May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Torvik Process Valves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Norrland Flow</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1,120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2.21x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Jan 2025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Calder Pump Works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Kestrel Ridge Partners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540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9.6x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1.48x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249936">
                <a:tc>
                  <a:txBody>
                    <a:bodyPr wrap="square"/>
                    <a:lstStyle/>
                    <a:p>
                      <a:pPr algn="l"/>
                      <a:r>
                        <a:rPr sz="700" b="0" i="0">
                          <a:solidFill>
                            <a:srgbClr val="1B1F24"/>
                          </a:solidFill>
                          <a:latin typeface="Carlito"/>
                        </a:rPr>
                        <a:t>Oct 2024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Seaborne Flow Services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Castellan Process Technologies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760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13.4x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2.85x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Jun 2024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Mattox Industrial Valves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Pemberton Fluid Systems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1,015</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11.1x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2.05x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Feb 2024</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Arlen Hydraulic Systems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Varga Hydraulics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430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9.2x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1.39x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r>
                        <a:rPr sz="700" b="0" i="0">
                          <a:solidFill>
                            <a:srgbClr val="1B1F24"/>
                          </a:solidFill>
                          <a:latin typeface="Carlito"/>
                        </a:rPr>
                        <a:t>Sep 2023</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Penrose Metering</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0">
                          <a:solidFill>
                            <a:srgbClr val="1B1F24"/>
                          </a:solidFill>
                          <a:latin typeface="Carlito"/>
                        </a:rPr>
                        <a:t>Quillon Instruments</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690</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12.2x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0">
                          <a:solidFill>
                            <a:srgbClr val="1B1F24"/>
                          </a:solidFill>
                          <a:latin typeface="Carlito"/>
                        </a:rPr>
                        <a:t>2.30x</a:t>
                      </a:r>
                      <a:endParaRPr sz="700" b="0"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249936">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1" i="0">
                          <a:solidFill>
                            <a:srgbClr val="1B1F24"/>
                          </a:solidFill>
                          <a:latin typeface="Carlito"/>
                        </a:rPr>
                        <a:t>Median, strategic buyers</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820</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12.0x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1" i="0">
                          <a:solidFill>
                            <a:srgbClr val="1B1F24"/>
                          </a:solidFill>
                          <a:latin typeface="Carlito"/>
                        </a:rPr>
                        <a:t>2.25x</a:t>
                      </a:r>
                      <a:endParaRPr sz="700" b="1" i="0">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r>
                        <a:rPr sz="700" b="0" i="1">
                          <a:solidFill>
                            <a:srgbClr val="1B1F24"/>
                          </a:solidFill>
                          <a:latin typeface="Carlito"/>
                        </a:rPr>
                        <a:t>Median, financial buyers</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750</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9.8x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c>
                  <a:txBody>
                    <a:bodyPr wrap="square"/>
                    <a:lstStyle/>
                    <a:p>
                      <a:pPr algn="r"/>
                      <a:r>
                        <a:rPr sz="700" b="0" i="1">
                          <a:solidFill>
                            <a:srgbClr val="1B1F24"/>
                          </a:solidFill>
                          <a:latin typeface="Carlito"/>
                        </a:rPr>
                        <a:t>1.67x</a:t>
                      </a:r>
                      <a:endParaRPr sz="700" b="0" i="1">
                        <a:solidFill>
                          <a:srgbClr val="1B1F24"/>
                        </a:solidFill>
                        <a:latin typeface="Carlito"/>
                      </a:endParaRPr>
                    </a:p>
                  </a:txBody>
                  <a:tcPr marL="18288" marR="18288" marT="18288" marB="18288" anchor="ctr">
                    <a:lnL w="0">
                      <a:noFill/>
                    </a:lnL>
                    <a:lnR w="0">
                      <a:noFill/>
                    </a:lnR>
                    <a:lnT w="6350">
                      <a:solidFill>
                        <a:srgbClr val="C3CAD3"/>
                      </a:solidFill>
                    </a:lnT>
                    <a:lnB w="6350">
                      <a:solidFill>
                        <a:srgbClr val="C3CAD3"/>
                      </a:solidFill>
                    </a:lnB>
                    <a:noFill/>
                  </a:tcPr>
                </a:tc>
              </a:tr>
              <a:tr h="143256">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l"/>
                      <a:r>
                        <a:rPr sz="700" b="0" i="1">
                          <a:solidFill>
                            <a:srgbClr val="1B1F24"/>
                          </a:solidFill>
                          <a:latin typeface="Carlito"/>
                        </a:rPr>
                        <a:t>Median, all</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l"/>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820</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11.6x</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c>
                  <a:txBody>
                    <a:bodyPr wrap="square"/>
                    <a:lstStyle/>
                    <a:p>
                      <a:pPr algn="r"/>
                      <a:r>
                        <a:rPr sz="700" b="0" i="1">
                          <a:solidFill>
                            <a:srgbClr val="1B1F24"/>
                          </a:solidFill>
                          <a:latin typeface="Carlito"/>
                        </a:rPr>
                        <a:t>2.13x</a:t>
                      </a:r>
                      <a:endParaRPr sz="700" b="0" i="1">
                        <a:solidFill>
                          <a:srgbClr val="1B1F24"/>
                        </a:solidFill>
                        <a:latin typeface="Carlito"/>
                      </a:endParaRPr>
                    </a:p>
                  </a:txBody>
                  <a:tcPr marL="18288" marR="18288" marT="18288" marB="18288" anchor="ctr">
                    <a:lnL w="0">
                      <a:noFill/>
                    </a:lnL>
                    <a:lnR w="0">
                      <a:noFill/>
                    </a:lnR>
                    <a:lnT w="6350">
                      <a:solidFill>
                        <a:srgbClr val="C3CAD3"/>
                      </a:solidFill>
                    </a:lnT>
                    <a:lnB w="12700">
                      <a:solidFill>
                        <a:srgbClr val="1B1F24"/>
                      </a:solidFill>
                    </a:lnB>
                    <a:noFill/>
                  </a:tcPr>
                </a:tc>
              </a:tr>
            </a:tbl>
          </a:graphicData>
        </a:graphic>
      </p:graphicFrame>
      <p:sp>
        <p:nvSpPr>
          <p:cNvPr id="25" name="prx_fn"/>
          <p:cNvSpPr/>
          <p:nvPr/>
        </p:nvSpPr>
        <p:spPr>
          <a:xfrm>
            <a:off x="6158132" y="6060948"/>
            <a:ext cx="3534508" cy="1778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Financial buyers: Halvard Capital and Kestrel Ridge Partners; all other acquirers are listed</a:t>
            </a:r>
            <a:br/>
            <a:r>
              <a:rPr sz="700" b="0" i="0">
                <a:solidFill>
                  <a:srgbClr val="56606C"/>
                </a:solidFill>
                <a:latin typeface="Carlito"/>
              </a:rPr>
              <a:t>strategics from the peer set.</a:t>
            </a:r>
          </a:p>
        </p:txBody>
      </p:sp>
      <p:sp>
        <p:nvSpPr>
          <p:cNvPr id="26" name="prep_h"/>
          <p:cNvSpPr/>
          <p:nvPr/>
        </p:nvSpPr>
        <p:spPr>
          <a:xfrm>
            <a:off x="6158132" y="6330188"/>
            <a:ext cx="3534508" cy="106680"/>
          </a:xfrm>
          <a:prstGeom prst="rect">
            <a:avLst/>
          </a:prstGeom>
          <a:noFill/>
        </p:spPr>
        <p:txBody>
          <a:bodyPr wrap="square" lIns="0" tIns="0" rIns="0" bIns="0" anchor="t">
            <a:noAutofit/>
          </a:bodyPr>
          <a:lstStyle/>
          <a:p>
            <a:pPr algn="l" marL="0" indent="0">
              <a:lnSpc>
                <a:spcPts val="840"/>
              </a:lnSpc>
              <a:spcBef>
                <a:spcPts val="0"/>
              </a:spcBef>
              <a:spcAft>
                <a:spcPts val="0"/>
              </a:spcAft>
              <a:buNone/>
            </a:pPr>
            <a:r>
              <a:rPr sz="800" b="1" i="0">
                <a:solidFill>
                  <a:srgbClr val="1B1F24"/>
                </a:solidFill>
                <a:latin typeface="Carlito"/>
              </a:rPr>
              <a:t>Exit preparation</a:t>
            </a:r>
          </a:p>
        </p:txBody>
      </p:sp>
      <p:sp>
        <p:nvSpPr>
          <p:cNvPr id="27" name="e1"/>
          <p:cNvSpPr/>
          <p:nvPr/>
        </p:nvSpPr>
        <p:spPr>
          <a:xfrm>
            <a:off x="6158132" y="6455156"/>
            <a:ext cx="3534508"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Report aftermarket and services as a separate segment from FY2027E, so buyers</a:t>
            </a:r>
            <a:br/>
            <a:r>
              <a:rPr sz="800" b="0" i="0">
                <a:solidFill>
                  <a:srgbClr val="1B1F24"/>
                </a:solidFill>
                <a:latin typeface="Carlito"/>
              </a:rPr>
              <a:t>can price its 30.5% margin.</a:t>
            </a:r>
          </a:p>
        </p:txBody>
      </p:sp>
      <p:sp>
        <p:nvSpPr>
          <p:cNvPr id="28" name="e2"/>
          <p:cNvSpPr/>
          <p:nvPr/>
        </p:nvSpPr>
        <p:spPr>
          <a:xfrm>
            <a:off x="6158132" y="6712204"/>
            <a:ext cx="3534508"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Three years of audited segment accounts by FY2029E keep the IPO route open</a:t>
            </a:r>
            <a:br/>
            <a:r>
              <a:rPr sz="800" b="0" i="0">
                <a:solidFill>
                  <a:srgbClr val="1B1F24"/>
                </a:solidFill>
                <a:latin typeface="Carlito"/>
              </a:rPr>
              <a:t>alongside a sale.</a:t>
            </a:r>
          </a:p>
        </p:txBody>
      </p:sp>
      <p:sp>
        <p:nvSpPr>
          <p:cNvPr id="29" name="e3"/>
          <p:cNvSpPr/>
          <p:nvPr/>
        </p:nvSpPr>
        <p:spPr>
          <a:xfrm>
            <a:off x="6158132" y="6969252"/>
            <a:ext cx="3534508" cy="238760"/>
          </a:xfrm>
          <a:prstGeom prst="rect">
            <a:avLst/>
          </a:prstGeom>
          <a:noFill/>
        </p:spPr>
        <p:txBody>
          <a:bodyPr wrap="square" lIns="0" tIns="0" rIns="0" bIns="0" anchor="t">
            <a:noAutofit/>
          </a:bodyPr>
          <a:lstStyle/>
          <a:p>
            <a:pPr algn="l" lvl="0" marL="91440" indent="-91440">
              <a:lnSpc>
                <a:spcPts val="840"/>
              </a:lnSpc>
              <a:spcBef>
                <a:spcPts val="0"/>
              </a:spcBef>
              <a:spcAft>
                <a:spcPts val="200"/>
              </a:spcAft>
              <a:buFont typeface="Carlito"/>
              <a:buChar char="•"/>
            </a:pPr>
            <a:r>
              <a:rPr sz="800" b="0" i="0">
                <a:solidFill>
                  <a:srgbClr val="1B1F24"/>
                </a:solidFill>
                <a:latin typeface="Carlito"/>
              </a:rPr>
              <a:t>All 8 strategic acquirers of the last three years are listed peers in the table: the</a:t>
            </a:r>
            <a:br/>
            <a:r>
              <a:rPr sz="800" b="0" i="0">
                <a:solidFill>
                  <a:srgbClr val="1B1F24"/>
                </a:solidFill>
                <a:latin typeface="Carlito"/>
              </a:rPr>
              <a:t>buyer universe is known.</a:t>
            </a:r>
          </a:p>
        </p:txBody>
      </p:sp>
      <p:sp>
        <p:nvSpPr>
          <p:cNvPr id="30" name="source"/>
          <p:cNvSpPr/>
          <p:nvPr/>
        </p:nvSpPr>
        <p:spPr>
          <a:xfrm>
            <a:off x="365760" y="7299452"/>
            <a:ext cx="9326880" cy="88900"/>
          </a:xfrm>
          <a:prstGeom prst="rect">
            <a:avLst/>
          </a:prstGeom>
          <a:noFill/>
        </p:spPr>
        <p:txBody>
          <a:bodyPr wrap="square" lIns="0" tIns="0" rIns="0" bIns="0" anchor="t">
            <a:noAutofit/>
          </a:bodyPr>
          <a:lstStyle/>
          <a:p>
            <a:pPr algn="l" marL="0" indent="0">
              <a:lnSpc>
                <a:spcPts val="700"/>
              </a:lnSpc>
              <a:spcBef>
                <a:spcPts val="0"/>
              </a:spcBef>
              <a:spcAft>
                <a:spcPts val="0"/>
              </a:spcAft>
              <a:buNone/>
            </a:pPr>
            <a:r>
              <a:rPr sz="700" b="0" i="0">
                <a:solidFill>
                  <a:srgbClr val="56606C"/>
                </a:solidFill>
                <a:latin typeface="Carlito"/>
              </a:rPr>
              <a:t>Source: sponsor model; peer consensus estimates as of October 2026 (fictional companies); all figures illustrative.</a:t>
            </a:r>
          </a:p>
        </p:txBody>
      </p:sp>
      <p:cxnSp>
        <p:nvCxnSpPr>
          <p:cNvPr id="31" name="hurdle-line"/>
          <p:cNvCxnSpPr/>
          <p:nvPr/>
        </p:nvCxnSpPr>
        <p:spPr>
          <a:xfrm flipV="1">
            <a:off x="6588499" y="1221537"/>
            <a:ext cx="0" cy="2088286"/>
          </a:xfrm>
          <a:prstGeom prst="line">
            <a:avLst/>
          </a:prstGeom>
          <a:ln w="15875">
            <a:solidFill>
              <a:srgbClr val="B85400"/>
            </a:solidFill>
            <a:prstDash val="dash"/>
          </a:ln>
        </p:spPr>
      </p:cxnSp>
      <p:sp>
        <p:nvSpPr>
          <p:cNvPr id="32" name="hurdle-label"/>
          <p:cNvSpPr/>
          <p:nvPr/>
        </p:nvSpPr>
        <p:spPr>
          <a:xfrm>
            <a:off x="6356563" y="1132637"/>
            <a:ext cx="463872" cy="88900"/>
          </a:xfrm>
          <a:prstGeom prst="rect">
            <a:avLst/>
          </a:prstGeom>
          <a:noFill/>
        </p:spPr>
        <p:txBody>
          <a:bodyPr wrap="square" lIns="0" tIns="0" rIns="0" bIns="0" anchor="t">
            <a:noAutofit/>
          </a:bodyPr>
          <a:lstStyle/>
          <a:p>
            <a:pPr algn="ctr" marL="0" indent="0">
              <a:lnSpc>
                <a:spcPts val="700"/>
              </a:lnSpc>
              <a:spcBef>
                <a:spcPts val="0"/>
              </a:spcBef>
              <a:spcAft>
                <a:spcPts val="0"/>
              </a:spcAft>
              <a:buNone/>
            </a:pPr>
            <a:r>
              <a:rPr sz="700" b="1" i="0">
                <a:solidFill>
                  <a:srgbClr val="B85400"/>
                </a:solidFill>
                <a:latin typeface="Carlito"/>
              </a:rPr>
              <a:t>Hurdle 2.5x</a:t>
            </a:r>
          </a:p>
        </p:txBody>
      </p:sp>
      <p:cxnSp>
        <p:nvCxnSpPr>
          <p:cNvPr id="33" name="basex-line"/>
          <p:cNvCxnSpPr/>
          <p:nvPr/>
        </p:nvCxnSpPr>
        <p:spPr>
          <a:xfrm flipV="1">
            <a:off x="9071893" y="2168368"/>
            <a:ext cx="0" cy="1162974"/>
          </a:xfrm>
          <a:prstGeom prst="line">
            <a:avLst/>
          </a:prstGeom>
          <a:ln w="15875">
            <a:solidFill>
              <a:srgbClr val="1F3D63"/>
            </a:solidFill>
          </a:ln>
        </p:spPr>
      </p:cxnSp>
      <p:sp>
        <p:nvSpPr>
          <p:cNvPr id="34" name="basex-label"/>
          <p:cNvSpPr/>
          <p:nvPr/>
        </p:nvSpPr>
        <p:spPr>
          <a:xfrm>
            <a:off x="8776277" y="2079468"/>
            <a:ext cx="591231" cy="88900"/>
          </a:xfrm>
          <a:prstGeom prst="rect">
            <a:avLst/>
          </a:prstGeom>
          <a:noFill/>
        </p:spPr>
        <p:txBody>
          <a:bodyPr wrap="square" lIns="0" tIns="0" rIns="0" bIns="0" anchor="t">
            <a:noAutofit/>
          </a:bodyPr>
          <a:lstStyle/>
          <a:p>
            <a:pPr algn="ctr" marL="0" indent="0">
              <a:lnSpc>
                <a:spcPts val="700"/>
              </a:lnSpc>
              <a:spcBef>
                <a:spcPts val="0"/>
              </a:spcBef>
              <a:spcAft>
                <a:spcPts val="0"/>
              </a:spcAft>
              <a:buNone/>
            </a:pPr>
            <a:r>
              <a:rPr sz="700" b="1" i="0">
                <a:solidFill>
                  <a:srgbClr val="1F3D63"/>
                </a:solidFill>
                <a:latin typeface="Carlito"/>
              </a:rPr>
              <a:t>Base exit 10.0x</a:t>
            </a:r>
          </a:p>
        </p:txBody>
      </p:sp>
    </p:spTree>
    <p:custDataLst>
      <p:tags r:id="rId4"/>
    </p:custDataLst>
  </p:cSld>
  <p:clrMapOvr>
    <a:masterClrMapping/>
  </p:clrMapOvr>
</p:sld>
</file>

<file path=ppt/tags/tag1.xml><?xml version="1.0" encoding="utf-8"?>
<p:tagLst xmlns:p="http://schemas.openxmlformats.org/presentationml/2006/main">
  <p:tag name="pptx-skill" val="generated"/>
</p:tagLst>
</file>

<file path=ppt/tags/tag2.xml><?xml version="1.0" encoding="utf-8"?>
<p:tagLst xmlns:p="http://schemas.openxmlformats.org/presentationml/2006/main">
  <p:tag name="pptx-skill" val="generated"/>
</p:tagLst>
</file>

<file path=ppt/tags/tag3.xml><?xml version="1.0" encoding="utf-8"?>
<p:tagLst xmlns:p="http://schemas.openxmlformats.org/presentationml/2006/main">
  <p:tag name="pptx-skill" val="generated"/>
</p:tagLst>
</file>

<file path=ppt/tags/tag4.xml><?xml version="1.0" encoding="utf-8"?>
<p:tagLst xmlns:p="http://schemas.openxmlformats.org/presentationml/2006/main">
  <p:tag name="pptx-skill" val="generated"/>
</p:tagLst>
</file>

<file path=ppt/tags/tag5.xml><?xml version="1.0" encoding="utf-8"?>
<p:tagLst xmlns:p="http://schemas.openxmlformats.org/presentationml/2006/main">
  <p:tag name="pptx-skill" val="generated"/>
</p:tagLst>
</file>

<file path=ppt/tags/tag6.xml><?xml version="1.0" encoding="utf-8"?>
<p:tagLst xmlns:p="http://schemas.openxmlformats.org/presentationml/2006/main">
  <p:tag name="pptx-skill" val="generate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