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8"/>
          <c:y val="0.02"/>
          <c:w val="0.28"/>
          <c:h val="0.96"/>
        </c:manualLayout>
      </c:layout>
      <c:barChart>
        <c:barDir val="bar"/>
        <c:grouping val="clustered"/>
        <c:varyColors val="0"/>
        <c:ser>
          <c:idx val="0"/>
          <c:order val="0"/>
          <c:tx>
            <c:strRef>
              <c:f>Sheet1!$B$1</c:f>
              <c:strCache>
                <c:ptCount val="1"/>
                <c:pt idx="0">
                  <c:v>Share of FY2026E revenue (%)</c:v>
                </c:pt>
              </c:strCache>
            </c:strRef>
          </c:tx>
          <c:spPr>
            <a:solidFill>
              <a:srgbClr val="1F3D63"/>
            </a:solidFill>
            <a:ln>
              <a:noFill/>
            </a:ln>
          </c:spPr>
          <c:dPt>
            <c:idx val="3"/>
            <c:spPr>
              <a:solidFill>
                <a:srgbClr val="A9B1BB"/>
              </a:solidFill>
            </c:spPr>
          </c:dPt>
          <c:dPt>
            <c:idx val="4"/>
            <c:spPr>
              <a:solidFill>
                <a:srgbClr val="A9B1BB"/>
              </a:solidFill>
            </c:spPr>
          </c:dPt>
          <c:dPt>
            <c:idx val="5"/>
            <c:spPr>
              <a:solidFill>
                <a:srgbClr val="A9B1BB"/>
              </a:solidFill>
            </c:spPr>
          </c:dPt>
          <c:dPt>
            <c:idx val="6"/>
            <c:spPr>
              <a:solidFill>
                <a:srgbClr val="A9B1BB"/>
              </a:solidFill>
            </c:spPr>
          </c:dPt>
          <c:dLbls>
            <c:numFmt formatCode="0.0" sourceLinked="0"/>
            <c:txPr>
              <a:bodyPr/>
              <a:lstStyle/>
              <a:p>
                <a:pPr>
                  <a:defRPr sz="700" b="1" i="0">
                    <a:solidFill>
                      <a:srgbClr val="1B1F24"/>
                    </a:solidFill>
                    <a:latin typeface="Arial"/>
                  </a:defRPr>
                </a:pPr>
              </a:p>
            </c:txPr>
            <c:dLblPos val="outEnd"/>
            <c:showLegendKey val="0"/>
            <c:showVal val="1"/>
            <c:showCatName val="0"/>
            <c:showSerName val="0"/>
            <c:showPercent val="0"/>
            <c:showBubbleSize val="0"/>
            <c:showLeaderLines val="1"/>
          </c:dLbls>
          <c:cat>
            <c:strRef>
              <c:f>Sheet1!$A$2:$A$8</c:f>
              <c:strCache>
                <c:ptCount val="7"/>
                <c:pt idx="0">
                  <c:v>Water and wastewater</c:v>
                </c:pt>
                <c:pt idx="1">
                  <c:v>Power generation</c:v>
                </c:pt>
                <c:pt idx="2">
                  <c:v>Food, beverage and pharma</c:v>
                </c:pt>
                <c:pt idx="3">
                  <c:v>Chemicals and petrochemicals</c:v>
                </c:pt>
                <c:pt idx="4">
                  <c:v>Midstream oil and gas</c:v>
                </c:pt>
                <c:pt idx="5">
                  <c:v>General industrial</c:v>
                </c:pt>
                <c:pt idx="6">
                  <c:v>Mining and minerals</c:v>
                </c:pt>
              </c:strCache>
            </c:strRef>
          </c:cat>
          <c:val>
            <c:numRef>
              <c:f>Sheet1!$B$2:$B$8</c:f>
              <c:numCache>
                <c:formatCode>0.0</c:formatCode>
                <c:ptCount val="7"/>
                <c:pt idx="0">
                  <c:v>18.6</c:v>
                </c:pt>
                <c:pt idx="1">
                  <c:v>14.2</c:v>
                </c:pt>
                <c:pt idx="2">
                  <c:v>11.3</c:v>
                </c:pt>
                <c:pt idx="3">
                  <c:v>22.4</c:v>
                </c:pt>
                <c:pt idx="4">
                  <c:v>12.1</c:v>
                </c:pt>
                <c:pt idx="5">
                  <c:v>11.8</c:v>
                </c:pt>
                <c:pt idx="6">
                  <c:v>9.6</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7.0"/>
          <c:min val="0.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
          <c:w val="1.0"/>
          <c:h val="1.0"/>
        </c:manualLayout>
      </c:layout>
      <c:barChart>
        <c:barDir val="col"/>
        <c:grouping val="stacked"/>
        <c:varyColors val="0"/>
        <c:ser>
          <c:idx val="0"/>
          <c:order val="0"/>
          <c:tx>
            <c:strRef>
              <c:f>Sheet1!$B$1</c:f>
              <c:strCache>
                <c:ptCount val="1"/>
                <c:pt idx="0">
                  <c:v>First-lien term loan B</c:v>
                </c:pt>
              </c:strCache>
            </c:strRef>
          </c:tx>
          <c:spPr>
            <a:solidFill>
              <a:srgbClr val="1F3D63"/>
            </a:solidFill>
            <a:ln w="9525">
              <a:solidFill>
                <a:srgbClr val="FFFFFF"/>
              </a:solidFill>
            </a:ln>
          </c:spPr>
          <c:dLbls>
            <c:dLbl>
              <c:idx val="0"/>
              <c:tx>
                <c:rich>
                  <a:bodyPr/>
                  <a:lstStyle/>
                  <a:p>
                    <a:r>
                      <a:rPr sz="700" b="1" i="0">
                        <a:solidFill>
                          <a:srgbClr val="FFFFFF"/>
                        </a:solidFill>
                        <a:latin typeface="Arial"/>
                      </a:rPr>
                      <a:t>First-lien TLB</a:t>
                    </a:r>
                  </a:p>
                  <a:p>
                    <a:r>
                      <a:rPr sz="700" b="1" i="0">
                        <a:solidFill>
                          <a:srgbClr val="FFFFFF"/>
                        </a:solidFill>
                        <a:latin typeface="Arial"/>
                      </a:rPr>
                      <a:t>$567.0m</a:t>
                    </a:r>
                  </a:p>
                  <a:p>
                    <a:r>
                      <a:rPr sz="700" b="1" i="0">
                        <a:solidFill>
                          <a:srgbClr val="FFFFFF"/>
                        </a:solidFill>
                        <a:latin typeface="Arial"/>
                      </a:rPr>
                      <a:t>4.50x</a:t>
                    </a:r>
                  </a:p>
                </c:rich>
              </c:tx>
              <c:txPr>
                <a:bodyPr/>
                <a:lstStyle/>
                <a:p>
                  <a:pPr>
                    <a:defRPr sz="700" b="1" i="0">
                      <a:solidFill>
                        <a:srgbClr val="FFFFFF"/>
                      </a:solidFill>
                      <a:latin typeface="Arial"/>
                    </a:defRPr>
                  </a:pPr>
                </a:p>
              </c:txPr>
              <c:dLblPos val="ctr"/>
              <c:showLegendKey val="0"/>
              <c:showVal val="1"/>
              <c:showCatName val="0"/>
              <c:showSerName val="0"/>
              <c:showPercent val="0"/>
              <c:showBubbleSize val="0"/>
            </c:dLbl>
            <c:txPr>
              <a:bodyPr/>
              <a:lstStyle/>
              <a:p>
                <a:pPr>
                  <a:defRPr sz="700" b="1" i="0">
                    <a:solidFill>
                      <a:srgbClr val="FFFFFF"/>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Sheet1!$B$2:$B$2</c:f>
              <c:numCache>
                <c:formatCode>0.00</c:formatCode>
                <c:ptCount val="1"/>
                <c:pt idx="0">
                  <c:v>4.5</c:v>
                </c:pt>
              </c:numCache>
            </c:numRef>
          </c:val>
        </c:ser>
        <c:ser>
          <c:idx val="1"/>
          <c:order val="1"/>
          <c:tx>
            <c:strRef>
              <c:f>Sheet1!$C$1</c:f>
              <c:strCache>
                <c:ptCount val="1"/>
                <c:pt idx="0">
                  <c:v>Senior unsecured notes</c:v>
                </c:pt>
              </c:strCache>
            </c:strRef>
          </c:tx>
          <c:spPr>
            <a:solidFill>
              <a:srgbClr val="6F8DB3"/>
            </a:solidFill>
            <a:ln w="9525">
              <a:solidFill>
                <a:srgbClr val="FFFFFF"/>
              </a:solidFill>
            </a:ln>
          </c:spPr>
          <c:dLbls>
            <c:dLbl>
              <c:idx val="0"/>
              <c:tx>
                <c:rich>
                  <a:bodyPr/>
                  <a:lstStyle/>
                  <a:p>
                    <a:r>
                      <a:rPr sz="700" b="1" i="0">
                        <a:solidFill>
                          <a:srgbClr val="1B1F24"/>
                        </a:solidFill>
                        <a:latin typeface="Arial"/>
                      </a:rPr>
                      <a:t>Notes</a:t>
                    </a:r>
                  </a:p>
                  <a:p>
                    <a:r>
                      <a:rPr sz="700" b="1" i="0">
                        <a:solidFill>
                          <a:srgbClr val="1B1F24"/>
                        </a:solidFill>
                        <a:latin typeface="Arial"/>
                      </a:rPr>
                      <a:t>1.25x</a:t>
                    </a:r>
                  </a:p>
                </c:rich>
              </c:tx>
              <c:txPr>
                <a:bodyPr/>
                <a:lstStyle/>
                <a:p>
                  <a:pPr>
                    <a:defRPr sz="700" b="1" i="0">
                      <a:solidFill>
                        <a:srgbClr val="1B1F24"/>
                      </a:solidFill>
                      <a:latin typeface="Arial"/>
                    </a:defRPr>
                  </a:pPr>
                </a:p>
              </c:txPr>
              <c:dLblPos val="ctr"/>
              <c:showLegendKey val="0"/>
              <c:showVal val="1"/>
              <c:showCatName val="0"/>
              <c:showSerName val="0"/>
              <c:showPercent val="0"/>
              <c:showBubbleSize val="0"/>
            </c:dLbl>
            <c:txPr>
              <a:bodyPr/>
              <a:lstStyle/>
              <a:p>
                <a:pPr>
                  <a:defRPr sz="700" b="1" i="0">
                    <a:solidFill>
                      <a:srgbClr val="1B1F24"/>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Sheet1!$C$2:$C$2</c:f>
              <c:numCache>
                <c:formatCode>0.00</c:formatCode>
                <c:ptCount val="1"/>
                <c:pt idx="0">
                  <c:v>1.25</c:v>
                </c:pt>
              </c:numCache>
            </c:numRef>
          </c:val>
        </c:ser>
        <c:ser>
          <c:idx val="2"/>
          <c:order val="2"/>
          <c:tx>
            <c:strRef>
              <c:f>Sheet1!$D$1</c:f>
              <c:strCache>
                <c:ptCount val="1"/>
                <c:pt idx="0">
                  <c:v>Equity</c:v>
                </c:pt>
              </c:strCache>
            </c:strRef>
          </c:tx>
          <c:spPr>
            <a:solidFill>
              <a:srgbClr val="A9B1BB"/>
            </a:solidFill>
            <a:ln w="9525">
              <a:solidFill>
                <a:srgbClr val="FFFFFF"/>
              </a:solidFill>
            </a:ln>
          </c:spPr>
          <c:dLbls>
            <c:dLbl>
              <c:idx val="0"/>
              <c:tx>
                <c:rich>
                  <a:bodyPr/>
                  <a:lstStyle/>
                  <a:p>
                    <a:r>
                      <a:rPr sz="700" b="1" i="0">
                        <a:solidFill>
                          <a:srgbClr val="1B1F24"/>
                        </a:solidFill>
                        <a:latin typeface="Arial"/>
                      </a:rPr>
                      <a:t>Equity</a:t>
                    </a:r>
                  </a:p>
                  <a:p>
                    <a:r>
                      <a:rPr sz="700" b="1" i="0">
                        <a:solidFill>
                          <a:srgbClr val="1B1F24"/>
                        </a:solidFill>
                        <a:latin typeface="Arial"/>
                      </a:rPr>
                      <a:t>$604.0m</a:t>
                    </a:r>
                  </a:p>
                  <a:p>
                    <a:r>
                      <a:rPr sz="700" b="1" i="0">
                        <a:solidFill>
                          <a:srgbClr val="1B1F24"/>
                        </a:solidFill>
                        <a:latin typeface="Arial"/>
                      </a:rPr>
                      <a:t>4.79x</a:t>
                    </a:r>
                  </a:p>
                </c:rich>
              </c:tx>
              <c:txPr>
                <a:bodyPr/>
                <a:lstStyle/>
                <a:p>
                  <a:pPr>
                    <a:defRPr sz="700" b="1" i="0">
                      <a:solidFill>
                        <a:srgbClr val="1B1F24"/>
                      </a:solidFill>
                      <a:latin typeface="Arial"/>
                    </a:defRPr>
                  </a:pPr>
                </a:p>
              </c:txPr>
              <c:dLblPos val="ctr"/>
              <c:showLegendKey val="0"/>
              <c:showVal val="1"/>
              <c:showCatName val="0"/>
              <c:showSerName val="0"/>
              <c:showPercent val="0"/>
              <c:showBubbleSize val="0"/>
            </c:dLbl>
            <c:txPr>
              <a:bodyPr/>
              <a:lstStyle/>
              <a:p>
                <a:pPr>
                  <a:defRPr sz="700" b="1" i="0">
                    <a:solidFill>
                      <a:srgbClr val="1B1F24"/>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Sheet1!$D$2:$D$2</c:f>
              <c:numCache>
                <c:formatCode>0.00</c:formatCode>
                <c:ptCount val="1"/>
                <c:pt idx="0">
                  <c:v>4.79</c:v>
                </c:pt>
              </c:numCache>
            </c:numRef>
          </c:val>
        </c:ser>
        <c:gapWidth val="12"/>
        <c:overlap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10.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8"/>
          <c:w val="1.0"/>
          <c:h val="0.74"/>
        </c:manualLayout>
      </c:layout>
      <c:barChart>
        <c:barDir val="col"/>
        <c:grouping val="clustered"/>
        <c:varyColors val="0"/>
        <c:ser>
          <c:idx val="0"/>
          <c:order val="0"/>
          <c:tx>
            <c:strRef>
              <c:f>Sheet1!$B$1</c:f>
              <c:strCache>
                <c:ptCount val="1"/>
                <c:pt idx="0">
                  <c:v>Adj. EBITDA ($m)</c:v>
                </c:pt>
              </c:strCache>
            </c:strRef>
          </c:tx>
          <c:spPr>
            <a:solidFill>
              <a:srgbClr val="1F3D63"/>
            </a:solidFill>
            <a:ln>
              <a:noFill/>
            </a:ln>
          </c:spPr>
          <c:dPt>
            <c:idx val="0"/>
            <c:spPr>
              <a:solidFill>
                <a:srgbClr val="A9B1BB"/>
              </a:solidFill>
            </c:spPr>
          </c:dPt>
          <c:dPt>
            <c:idx val="1"/>
            <c:spPr>
              <a:solidFill>
                <a:srgbClr val="A9B1BB"/>
              </a:solidFill>
            </c:spPr>
          </c:dPt>
          <c:dPt>
            <c:idx val="2"/>
            <c:spPr>
              <a:solidFill>
                <a:srgbClr val="A9B1BB"/>
              </a:solidFill>
            </c:spPr>
          </c:dPt>
          <c:dPt>
            <c:idx val="3"/>
            <c:spPr>
              <a:solidFill>
                <a:srgbClr val="A9B1BB"/>
              </a:solidFill>
            </c:spPr>
          </c:dPt>
          <c:dPt>
            <c:idx val="4"/>
            <c:spPr>
              <a:solidFill>
                <a:srgbClr val="A9B1BB"/>
              </a:solidFill>
            </c:spPr>
          </c:dPt>
          <c:dPt>
            <c:idx val="5"/>
            <c:spPr>
              <a:solidFill>
                <a:srgbClr val="A9B1BB"/>
              </a:solidFill>
            </c:spPr>
          </c:dPt>
          <c:dLbls>
            <c:numFmt formatCode="0" sourceLinked="0"/>
            <c:txPr>
              <a:bodyPr/>
              <a:lstStyle/>
              <a:p>
                <a:pPr>
                  <a:defRPr sz="700" b="1" i="0">
                    <a:solidFill>
                      <a:srgbClr val="1B1F24"/>
                    </a:solidFill>
                    <a:latin typeface="Arial"/>
                  </a:defRPr>
                </a:pPr>
              </a:p>
            </c:txPr>
            <c:dLblPos val="outEnd"/>
            <c:showLegendKey val="0"/>
            <c:showVal val="1"/>
            <c:showCatName val="0"/>
            <c:showSerName val="0"/>
            <c:showPercent val="0"/>
            <c:showBubbleSize val="0"/>
            <c:showLeaderLines val="1"/>
          </c:dLbls>
          <c:cat>
            <c:strRef>
              <c:f>Sheet1!$A$2:$A$12</c:f>
              <c:strCache>
                <c:ptCount val="11"/>
                <c:pt idx="0">
                  <c:v>21A</c:v>
                </c:pt>
                <c:pt idx="1">
                  <c:v>22A</c:v>
                </c:pt>
                <c:pt idx="2">
                  <c:v>23A</c:v>
                </c:pt>
                <c:pt idx="3">
                  <c:v>24A</c:v>
                </c:pt>
                <c:pt idx="4">
                  <c:v>25A</c:v>
                </c:pt>
                <c:pt idx="5">
                  <c:v>26E</c:v>
                </c:pt>
                <c:pt idx="6">
                  <c:v>27E</c:v>
                </c:pt>
                <c:pt idx="7">
                  <c:v>28E</c:v>
                </c:pt>
                <c:pt idx="8">
                  <c:v>29E</c:v>
                </c:pt>
                <c:pt idx="9">
                  <c:v>30E</c:v>
                </c:pt>
                <c:pt idx="10">
                  <c:v>31E</c:v>
                </c:pt>
              </c:strCache>
            </c:strRef>
          </c:cat>
          <c:val>
            <c:numRef>
              <c:f>Sheet1!$B$2:$B$12</c:f>
              <c:numCache>
                <c:formatCode>0</c:formatCode>
                <c:ptCount val="11"/>
                <c:pt idx="0">
                  <c:v>80.0</c:v>
                </c:pt>
                <c:pt idx="1">
                  <c:v>90.6</c:v>
                </c:pt>
                <c:pt idx="2">
                  <c:v>101.2</c:v>
                </c:pt>
                <c:pt idx="3">
                  <c:v>106.6</c:v>
                </c:pt>
                <c:pt idx="4">
                  <c:v>117.1</c:v>
                </c:pt>
                <c:pt idx="5">
                  <c:v>126.0</c:v>
                </c:pt>
                <c:pt idx="6">
                  <c:v>140.2</c:v>
                </c:pt>
                <c:pt idx="7">
                  <c:v>155.2</c:v>
                </c:pt>
                <c:pt idx="8">
                  <c:v>170.8</c:v>
                </c:pt>
                <c:pt idx="9">
                  <c:v>186.0</c:v>
                </c:pt>
                <c:pt idx="10">
                  <c:v>200.2</c:v>
                </c:pt>
              </c:numCache>
            </c:numRef>
          </c:val>
        </c:ser>
        <c:gapWidth val="40"/>
        <c:axId val="-2068027336"/>
        <c:axId val="-2113994440"/>
      </c:bar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3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6"/>
          <c:w val="1.0"/>
          <c:h val="0.84"/>
        </c:manualLayout>
      </c:layout>
      <c:barChart>
        <c:barDir val="col"/>
        <c:grouping val="stacked"/>
        <c:varyColors val="0"/>
        <c:ser>
          <c:idx val="0"/>
          <c:order val="0"/>
          <c:tx>
            <c:strRef>
              <c:f>Sheet1!$B$1</c:f>
              <c:strCache>
                <c:ptCount val="1"/>
                <c:pt idx="0">
                  <c:v>Base</c:v>
                </c:pt>
              </c:strCache>
            </c:strRef>
          </c:tx>
          <c:spPr>
            <a:noFill/>
            <a:ln>
              <a:noFill/>
            </a:ln>
          </c:spPr>
          <c:cat>
            <c:strRef>
              <c:f>Sheet1!$A$2:$A$8</c:f>
              <c:strCache>
                <c:ptCount val="7"/>
                <c:pt idx="0">
                  <c:v>Equity invested</c:v>
                </c:pt>
                <c:pt idx="1">
                  <c:v>Entry fees and costs</c:v>
                </c:pt>
                <c:pt idx="2">
                  <c:v>Adj. EBITDA growth</c:v>
                </c:pt>
                <c:pt idx="3">
                  <c:v>Debt paydown</c:v>
                </c:pt>
                <c:pt idx="4">
                  <c:v>Exit costs</c:v>
                </c:pt>
                <c:pt idx="5">
                  <c:v>Incentive plan</c:v>
                </c:pt>
                <c:pt idx="6">
                  <c:v>Equity to holders</c:v>
                </c:pt>
              </c:strCache>
            </c:strRef>
          </c:cat>
          <c:val>
            <c:numRef>
              <c:f>Sheet1!$B$2:$B$8</c:f>
              <c:numCache>
                <c:formatCode>0.0</c:formatCode>
                <c:ptCount val="7"/>
                <c:pt idx="0">
                  <c:v>0.0</c:v>
                </c:pt>
                <c:pt idx="1">
                  <c:v>560.5</c:v>
                </c:pt>
                <c:pt idx="2">
                  <c:v>560.5</c:v>
                </c:pt>
                <c:pt idx="3">
                  <c:v>1302.5</c:v>
                </c:pt>
                <c:pt idx="4">
                  <c:v>1605.0</c:v>
                </c:pt>
                <c:pt idx="5">
                  <c:v>1544.9</c:v>
                </c:pt>
                <c:pt idx="6">
                  <c:v>0.0</c:v>
                </c:pt>
              </c:numCache>
            </c:numRef>
          </c:val>
        </c:ser>
        <c:ser>
          <c:idx val="1"/>
          <c:order val="1"/>
          <c:tx>
            <c:strRef>
              <c:f>Sheet1!$C$1</c:f>
              <c:strCache>
                <c:ptCount val="1"/>
                <c:pt idx="0">
                  <c:v>Step</c:v>
                </c:pt>
              </c:strCache>
            </c:strRef>
          </c:tx>
          <c:spPr>
            <a:solidFill>
              <a:srgbClr val="1F3D63"/>
            </a:solidFill>
            <a:ln>
              <a:noFill/>
            </a:ln>
          </c:spPr>
          <c:dPt>
            <c:idx val="0"/>
            <c:spPr>
              <a:solidFill>
                <a:srgbClr val="A9B1BB"/>
              </a:solidFill>
            </c:spPr>
          </c:dPt>
          <c:dPt>
            <c:idx val="1"/>
            <c:spPr>
              <a:solidFill>
                <a:srgbClr val="B0241B"/>
              </a:solidFill>
            </c:spPr>
          </c:dPt>
          <c:dPt>
            <c:idx val="4"/>
            <c:spPr>
              <a:solidFill>
                <a:srgbClr val="B0241B"/>
              </a:solidFill>
            </c:spPr>
          </c:dPt>
          <c:dPt>
            <c:idx val="5"/>
            <c:spPr>
              <a:solidFill>
                <a:srgbClr val="B0241B"/>
              </a:solidFill>
            </c:spPr>
          </c:dPt>
          <c:cat>
            <c:strRef>
              <c:f>Sheet1!$A$2:$A$8</c:f>
              <c:strCache>
                <c:ptCount val="7"/>
                <c:pt idx="0">
                  <c:v>Equity invested</c:v>
                </c:pt>
                <c:pt idx="1">
                  <c:v>Entry fees and costs</c:v>
                </c:pt>
                <c:pt idx="2">
                  <c:v>Adj. EBITDA growth</c:v>
                </c:pt>
                <c:pt idx="3">
                  <c:v>Debt paydown</c:v>
                </c:pt>
                <c:pt idx="4">
                  <c:v>Exit costs</c:v>
                </c:pt>
                <c:pt idx="5">
                  <c:v>Incentive plan</c:v>
                </c:pt>
                <c:pt idx="6">
                  <c:v>Equity to holders</c:v>
                </c:pt>
              </c:strCache>
            </c:strRef>
          </c:cat>
          <c:val>
            <c:numRef>
              <c:f>Sheet1!$C$2:$C$8</c:f>
              <c:numCache>
                <c:formatCode>0.0</c:formatCode>
                <c:ptCount val="7"/>
                <c:pt idx="0">
                  <c:v>604.0</c:v>
                </c:pt>
                <c:pt idx="1">
                  <c:v>43.5</c:v>
                </c:pt>
                <c:pt idx="2">
                  <c:v>742.0</c:v>
                </c:pt>
                <c:pt idx="3">
                  <c:v>332.5</c:v>
                </c:pt>
                <c:pt idx="4">
                  <c:v>30.0</c:v>
                </c:pt>
                <c:pt idx="5">
                  <c:v>60.1</c:v>
                </c:pt>
                <c:pt idx="6">
                  <c:v>1544.9</c:v>
                </c:pt>
              </c:numCache>
            </c:numRef>
          </c:val>
        </c:ser>
        <c:ser>
          <c:idx val="2"/>
          <c:order val="2"/>
          <c:tx>
            <c:strRef>
              <c:f>Sheet1!$D$1</c:f>
              <c:strCache>
                <c:ptCount val="1"/>
                <c:pt idx="0">
                  <c:v>Label</c:v>
                </c:pt>
              </c:strCache>
            </c:strRef>
          </c:tx>
          <c:spPr>
            <a:noFill/>
            <a:ln>
              <a:noFill/>
            </a:ln>
          </c:spPr>
          <c:dLbls>
            <c:dLbl>
              <c:idx val="0"/>
              <c:tx>
                <c:rich>
                  <a:bodyPr/>
                  <a:lstStyle/>
                  <a:p>
                    <a:r>
                      <a:rPr sz="700" b="1" i="0">
                        <a:solidFill>
                          <a:srgbClr val="1B1F24"/>
                        </a:solidFill>
                        <a:latin typeface="Arial"/>
                      </a:rPr>
                      <a:t>$604.0m</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1"/>
              <c:tx>
                <c:rich>
                  <a:bodyPr/>
                  <a:lstStyle/>
                  <a:p>
                    <a:r>
                      <a:rPr sz="700" b="1" i="0">
                        <a:solidFill>
                          <a:srgbClr val="1B1F24"/>
                        </a:solidFill>
                        <a:latin typeface="Arial"/>
                      </a:rPr>
                      <a:t>(43.5)</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2"/>
              <c:tx>
                <c:rich>
                  <a:bodyPr/>
                  <a:lstStyle/>
                  <a:p>
                    <a:r>
                      <a:rPr sz="700" b="1" i="0">
                        <a:solidFill>
                          <a:srgbClr val="1B1F24"/>
                        </a:solidFill>
                        <a:latin typeface="Arial"/>
                      </a:rPr>
                      <a:t>+742.0</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3"/>
              <c:tx>
                <c:rich>
                  <a:bodyPr/>
                  <a:lstStyle/>
                  <a:p>
                    <a:r>
                      <a:rPr sz="700" b="1" i="0">
                        <a:solidFill>
                          <a:srgbClr val="1B1F24"/>
                        </a:solidFill>
                        <a:latin typeface="Arial"/>
                      </a:rPr>
                      <a:t>+332.5</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4"/>
              <c:tx>
                <c:rich>
                  <a:bodyPr/>
                  <a:lstStyle/>
                  <a:p>
                    <a:r>
                      <a:rPr sz="700" b="1" i="0">
                        <a:solidFill>
                          <a:srgbClr val="1B1F24"/>
                        </a:solidFill>
                        <a:latin typeface="Arial"/>
                      </a:rPr>
                      <a:t>(30.0)</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5"/>
              <c:tx>
                <c:rich>
                  <a:bodyPr/>
                  <a:lstStyle/>
                  <a:p>
                    <a:r>
                      <a:rPr sz="700" b="1" i="0">
                        <a:solidFill>
                          <a:srgbClr val="1B1F24"/>
                        </a:solidFill>
                        <a:latin typeface="Arial"/>
                      </a:rPr>
                      <a:t>(60.1)</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6"/>
              <c:tx>
                <c:rich>
                  <a:bodyPr/>
                  <a:lstStyle/>
                  <a:p>
                    <a:r>
                      <a:rPr sz="700" b="1" i="0">
                        <a:solidFill>
                          <a:srgbClr val="1B1F24"/>
                        </a:solidFill>
                        <a:latin typeface="Arial"/>
                      </a:rPr>
                      <a:t>$1,544.9m</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txPr>
              <a:bodyPr/>
              <a:lstStyle/>
              <a:p>
                <a:pPr>
                  <a:defRPr sz="700" b="1" i="0">
                    <a:solidFill>
                      <a:srgbClr val="1B1F24"/>
                    </a:solidFill>
                    <a:latin typeface="Arial"/>
                  </a:defRPr>
                </a:pPr>
              </a:p>
            </c:txPr>
            <c:dLblPos val="inBase"/>
            <c:showLegendKey val="0"/>
            <c:showVal val="1"/>
            <c:showCatName val="0"/>
            <c:showSerName val="0"/>
            <c:showPercent val="0"/>
            <c:showBubbleSize val="0"/>
            <c:showLeaderLines val="1"/>
          </c:dLbls>
          <c:cat>
            <c:strRef>
              <c:f>Sheet1!$A$2:$A$8</c:f>
              <c:strCache>
                <c:ptCount val="7"/>
                <c:pt idx="0">
                  <c:v>Equity invested</c:v>
                </c:pt>
                <c:pt idx="1">
                  <c:v>Entry fees and costs</c:v>
                </c:pt>
                <c:pt idx="2">
                  <c:v>Adj. EBITDA growth</c:v>
                </c:pt>
                <c:pt idx="3">
                  <c:v>Debt paydown</c:v>
                </c:pt>
                <c:pt idx="4">
                  <c:v>Exit costs</c:v>
                </c:pt>
                <c:pt idx="5">
                  <c:v>Incentive plan</c:v>
                </c:pt>
                <c:pt idx="6">
                  <c:v>Equity to holders</c:v>
                </c:pt>
              </c:strCache>
            </c:strRef>
          </c:cat>
          <c:val>
            <c:numRef>
              <c:f>Sheet1!$D$2:$D$8</c:f>
              <c:numCache>
                <c:formatCode>0.0</c:formatCode>
                <c:ptCount val="7"/>
                <c:pt idx="0">
                  <c:v>0.0</c:v>
                </c:pt>
                <c:pt idx="1">
                  <c:v>0.0</c:v>
                </c:pt>
                <c:pt idx="2">
                  <c:v>0.0</c:v>
                </c:pt>
                <c:pt idx="3">
                  <c:v>0.0</c:v>
                </c:pt>
                <c:pt idx="4">
                  <c:v>0.0</c:v>
                </c:pt>
                <c:pt idx="5">
                  <c:v>0.0</c:v>
                </c:pt>
                <c:pt idx="6">
                  <c:v>0.0</c:v>
                </c:pt>
              </c:numCache>
            </c:numRef>
          </c:val>
        </c:ser>
        <c:gapWidth val="35"/>
        <c:overlap val="100"/>
        <c:axId val="-2068027336"/>
        <c:axId val="-2113994440"/>
      </c:bar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17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12"/>
          <c:w val="0.86"/>
          <c:h val="0.74"/>
        </c:manualLayout>
      </c:layout>
      <c:barChart>
        <c:barDir val="col"/>
        <c:grouping val="clustered"/>
        <c:varyColors val="0"/>
        <c:ser>
          <c:idx val="0"/>
          <c:order val="0"/>
          <c:tx>
            <c:strRef>
              <c:f>Sheet1!$B$1</c:f>
              <c:strCache>
                <c:ptCount val="1"/>
                <c:pt idx="0">
                  <c:v>Base case</c:v>
                </c:pt>
              </c:strCache>
            </c:strRef>
          </c:tx>
          <c:spPr>
            <a:solidFill>
              <a:srgbClr val="1F3D63"/>
            </a:solidFill>
            <a:ln>
              <a:noFill/>
            </a:ln>
          </c:spPr>
          <c:dLbls>
            <c:numFmt formatCode="0.00&quot;x&quot;" sourceLinked="0"/>
            <c:txPr>
              <a:bodyPr/>
              <a:lstStyle/>
              <a:p>
                <a:pPr>
                  <a:defRPr sz="700" b="1" i="0">
                    <a:solidFill>
                      <a:srgbClr val="1F3D63"/>
                    </a:solidFill>
                    <a:latin typeface="Arial"/>
                  </a:defRPr>
                </a:pPr>
              </a:p>
            </c:txPr>
            <c:dLblPos val="outEnd"/>
            <c:showLegendKey val="0"/>
            <c:showVal val="1"/>
            <c:showCatName val="0"/>
            <c:showSerName val="0"/>
            <c:showPercent val="0"/>
            <c:showBubbleSize val="0"/>
            <c:showLeaderLines val="1"/>
          </c:dLbls>
          <c:cat>
            <c:strRef>
              <c:f>Sheet1!$A$2:$A$7</c:f>
              <c:strCache>
                <c:ptCount val="6"/>
                <c:pt idx="0">
                  <c:v>PF FY26</c:v>
                </c:pt>
                <c:pt idx="1">
                  <c:v>FY27E</c:v>
                </c:pt>
                <c:pt idx="2">
                  <c:v>FY28E</c:v>
                </c:pt>
                <c:pt idx="3">
                  <c:v>FY29E</c:v>
                </c:pt>
                <c:pt idx="4">
                  <c:v>FY30E</c:v>
                </c:pt>
                <c:pt idx="5">
                  <c:v>FY31E</c:v>
                </c:pt>
              </c:strCache>
            </c:strRef>
          </c:cat>
          <c:val>
            <c:numRef>
              <c:f>Sheet1!$B$2:$B$7</c:f>
              <c:numCache>
                <c:formatCode>0.00</c:formatCode>
                <c:ptCount val="6"/>
                <c:pt idx="0">
                  <c:v>4.3</c:v>
                </c:pt>
                <c:pt idx="1">
                  <c:v>3.58</c:v>
                </c:pt>
                <c:pt idx="2">
                  <c:v>2.89</c:v>
                </c:pt>
                <c:pt idx="3">
                  <c:v>2.24</c:v>
                </c:pt>
                <c:pt idx="4">
                  <c:v>1.63</c:v>
                </c:pt>
                <c:pt idx="5">
                  <c:v>1.05</c:v>
                </c:pt>
              </c:numCache>
            </c:numRef>
          </c:val>
        </c:ser>
        <c:ser>
          <c:idx val="1"/>
          <c:order val="1"/>
          <c:tx>
            <c:strRef>
              <c:f>Sheet1!$C$1</c:f>
              <c:strCache>
                <c:ptCount val="1"/>
                <c:pt idx="0">
                  <c:v>Downside case</c:v>
                </c:pt>
              </c:strCache>
            </c:strRef>
          </c:tx>
          <c:spPr>
            <a:solidFill>
              <a:srgbClr val="B0241B"/>
            </a:solidFill>
            <a:ln>
              <a:noFill/>
            </a:ln>
          </c:spPr>
          <c:dLbls>
            <c:numFmt formatCode="0.00&quot;x&quot;" sourceLinked="0"/>
            <c:txPr>
              <a:bodyPr/>
              <a:lstStyle/>
              <a:p>
                <a:pPr>
                  <a:defRPr sz="700" b="1" i="0">
                    <a:solidFill>
                      <a:srgbClr val="B0241B"/>
                    </a:solidFill>
                    <a:latin typeface="Arial"/>
                  </a:defRPr>
                </a:pPr>
              </a:p>
            </c:txPr>
            <c:dLblPos val="outEnd"/>
            <c:showLegendKey val="0"/>
            <c:showVal val="1"/>
            <c:showCatName val="0"/>
            <c:showSerName val="0"/>
            <c:showPercent val="0"/>
            <c:showBubbleSize val="0"/>
            <c:showLeaderLines val="1"/>
          </c:dLbls>
          <c:cat>
            <c:strRef>
              <c:f>Sheet1!$A$2:$A$7</c:f>
              <c:strCache>
                <c:ptCount val="6"/>
                <c:pt idx="0">
                  <c:v>PF FY26</c:v>
                </c:pt>
                <c:pt idx="1">
                  <c:v>FY27E</c:v>
                </c:pt>
                <c:pt idx="2">
                  <c:v>FY28E</c:v>
                </c:pt>
                <c:pt idx="3">
                  <c:v>FY29E</c:v>
                </c:pt>
                <c:pt idx="4">
                  <c:v>FY30E</c:v>
                </c:pt>
                <c:pt idx="5">
                  <c:v>FY31E</c:v>
                </c:pt>
              </c:strCache>
            </c:strRef>
          </c:cat>
          <c:val>
            <c:numRef>
              <c:f>Sheet1!$C$2:$C$7</c:f>
              <c:numCache>
                <c:formatCode>0.00</c:formatCode>
                <c:ptCount val="6"/>
                <c:pt idx="0">
                  <c:v>4.3</c:v>
                </c:pt>
                <c:pt idx="1">
                  <c:v>4.84</c:v>
                </c:pt>
                <c:pt idx="2">
                  <c:v>4.28</c:v>
                </c:pt>
                <c:pt idx="3">
                  <c:v>3.58</c:v>
                </c:pt>
                <c:pt idx="4">
                  <c:v>2.97</c:v>
                </c:pt>
                <c:pt idx="5">
                  <c:v>2.41</c:v>
                </c:pt>
              </c:numCache>
            </c:numRef>
          </c:val>
        </c:ser>
        <c:gapWidth val="60"/>
        <c:axId val="-2068027336"/>
        <c:axId val="-2113994440"/>
      </c:barChart>
      <c:lineChart>
        <c:grouping val="standard"/>
        <c:varyColors val="0"/>
        <c:ser>
          <c:idx val="2"/>
          <c:order val="2"/>
          <c:tx>
            <c:strRef>
              <c:f>Sheet1!$D$1</c:f>
              <c:strCache>
                <c:ptCount val="1"/>
                <c:pt idx="0">
                  <c:v>Springing covenant 6.60x</c:v>
                </c:pt>
              </c:strCache>
            </c:strRef>
          </c:tx>
          <c:spPr>
            <a:ln w="19050">
              <a:solidFill>
                <a:srgbClr val="B85400"/>
              </a:solidFill>
            </a:ln>
          </c:spPr>
          <c:marker>
            <c:symbol val="none"/>
          </c:marker>
          <c:cat>
            <c:strRef>
              <c:f>Sheet1!$A$2:$A$7</c:f>
              <c:strCache>
                <c:ptCount val="6"/>
                <c:pt idx="0">
                  <c:v>PF FY26</c:v>
                </c:pt>
                <c:pt idx="1">
                  <c:v>FY27E</c:v>
                </c:pt>
                <c:pt idx="2">
                  <c:v>FY28E</c:v>
                </c:pt>
                <c:pt idx="3">
                  <c:v>FY29E</c:v>
                </c:pt>
                <c:pt idx="4">
                  <c:v>FY30E</c:v>
                </c:pt>
                <c:pt idx="5">
                  <c:v>FY31E</c:v>
                </c:pt>
              </c:strCache>
            </c:strRef>
          </c:cat>
          <c:val>
            <c:numRef>
              <c:f>Sheet1!$D$2:$D$7</c:f>
              <c:numCache>
                <c:formatCode>0.00</c:formatCode>
                <c:ptCount val="6"/>
                <c:pt idx="0">
                  <c:v>6.6</c:v>
                </c:pt>
                <c:pt idx="1">
                  <c:v>6.6</c:v>
                </c:pt>
                <c:pt idx="2">
                  <c:v>6.6</c:v>
                </c:pt>
                <c:pt idx="3">
                  <c:v>6.6</c:v>
                </c:pt>
                <c:pt idx="4">
                  <c:v>6.6</c:v>
                </c:pt>
                <c:pt idx="5">
                  <c:v>6.6</c:v>
                </c:pt>
              </c:numCache>
            </c:numRef>
          </c:val>
          <c:smooth val="0"/>
        </c:ser>
        <c:marker val="1"/>
        <c:smooth val="0"/>
        <c:axId val="-2068027336"/>
        <c:axId val="-2113994440"/>
      </c:line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7.2"/>
          <c:min val="0.0"/>
        </c:scaling>
        <c:delete/>
        <c:axPos val="l"/>
        <c:majorTickMark val="out"/>
        <c:minorTickMark val="none"/>
        <c:tickLblPos val="nextTo"/>
        <c:crossAx val="-2068027336"/>
        <c:crosses val="autoZero"/>
        <c:crossBetween val="between"/>
      </c:valAx>
      <c:spPr>
        <a:noFill/>
      </c:spPr>
    </c:plotArea>
    <c:legend>
      <c:legendPos val="t"/>
      <c:overlay val="0"/>
      <c:txPr>
        <a:bodyPr/>
        <a:lstStyle/>
        <a:p>
          <a:pPr>
            <a:defRPr sz="700" b="0" i="0">
              <a:solidFill>
                <a:srgbClr val="1B1F24"/>
              </a:solidFill>
              <a:latin typeface="Arial"/>
            </a:defRPr>
          </a:pPr>
        </a:p>
      </c:txPr>
    </c:legend>
    <c:dispBlanksAs val="gap"/>
  </c:chart>
  <c:txPr>
    <a:bodyPr/>
    <a:lstStyle/>
    <a:p>
      <a:pPr>
        <a:defRPr sz="700" b="0" i="0">
          <a:solidFill>
            <a:srgbClr val="56606C"/>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6"/>
          <c:y val="0.12"/>
          <c:w val="0.58"/>
          <c:h val="0.86"/>
        </c:manualLayout>
      </c:layout>
      <c:barChart>
        <c:barDir val="bar"/>
        <c:grouping val="clustered"/>
        <c:varyColors val="0"/>
        <c:ser>
          <c:idx val="0"/>
          <c:order val="0"/>
          <c:tx>
            <c:strRef>
              <c:f>Sheet1!$B$1</c:f>
              <c:strCache>
                <c:ptCount val="1"/>
                <c:pt idx="0">
                  <c:v>Sponsor MOIC (x)</c:v>
                </c:pt>
              </c:strCache>
            </c:strRef>
          </c:tx>
          <c:spPr>
            <a:solidFill>
              <a:srgbClr val="1F3D63"/>
            </a:solidFill>
            <a:ln>
              <a:noFill/>
            </a:ln>
          </c:spPr>
          <c:dPt>
            <c:idx val="2"/>
            <c:spPr>
              <a:solidFill>
                <a:srgbClr val="B0241B"/>
              </a:solidFill>
            </c:spPr>
          </c:dPt>
          <c:dPt>
            <c:idx val="3"/>
            <c:spPr>
              <a:solidFill>
                <a:srgbClr val="B0241B"/>
              </a:solidFill>
            </c:spPr>
          </c:dPt>
          <c:dLbls>
            <c:dLbl>
              <c:idx val="0"/>
              <c:tx>
                <c:rich>
                  <a:bodyPr/>
                  <a:lstStyle/>
                  <a:p>
                    <a:r>
                      <a:rPr sz="700" b="1" i="0">
                        <a:solidFill>
                          <a:srgbClr val="FFFFFF"/>
                        </a:solidFill>
                        <a:latin typeface="Arial"/>
                      </a:rPr>
                      <a:t>2.62x  |  27.3%</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1"/>
              <c:tx>
                <c:rich>
                  <a:bodyPr/>
                  <a:lstStyle/>
                  <a:p>
                    <a:r>
                      <a:rPr sz="700" b="1" i="0">
                        <a:solidFill>
                          <a:srgbClr val="FFFFFF"/>
                        </a:solidFill>
                        <a:latin typeface="Arial"/>
                      </a:rPr>
                      <a:t>2.56x  |  20.7%</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2"/>
              <c:tx>
                <c:rich>
                  <a:bodyPr/>
                  <a:lstStyle/>
                  <a:p>
                    <a:r>
                      <a:rPr sz="700" b="1" i="0">
                        <a:solidFill>
                          <a:srgbClr val="FFFFFF"/>
                        </a:solidFill>
                        <a:latin typeface="Arial"/>
                      </a:rPr>
                      <a:t>2.36x  |  18.7%</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3"/>
              <c:tx>
                <c:rich>
                  <a:bodyPr/>
                  <a:lstStyle/>
                  <a:p>
                    <a:r>
                      <a:rPr sz="700" b="1" i="0">
                        <a:solidFill>
                          <a:srgbClr val="1B1F24"/>
                        </a:solidFill>
                        <a:latin typeface="Arial"/>
                      </a:rPr>
                      <a:t>1.17x  |  3.1%</a:t>
                    </a:r>
                  </a:p>
                </c:rich>
              </c:tx>
              <c:txPr>
                <a:bodyPr/>
                <a:lstStyle/>
                <a:p>
                  <a:pPr>
                    <a:defRPr sz="700" b="1" i="0">
                      <a:solidFill>
                        <a:srgbClr val="1B1F24"/>
                      </a:solidFill>
                      <a:latin typeface="Arial"/>
                    </a:defRPr>
                  </a:pPr>
                </a:p>
              </c:txPr>
              <c:dLblPos val="outEnd"/>
              <c:showLegendKey val="0"/>
              <c:showVal val="1"/>
              <c:showCatName val="0"/>
              <c:showSerName val="0"/>
              <c:showPercent val="0"/>
              <c:showBubbleSize val="0"/>
            </c:dLbl>
            <c:txPr>
              <a:bodyPr/>
              <a:lstStyle/>
              <a:p>
                <a:pPr>
                  <a:defRPr sz="700" b="1" i="0">
                    <a:solidFill>
                      <a:srgbClr val="FFFFFF"/>
                    </a:solidFill>
                    <a:latin typeface="Arial"/>
                  </a:defRPr>
                </a:pPr>
              </a:p>
            </c:txPr>
            <c:dLblPos val="inBase"/>
            <c:showLegendKey val="0"/>
            <c:showVal val="1"/>
            <c:showCatName val="0"/>
            <c:showSerName val="0"/>
            <c:showPercent val="0"/>
            <c:showBubbleSize val="0"/>
            <c:showLeaderLines val="1"/>
          </c:dLbls>
          <c:cat>
            <c:strRef>
              <c:f>Sheet1!$A$2:$A$5</c:f>
              <c:strCache>
                <c:ptCount val="4"/>
                <c:pt idx="0">
                  <c:v>Strategic sale</c:v>
                </c:pt>
                <c:pt idx="1">
                  <c:v>Sponsor to sponsor</c:v>
                </c:pt>
                <c:pt idx="2">
                  <c:v>IPO and sell-down</c:v>
                </c:pt>
                <c:pt idx="3">
                  <c:v>Downside hold</c:v>
                </c:pt>
              </c:strCache>
            </c:strRef>
          </c:cat>
          <c:val>
            <c:numRef>
              <c:f>Sheet1!$B$2:$B$5</c:f>
              <c:numCache>
                <c:formatCode>0.00</c:formatCode>
                <c:ptCount val="4"/>
                <c:pt idx="0">
                  <c:v>2.62</c:v>
                </c:pt>
                <c:pt idx="1">
                  <c:v>2.56</c:v>
                </c:pt>
                <c:pt idx="2">
                  <c:v>2.36</c:v>
                </c:pt>
                <c:pt idx="3">
                  <c:v>1.17</c:v>
                </c:pt>
              </c:numCache>
            </c:numRef>
          </c:val>
        </c:ser>
        <c:gapWidth val="40"/>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9"/>
          <c:min val="0.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44"/>
          <c:y val="0.12"/>
          <c:w val="0.52"/>
          <c:h val="0.86"/>
        </c:manualLayout>
      </c:layout>
      <c:barChart>
        <c:barDir val="bar"/>
        <c:grouping val="clustered"/>
        <c:varyColors val="0"/>
        <c:ser>
          <c:idx val="0"/>
          <c:order val="0"/>
          <c:tx>
            <c:strRef>
              <c:f>Sheet1!$B$1</c:f>
              <c:strCache>
                <c:ptCount val="1"/>
                <c:pt idx="0">
                  <c:v>EV / EBITDA (x)</c:v>
                </c:pt>
              </c:strCache>
            </c:strRef>
          </c:tx>
          <c:spPr>
            <a:solidFill>
              <a:srgbClr val="A9B1BB"/>
            </a:solidFill>
            <a:ln>
              <a:noFill/>
            </a:ln>
          </c:spPr>
          <c:dLbls>
            <c:dLbl>
              <c:idx val="0"/>
              <c:tx>
                <c:rich>
                  <a:bodyPr/>
                  <a:lstStyle/>
                  <a:p>
                    <a:r>
                      <a:rPr sz="700" b="1" i="0">
                        <a:solidFill>
                          <a:srgbClr val="1B1F24"/>
                        </a:solidFill>
                        <a:latin typeface="Arial"/>
                      </a:rPr>
                      <a:t>9.8x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1"/>
              <c:tx>
                <c:rich>
                  <a:bodyPr/>
                  <a:lstStyle/>
                  <a:p>
                    <a:r>
                      <a:rPr sz="700" b="1" i="0">
                        <a:solidFill>
                          <a:srgbClr val="1B1F24"/>
                        </a:solidFill>
                        <a:latin typeface="Arial"/>
                      </a:rPr>
                      <a:t>10.1x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2"/>
              <c:tx>
                <c:rich>
                  <a:bodyPr/>
                  <a:lstStyle/>
                  <a:p>
                    <a:r>
                      <a:rPr sz="700" b="1" i="0">
                        <a:solidFill>
                          <a:srgbClr val="1B1F24"/>
                        </a:solidFill>
                        <a:latin typeface="Arial"/>
                      </a:rPr>
                      <a:t>10.7x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3"/>
              <c:tx>
                <c:rich>
                  <a:bodyPr/>
                  <a:lstStyle/>
                  <a:p>
                    <a:r>
                      <a:rPr sz="700" b="1" i="0">
                        <a:solidFill>
                          <a:srgbClr val="1B1F24"/>
                        </a:solidFill>
                        <a:latin typeface="Arial"/>
                      </a:rPr>
                      <a:t>10.8x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4"/>
              <c:tx>
                <c:rich>
                  <a:bodyPr/>
                  <a:lstStyle/>
                  <a:p>
                    <a:r>
                      <a:rPr sz="700" b="1" i="0">
                        <a:solidFill>
                          <a:srgbClr val="1B1F24"/>
                        </a:solidFill>
                        <a:latin typeface="Arial"/>
                      </a:rPr>
                      <a:t>11.6x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5"/>
              <c:tx>
                <c:rich>
                  <a:bodyPr/>
                  <a:lstStyle/>
                  <a:p>
                    <a:r>
                      <a:rPr sz="700" b="1" i="0">
                        <a:solidFill>
                          <a:srgbClr val="1B1F24"/>
                        </a:solidFill>
                        <a:latin typeface="Arial"/>
                      </a:rPr>
                      <a:t>11.8x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6"/>
              <c:tx>
                <c:rich>
                  <a:bodyPr/>
                  <a:lstStyle/>
                  <a:p>
                    <a:r>
                      <a:rPr sz="700" b="1" i="0">
                        <a:solidFill>
                          <a:srgbClr val="1B1F24"/>
                        </a:solidFill>
                        <a:latin typeface="Arial"/>
                      </a:rPr>
                      <a:t>12.0x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txPr>
              <a:bodyPr/>
              <a:lstStyle/>
              <a:p>
                <a:pPr>
                  <a:defRPr sz="700" b="1" i="0">
                    <a:solidFill>
                      <a:srgbClr val="1B1F24"/>
                    </a:solidFill>
                    <a:latin typeface="Arial"/>
                  </a:defRPr>
                </a:pPr>
              </a:p>
            </c:txPr>
            <c:dLblPos val="inBase"/>
            <c:showLegendKey val="0"/>
            <c:showVal val="1"/>
            <c:showCatName val="0"/>
            <c:showSerName val="0"/>
            <c:showPercent val="0"/>
            <c:showBubbleSize val="0"/>
            <c:showLeaderLines val="1"/>
          </c:dLbls>
          <c:cat>
            <c:strRef>
              <c:f>Sheet1!$A$2:$A$8</c:f>
              <c:strCache>
                <c:ptCount val="7"/>
                <c:pt idx="0">
                  <c:v>Financial-buyer precedents</c:v>
                </c:pt>
                <c:pt idx="1">
                  <c:v>Listed peers, FY2027E</c:v>
                </c:pt>
                <c:pt idx="2">
                  <c:v>LBO financing comps</c:v>
                </c:pt>
                <c:pt idx="3">
                  <c:v>Listed peers, FY2026E</c:v>
                </c:pt>
                <c:pt idx="4">
                  <c:v>Precedents, all</c:v>
                </c:pt>
                <c:pt idx="5">
                  <c:v>Peers with 30%+ aftermarket</c:v>
                </c:pt>
                <c:pt idx="6">
                  <c:v>Strategic precedents</c:v>
                </c:pt>
              </c:strCache>
            </c:strRef>
          </c:cat>
          <c:val>
            <c:numRef>
              <c:f>Sheet1!$B$2:$B$8</c:f>
              <c:numCache>
                <c:formatCode>0.0</c:formatCode>
                <c:ptCount val="7"/>
                <c:pt idx="0">
                  <c:v>9.85</c:v>
                </c:pt>
                <c:pt idx="1">
                  <c:v>10.1</c:v>
                </c:pt>
                <c:pt idx="2">
                  <c:v>10.65</c:v>
                </c:pt>
                <c:pt idx="3">
                  <c:v>10.75</c:v>
                </c:pt>
                <c:pt idx="4">
                  <c:v>11.6</c:v>
                </c:pt>
                <c:pt idx="5">
                  <c:v>11.8</c:v>
                </c:pt>
                <c:pt idx="6">
                  <c:v>12.0</c:v>
                </c:pt>
              </c:numCache>
            </c:numRef>
          </c:val>
        </c:ser>
        <c:gapWidth val="35"/>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12.5"/>
          <c:min val="6.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1 orients the committee: what Corvane is, how it has grown, and the two risks the case must underwrite.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2 shows how the $1,260.0m price is paid for and what the capital structure looks like at close.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3 is the case the returns rest on: every line of the operating model and the debt it repays.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4 states what the committee earns in the base case and how far each assumption can move before the hurdle is missed.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5 tests whether the business carries the proposed debt, against precedent structures and in a downside.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6 shows how the investment is realised and what the listed market pays for comparable businesses.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tags" Target="../tags/tag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tags" Target="../tags/tag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tags" Target="../tags/tag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tags" Target="../tags/tag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tags" Target="../tags/tag5.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tags" Target="../tags/tag6.xm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69" name="chrome-1"/>
          <p:cNvCxnSpPr/>
          <p:nvPr/>
        </p:nvCxnSpPr>
        <p:spPr>
          <a:xfrm>
            <a:off x="365760" y="603504"/>
            <a:ext cx="9326880" cy="0"/>
          </a:xfrm>
          <a:prstGeom prst="line">
            <a:avLst/>
          </a:prstGeom>
          <a:ln w="12700">
            <a:solidFill>
              <a:srgbClr val="1F3D63"/>
            </a:solidFill>
          </a:ln>
        </p:spPr>
      </p:cxnSp>
      <p:cxnSp>
        <p:nvCxnSpPr>
          <p:cNvPr id="70" name="chrome-2"/>
          <p:cNvCxnSpPr/>
          <p:nvPr/>
        </p:nvCxnSpPr>
        <p:spPr>
          <a:xfrm>
            <a:off x="365760" y="7411212"/>
            <a:ext cx="9326880" cy="0"/>
          </a:xfrm>
          <a:prstGeom prst="line">
            <a:avLst/>
          </a:prstGeom>
          <a:ln w="6350">
            <a:solidFill>
              <a:srgbClr val="C3CAD3"/>
            </a:solidFill>
          </a:ln>
        </p:spPr>
      </p:cxnSp>
      <p:sp>
        <p:nvSpPr>
          <p:cNvPr id="71"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72"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4.1 COMPANY OVERVIEW</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Corvane Flow Systems: company overview and key performance indicators</a:t>
            </a:r>
          </a:p>
        </p:txBody>
      </p:sp>
      <p:sp>
        <p:nvSpPr>
          <p:cNvPr id="4" name="k0_v"/>
          <p:cNvSpPr/>
          <p:nvPr/>
        </p:nvSpPr>
        <p:spPr>
          <a:xfrm>
            <a:off x="365760"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$667.2m</a:t>
            </a:r>
          </a:p>
        </p:txBody>
      </p:sp>
      <p:sp>
        <p:nvSpPr>
          <p:cNvPr id="5" name="k0_l"/>
          <p:cNvSpPr/>
          <p:nvPr/>
        </p:nvSpPr>
        <p:spPr>
          <a:xfrm>
            <a:off x="365760"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Revenue, FY2026E</a:t>
            </a:r>
          </a:p>
        </p:txBody>
      </p:sp>
      <p:sp>
        <p:nvSpPr>
          <p:cNvPr id="6" name="k0_c"/>
          <p:cNvSpPr/>
          <p:nvPr/>
        </p:nvSpPr>
        <p:spPr>
          <a:xfrm>
            <a:off x="365760"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+5.4% on FY2025A</a:t>
            </a:r>
          </a:p>
        </p:txBody>
      </p:sp>
      <p:sp>
        <p:nvSpPr>
          <p:cNvPr id="7" name="k1_v"/>
          <p:cNvSpPr/>
          <p:nvPr/>
        </p:nvSpPr>
        <p:spPr>
          <a:xfrm>
            <a:off x="1717766"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$126.0m</a:t>
            </a:r>
          </a:p>
        </p:txBody>
      </p:sp>
      <p:sp>
        <p:nvSpPr>
          <p:cNvPr id="8" name="k1_l"/>
          <p:cNvSpPr/>
          <p:nvPr/>
        </p:nvSpPr>
        <p:spPr>
          <a:xfrm>
            <a:off x="1717766"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Adj. EBITDA, FY2026E</a:t>
            </a:r>
          </a:p>
        </p:txBody>
      </p:sp>
      <p:sp>
        <p:nvSpPr>
          <p:cNvPr id="9" name="k1_c"/>
          <p:cNvSpPr/>
          <p:nvPr/>
        </p:nvSpPr>
        <p:spPr>
          <a:xfrm>
            <a:off x="1717766"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18.9% margin, +0.4pp</a:t>
            </a:r>
          </a:p>
        </p:txBody>
      </p:sp>
      <p:sp>
        <p:nvSpPr>
          <p:cNvPr id="10" name="k2_v"/>
          <p:cNvSpPr/>
          <p:nvPr/>
        </p:nvSpPr>
        <p:spPr>
          <a:xfrm>
            <a:off x="3069772"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6.5%</a:t>
            </a:r>
          </a:p>
        </p:txBody>
      </p:sp>
      <p:sp>
        <p:nvSpPr>
          <p:cNvPr id="11" name="k2_l"/>
          <p:cNvSpPr/>
          <p:nvPr/>
        </p:nvSpPr>
        <p:spPr>
          <a:xfrm>
            <a:off x="3069772"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Revenue CAGR, FY21A-26E</a:t>
            </a:r>
          </a:p>
        </p:txBody>
      </p:sp>
      <p:sp>
        <p:nvSpPr>
          <p:cNvPr id="12" name="k2_c"/>
          <p:cNvSpPr/>
          <p:nvPr/>
        </p:nvSpPr>
        <p:spPr>
          <a:xfrm>
            <a:off x="3069772"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Adj. EBITDA CAGR 9.5%</a:t>
            </a:r>
          </a:p>
        </p:txBody>
      </p:sp>
      <p:sp>
        <p:nvSpPr>
          <p:cNvPr id="13" name="k3_v"/>
          <p:cNvSpPr/>
          <p:nvPr/>
        </p:nvSpPr>
        <p:spPr>
          <a:xfrm>
            <a:off x="4421778"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27.3%</a:t>
            </a:r>
          </a:p>
        </p:txBody>
      </p:sp>
      <p:sp>
        <p:nvSpPr>
          <p:cNvPr id="14" name="k3_l"/>
          <p:cNvSpPr/>
          <p:nvPr/>
        </p:nvSpPr>
        <p:spPr>
          <a:xfrm>
            <a:off x="4421778"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Aftermarket mix, FY2026E</a:t>
            </a:r>
          </a:p>
        </p:txBody>
      </p:sp>
      <p:sp>
        <p:nvSpPr>
          <p:cNvPr id="15" name="k3_c"/>
          <p:cNvSpPr/>
          <p:nvPr/>
        </p:nvSpPr>
        <p:spPr>
          <a:xfrm>
            <a:off x="4421778"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of revenue; 24.3% in FY2021A</a:t>
            </a:r>
          </a:p>
        </p:txBody>
      </p:sp>
      <p:sp>
        <p:nvSpPr>
          <p:cNvPr id="16" name="k4_v"/>
          <p:cNvSpPr/>
          <p:nvPr/>
        </p:nvSpPr>
        <p:spPr>
          <a:xfrm>
            <a:off x="5773784"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82.0%</a:t>
            </a:r>
          </a:p>
        </p:txBody>
      </p:sp>
      <p:sp>
        <p:nvSpPr>
          <p:cNvPr id="17" name="k4_l"/>
          <p:cNvSpPr/>
          <p:nvPr/>
        </p:nvSpPr>
        <p:spPr>
          <a:xfrm>
            <a:off x="5773784"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Cash conversion, FY2026E</a:t>
            </a:r>
          </a:p>
        </p:txBody>
      </p:sp>
      <p:sp>
        <p:nvSpPr>
          <p:cNvPr id="18" name="k4_c"/>
          <p:cNvSpPr/>
          <p:nvPr/>
        </p:nvSpPr>
        <p:spPr>
          <a:xfrm>
            <a:off x="5773784"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(EBITDA - capex) / EBITDA</a:t>
            </a:r>
          </a:p>
        </p:txBody>
      </p:sp>
      <p:sp>
        <p:nvSpPr>
          <p:cNvPr id="19" name="k5_v"/>
          <p:cNvSpPr/>
          <p:nvPr/>
        </p:nvSpPr>
        <p:spPr>
          <a:xfrm>
            <a:off x="7125790" y="690372"/>
            <a:ext cx="1214845"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$274.6m</a:t>
            </a:r>
          </a:p>
        </p:txBody>
      </p:sp>
      <p:sp>
        <p:nvSpPr>
          <p:cNvPr id="20" name="k5_l"/>
          <p:cNvSpPr/>
          <p:nvPr/>
        </p:nvSpPr>
        <p:spPr>
          <a:xfrm>
            <a:off x="7125790" y="886460"/>
            <a:ext cx="12148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Order backlog, FY2026E</a:t>
            </a:r>
          </a:p>
        </p:txBody>
      </p:sp>
      <p:sp>
        <p:nvSpPr>
          <p:cNvPr id="21" name="k5_c"/>
          <p:cNvSpPr/>
          <p:nvPr/>
        </p:nvSpPr>
        <p:spPr>
          <a:xfrm>
            <a:off x="7125790" y="1011428"/>
            <a:ext cx="12148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0.41x FY2026E revenue</a:t>
            </a:r>
          </a:p>
        </p:txBody>
      </p:sp>
      <p:sp>
        <p:nvSpPr>
          <p:cNvPr id="22" name="k6_v"/>
          <p:cNvSpPr/>
          <p:nvPr/>
        </p:nvSpPr>
        <p:spPr>
          <a:xfrm>
            <a:off x="8477795" y="690372"/>
            <a:ext cx="1214845"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10.0x</a:t>
            </a:r>
          </a:p>
        </p:txBody>
      </p:sp>
      <p:sp>
        <p:nvSpPr>
          <p:cNvPr id="23" name="k6_l"/>
          <p:cNvSpPr/>
          <p:nvPr/>
        </p:nvSpPr>
        <p:spPr>
          <a:xfrm>
            <a:off x="8477795" y="886460"/>
            <a:ext cx="12148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Entry EV / Adj. EBITDA</a:t>
            </a:r>
          </a:p>
        </p:txBody>
      </p:sp>
      <p:sp>
        <p:nvSpPr>
          <p:cNvPr id="24" name="k6_c"/>
          <p:cNvSpPr/>
          <p:nvPr/>
        </p:nvSpPr>
        <p:spPr>
          <a:xfrm>
            <a:off x="8477795" y="1011428"/>
            <a:ext cx="12148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FY2026E; EV $1,260.0m</a:t>
            </a:r>
          </a:p>
        </p:txBody>
      </p:sp>
      <p:sp>
        <p:nvSpPr>
          <p:cNvPr id="25" name="fx_h"/>
          <p:cNvSpPr/>
          <p:nvPr/>
        </p:nvSpPr>
        <p:spPr>
          <a:xfrm>
            <a:off x="365760" y="1191768"/>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Business at a glance</a:t>
            </a:r>
          </a:p>
        </p:txBody>
      </p:sp>
      <p:sp>
        <p:nvSpPr>
          <p:cNvPr id="26" name="fx_u"/>
          <p:cNvSpPr/>
          <p:nvPr/>
        </p:nvSpPr>
        <p:spPr>
          <a:xfrm>
            <a:off x="365760" y="1324356"/>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FY2026E unless stated</a:t>
            </a:r>
          </a:p>
        </p:txBody>
      </p:sp>
      <p:graphicFrame>
        <p:nvGraphicFramePr>
          <p:cNvPr id="27" name="facts"/>
          <p:cNvGraphicFramePr>
            <a:graphicFrameLocks noGrp="1"/>
          </p:cNvGraphicFramePr>
          <p:nvPr/>
        </p:nvGraphicFramePr>
        <p:xfrm>
          <a:off x="365760" y="1431544"/>
          <a:ext cx="2534717" cy="2002536"/>
        </p:xfrm>
        <a:graphic>
          <a:graphicData uri="http://schemas.openxmlformats.org/drawingml/2006/table">
            <a:tbl>
              <a:tblPr firstRow="0" bandRow="0" lastRow="0" firstCol="0" lastCol="0" bandCol="0"/>
              <a:tblGrid>
                <a:gridCol w="912498"/>
                <a:gridCol w="1622219"/>
              </a:tblGrid>
              <a:tr h="143256">
                <a:tc>
                  <a:txBody>
                    <a:bodyPr wrap="square"/>
                    <a:lstStyle/>
                    <a:p>
                      <a:pPr algn="l"/>
                      <a:r>
                        <a:rPr sz="700" b="1" i="0">
                          <a:solidFill>
                            <a:srgbClr val="1B1F24"/>
                          </a:solidFill>
                          <a:latin typeface="Calibri"/>
                        </a:rPr>
                        <a:t>Item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Corvane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1" i="0">
                          <a:solidFill>
                            <a:srgbClr val="1B1F24"/>
                          </a:solidFill>
                          <a:latin typeface="Calibri"/>
                        </a:rPr>
                        <a:t>Business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Engineered valves, pumps and aftermarket services for process industries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Headquarters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Dayton, Ohio; founded 1962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Employees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4,350, of whom 610 field-service engineers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Plants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14: 8 Americas, 4 Europe, 2 Asia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Installed base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c.1.9m valves and 61,000 pumps in service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Geography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 America 58%, Europe 27%, APAC and RoW 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Customers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Top 10 are 21% of revenue; largest 4.2%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Contracts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46% of revenue under multi-year frame agreements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Inputs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Castings and bar stock 31% of cost of sales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Seller</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Founding family (68%) and a minority investor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8" name="em_h"/>
          <p:cNvSpPr/>
          <p:nvPr/>
        </p:nvSpPr>
        <p:spPr>
          <a:xfrm>
            <a:off x="365760" y="3525520"/>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Revenue by end market</a:t>
            </a:r>
          </a:p>
        </p:txBody>
      </p:sp>
      <p:sp>
        <p:nvSpPr>
          <p:cNvPr id="29" name="em_u"/>
          <p:cNvSpPr/>
          <p:nvPr/>
        </p:nvSpPr>
        <p:spPr>
          <a:xfrm>
            <a:off x="365760" y="3658108"/>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of FY2026E revenue; defensive markets in blue, cyclical in grey</a:t>
            </a:r>
          </a:p>
        </p:txBody>
      </p:sp>
      <p:graphicFrame>
        <p:nvGraphicFramePr>
          <p:cNvPr id="30" name="endmkt"/>
          <p:cNvGraphicFramePr>
            <a:graphicFrameLocks noGrp="1"/>
          </p:cNvGraphicFramePr>
          <p:nvPr/>
        </p:nvGraphicFramePr>
        <p:xfrm>
          <a:off x="365760" y="3765296"/>
          <a:ext cx="2534717" cy="2288540"/>
        </p:xfrm>
        <a:graphic>
          <a:graphicData uri="http://schemas.openxmlformats.org/drawingml/2006/chart">
            <c:chart xmlns:c="http://schemas.openxmlformats.org/drawingml/2006/chart" r:id="rId2"/>
          </a:graphicData>
        </a:graphic>
      </p:graphicFrame>
      <p:sp>
        <p:nvSpPr>
          <p:cNvPr id="31" name="gx_h"/>
          <p:cNvSpPr/>
          <p:nvPr/>
        </p:nvSpPr>
        <p:spPr>
          <a:xfrm>
            <a:off x="365760" y="6145276"/>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Revenue by region</a:t>
            </a:r>
          </a:p>
        </p:txBody>
      </p:sp>
      <p:sp>
        <p:nvSpPr>
          <p:cNvPr id="32" name="gx_u"/>
          <p:cNvSpPr/>
          <p:nvPr/>
        </p:nvSpPr>
        <p:spPr>
          <a:xfrm>
            <a:off x="365760" y="6277864"/>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and share of revenue (%); by customer location</a:t>
            </a:r>
          </a:p>
        </p:txBody>
      </p:sp>
      <p:graphicFrame>
        <p:nvGraphicFramePr>
          <p:cNvPr id="33" name="geo"/>
          <p:cNvGraphicFramePr>
            <a:graphicFrameLocks noGrp="1"/>
          </p:cNvGraphicFramePr>
          <p:nvPr/>
        </p:nvGraphicFramePr>
        <p:xfrm>
          <a:off x="365760" y="6385052"/>
          <a:ext cx="2534717" cy="822960"/>
        </p:xfrm>
        <a:graphic>
          <a:graphicData uri="http://schemas.openxmlformats.org/drawingml/2006/table">
            <a:tbl>
              <a:tblPr firstRow="0" bandRow="0" lastRow="0" firstCol="0" lastCol="0" bandCol="0"/>
              <a:tblGrid>
                <a:gridCol w="963192"/>
                <a:gridCol w="303474"/>
                <a:gridCol w="275002"/>
                <a:gridCol w="292397"/>
                <a:gridCol w="275002"/>
                <a:gridCol w="425650"/>
              </a:tblGrid>
              <a:tr h="143256">
                <a:tc>
                  <a:txBody>
                    <a:bodyPr wrap="square"/>
                    <a:lstStyle/>
                    <a:p>
                      <a:pPr algn="l"/>
                      <a:r>
                        <a:rPr sz="700" b="1" i="0">
                          <a:solidFill>
                            <a:srgbClr val="1B1F24"/>
                          </a:solidFill>
                          <a:latin typeface="Calibri"/>
                        </a:rPr>
                        <a:t>Region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North America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297.6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387.0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Asia Pacific and rest of world</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100.1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9.6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4" name="sg_h"/>
          <p:cNvSpPr/>
          <p:nvPr/>
        </p:nvSpPr>
        <p:spPr>
          <a:xfrm>
            <a:off x="3037637" y="1191768"/>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Segment summary</a:t>
            </a:r>
          </a:p>
        </p:txBody>
      </p:sp>
      <p:sp>
        <p:nvSpPr>
          <p:cNvPr id="35" name="sg_u"/>
          <p:cNvSpPr/>
          <p:nvPr/>
        </p:nvSpPr>
        <p:spPr>
          <a:xfrm>
            <a:off x="3037637" y="1324356"/>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FY2021A to FY2026E; segment EBITDA before corporate costs</a:t>
            </a:r>
          </a:p>
        </p:txBody>
      </p:sp>
      <p:graphicFrame>
        <p:nvGraphicFramePr>
          <p:cNvPr id="36" name="seg"/>
          <p:cNvGraphicFramePr>
            <a:graphicFrameLocks noGrp="1"/>
          </p:cNvGraphicFramePr>
          <p:nvPr/>
        </p:nvGraphicFramePr>
        <p:xfrm>
          <a:off x="3037637" y="1431544"/>
          <a:ext cx="4224528" cy="859536"/>
        </p:xfrm>
        <a:graphic>
          <a:graphicData uri="http://schemas.openxmlformats.org/drawingml/2006/table">
            <a:tbl>
              <a:tblPr firstRow="0" bandRow="0" lastRow="0" firstCol="0" lastCol="0" bandCol="0"/>
              <a:tblGrid>
                <a:gridCol w="1309604"/>
                <a:gridCol w="488576"/>
                <a:gridCol w="477430"/>
                <a:gridCol w="428285"/>
                <a:gridCol w="430865"/>
                <a:gridCol w="600682"/>
                <a:gridCol w="489086"/>
              </a:tblGrid>
              <a:tr h="143256">
                <a:tc>
                  <a:txBody>
                    <a:bodyPr wrap="square"/>
                    <a:lstStyle/>
                    <a:p>
                      <a:pPr algn="l"/>
                      <a:r>
                        <a:rPr sz="700" b="1" i="0">
                          <a:solidFill>
                            <a:srgbClr val="1B1F24"/>
                          </a:solidFill>
                          <a:latin typeface="Calibri"/>
                        </a:rPr>
                        <a:t>Segment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Share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EBITDA 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Margin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228.0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309.8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46.4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65.1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13.5</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9.0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30.5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Corporate costs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18.9</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7" name="hs_h"/>
          <p:cNvSpPr/>
          <p:nvPr/>
        </p:nvSpPr>
        <p:spPr>
          <a:xfrm>
            <a:off x="3037637" y="2382520"/>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Historical financial summary</a:t>
            </a:r>
          </a:p>
        </p:txBody>
      </p:sp>
      <p:sp>
        <p:nvSpPr>
          <p:cNvPr id="38" name="hs_u"/>
          <p:cNvSpPr/>
          <p:nvPr/>
        </p:nvSpPr>
        <p:spPr>
          <a:xfrm>
            <a:off x="3037637" y="2515108"/>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fiscal years to December; FY2026E is nine months actual and three budget</a:t>
            </a:r>
          </a:p>
        </p:txBody>
      </p:sp>
      <p:graphicFrame>
        <p:nvGraphicFramePr>
          <p:cNvPr id="39" name="hist"/>
          <p:cNvGraphicFramePr>
            <a:graphicFrameLocks noGrp="1"/>
          </p:cNvGraphicFramePr>
          <p:nvPr/>
        </p:nvGraphicFramePr>
        <p:xfrm>
          <a:off x="3037637" y="2622296"/>
          <a:ext cx="4224528" cy="2721864"/>
        </p:xfrm>
        <a:graphic>
          <a:graphicData uri="http://schemas.openxmlformats.org/drawingml/2006/table">
            <a:tbl>
              <a:tblPr firstRow="0" bandRow="0" lastRow="0" firstCol="0" lastCol="0" bandCol="0"/>
              <a:tblGrid>
                <a:gridCol w="1140623"/>
                <a:gridCol w="418663"/>
                <a:gridCol w="418663"/>
                <a:gridCol w="418663"/>
                <a:gridCol w="418663"/>
                <a:gridCol w="418663"/>
                <a:gridCol w="403380"/>
                <a:gridCol w="587210"/>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FY22A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Revenue ($m)</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309.8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129.4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182.3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revenue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535.9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574.7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595.4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667.2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Growth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NA</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Profitability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Gross profit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234.9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Gross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90.6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106.6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117.1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126.0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Adj. EBITDA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Cash and orders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Capex / revenue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 - capex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72.3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81.6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85.8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95.6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103.3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Cash conversion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79.8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80.6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80.5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81.6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82.0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Order backlog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259.3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Backlog / revenue (x)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0.41</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0" name="hs_fn"/>
          <p:cNvSpPr/>
          <p:nvPr/>
        </p:nvSpPr>
        <p:spPr>
          <a:xfrm>
            <a:off x="3037637" y="5389880"/>
            <a:ext cx="422452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Adj. EBITDA excludes one-off restructuring and the seller's management fees. Gross profit before D&amp;A. Cash</a:t>
            </a:r>
            <a:br/>
            <a:r>
              <a:rPr sz="700" b="0" i="0">
                <a:solidFill>
                  <a:srgbClr val="56606C"/>
                </a:solidFill>
                <a:latin typeface="Calibri"/>
              </a:rPr>
              <a:t>conversion is (Adj. EBITDA - capex) / Adj. EBITDA. Negatives in parentheses; FY2026E in blue, a fall in red.</a:t>
            </a:r>
          </a:p>
        </p:txBody>
      </p:sp>
      <p:sp>
        <p:nvSpPr>
          <p:cNvPr id="41" name="ox1_h"/>
          <p:cNvSpPr/>
          <p:nvPr/>
        </p:nvSpPr>
        <p:spPr>
          <a:xfrm>
            <a:off x="3037637" y="5659120"/>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Operating indicators</a:t>
            </a:r>
          </a:p>
        </p:txBody>
      </p:sp>
      <p:sp>
        <p:nvSpPr>
          <p:cNvPr id="42" name="ox1_u"/>
          <p:cNvSpPr/>
          <p:nvPr/>
        </p:nvSpPr>
        <p:spPr>
          <a:xfrm>
            <a:off x="3037637" y="5791708"/>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FY2021A to FY2026E; FY2024A book-to-bill under 1.00x in red</a:t>
            </a:r>
          </a:p>
        </p:txBody>
      </p:sp>
      <p:graphicFrame>
        <p:nvGraphicFramePr>
          <p:cNvPr id="43" name="ops"/>
          <p:cNvGraphicFramePr>
            <a:graphicFrameLocks noGrp="1"/>
          </p:cNvGraphicFramePr>
          <p:nvPr/>
        </p:nvGraphicFramePr>
        <p:xfrm>
          <a:off x="3037637" y="5898896"/>
          <a:ext cx="4224528" cy="1002792"/>
        </p:xfrm>
        <a:graphic>
          <a:graphicData uri="http://schemas.openxmlformats.org/drawingml/2006/table">
            <a:tbl>
              <a:tblPr firstRow="0" bandRow="0" lastRow="0" firstCol="0" lastCol="0" bandCol="0"/>
              <a:tblGrid>
                <a:gridCol w="1394094"/>
                <a:gridCol w="474626"/>
                <a:gridCol w="474626"/>
                <a:gridCol w="474626"/>
                <a:gridCol w="474626"/>
                <a:gridCol w="474626"/>
                <a:gridCol w="457304"/>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FY22A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Book-to-bill (x)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0.99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F3D63"/>
                          </a:solidFill>
                          <a:latin typeface="Calibri"/>
                        </a:rPr>
                        <a:t>1.04</a:t>
                      </a:r>
                      <a:endParaRPr sz="700" b="0"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Price realisation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On-time delivery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94.6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Top 10 customers (% of revenue)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Employees (year end)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4,150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4,350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Revenue per employee ($000)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153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4" name="ox1_fn"/>
          <p:cNvSpPr/>
          <p:nvPr/>
        </p:nvSpPr>
        <p:spPr>
          <a:xfrm>
            <a:off x="3037637" y="6947408"/>
            <a:ext cx="422452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Price realisation: list-price increase realised on like-for-like volume. On-time delivery: order lines shipped by the</a:t>
            </a:r>
            <a:br/>
            <a:r>
              <a:rPr sz="700" b="0" i="0">
                <a:solidFill>
                  <a:srgbClr val="56606C"/>
                </a:solidFill>
                <a:latin typeface="Calibri"/>
              </a:rPr>
              <a:t>confirmed date.</a:t>
            </a:r>
          </a:p>
        </p:txBody>
      </p:sp>
      <p:sp>
        <p:nvSpPr>
          <p:cNvPr id="45" name="n_h1"/>
          <p:cNvSpPr/>
          <p:nvPr/>
        </p:nvSpPr>
        <p:spPr>
          <a:xfrm>
            <a:off x="7399325" y="1191768"/>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Strengths</a:t>
            </a:r>
          </a:p>
        </p:txBody>
      </p:sp>
      <p:sp>
        <p:nvSpPr>
          <p:cNvPr id="46" name="n1"/>
          <p:cNvSpPr/>
          <p:nvPr/>
        </p:nvSpPr>
        <p:spPr>
          <a:xfrm>
            <a:off x="7399325" y="1316736"/>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Aftermarket and services grew 9.0% a year from</a:t>
            </a:r>
            <a:br/>
            <a:r>
              <a:rPr sz="800" b="0" i="0">
                <a:solidFill>
                  <a:srgbClr val="1B1F24"/>
                </a:solidFill>
                <a:latin typeface="Calibri"/>
              </a:rPr>
              <a:t>FY2021A, to 27.3% of revenue at a 30.5% segment</a:t>
            </a:r>
            <a:br/>
            <a:r>
              <a:rPr sz="800" b="0" i="0">
                <a:solidFill>
                  <a:srgbClr val="1B1F24"/>
                </a:solidFill>
                <a:latin typeface="Calibri"/>
              </a:rPr>
              <a:t>margin, earned on an installed base of c.1.9m valves.</a:t>
            </a:r>
          </a:p>
        </p:txBody>
      </p:sp>
      <p:sp>
        <p:nvSpPr>
          <p:cNvPr id="47" name="n2"/>
          <p:cNvSpPr/>
          <p:nvPr/>
        </p:nvSpPr>
        <p:spPr>
          <a:xfrm>
            <a:off x="7399325" y="1680464"/>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Adj. EBITDA margin widened in each of the five</a:t>
            </a:r>
            <a:br/>
            <a:r>
              <a:rPr sz="800" b="0" i="0">
                <a:solidFill>
                  <a:srgbClr val="1B1F24"/>
                </a:solidFill>
                <a:latin typeface="Calibri"/>
              </a:rPr>
              <a:t>years, from 16.4% to 18.9%, as aftermarket mix rose</a:t>
            </a:r>
            <a:br/>
            <a:r>
              <a:rPr sz="800" b="0" i="0">
                <a:solidFill>
                  <a:srgbClr val="1B1F24"/>
                </a:solidFill>
                <a:latin typeface="Calibri"/>
              </a:rPr>
              <a:t>and valve pricing held through two input-cost cycles.</a:t>
            </a:r>
          </a:p>
        </p:txBody>
      </p:sp>
      <p:sp>
        <p:nvSpPr>
          <p:cNvPr id="48" name="n3"/>
          <p:cNvSpPr/>
          <p:nvPr/>
        </p:nvSpPr>
        <p:spPr>
          <a:xfrm>
            <a:off x="7399325" y="2044192"/>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Capex of 3.4% of revenue leaves 82.0% of Adj.</a:t>
            </a:r>
            <a:br/>
            <a:r>
              <a:rPr sz="800" b="0" i="0">
                <a:solidFill>
                  <a:srgbClr val="1B1F24"/>
                </a:solidFill>
                <a:latin typeface="Calibri"/>
              </a:rPr>
              <a:t>EBITDA as cash before tax and interest.</a:t>
            </a:r>
          </a:p>
        </p:txBody>
      </p:sp>
      <p:sp>
        <p:nvSpPr>
          <p:cNvPr id="49" name="n4"/>
          <p:cNvSpPr/>
          <p:nvPr/>
        </p:nvSpPr>
        <p:spPr>
          <a:xfrm>
            <a:off x="7399325" y="2301240"/>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No end market is over 22.4% of revenue; water,</a:t>
            </a:r>
            <a:br/>
            <a:r>
              <a:rPr sz="800" b="0" i="0">
                <a:solidFill>
                  <a:srgbClr val="1B1F24"/>
                </a:solidFill>
                <a:latin typeface="Calibri"/>
              </a:rPr>
              <a:t>power and food and pharma, 44.1%, are regulated</a:t>
            </a:r>
            <a:br/>
            <a:r>
              <a:rPr sz="800" b="0" i="0">
                <a:solidFill>
                  <a:srgbClr val="1B1F24"/>
                </a:solidFill>
                <a:latin typeface="Calibri"/>
              </a:rPr>
              <a:t>and less cyclical (blue in the chart).</a:t>
            </a:r>
          </a:p>
        </p:txBody>
      </p:sp>
      <p:sp>
        <p:nvSpPr>
          <p:cNvPr id="50" name="n5"/>
          <p:cNvSpPr/>
          <p:nvPr/>
        </p:nvSpPr>
        <p:spPr>
          <a:xfrm>
            <a:off x="7399325" y="2664968"/>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Backlog of $274.6m covers 0.41x of FY2026E</a:t>
            </a:r>
            <a:br/>
            <a:r>
              <a:rPr sz="800" b="0" i="0">
                <a:solidFill>
                  <a:srgbClr val="1B1F24"/>
                </a:solidFill>
                <a:latin typeface="Calibri"/>
              </a:rPr>
              <a:t>revenue; 46% of revenue is under frame</a:t>
            </a:r>
            <a:br/>
            <a:r>
              <a:rPr sz="800" b="0" i="0">
                <a:solidFill>
                  <a:srgbClr val="1B1F24"/>
                </a:solidFill>
                <a:latin typeface="Calibri"/>
              </a:rPr>
              <a:t>agreements.</a:t>
            </a:r>
          </a:p>
        </p:txBody>
      </p:sp>
      <p:sp>
        <p:nvSpPr>
          <p:cNvPr id="51" name="n_h2"/>
          <p:cNvSpPr/>
          <p:nvPr/>
        </p:nvSpPr>
        <p:spPr>
          <a:xfrm>
            <a:off x="7399325" y="3028696"/>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Risks to underwrite</a:t>
            </a:r>
          </a:p>
        </p:txBody>
      </p:sp>
      <p:sp>
        <p:nvSpPr>
          <p:cNvPr id="52" name="n6"/>
          <p:cNvSpPr/>
          <p:nvPr/>
        </p:nvSpPr>
        <p:spPr>
          <a:xfrm>
            <a:off x="7399325" y="3153664"/>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Pumps and systems fell 2.2% in FY2024A (red) and</a:t>
            </a:r>
            <a:br/>
            <a:r>
              <a:rPr sz="800" b="0" i="0">
                <a:solidFill>
                  <a:srgbClr val="1B1F24"/>
                </a:solidFill>
                <a:latin typeface="Calibri"/>
              </a:rPr>
              <a:t>earns 13.5%, the lowest segment margin; the plan</a:t>
            </a:r>
            <a:br/>
            <a:r>
              <a:rPr sz="800" b="0" i="0">
                <a:solidFill>
                  <a:srgbClr val="1B1F24"/>
                </a:solidFill>
                <a:latin typeface="Calibri"/>
              </a:rPr>
              <a:t>assumes no margin recovery there.</a:t>
            </a:r>
          </a:p>
        </p:txBody>
      </p:sp>
      <p:sp>
        <p:nvSpPr>
          <p:cNvPr id="53" name="n7"/>
          <p:cNvSpPr/>
          <p:nvPr/>
        </p:nvSpPr>
        <p:spPr>
          <a:xfrm>
            <a:off x="7399325" y="3517392"/>
            <a:ext cx="2293315" cy="45212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Chemicals and midstream oil and gas, 34.5% of</a:t>
            </a:r>
            <a:br/>
            <a:r>
              <a:rPr sz="800" b="0" i="0">
                <a:solidFill>
                  <a:srgbClr val="1B1F24"/>
                </a:solidFill>
                <a:latin typeface="Calibri"/>
              </a:rPr>
              <a:t>revenue, follow customers' capex cycles; the</a:t>
            </a:r>
            <a:br/>
            <a:r>
              <a:rPr sz="800" b="0" i="0">
                <a:solidFill>
                  <a:srgbClr val="1B1F24"/>
                </a:solidFill>
                <a:latin typeface="Calibri"/>
              </a:rPr>
              <a:t>downside case cuts FY2027E pumps revenue by</a:t>
            </a:r>
            <a:br/>
            <a:r>
              <a:rPr sz="800" b="0" i="0">
                <a:solidFill>
                  <a:srgbClr val="1B1F24"/>
                </a:solidFill>
                <a:latin typeface="Calibri"/>
              </a:rPr>
              <a:t>12.0%.</a:t>
            </a:r>
          </a:p>
        </p:txBody>
      </p:sp>
      <p:sp>
        <p:nvSpPr>
          <p:cNvPr id="54" name="n8"/>
          <p:cNvSpPr/>
          <p:nvPr/>
        </p:nvSpPr>
        <p:spPr>
          <a:xfrm>
            <a:off x="7399325" y="3987800"/>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Castings and bar stock are 31% of cost of sales and</a:t>
            </a:r>
            <a:br/>
            <a:r>
              <a:rPr sz="800" b="0" i="0">
                <a:solidFill>
                  <a:srgbClr val="1B1F24"/>
                </a:solidFill>
                <a:latin typeface="Calibri"/>
              </a:rPr>
              <a:t>price pass-through lags about two quarters.</a:t>
            </a:r>
          </a:p>
        </p:txBody>
      </p:sp>
      <p:sp>
        <p:nvSpPr>
          <p:cNvPr id="55" name="n9"/>
          <p:cNvSpPr/>
          <p:nvPr/>
        </p:nvSpPr>
        <p:spPr>
          <a:xfrm>
            <a:off x="7399325" y="4244848"/>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top 10 customers take 21% of revenue; none is</a:t>
            </a:r>
            <a:br/>
            <a:r>
              <a:rPr sz="800" b="0" i="0">
                <a:solidFill>
                  <a:srgbClr val="1B1F24"/>
                </a:solidFill>
                <a:latin typeface="Calibri"/>
              </a:rPr>
              <a:t>over 4.2%.</a:t>
            </a:r>
          </a:p>
        </p:txBody>
      </p:sp>
      <p:sp>
        <p:nvSpPr>
          <p:cNvPr id="56" name="n9b"/>
          <p:cNvSpPr/>
          <p:nvPr/>
        </p:nvSpPr>
        <p:spPr>
          <a:xfrm>
            <a:off x="7399325" y="4501896"/>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Book-to-bill dipped to 0.99x in FY2024A (red) as</a:t>
            </a:r>
            <a:br/>
            <a:r>
              <a:rPr sz="800" b="0" i="0">
                <a:solidFill>
                  <a:srgbClr val="1B1F24"/>
                </a:solidFill>
                <a:latin typeface="Calibri"/>
              </a:rPr>
              <a:t>pumps orders fell, and recovered to 1.05x.</a:t>
            </a:r>
          </a:p>
        </p:txBody>
      </p:sp>
      <p:sp>
        <p:nvSpPr>
          <p:cNvPr id="57" name="n_h3"/>
          <p:cNvSpPr/>
          <p:nvPr/>
        </p:nvSpPr>
        <p:spPr>
          <a:xfrm>
            <a:off x="7399325" y="4758944"/>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Diligence findings</a:t>
            </a:r>
          </a:p>
        </p:txBody>
      </p:sp>
      <p:sp>
        <p:nvSpPr>
          <p:cNvPr id="58" name="n10"/>
          <p:cNvSpPr/>
          <p:nvPr/>
        </p:nvSpPr>
        <p:spPr>
          <a:xfrm>
            <a:off x="7399325" y="4883912"/>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Quality of earnings accepts FY2025A Adj. EBITDA of</a:t>
            </a:r>
            <a:br/>
            <a:r>
              <a:rPr sz="800" b="0" i="0">
                <a:solidFill>
                  <a:srgbClr val="1B1F24"/>
                </a:solidFill>
                <a:latin typeface="Calibri"/>
              </a:rPr>
              <a:t>$117.1m, including $3.8m of add-backs</a:t>
            </a:r>
            <a:br/>
            <a:r>
              <a:rPr sz="800" b="0" i="0">
                <a:solidFill>
                  <a:srgbClr val="1B1F24"/>
                </a:solidFill>
                <a:latin typeface="Calibri"/>
              </a:rPr>
              <a:t>(restructuring $2.6m, seller fees $1.2m).</a:t>
            </a:r>
          </a:p>
        </p:txBody>
      </p:sp>
      <p:sp>
        <p:nvSpPr>
          <p:cNvPr id="59" name="n11"/>
          <p:cNvSpPr/>
          <p:nvPr/>
        </p:nvSpPr>
        <p:spPr>
          <a:xfrm>
            <a:off x="7399325" y="5247640"/>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Asia Pacific grew 9.6% a year, the fastest region, on</a:t>
            </a:r>
            <a:br/>
            <a:r>
              <a:rPr sz="800" b="0" i="0">
                <a:solidFill>
                  <a:srgbClr val="1B1F24"/>
                </a:solidFill>
                <a:latin typeface="Calibri"/>
              </a:rPr>
              <a:t>water and power projects.</a:t>
            </a:r>
          </a:p>
        </p:txBody>
      </p:sp>
      <p:sp>
        <p:nvSpPr>
          <p:cNvPr id="60" name="n12"/>
          <p:cNvSpPr/>
          <p:nvPr/>
        </p:nvSpPr>
        <p:spPr>
          <a:xfrm>
            <a:off x="7399325" y="5504688"/>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Two plants in Europe run under 70% utilisation; the</a:t>
            </a:r>
            <a:br/>
            <a:r>
              <a:rPr sz="800" b="0" i="0">
                <a:solidFill>
                  <a:srgbClr val="1B1F24"/>
                </a:solidFill>
                <a:latin typeface="Calibri"/>
              </a:rPr>
              <a:t>plan holds them open.</a:t>
            </a:r>
          </a:p>
        </p:txBody>
      </p:sp>
      <p:sp>
        <p:nvSpPr>
          <p:cNvPr id="61" name="cux_h"/>
          <p:cNvSpPr/>
          <p:nvPr/>
        </p:nvSpPr>
        <p:spPr>
          <a:xfrm>
            <a:off x="7399325" y="5761736"/>
            <a:ext cx="229331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Largest customers</a:t>
            </a:r>
          </a:p>
        </p:txBody>
      </p:sp>
      <p:sp>
        <p:nvSpPr>
          <p:cNvPr id="62" name="cux_u"/>
          <p:cNvSpPr/>
          <p:nvPr/>
        </p:nvSpPr>
        <p:spPr>
          <a:xfrm>
            <a:off x="7399325" y="5894324"/>
            <a:ext cx="229331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of FY2026E revenue; names withheld until exclusivity</a:t>
            </a:r>
          </a:p>
        </p:txBody>
      </p:sp>
      <p:graphicFrame>
        <p:nvGraphicFramePr>
          <p:cNvPr id="63" name="cust"/>
          <p:cNvGraphicFramePr>
            <a:graphicFrameLocks noGrp="1"/>
          </p:cNvGraphicFramePr>
          <p:nvPr/>
        </p:nvGraphicFramePr>
        <p:xfrm>
          <a:off x="7399325" y="6001512"/>
          <a:ext cx="2293315" cy="1002792"/>
        </p:xfrm>
        <a:graphic>
          <a:graphicData uri="http://schemas.openxmlformats.org/drawingml/2006/table">
            <a:tbl>
              <a:tblPr firstRow="0" bandRow="0" lastRow="0" firstCol="0" lastCol="0" bandCol="0"/>
              <a:tblGrid>
                <a:gridCol w="1513588"/>
                <a:gridCol w="466175"/>
                <a:gridCol w="313552"/>
              </a:tblGrid>
              <a:tr h="143256">
                <a:tc>
                  <a:txBody>
                    <a:bodyPr wrap="square"/>
                    <a:lstStyle/>
                    <a:p>
                      <a:pPr algn="l"/>
                      <a:r>
                        <a:rPr sz="700" b="1" i="0">
                          <a:solidFill>
                            <a:srgbClr val="1B1F24"/>
                          </a:solidFill>
                          <a:latin typeface="Calibri"/>
                        </a:rPr>
                        <a:t>Customer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rev.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Since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Customer 1: US water utility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1998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Customer 2: chemicals major, 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3: EPC contractor, US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2011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4: power generator, US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5: food processor, 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Top 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15.5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64"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Corvane management accounts FY2021A-FY2025A, FY2026E budget (nine months actual), sponsor diligence; all figures illustrative.</a:t>
            </a:r>
          </a:p>
        </p:txBody>
      </p:sp>
      <p:sp>
        <p:nvSpPr>
          <p:cNvPr id="65" name="def_br-bracket"/>
          <p:cNvSpPr/>
          <p:nvPr/>
        </p:nvSpPr>
        <p:spPr>
          <a:xfrm>
            <a:off x="2092191" y="3859769"/>
            <a:ext cx="18288" cy="844167"/>
          </a:xfrm>
          <a:prstGeom prst="rightBracket">
            <a:avLst/>
          </a:prstGeom>
          <a:noFill/>
          <a:ln w="9525">
            <a:solidFill>
              <a:srgbClr val="1F3D63"/>
            </a:solidFill>
          </a:ln>
        </p:spPr>
        <p:txBody>
          <a:bodyPr rtlCol="0" anchor="ctr"/>
          <a:lstStyle/>
          <a:p>
            <a:pPr algn="ctr"/>
          </a:p>
        </p:txBody>
      </p:sp>
      <p:sp>
        <p:nvSpPr>
          <p:cNvPr id="66" name="def_br-label"/>
          <p:cNvSpPr/>
          <p:nvPr/>
        </p:nvSpPr>
        <p:spPr>
          <a:xfrm>
            <a:off x="2384799" y="4192952"/>
            <a:ext cx="460486"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Arial"/>
              </a:rPr>
              <a:t>Defensive</a:t>
            </a:r>
            <a:br/>
            <a:r>
              <a:rPr sz="700" b="1" i="0">
                <a:solidFill>
                  <a:srgbClr val="1F3D63"/>
                </a:solidFill>
                <a:latin typeface="Arial"/>
              </a:rPr>
              <a:t>44.1%</a:t>
            </a:r>
          </a:p>
        </p:txBody>
      </p:sp>
      <p:sp>
        <p:nvSpPr>
          <p:cNvPr id="67" name="cyc_br-bracket"/>
          <p:cNvSpPr/>
          <p:nvPr/>
        </p:nvSpPr>
        <p:spPr>
          <a:xfrm>
            <a:off x="2192078" y="4801339"/>
            <a:ext cx="18288" cy="1158024"/>
          </a:xfrm>
          <a:prstGeom prst="rightBracket">
            <a:avLst/>
          </a:prstGeom>
          <a:noFill/>
          <a:ln w="9525">
            <a:solidFill>
              <a:srgbClr val="56606C"/>
            </a:solidFill>
          </a:ln>
        </p:spPr>
        <p:txBody>
          <a:bodyPr rtlCol="0" anchor="ctr"/>
          <a:lstStyle/>
          <a:p>
            <a:pPr algn="ctr"/>
          </a:p>
        </p:txBody>
      </p:sp>
      <p:sp>
        <p:nvSpPr>
          <p:cNvPr id="68" name="cyc_br-label"/>
          <p:cNvSpPr/>
          <p:nvPr/>
        </p:nvSpPr>
        <p:spPr>
          <a:xfrm>
            <a:off x="2484686" y="5291451"/>
            <a:ext cx="376534"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56606C"/>
                </a:solidFill>
                <a:latin typeface="Arial"/>
              </a:rPr>
              <a:t>Cyclical</a:t>
            </a:r>
            <a:br/>
            <a:r>
              <a:rPr sz="700" b="1" i="0">
                <a:solidFill>
                  <a:srgbClr val="56606C"/>
                </a:solidFill>
                <a:latin typeface="Arial"/>
              </a:rPr>
              <a:t>55.9%</a:t>
            </a:r>
          </a:p>
        </p:txBody>
      </p:sp>
    </p:spTree>
    <p:custDataLst>
      <p:tags r:id="rId3"/>
    </p:custData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41" name="chrome-1"/>
          <p:cNvCxnSpPr/>
          <p:nvPr/>
        </p:nvCxnSpPr>
        <p:spPr>
          <a:xfrm>
            <a:off x="365760" y="603504"/>
            <a:ext cx="9326880" cy="0"/>
          </a:xfrm>
          <a:prstGeom prst="line">
            <a:avLst/>
          </a:prstGeom>
          <a:ln w="12700">
            <a:solidFill>
              <a:srgbClr val="1F3D63"/>
            </a:solidFill>
          </a:ln>
        </p:spPr>
      </p:cxnSp>
      <p:cxnSp>
        <p:nvCxnSpPr>
          <p:cNvPr id="42" name="chrome-2"/>
          <p:cNvCxnSpPr/>
          <p:nvPr/>
        </p:nvCxnSpPr>
        <p:spPr>
          <a:xfrm>
            <a:off x="365760" y="7411212"/>
            <a:ext cx="9326880" cy="0"/>
          </a:xfrm>
          <a:prstGeom prst="line">
            <a:avLst/>
          </a:prstGeom>
          <a:ln w="6350">
            <a:solidFill>
              <a:srgbClr val="C3CAD3"/>
            </a:solidFill>
          </a:ln>
        </p:spPr>
      </p:cxnSp>
      <p:sp>
        <p:nvSpPr>
          <p:cNvPr id="43"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44"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4.2 TRANSACTION STRUCTURE</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Sources and uses and pro forma capital structure</a:t>
            </a:r>
          </a:p>
        </p:txBody>
      </p:sp>
      <p:sp>
        <p:nvSpPr>
          <p:cNvPr id="4" name="sx_h"/>
          <p:cNvSpPr/>
          <p:nvPr/>
        </p:nvSpPr>
        <p:spPr>
          <a:xfrm>
            <a:off x="365760" y="690372"/>
            <a:ext cx="239018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Sources of funds</a:t>
            </a:r>
          </a:p>
        </p:txBody>
      </p:sp>
      <p:sp>
        <p:nvSpPr>
          <p:cNvPr id="5" name="sx_u"/>
          <p:cNvSpPr/>
          <p:nvPr/>
        </p:nvSpPr>
        <p:spPr>
          <a:xfrm>
            <a:off x="365760" y="822960"/>
            <a:ext cx="239018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x FY2026E Adj. EBITDA of $126.0m</a:t>
            </a:r>
          </a:p>
        </p:txBody>
      </p:sp>
      <p:graphicFrame>
        <p:nvGraphicFramePr>
          <p:cNvPr id="6" name="src"/>
          <p:cNvGraphicFramePr>
            <a:graphicFrameLocks noGrp="1"/>
          </p:cNvGraphicFramePr>
          <p:nvPr/>
        </p:nvGraphicFramePr>
        <p:xfrm>
          <a:off x="365760" y="930148"/>
          <a:ext cx="2390188" cy="1002792"/>
        </p:xfrm>
        <a:graphic>
          <a:graphicData uri="http://schemas.openxmlformats.org/drawingml/2006/table">
            <a:tbl>
              <a:tblPr firstRow="0" bandRow="0" lastRow="0" firstCol="0" lastCol="0" bandCol="0"/>
              <a:tblGrid>
                <a:gridCol w="1195094"/>
                <a:gridCol w="348809"/>
                <a:gridCol w="436222"/>
                <a:gridCol w="410063"/>
              </a:tblGrid>
              <a:tr h="143256">
                <a:tc>
                  <a:txBody>
                    <a:bodyPr wrap="square"/>
                    <a:lstStyle/>
                    <a:p>
                      <a:pPr algn="l"/>
                      <a:r>
                        <a:rPr sz="700" b="1" i="0">
                          <a:solidFill>
                            <a:srgbClr val="1B1F24"/>
                          </a:solidFill>
                          <a:latin typeface="Calibri"/>
                        </a:rPr>
                        <a:t>Sources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total</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Revolver ($175.0m), undrawn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567.0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157.5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sources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7" name="ux_h"/>
          <p:cNvSpPr/>
          <p:nvPr/>
        </p:nvSpPr>
        <p:spPr>
          <a:xfrm>
            <a:off x="2893108" y="690372"/>
            <a:ext cx="239018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Uses of funds</a:t>
            </a:r>
          </a:p>
        </p:txBody>
      </p:sp>
      <p:sp>
        <p:nvSpPr>
          <p:cNvPr id="8" name="ux_u"/>
          <p:cNvSpPr/>
          <p:nvPr/>
        </p:nvSpPr>
        <p:spPr>
          <a:xfrm>
            <a:off x="2893108" y="822960"/>
            <a:ext cx="239018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close assumed 31 December 2026</a:t>
            </a:r>
          </a:p>
        </p:txBody>
      </p:sp>
      <p:graphicFrame>
        <p:nvGraphicFramePr>
          <p:cNvPr id="9" name="use"/>
          <p:cNvGraphicFramePr>
            <a:graphicFrameLocks noGrp="1"/>
          </p:cNvGraphicFramePr>
          <p:nvPr/>
        </p:nvGraphicFramePr>
        <p:xfrm>
          <a:off x="2893108" y="930148"/>
          <a:ext cx="2390188" cy="1002792"/>
        </p:xfrm>
        <a:graphic>
          <a:graphicData uri="http://schemas.openxmlformats.org/drawingml/2006/table">
            <a:tbl>
              <a:tblPr firstRow="0" bandRow="0" lastRow="0" firstCol="0" lastCol="0" bandCol="0"/>
              <a:tblGrid>
                <a:gridCol w="1195094"/>
                <a:gridCol w="348809"/>
                <a:gridCol w="436222"/>
                <a:gridCol w="410063"/>
              </a:tblGrid>
              <a:tr h="143256">
                <a:tc>
                  <a:txBody>
                    <a:bodyPr wrap="square"/>
                    <a:lstStyle/>
                    <a:p>
                      <a:pPr algn="l"/>
                      <a:r>
                        <a:rPr sz="700" b="1" i="0">
                          <a:solidFill>
                            <a:srgbClr val="1B1F24"/>
                          </a:solidFill>
                          <a:latin typeface="Calibri"/>
                        </a:rPr>
                        <a:t>Uses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total</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Purchase of equity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973.6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73.3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7.73x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Refinance existing debt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to balance sheet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Financing fees and OID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M&amp;A advisory and other costs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1.6</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uses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10" name="ux_fn"/>
          <p:cNvSpPr/>
          <p:nvPr/>
        </p:nvSpPr>
        <p:spPr>
          <a:xfrm>
            <a:off x="2893108" y="1978660"/>
            <a:ext cx="239018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Purchase of equity on a cash-free, debt-free basis; existing debt</a:t>
            </a:r>
            <a:br/>
            <a:r>
              <a:rPr sz="700" b="0" i="0">
                <a:solidFill>
                  <a:srgbClr val="56606C"/>
                </a:solidFill>
                <a:latin typeface="Calibri"/>
              </a:rPr>
              <a:t>of $286.4m refinanced.</a:t>
            </a:r>
          </a:p>
        </p:txBody>
      </p:sp>
      <p:sp>
        <p:nvSpPr>
          <p:cNvPr id="11" name="kx_h"/>
          <p:cNvSpPr/>
          <p:nvPr/>
        </p:nvSpPr>
        <p:spPr>
          <a:xfrm>
            <a:off x="5420456" y="690372"/>
            <a:ext cx="186434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Capital stack at close</a:t>
            </a:r>
          </a:p>
        </p:txBody>
      </p:sp>
      <p:sp>
        <p:nvSpPr>
          <p:cNvPr id="12" name="kx_u"/>
          <p:cNvSpPr/>
          <p:nvPr/>
        </p:nvSpPr>
        <p:spPr>
          <a:xfrm>
            <a:off x="5420456" y="822960"/>
            <a:ext cx="18643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FY2026E Adj. EBITDA; sources only</a:t>
            </a:r>
          </a:p>
        </p:txBody>
      </p:sp>
      <p:graphicFrame>
        <p:nvGraphicFramePr>
          <p:cNvPr id="13" name="stack"/>
          <p:cNvGraphicFramePr>
            <a:graphicFrameLocks noGrp="1"/>
          </p:cNvGraphicFramePr>
          <p:nvPr/>
        </p:nvGraphicFramePr>
        <p:xfrm>
          <a:off x="5420456" y="930148"/>
          <a:ext cx="1864346" cy="1278128"/>
        </p:xfrm>
        <a:graphic>
          <a:graphicData uri="http://schemas.openxmlformats.org/drawingml/2006/chart">
            <c:chart xmlns:c="http://schemas.openxmlformats.org/drawingml/2006/chart" r:id="rId2"/>
          </a:graphicData>
        </a:graphic>
      </p:graphicFrame>
      <p:sp>
        <p:nvSpPr>
          <p:cNvPr id="14" name="fe_h"/>
          <p:cNvSpPr/>
          <p:nvPr/>
        </p:nvSpPr>
        <p:spPr>
          <a:xfrm>
            <a:off x="7421962" y="690372"/>
            <a:ext cx="227067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Fees and costs</a:t>
            </a:r>
          </a:p>
        </p:txBody>
      </p:sp>
      <p:sp>
        <p:nvSpPr>
          <p:cNvPr id="15" name="fe_u"/>
          <p:cNvSpPr/>
          <p:nvPr/>
        </p:nvSpPr>
        <p:spPr>
          <a:xfrm>
            <a:off x="7421962" y="822960"/>
            <a:ext cx="227067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inside total uses</a:t>
            </a:r>
          </a:p>
        </p:txBody>
      </p:sp>
      <p:graphicFrame>
        <p:nvGraphicFramePr>
          <p:cNvPr id="16" name="fees"/>
          <p:cNvGraphicFramePr>
            <a:graphicFrameLocks noGrp="1"/>
          </p:cNvGraphicFramePr>
          <p:nvPr/>
        </p:nvGraphicFramePr>
        <p:xfrm>
          <a:off x="7421962" y="930148"/>
          <a:ext cx="2270678" cy="1109472"/>
        </p:xfrm>
        <a:graphic>
          <a:graphicData uri="http://schemas.openxmlformats.org/drawingml/2006/table">
            <a:tbl>
              <a:tblPr firstRow="0" bandRow="0" lastRow="0" firstCol="0" lastCol="0" bandCol="0"/>
              <a:tblGrid>
                <a:gridCol w="1407820"/>
                <a:gridCol w="338813"/>
                <a:gridCol w="524045"/>
              </a:tblGrid>
              <a:tr h="143256">
                <a:tc>
                  <a:txBody>
                    <a:bodyPr wrap="square"/>
                    <a:lstStyle/>
                    <a:p>
                      <a:pPr algn="l"/>
                      <a:r>
                        <a:rPr sz="700" b="1" i="0">
                          <a:solidFill>
                            <a:srgbClr val="1B1F24"/>
                          </a:solidFill>
                          <a:latin typeface="Calibri"/>
                        </a:rPr>
                        <a:t>Item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0" i="0">
                          <a:solidFill>
                            <a:srgbClr val="1B1F24"/>
                          </a:solidFill>
                          <a:latin typeface="Calibri"/>
                        </a:rPr>
                        <a:t>Financing fees (2.25% of funded debt)</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Original issue discount (1.0% of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M&amp;A advisory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Legal, accounting and diligence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R&amp;W insurance and other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fees and costs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43.5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3.5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17" name="cx_h"/>
          <p:cNvSpPr/>
          <p:nvPr/>
        </p:nvSpPr>
        <p:spPr>
          <a:xfrm>
            <a:off x="365760" y="2299716"/>
            <a:ext cx="932688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Pro forma capitalisation at close</a:t>
            </a:r>
          </a:p>
        </p:txBody>
      </p:sp>
      <p:sp>
        <p:nvSpPr>
          <p:cNvPr id="18" name="cx_u"/>
          <p:cNvSpPr/>
          <p:nvPr/>
        </p:nvSpPr>
        <p:spPr>
          <a:xfrm>
            <a:off x="365760" y="2432304"/>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x FY2026E Adj. EBITDA of $126.0m; S = term SOFR; key terms below</a:t>
            </a:r>
          </a:p>
        </p:txBody>
      </p:sp>
      <p:graphicFrame>
        <p:nvGraphicFramePr>
          <p:cNvPr id="19" name="cap"/>
          <p:cNvGraphicFramePr>
            <a:graphicFrameLocks noGrp="1"/>
          </p:cNvGraphicFramePr>
          <p:nvPr/>
        </p:nvGraphicFramePr>
        <p:xfrm>
          <a:off x="365760" y="2539492"/>
          <a:ext cx="9326880" cy="1719072"/>
        </p:xfrm>
        <a:graphic>
          <a:graphicData uri="http://schemas.openxmlformats.org/drawingml/2006/table">
            <a:tbl>
              <a:tblPr firstRow="0" bandRow="0" lastRow="0" firstCol="0" lastCol="0" bandCol="0"/>
              <a:tblGrid>
                <a:gridCol w="1399032"/>
                <a:gridCol w="424211"/>
                <a:gridCol w="498706"/>
                <a:gridCol w="398166"/>
                <a:gridCol w="502906"/>
                <a:gridCol w="1346681"/>
                <a:gridCol w="576897"/>
                <a:gridCol w="790326"/>
                <a:gridCol w="1666305"/>
                <a:gridCol w="697431"/>
                <a:gridCol w="1026219"/>
              </a:tblGrid>
              <a:tr h="143256">
                <a:tc>
                  <a:txBody>
                    <a:bodyPr wrap="square"/>
                    <a:lstStyle/>
                    <a:p>
                      <a:pPr algn="l"/>
                      <a:r>
                        <a:rPr sz="700" b="1" i="0">
                          <a:solidFill>
                            <a:srgbClr val="1B1F24"/>
                          </a:solidFill>
                          <a:latin typeface="Calibri"/>
                        </a:rPr>
                        <a:t>Tranche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Cum. 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cap.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marL="91440"/>
                      <a:r>
                        <a:rPr sz="700" b="1" i="0">
                          <a:solidFill>
                            <a:srgbClr val="1B1F24"/>
                          </a:solidFill>
                          <a:latin typeface="Calibri"/>
                        </a:rPr>
                        <a:t>Pricing</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Issue price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marL="91440"/>
                      <a:r>
                        <a:rPr sz="700" b="1" i="0">
                          <a:solidFill>
                            <a:srgbClr val="1B1F24"/>
                          </a:solidFill>
                          <a:latin typeface="Calibri"/>
                        </a:rPr>
                        <a:t>Maturity</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Call protection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Amortisation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Ranking</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Revolving credit facility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marL="91440"/>
                      <a:r>
                        <a:rPr sz="700" b="0" i="0">
                          <a:solidFill>
                            <a:srgbClr val="1B1F24"/>
                          </a:solidFill>
                          <a:latin typeface="Calibri"/>
                        </a:rPr>
                        <a:t>S + 325, 37.5bp undrawn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marL="91440"/>
                      <a:r>
                        <a:rPr sz="700" b="0" i="0">
                          <a:solidFill>
                            <a:srgbClr val="1B1F24"/>
                          </a:solidFill>
                          <a:latin typeface="Calibri"/>
                        </a:rPr>
                        <a:t>Dec-31 (5 yr)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First lien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S + 350, 0.50% floor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Dec-33 (7 yr)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101 soft call, 6 months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1.0% a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First lien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first-lien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567.0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42.7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8.25% fixed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Dec-34 (8 yr)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NC3, then 104.125 / 102.063 / par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Bullet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Senior unsecured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724.5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54.5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cash</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Net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699.5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5.55x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Common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Common, pari passu</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equity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4.79x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capitalisation</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0" name="tx_h"/>
          <p:cNvSpPr/>
          <p:nvPr/>
        </p:nvSpPr>
        <p:spPr>
          <a:xfrm>
            <a:off x="365760" y="4350004"/>
            <a:ext cx="596525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Key terms of the debt financing</a:t>
            </a:r>
          </a:p>
        </p:txBody>
      </p:sp>
      <p:sp>
        <p:nvSpPr>
          <p:cNvPr id="21" name="tx_u"/>
          <p:cNvSpPr/>
          <p:nvPr/>
        </p:nvSpPr>
        <p:spPr>
          <a:xfrm>
            <a:off x="365760" y="4482592"/>
            <a:ext cx="596525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per the commitment papers</a:t>
            </a:r>
          </a:p>
        </p:txBody>
      </p:sp>
      <p:graphicFrame>
        <p:nvGraphicFramePr>
          <p:cNvPr id="22" name="terms"/>
          <p:cNvGraphicFramePr>
            <a:graphicFrameLocks noGrp="1"/>
          </p:cNvGraphicFramePr>
          <p:nvPr/>
        </p:nvGraphicFramePr>
        <p:xfrm>
          <a:off x="365760" y="4589780"/>
          <a:ext cx="5965257" cy="1146048"/>
        </p:xfrm>
        <a:graphic>
          <a:graphicData uri="http://schemas.openxmlformats.org/drawingml/2006/table">
            <a:tbl>
              <a:tblPr firstRow="0" bandRow="0" lastRow="0" firstCol="0" lastCol="0" bandCol="0"/>
              <a:tblGrid>
                <a:gridCol w="954441"/>
                <a:gridCol w="1550967"/>
                <a:gridCol w="1908882"/>
                <a:gridCol w="1550967"/>
              </a:tblGrid>
              <a:tr h="143256">
                <a:tc>
                  <a:txBody>
                    <a:bodyPr wrap="square"/>
                    <a:lstStyle/>
                    <a:p>
                      <a:pPr algn="l"/>
                      <a:r>
                        <a:rPr sz="700" b="1" i="0">
                          <a:solidFill>
                            <a:srgbClr val="1B1F24"/>
                          </a:solidFill>
                          <a:latin typeface="Calibri"/>
                        </a:rPr>
                        <a:t>Term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Revolver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Term loan B</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Senior notes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Financial covenant</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First-lien net 6.60x if over 40% 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 (covenant-lite)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Incurrence test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Pari with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First-lien net 4.50x; total net 6.25x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Fixed charge cover 2.00x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Excess cash flow sweep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 to 25% under 4.00x, nil under 3.50x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Incremental capacity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Greater of $126.0m and 100% EBITDA, plus ratio</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Ratio debt only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MFN protection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50bp for 12 months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Restricted payments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Pari with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Builder basket; unlimited under 4.25x first-lien net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 of net income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Security and guarantees</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First lien on all assets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First lien on all assets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Unsecured; same guarantors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3" name="n2_h1"/>
          <p:cNvSpPr/>
          <p:nvPr/>
        </p:nvSpPr>
        <p:spPr>
          <a:xfrm>
            <a:off x="6468177" y="4350004"/>
            <a:ext cx="322446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Structure</a:t>
            </a:r>
          </a:p>
        </p:txBody>
      </p:sp>
      <p:sp>
        <p:nvSpPr>
          <p:cNvPr id="24" name="m1"/>
          <p:cNvSpPr/>
          <p:nvPr/>
        </p:nvSpPr>
        <p:spPr>
          <a:xfrm>
            <a:off x="6468177" y="4474972"/>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Debt of $724.5m is 5.75x, the median of 12 industrial LBOs (sheet 5); first</a:t>
            </a:r>
            <a:br/>
            <a:r>
              <a:rPr sz="800" b="0" i="0">
                <a:solidFill>
                  <a:srgbClr val="1B1F24"/>
                </a:solidFill>
                <a:latin typeface="Calibri"/>
              </a:rPr>
              <a:t>lien 4.50x against 4.75x.</a:t>
            </a:r>
          </a:p>
        </p:txBody>
      </p:sp>
      <p:sp>
        <p:nvSpPr>
          <p:cNvPr id="25" name="m2"/>
          <p:cNvSpPr/>
          <p:nvPr/>
        </p:nvSpPr>
        <p:spPr>
          <a:xfrm>
            <a:off x="6468177" y="4732020"/>
            <a:ext cx="3224463" cy="13208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Equity is 45.5% of sources ($604.0m), against a 46.0% comps median.</a:t>
            </a:r>
          </a:p>
        </p:txBody>
      </p:sp>
      <p:sp>
        <p:nvSpPr>
          <p:cNvPr id="26" name="m3"/>
          <p:cNvSpPr/>
          <p:nvPr/>
        </p:nvSpPr>
        <p:spPr>
          <a:xfrm>
            <a:off x="6468177" y="4882388"/>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Liquidity at close of $200.0m: $25.0m cash and the undrawn $175.0m</a:t>
            </a:r>
            <a:br/>
            <a:r>
              <a:rPr sz="800" b="0" i="0">
                <a:solidFill>
                  <a:srgbClr val="1B1F24"/>
                </a:solidFill>
                <a:latin typeface="Calibri"/>
              </a:rPr>
              <a:t>revolver.</a:t>
            </a:r>
          </a:p>
        </p:txBody>
      </p:sp>
      <p:sp>
        <p:nvSpPr>
          <p:cNvPr id="27" name="m4"/>
          <p:cNvSpPr/>
          <p:nvPr/>
        </p:nvSpPr>
        <p:spPr>
          <a:xfrm>
            <a:off x="6468177" y="5139436"/>
            <a:ext cx="3224463" cy="13208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Fees and costs of $43.5m are 3.5% of the $1,260.0m EV.</a:t>
            </a:r>
          </a:p>
        </p:txBody>
      </p:sp>
      <p:sp>
        <p:nvSpPr>
          <p:cNvPr id="28" name="m4b"/>
          <p:cNvSpPr/>
          <p:nvPr/>
        </p:nvSpPr>
        <p:spPr>
          <a:xfrm>
            <a:off x="6468177" y="5289804"/>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FY2027E cash interest of $54.0m; each 100bp on term SOFR adds $5.6m, as</a:t>
            </a:r>
            <a:br/>
            <a:r>
              <a:rPr sz="800" b="0" i="0">
                <a:solidFill>
                  <a:srgbClr val="1B1F24"/>
                </a:solidFill>
                <a:latin typeface="Calibri"/>
              </a:rPr>
              <a:t>the TLB is unhedged in the case.</a:t>
            </a:r>
          </a:p>
        </p:txBody>
      </p:sp>
      <p:sp>
        <p:nvSpPr>
          <p:cNvPr id="29" name="n2_h2"/>
          <p:cNvSpPr/>
          <p:nvPr/>
        </p:nvSpPr>
        <p:spPr>
          <a:xfrm>
            <a:off x="6468177" y="5546852"/>
            <a:ext cx="322446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Price</a:t>
            </a:r>
          </a:p>
        </p:txBody>
      </p:sp>
      <p:sp>
        <p:nvSpPr>
          <p:cNvPr id="30" name="m5"/>
          <p:cNvSpPr/>
          <p:nvPr/>
        </p:nvSpPr>
        <p:spPr>
          <a:xfrm>
            <a:off x="6468177" y="5671820"/>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10.0x FY2026E Adj. EBITDA is 0.8x under the listed-peer median of 10.8x</a:t>
            </a:r>
            <a:br/>
            <a:r>
              <a:rPr sz="800" b="0" i="0">
                <a:solidFill>
                  <a:srgbClr val="1B1F24"/>
                </a:solidFill>
                <a:latin typeface="Calibri"/>
              </a:rPr>
              <a:t>and 0.7x under the LBO comps median of 10.7x.</a:t>
            </a:r>
          </a:p>
        </p:txBody>
      </p:sp>
      <p:sp>
        <p:nvSpPr>
          <p:cNvPr id="31" name="px_h"/>
          <p:cNvSpPr/>
          <p:nvPr/>
        </p:nvSpPr>
        <p:spPr>
          <a:xfrm>
            <a:off x="365760" y="6002020"/>
            <a:ext cx="397764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Purchase price analysis</a:t>
            </a:r>
          </a:p>
        </p:txBody>
      </p:sp>
      <p:sp>
        <p:nvSpPr>
          <p:cNvPr id="32" name="px_u"/>
          <p:cNvSpPr/>
          <p:nvPr/>
        </p:nvSpPr>
        <p:spPr>
          <a:xfrm>
            <a:off x="365760" y="6134608"/>
            <a:ext cx="397764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peers: consensus for the 12 listed peers (sheet 6); LBO comps: EV / LTM EBITDA (sheet 5)</a:t>
            </a:r>
          </a:p>
        </p:txBody>
      </p:sp>
      <p:graphicFrame>
        <p:nvGraphicFramePr>
          <p:cNvPr id="33" name="pp"/>
          <p:cNvGraphicFramePr>
            <a:graphicFrameLocks noGrp="1"/>
          </p:cNvGraphicFramePr>
          <p:nvPr/>
        </p:nvGraphicFramePr>
        <p:xfrm>
          <a:off x="365760" y="6241796"/>
          <a:ext cx="3977640" cy="966216"/>
        </p:xfrm>
        <a:graphic>
          <a:graphicData uri="http://schemas.openxmlformats.org/drawingml/2006/table">
            <a:tbl>
              <a:tblPr firstRow="0" bandRow="0" lastRow="0" firstCol="0" lastCol="0" bandCol="0"/>
              <a:tblGrid>
                <a:gridCol w="1591056"/>
                <a:gridCol w="621494"/>
                <a:gridCol w="621494"/>
                <a:gridCol w="522103"/>
                <a:gridCol w="621493"/>
              </a:tblGrid>
              <a:tr h="249936">
                <a:tc>
                  <a:txBody>
                    <a:bodyPr wrap="square"/>
                    <a:lstStyle/>
                    <a:p>
                      <a:pPr algn="l"/>
                      <a:r>
                        <a:rPr sz="700" b="1" i="0">
                          <a:solidFill>
                            <a:srgbClr val="1B1F24"/>
                          </a:solidFill>
                          <a:latin typeface="Calibri"/>
                        </a:rPr>
                        <a:t>Multiple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Corvane metric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Implied at $1,260.0m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Peer median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LBO comps median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EV / FY2025A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117.1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10.76x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EV / FY2026E 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EV / FY2027E 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EV / FY2026E revenue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667.2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EV / FY2026E (Adj. EBITDA - 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103.3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12.20x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4" name="ix_h"/>
          <p:cNvSpPr/>
          <p:nvPr/>
        </p:nvSpPr>
        <p:spPr>
          <a:xfrm>
            <a:off x="4480560" y="6002020"/>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Cash interest, first year</a:t>
            </a:r>
          </a:p>
        </p:txBody>
      </p:sp>
      <p:sp>
        <p:nvSpPr>
          <p:cNvPr id="35" name="ix_u"/>
          <p:cNvSpPr/>
          <p:nvPr/>
        </p:nvSpPr>
        <p:spPr>
          <a:xfrm>
            <a:off x="4480560" y="6134608"/>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FY2027E rates on opening balances</a:t>
            </a:r>
          </a:p>
        </p:txBody>
      </p:sp>
      <p:graphicFrame>
        <p:nvGraphicFramePr>
          <p:cNvPr id="36" name="intr"/>
          <p:cNvGraphicFramePr>
            <a:graphicFrameLocks noGrp="1"/>
          </p:cNvGraphicFramePr>
          <p:nvPr/>
        </p:nvGraphicFramePr>
        <p:xfrm>
          <a:off x="4480560" y="6241796"/>
          <a:ext cx="2743200" cy="716280"/>
        </p:xfrm>
        <a:graphic>
          <a:graphicData uri="http://schemas.openxmlformats.org/drawingml/2006/table">
            <a:tbl>
              <a:tblPr firstRow="0" bandRow="0" lastRow="0" firstCol="0" lastCol="0" bandCol="0"/>
              <a:tblGrid>
                <a:gridCol w="1207008"/>
                <a:gridCol w="590255"/>
                <a:gridCol w="383281"/>
                <a:gridCol w="562656"/>
              </a:tblGrid>
              <a:tr h="143256">
                <a:tc>
                  <a:txBody>
                    <a:bodyPr wrap="square"/>
                    <a:lstStyle/>
                    <a:p>
                      <a:pPr algn="l"/>
                      <a:r>
                        <a:rPr sz="700" b="1" i="0">
                          <a:solidFill>
                            <a:srgbClr val="1B1F24"/>
                          </a:solidFill>
                          <a:latin typeface="Calibri"/>
                        </a:rPr>
                        <a:t>Tranche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Opening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Rate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Interest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40.3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Revolver commitment fee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175.0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0.7</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FY2027E cash interest</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7.45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54.0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7" name="ox_h"/>
          <p:cNvSpPr/>
          <p:nvPr/>
        </p:nvSpPr>
        <p:spPr>
          <a:xfrm>
            <a:off x="7360920" y="6002020"/>
            <a:ext cx="233172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Equity ownership at close</a:t>
            </a:r>
          </a:p>
        </p:txBody>
      </p:sp>
      <p:sp>
        <p:nvSpPr>
          <p:cNvPr id="38" name="ox_u"/>
          <p:cNvSpPr/>
          <p:nvPr/>
        </p:nvSpPr>
        <p:spPr>
          <a:xfrm>
            <a:off x="7360920" y="6134608"/>
            <a:ext cx="233172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incentive plan: 6.0% of the equity gain at exit</a:t>
            </a:r>
          </a:p>
        </p:txBody>
      </p:sp>
      <p:graphicFrame>
        <p:nvGraphicFramePr>
          <p:cNvPr id="39" name="own"/>
          <p:cNvGraphicFramePr>
            <a:graphicFrameLocks noGrp="1"/>
          </p:cNvGraphicFramePr>
          <p:nvPr/>
        </p:nvGraphicFramePr>
        <p:xfrm>
          <a:off x="7360920" y="6241796"/>
          <a:ext cx="2331720" cy="573024"/>
        </p:xfrm>
        <a:graphic>
          <a:graphicData uri="http://schemas.openxmlformats.org/drawingml/2006/table">
            <a:tbl>
              <a:tblPr firstRow="0" bandRow="0" lastRow="0" firstCol="0" lastCol="0" bandCol="0"/>
              <a:tblGrid>
                <a:gridCol w="1165860"/>
                <a:gridCol w="564523"/>
                <a:gridCol w="601337"/>
              </a:tblGrid>
              <a:tr h="143256">
                <a:tc>
                  <a:txBody>
                    <a:bodyPr wrap="square"/>
                    <a:lstStyle/>
                    <a:p>
                      <a:pPr algn="l"/>
                      <a:r>
                        <a:rPr sz="700" b="1" i="0">
                          <a:solidFill>
                            <a:srgbClr val="1B1F24"/>
                          </a:solidFill>
                          <a:latin typeface="Calibri"/>
                        </a:rPr>
                        <a:t>Holder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Invested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Ownership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Sponsor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93.4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40"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financing commitment papers (illustrative), lender term sheets, sponsor model; all figures illustrative.</a:t>
            </a:r>
          </a:p>
        </p:txBody>
      </p:sp>
    </p:spTree>
    <p:custDataLst>
      <p:tags r:id="rId3"/>
    </p:custData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5" name="chrome-1"/>
          <p:cNvCxnSpPr/>
          <p:nvPr/>
        </p:nvCxnSpPr>
        <p:spPr>
          <a:xfrm>
            <a:off x="365760" y="603504"/>
            <a:ext cx="9326880" cy="0"/>
          </a:xfrm>
          <a:prstGeom prst="line">
            <a:avLst/>
          </a:prstGeom>
          <a:ln w="12700">
            <a:solidFill>
              <a:srgbClr val="1F3D63"/>
            </a:solidFill>
          </a:ln>
        </p:spPr>
      </p:cxnSp>
      <p:cxnSp>
        <p:nvCxnSpPr>
          <p:cNvPr id="26" name="chrome-2"/>
          <p:cNvCxnSpPr/>
          <p:nvPr/>
        </p:nvCxnSpPr>
        <p:spPr>
          <a:xfrm>
            <a:off x="365760" y="7411212"/>
            <a:ext cx="9326880" cy="0"/>
          </a:xfrm>
          <a:prstGeom prst="line">
            <a:avLst/>
          </a:prstGeom>
          <a:ln w="6350">
            <a:solidFill>
              <a:srgbClr val="C3CAD3"/>
            </a:solidFill>
          </a:ln>
        </p:spPr>
      </p:cxnSp>
      <p:sp>
        <p:nvSpPr>
          <p:cNvPr id="27"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28"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4.3 OPERATING MODEL</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Five-year operating model and debt schedule</a:t>
            </a:r>
          </a:p>
        </p:txBody>
      </p:sp>
      <p:sp>
        <p:nvSpPr>
          <p:cNvPr id="4" name="mx_h"/>
          <p:cNvSpPr/>
          <p:nvPr/>
        </p:nvSpPr>
        <p:spPr>
          <a:xfrm>
            <a:off x="365760" y="690372"/>
            <a:ext cx="644652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Five-year operating model: sponsor base case</a:t>
            </a:r>
          </a:p>
        </p:txBody>
      </p:sp>
      <p:sp>
        <p:nvSpPr>
          <p:cNvPr id="5" name="mx_u"/>
          <p:cNvSpPr/>
          <p:nvPr/>
        </p:nvSpPr>
        <p:spPr>
          <a:xfrm>
            <a:off x="365760" y="822960"/>
            <a:ext cx="644652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FY2023A-FY2025A audited, FY2026E budget, FY2027E-FY2031E sponsor base case in blue</a:t>
            </a:r>
          </a:p>
        </p:txBody>
      </p:sp>
      <p:graphicFrame>
        <p:nvGraphicFramePr>
          <p:cNvPr id="6" name="model"/>
          <p:cNvGraphicFramePr>
            <a:graphicFrameLocks noGrp="1"/>
          </p:cNvGraphicFramePr>
          <p:nvPr/>
        </p:nvGraphicFramePr>
        <p:xfrm>
          <a:off x="365760" y="930148"/>
          <a:ext cx="6446520" cy="4727448"/>
        </p:xfrm>
        <a:graphic>
          <a:graphicData uri="http://schemas.openxmlformats.org/drawingml/2006/table">
            <a:tbl>
              <a:tblPr firstRow="0" bandRow="0" lastRow="0" firstCol="0" lastCol="0" bandCol="0"/>
              <a:tblGrid>
                <a:gridCol w="1289304"/>
                <a:gridCol w="436453"/>
                <a:gridCol w="436453"/>
                <a:gridCol w="475293"/>
                <a:gridCol w="475293"/>
                <a:gridCol w="475293"/>
                <a:gridCol w="475293"/>
                <a:gridCol w="475293"/>
                <a:gridCol w="475293"/>
                <a:gridCol w="475293"/>
                <a:gridCol w="957259"/>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FY27E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FY28E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FY29E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FY30E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FY31E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26-31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Revenue ($m)</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325.3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362.1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380.2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397.3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188.4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196.9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204.8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197.8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231.8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249.2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267.9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revenue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574.7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595.4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704.3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746.2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790.8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834.2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878.2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Growth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Profit and loss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Gross profit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270.1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310.3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331.1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Gross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SG&amp;A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(114.9)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(119.4)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(124.3)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(130.9)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106.6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117.1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140.2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155.2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170.8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186.0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Adj. EBITDA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118.4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132.1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146.3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160.1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(50.0)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income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48.3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89.2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102.9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Cash flow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155.2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170.8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Change in net working capital</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(50.0)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Levered free cash flow</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40.4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52.8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65.9</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93.4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FCF / Adj. EBITDA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28.8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38.6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46.7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Debt ($m, year end)</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Mandatory amortisation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sweep prepayment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(47.1)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526.6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473.8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407.9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327.9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234.5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Net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699.5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659.1</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606.3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540.4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460.4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367.0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Net debt / Adj. EBITDA (x)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5.55</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4.70</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3.91</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3.16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2.48</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1.83</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7" name="mx_fn"/>
          <p:cNvSpPr/>
          <p:nvPr/>
        </p:nvSpPr>
        <p:spPr>
          <a:xfrm>
            <a:off x="365760" y="5703316"/>
            <a:ext cx="6446520" cy="2667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Interest on opening balances: TLB at term SOFR (0.50% floor) + 3.50%, notes 8.25%, 0.375% on the undrawn $175.0m revolver. Taxes at 25.0% of pre-tax income, no interest</a:t>
            </a:r>
            <a:br/>
            <a:r>
              <a:rPr sz="700" b="0" i="0">
                <a:solidFill>
                  <a:srgbClr val="56606C"/>
                </a:solidFill>
                <a:latin typeface="Calibri"/>
              </a:rPr>
              <a:t>limitation modelled. Cash sweep: all levered FCF after amortisation prepays the TLB; cash held at $25.0m. Lines set by the new capital structure start at close (FY2026E pro forma).</a:t>
            </a:r>
            <a:br/>
            <a:r>
              <a:rPr sz="700" b="0" i="0">
                <a:solidFill>
                  <a:srgbClr val="56606C"/>
                </a:solidFill>
                <a:latin typeface="Calibri"/>
              </a:rPr>
              <a:t>Outflows in parentheses.</a:t>
            </a:r>
          </a:p>
        </p:txBody>
      </p:sp>
      <p:sp>
        <p:nvSpPr>
          <p:cNvPr id="8" name="mvx_h"/>
          <p:cNvSpPr/>
          <p:nvPr/>
        </p:nvSpPr>
        <p:spPr>
          <a:xfrm>
            <a:off x="365760" y="6061456"/>
            <a:ext cx="3505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base case against management plan</a:t>
            </a:r>
          </a:p>
        </p:txBody>
      </p:sp>
      <p:sp>
        <p:nvSpPr>
          <p:cNvPr id="9" name="mvx_u"/>
          <p:cNvSpPr/>
          <p:nvPr/>
        </p:nvSpPr>
        <p:spPr>
          <a:xfrm>
            <a:off x="365760" y="6194044"/>
            <a:ext cx="3505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by forecast year</a:t>
            </a:r>
          </a:p>
        </p:txBody>
      </p:sp>
      <p:graphicFrame>
        <p:nvGraphicFramePr>
          <p:cNvPr id="10" name="mvs"/>
          <p:cNvGraphicFramePr>
            <a:graphicFrameLocks noGrp="1"/>
          </p:cNvGraphicFramePr>
          <p:nvPr/>
        </p:nvGraphicFramePr>
        <p:xfrm>
          <a:off x="365760" y="6301232"/>
          <a:ext cx="3505200" cy="716280"/>
        </p:xfrm>
        <a:graphic>
          <a:graphicData uri="http://schemas.openxmlformats.org/drawingml/2006/table">
            <a:tbl>
              <a:tblPr firstRow="0" bandRow="0" lastRow="0" firstCol="0" lastCol="0" bandCol="0"/>
              <a:tblGrid>
                <a:gridCol w="1051560"/>
                <a:gridCol w="490728"/>
                <a:gridCol w="490728"/>
                <a:gridCol w="490728"/>
                <a:gridCol w="490728"/>
                <a:gridCol w="490728"/>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Mgmt. revenue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711.0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760.5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813.5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866.2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920.5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1">
                          <a:solidFill>
                            <a:srgbClr val="1F3D63"/>
                          </a:solidFill>
                          <a:latin typeface="Calibri"/>
                        </a:rPr>
                        <a:t>Base vs mgmt. (%)</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(0.9)</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(1.9)</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(2.8)</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(3.7)</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(4.6)</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Mgmt. 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F3D63"/>
                          </a:solidFill>
                          <a:latin typeface="Calibri"/>
                        </a:rPr>
                        <a:t>Base vs mgmt. (%)</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(2.8)</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(5.1)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(7.1)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(8.6)</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(10.1)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1" name="cxx_h"/>
          <p:cNvSpPr/>
          <p:nvPr/>
        </p:nvSpPr>
        <p:spPr>
          <a:xfrm>
            <a:off x="4008120" y="6061456"/>
            <a:ext cx="28041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Reinvestment</a:t>
            </a:r>
          </a:p>
        </p:txBody>
      </p:sp>
      <p:sp>
        <p:nvSpPr>
          <p:cNvPr id="12" name="cxx_u"/>
          <p:cNvSpPr/>
          <p:nvPr/>
        </p:nvSpPr>
        <p:spPr>
          <a:xfrm>
            <a:off x="4008120" y="6194044"/>
            <a:ext cx="28041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maintenance capex at 2.1% of revenue</a:t>
            </a:r>
          </a:p>
        </p:txBody>
      </p:sp>
      <p:graphicFrame>
        <p:nvGraphicFramePr>
          <p:cNvPr id="13" name="cx3"/>
          <p:cNvGraphicFramePr>
            <a:graphicFrameLocks noGrp="1"/>
          </p:cNvGraphicFramePr>
          <p:nvPr/>
        </p:nvGraphicFramePr>
        <p:xfrm>
          <a:off x="4008120" y="6301232"/>
          <a:ext cx="2804160" cy="859536"/>
        </p:xfrm>
        <a:graphic>
          <a:graphicData uri="http://schemas.openxmlformats.org/drawingml/2006/table">
            <a:tbl>
              <a:tblPr firstRow="0" bandRow="0" lastRow="0" firstCol="0" lastCol="0" bandCol="0"/>
              <a:tblGrid>
                <a:gridCol w="1177747"/>
                <a:gridCol w="325282"/>
                <a:gridCol w="325282"/>
                <a:gridCol w="325282"/>
                <a:gridCol w="325282"/>
                <a:gridCol w="325285"/>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Maintenance capex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15.7</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16.6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Growth capex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capex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23.2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24.6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26.1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27.5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29.0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Change in NWC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(Capex + NWC) / EBITDA (%)</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21.2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20.6</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19.8</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18.3</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4" name="ax_h"/>
          <p:cNvSpPr/>
          <p:nvPr/>
        </p:nvSpPr>
        <p:spPr>
          <a:xfrm>
            <a:off x="6949440" y="690372"/>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Key assumptions, base case</a:t>
            </a:r>
          </a:p>
        </p:txBody>
      </p:sp>
      <p:sp>
        <p:nvSpPr>
          <p:cNvPr id="15" name="ax_u"/>
          <p:cNvSpPr/>
          <p:nvPr/>
        </p:nvSpPr>
        <p:spPr>
          <a:xfrm>
            <a:off x="6949440" y="822960"/>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unless stated</a:t>
            </a:r>
          </a:p>
        </p:txBody>
      </p:sp>
      <p:graphicFrame>
        <p:nvGraphicFramePr>
          <p:cNvPr id="16" name="asm"/>
          <p:cNvGraphicFramePr>
            <a:graphicFrameLocks noGrp="1"/>
          </p:cNvGraphicFramePr>
          <p:nvPr/>
        </p:nvGraphicFramePr>
        <p:xfrm>
          <a:off x="6949440" y="930148"/>
          <a:ext cx="2743200" cy="1719072"/>
        </p:xfrm>
        <a:graphic>
          <a:graphicData uri="http://schemas.openxmlformats.org/drawingml/2006/table">
            <a:tbl>
              <a:tblPr firstRow="0" bandRow="0" lastRow="0" firstCol="0" lastCol="0" bandCol="0"/>
              <a:tblGrid>
                <a:gridCol w="1097280"/>
                <a:gridCol w="329184"/>
                <a:gridCol w="329184"/>
                <a:gridCol w="329184"/>
                <a:gridCol w="329184"/>
                <a:gridCol w="329184"/>
              </a:tblGrid>
              <a:tr h="143256">
                <a:tc>
                  <a:txBody>
                    <a:bodyPr wrap="square"/>
                    <a:lstStyle/>
                    <a:p>
                      <a:pPr algn="l"/>
                      <a:r>
                        <a:rPr sz="700" b="1" i="0">
                          <a:solidFill>
                            <a:srgbClr val="1B1F24"/>
                          </a:solidFill>
                          <a:latin typeface="Calibri"/>
                        </a:rPr>
                        <a:t>Assumption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Valves growth (%)</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Gross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 margin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19.9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20.8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21.6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22.3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D&amp;A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Capex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NWC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Term SOFR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TLB all-in rate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 rate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7" name="ex_h"/>
          <p:cNvSpPr/>
          <p:nvPr/>
        </p:nvSpPr>
        <p:spPr>
          <a:xfrm>
            <a:off x="6949440" y="2740660"/>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Adj. EBITDA, FY2021A-FY2031E</a:t>
            </a:r>
          </a:p>
        </p:txBody>
      </p:sp>
      <p:sp>
        <p:nvSpPr>
          <p:cNvPr id="18" name="ex_u"/>
          <p:cNvSpPr/>
          <p:nvPr/>
        </p:nvSpPr>
        <p:spPr>
          <a:xfrm>
            <a:off x="6949440" y="2873248"/>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history in grey, sponsor base case in blue</a:t>
            </a:r>
          </a:p>
        </p:txBody>
      </p:sp>
      <p:graphicFrame>
        <p:nvGraphicFramePr>
          <p:cNvPr id="19" name="ebitda"/>
          <p:cNvGraphicFramePr>
            <a:graphicFrameLocks noGrp="1"/>
          </p:cNvGraphicFramePr>
          <p:nvPr/>
        </p:nvGraphicFramePr>
        <p:xfrm>
          <a:off x="6949440" y="2980436"/>
          <a:ext cx="2743200" cy="1497076"/>
        </p:xfrm>
        <a:graphic>
          <a:graphicData uri="http://schemas.openxmlformats.org/drawingml/2006/chart">
            <c:chart xmlns:c="http://schemas.openxmlformats.org/drawingml/2006/chart" r:id="rId2"/>
          </a:graphicData>
        </a:graphic>
      </p:graphicFrame>
      <p:sp>
        <p:nvSpPr>
          <p:cNvPr id="20" name="cs_h"/>
          <p:cNvSpPr/>
          <p:nvPr/>
        </p:nvSpPr>
        <p:spPr>
          <a:xfrm>
            <a:off x="6949440" y="4568952"/>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Cases compared</a:t>
            </a:r>
          </a:p>
        </p:txBody>
      </p:sp>
      <p:sp>
        <p:nvSpPr>
          <p:cNvPr id="21" name="cs_u"/>
          <p:cNvSpPr/>
          <p:nvPr/>
        </p:nvSpPr>
        <p:spPr>
          <a:xfrm>
            <a:off x="6949440" y="4701540"/>
            <a:ext cx="2743200"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management, sponsor base and downside; downside: FY2027E revenue</a:t>
            </a:r>
            <a:br/>
            <a:r>
              <a:rPr sz="700" b="0" i="1">
                <a:solidFill>
                  <a:srgbClr val="56606C"/>
                </a:solidFill>
                <a:latin typeface="Calibri"/>
              </a:rPr>
              <a:t>8.3% under FY2026E, margin 17.2%</a:t>
            </a:r>
          </a:p>
        </p:txBody>
      </p:sp>
      <p:graphicFrame>
        <p:nvGraphicFramePr>
          <p:cNvPr id="22" name="cases"/>
          <p:cNvGraphicFramePr>
            <a:graphicFrameLocks noGrp="1"/>
          </p:cNvGraphicFramePr>
          <p:nvPr/>
        </p:nvGraphicFramePr>
        <p:xfrm>
          <a:off x="6949440" y="4897628"/>
          <a:ext cx="2743200" cy="1289304"/>
        </p:xfrm>
        <a:graphic>
          <a:graphicData uri="http://schemas.openxmlformats.org/drawingml/2006/table">
            <a:tbl>
              <a:tblPr firstRow="0" bandRow="0" lastRow="0" firstCol="0" lastCol="0" bandCol="0"/>
              <a:tblGrid>
                <a:gridCol w="1179576"/>
                <a:gridCol w="479242"/>
                <a:gridCol w="412858"/>
                <a:gridCol w="671524"/>
              </a:tblGrid>
              <a:tr h="143256">
                <a:tc>
                  <a:txBody>
                    <a:bodyPr wrap="square"/>
                    <a:lstStyle/>
                    <a:p>
                      <a:pPr algn="l"/>
                      <a:r>
                        <a:rPr sz="700" b="1" i="0">
                          <a:solidFill>
                            <a:srgbClr val="1B1F24"/>
                          </a:solidFill>
                          <a:latin typeface="Calibri"/>
                        </a:rPr>
                        <a:t>FY2031E unless stated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Mgmt.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F3D63"/>
                          </a:solidFill>
                          <a:latin typeface="Calibri"/>
                        </a:rPr>
                        <a:t>Base</a:t>
                      </a:r>
                      <a:endParaRPr sz="700" b="1"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Downside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Revenue FY2031E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920.5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F3D63"/>
                          </a:solidFill>
                          <a:latin typeface="Calibri"/>
                        </a:rPr>
                        <a:t>878.2</a:t>
                      </a:r>
                      <a:endParaRPr sz="700" b="1"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735.6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Revenue CAGR 26-31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5.6</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FY2031E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22.8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Cumulative levered FCF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332.5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debt / EBITDA FY2031E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IRR at 10.0x exit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8.5</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MOIC at 10.0x exit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2.97</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2.56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B0241B"/>
                          </a:solidFill>
                          <a:latin typeface="Calibri"/>
                        </a:rPr>
                        <a:t>1.50</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3" name="p3n"/>
          <p:cNvSpPr/>
          <p:nvPr/>
        </p:nvSpPr>
        <p:spPr>
          <a:xfrm>
            <a:off x="6949440" y="6278372"/>
            <a:ext cx="2743200" cy="92964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Model notes</a:t>
            </a:r>
          </a:p>
          <a:p>
            <a:pPr algn="l" lvl="0" marL="91440" indent="-91440">
              <a:lnSpc>
                <a:spcPts val="840"/>
              </a:lnSpc>
              <a:spcBef>
                <a:spcPts val="0"/>
              </a:spcBef>
              <a:spcAft>
                <a:spcPts val="200"/>
              </a:spcAft>
              <a:buFont typeface="Calibri"/>
              <a:buChar char="•"/>
            </a:pPr>
            <a:r>
              <a:rPr sz="800" b="0" i="0">
                <a:solidFill>
                  <a:srgbClr val="1B1F24"/>
                </a:solidFill>
                <a:latin typeface="Calibri"/>
              </a:rPr>
              <a:t>Revenue grows 5.6% a year to $878.2m, under the 6.5% of</a:t>
            </a:r>
            <a:br/>
            <a:r>
              <a:rPr sz="800" b="0" i="0">
                <a:solidFill>
                  <a:srgbClr val="1B1F24"/>
                </a:solidFill>
                <a:latin typeface="Calibri"/>
              </a:rPr>
              <a:t>FY2021A-26E; aftermarket rises to 30.5% of revenue.</a:t>
            </a:r>
          </a:p>
          <a:p>
            <a:pPr algn="l" lvl="0" marL="91440" indent="-91440">
              <a:lnSpc>
                <a:spcPts val="840"/>
              </a:lnSpc>
              <a:spcBef>
                <a:spcPts val="0"/>
              </a:spcBef>
              <a:spcAft>
                <a:spcPts val="200"/>
              </a:spcAft>
              <a:buFont typeface="Calibri"/>
              <a:buChar char="•"/>
            </a:pPr>
            <a:r>
              <a:rPr sz="800" b="0" i="0">
                <a:solidFill>
                  <a:srgbClr val="1B1F24"/>
                </a:solidFill>
                <a:latin typeface="Calibri"/>
              </a:rPr>
              <a:t>Adj. EBITDA margin rises 3.9pp to 22.8% on mix and a $14m</a:t>
            </a:r>
            <a:br/>
            <a:r>
              <a:rPr sz="800" b="0" i="0">
                <a:solidFill>
                  <a:srgbClr val="1B1F24"/>
                </a:solidFill>
                <a:latin typeface="Calibri"/>
              </a:rPr>
              <a:t>procurement programme; the sponsor case sits 10.1% under</a:t>
            </a:r>
            <a:br/>
            <a:r>
              <a:rPr sz="800" b="0" i="0">
                <a:solidFill>
                  <a:srgbClr val="1B1F24"/>
                </a:solidFill>
                <a:latin typeface="Calibri"/>
              </a:rPr>
              <a:t>management's FY2031E Adj. EBITDA.</a:t>
            </a:r>
          </a:p>
          <a:p>
            <a:pPr algn="l" lvl="0" marL="91440" indent="-91440">
              <a:lnSpc>
                <a:spcPts val="840"/>
              </a:lnSpc>
              <a:spcBef>
                <a:spcPts val="0"/>
              </a:spcBef>
              <a:spcAft>
                <a:spcPts val="200"/>
              </a:spcAft>
              <a:buFont typeface="Calibri"/>
              <a:buChar char="•"/>
            </a:pPr>
            <a:r>
              <a:rPr sz="800" b="0" i="0">
                <a:solidFill>
                  <a:srgbClr val="1B1F24"/>
                </a:solidFill>
                <a:latin typeface="Calibri"/>
              </a:rPr>
              <a:t>Levered free cash flow of $332.5m over five years repays 58.6%</a:t>
            </a:r>
            <a:br/>
            <a:r>
              <a:rPr sz="800" b="0" i="0">
                <a:solidFill>
                  <a:srgbClr val="1B1F24"/>
                </a:solidFill>
                <a:latin typeface="Calibri"/>
              </a:rPr>
              <a:t>of the term loan; net leverage falls from 5.55x to 1.83x.</a:t>
            </a:r>
          </a:p>
        </p:txBody>
      </p:sp>
      <p:sp>
        <p:nvSpPr>
          <p:cNvPr id="24"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Corvane management accounts and FY2026E budget; sponsor base case built from management plan with sponsor adjustments; all figures illustrative.</a:t>
            </a:r>
          </a:p>
        </p:txBody>
      </p:sp>
    </p:spTree>
    <p:custDataLst>
      <p:tags r:id="rId3"/>
    </p:custData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44" name="chrome-1"/>
          <p:cNvCxnSpPr/>
          <p:nvPr/>
        </p:nvCxnSpPr>
        <p:spPr>
          <a:xfrm>
            <a:off x="365760" y="603504"/>
            <a:ext cx="9326880" cy="0"/>
          </a:xfrm>
          <a:prstGeom prst="line">
            <a:avLst/>
          </a:prstGeom>
          <a:ln w="12700">
            <a:solidFill>
              <a:srgbClr val="1F3D63"/>
            </a:solidFill>
          </a:ln>
        </p:spPr>
      </p:cxnSp>
      <p:cxnSp>
        <p:nvCxnSpPr>
          <p:cNvPr id="45" name="chrome-2"/>
          <p:cNvCxnSpPr/>
          <p:nvPr/>
        </p:nvCxnSpPr>
        <p:spPr>
          <a:xfrm>
            <a:off x="365760" y="7411212"/>
            <a:ext cx="9326880" cy="0"/>
          </a:xfrm>
          <a:prstGeom prst="line">
            <a:avLst/>
          </a:prstGeom>
          <a:ln w="6350">
            <a:solidFill>
              <a:srgbClr val="C3CAD3"/>
            </a:solidFill>
          </a:ln>
        </p:spPr>
      </p:cxnSp>
      <p:sp>
        <p:nvSpPr>
          <p:cNvPr id="46"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47"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4.4 RETURNS ANALYSIS</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Returns analysis: IRR and MOIC sensitivities</a:t>
            </a:r>
          </a:p>
        </p:txBody>
      </p:sp>
      <p:sp>
        <p:nvSpPr>
          <p:cNvPr id="4" name="rx_h"/>
          <p:cNvSpPr/>
          <p:nvPr/>
        </p:nvSpPr>
        <p:spPr>
          <a:xfrm>
            <a:off x="365760" y="690372"/>
            <a:ext cx="2149983"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returns, base case</a:t>
            </a:r>
          </a:p>
        </p:txBody>
      </p:sp>
      <p:sp>
        <p:nvSpPr>
          <p:cNvPr id="5" name="rx_u"/>
          <p:cNvSpPr/>
          <p:nvPr/>
        </p:nvSpPr>
        <p:spPr>
          <a:xfrm>
            <a:off x="365760" y="822960"/>
            <a:ext cx="2149983"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a:t>
            </a:r>
          </a:p>
        </p:txBody>
      </p:sp>
      <p:graphicFrame>
        <p:nvGraphicFramePr>
          <p:cNvPr id="6" name="rs"/>
          <p:cNvGraphicFramePr>
            <a:graphicFrameLocks noGrp="1"/>
          </p:cNvGraphicFramePr>
          <p:nvPr/>
        </p:nvGraphicFramePr>
        <p:xfrm>
          <a:off x="365760" y="930148"/>
          <a:ext cx="2149983" cy="1862328"/>
        </p:xfrm>
        <a:graphic>
          <a:graphicData uri="http://schemas.openxmlformats.org/drawingml/2006/table">
            <a:tbl>
              <a:tblPr firstRow="0" bandRow="0" lastRow="0" firstCol="0" lastCol="0" bandCol="0"/>
              <a:tblGrid>
                <a:gridCol w="1461988"/>
                <a:gridCol w="687995"/>
              </a:tblGrid>
              <a:tr h="143256">
                <a:tc>
                  <a:txBody>
                    <a:bodyPr wrap="square"/>
                    <a:lstStyle/>
                    <a:p>
                      <a:pPr algn="l"/>
                      <a:r>
                        <a:rPr sz="700" b="1" i="0">
                          <a:solidFill>
                            <a:srgbClr val="1B1F24"/>
                          </a:solidFill>
                          <a:latin typeface="Calibri"/>
                        </a:rPr>
                        <a:t>Base case, exit 31 December 2031</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FY2031E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Exit multiple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Enterprise value at exit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exit costs (1.5%)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net debt at exit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Equity value at exit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1,605.0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management incentive plan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Equity to holders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1,544.9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share (93.4%)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 invested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MOIC (x)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F3D63"/>
                          </a:solidFill>
                          <a:latin typeface="Calibri"/>
                        </a:rPr>
                        <a:t>2.56x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1" i="0">
                          <a:solidFill>
                            <a:srgbClr val="1F3D63"/>
                          </a:solidFill>
                          <a:latin typeface="Calibri"/>
                        </a:rPr>
                        <a:t>IRR, five-year hold (%)</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7" name="n4_h"/>
          <p:cNvSpPr/>
          <p:nvPr/>
        </p:nvSpPr>
        <p:spPr>
          <a:xfrm>
            <a:off x="365760" y="2883916"/>
            <a:ext cx="214998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Returns</a:t>
            </a:r>
          </a:p>
        </p:txBody>
      </p:sp>
      <p:sp>
        <p:nvSpPr>
          <p:cNvPr id="8" name="r1"/>
          <p:cNvSpPr/>
          <p:nvPr/>
        </p:nvSpPr>
        <p:spPr>
          <a:xfrm>
            <a:off x="365760" y="3008884"/>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Base case: 2.56x and 20.7% to the sponsor on a</a:t>
            </a:r>
            <a:br/>
            <a:r>
              <a:rPr sz="800" b="0" i="0">
                <a:solidFill>
                  <a:srgbClr val="1B1F24"/>
                </a:solidFill>
                <a:latin typeface="Calibri"/>
              </a:rPr>
              <a:t>10.0x exit, 0.7pp over the 20.0% hurdle, with no</a:t>
            </a:r>
            <a:br/>
            <a:r>
              <a:rPr sz="800" b="0" i="0">
                <a:solidFill>
                  <a:srgbClr val="1B1F24"/>
                </a:solidFill>
                <a:latin typeface="Calibri"/>
              </a:rPr>
              <a:t>multiple expansion.</a:t>
            </a:r>
          </a:p>
        </p:txBody>
      </p:sp>
      <p:sp>
        <p:nvSpPr>
          <p:cNvPr id="9" name="r2"/>
          <p:cNvSpPr/>
          <p:nvPr/>
        </p:nvSpPr>
        <p:spPr>
          <a:xfrm>
            <a:off x="365760" y="3372612"/>
            <a:ext cx="214998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Adj. EBITDA growth is 69.1% of the value created</a:t>
            </a:r>
            <a:br/>
            <a:r>
              <a:rPr sz="800" b="0" i="0">
                <a:solidFill>
                  <a:srgbClr val="1B1F24"/>
                </a:solidFill>
                <a:latin typeface="Calibri"/>
              </a:rPr>
              <a:t>before costs; debt paydown the rest.</a:t>
            </a:r>
          </a:p>
        </p:txBody>
      </p:sp>
      <p:sp>
        <p:nvSpPr>
          <p:cNvPr id="10" name="r3"/>
          <p:cNvSpPr/>
          <p:nvPr/>
        </p:nvSpPr>
        <p:spPr>
          <a:xfrm>
            <a:off x="365760" y="3629660"/>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hurdle holds down to a 9.77x exit, or to Adj.</a:t>
            </a:r>
            <a:br/>
            <a:r>
              <a:rPr sz="800" b="0" i="0">
                <a:solidFill>
                  <a:srgbClr val="1B1F24"/>
                </a:solidFill>
                <a:latin typeface="Calibri"/>
              </a:rPr>
              <a:t>EBITDA margins 37bp a year under plan; it is</a:t>
            </a:r>
            <a:br/>
            <a:r>
              <a:rPr sz="800" b="0" i="0">
                <a:solidFill>
                  <a:srgbClr val="1B1F24"/>
                </a:solidFill>
                <a:latin typeface="Calibri"/>
              </a:rPr>
              <a:t>least sensitive to rates (+221bp of SOFR).</a:t>
            </a:r>
          </a:p>
        </p:txBody>
      </p:sp>
      <p:sp>
        <p:nvSpPr>
          <p:cNvPr id="11" name="r3b"/>
          <p:cNvSpPr/>
          <p:nvPr/>
        </p:nvSpPr>
        <p:spPr>
          <a:xfrm>
            <a:off x="365760" y="3993388"/>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Each turn of entry debt adds about 2.4pp of IRR</a:t>
            </a:r>
            <a:br/>
            <a:r>
              <a:rPr sz="800" b="0" i="0">
                <a:solidFill>
                  <a:srgbClr val="1B1F24"/>
                </a:solidFill>
                <a:latin typeface="Calibri"/>
              </a:rPr>
              <a:t>at a 10.0x exit, before the cost to headroom on</a:t>
            </a:r>
            <a:br/>
            <a:r>
              <a:rPr sz="800" b="0" i="0">
                <a:solidFill>
                  <a:srgbClr val="1B1F24"/>
                </a:solidFill>
                <a:latin typeface="Calibri"/>
              </a:rPr>
              <a:t>sheet 5.</a:t>
            </a:r>
          </a:p>
        </p:txBody>
      </p:sp>
      <p:sp>
        <p:nvSpPr>
          <p:cNvPr id="12" name="r4"/>
          <p:cNvSpPr/>
          <p:nvPr/>
        </p:nvSpPr>
        <p:spPr>
          <a:xfrm>
            <a:off x="365760" y="4357116"/>
            <a:ext cx="214998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15 of 35 entry and exit pairs miss 20.0% (red);</a:t>
            </a:r>
            <a:br/>
            <a:r>
              <a:rPr sz="800" b="0" i="0">
                <a:solidFill>
                  <a:srgbClr val="1B1F24"/>
                </a:solidFill>
                <a:latin typeface="Calibri"/>
              </a:rPr>
              <a:t>none exits above its entry multiple.</a:t>
            </a:r>
          </a:p>
        </p:txBody>
      </p:sp>
      <p:sp>
        <p:nvSpPr>
          <p:cNvPr id="13" name="bx_h"/>
          <p:cNvSpPr/>
          <p:nvPr/>
        </p:nvSpPr>
        <p:spPr>
          <a:xfrm>
            <a:off x="2652903" y="690372"/>
            <a:ext cx="429996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Value creation bridge: total equity</a:t>
            </a:r>
          </a:p>
        </p:txBody>
      </p:sp>
      <p:sp>
        <p:nvSpPr>
          <p:cNvPr id="14" name="bx_u"/>
          <p:cNvSpPr/>
          <p:nvPr/>
        </p:nvSpPr>
        <p:spPr>
          <a:xfrm>
            <a:off x="2652903" y="822960"/>
            <a:ext cx="429996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entry to exit FY2031E; 10.0x in and out, so no multiple step; costs in red</a:t>
            </a:r>
          </a:p>
        </p:txBody>
      </p:sp>
      <p:graphicFrame>
        <p:nvGraphicFramePr>
          <p:cNvPr id="15" name="bridge"/>
          <p:cNvGraphicFramePr>
            <a:graphicFrameLocks noGrp="1"/>
          </p:cNvGraphicFramePr>
          <p:nvPr/>
        </p:nvGraphicFramePr>
        <p:xfrm>
          <a:off x="2652903" y="930148"/>
          <a:ext cx="4299966" cy="3635756"/>
        </p:xfrm>
        <a:graphic>
          <a:graphicData uri="http://schemas.openxmlformats.org/drawingml/2006/chart">
            <c:chart xmlns:c="http://schemas.openxmlformats.org/drawingml/2006/chart" r:id="rId2"/>
          </a:graphicData>
        </a:graphic>
      </p:graphicFrame>
      <p:sp>
        <p:nvSpPr>
          <p:cNvPr id="16" name="bx_fn"/>
          <p:cNvSpPr/>
          <p:nvPr/>
        </p:nvSpPr>
        <p:spPr>
          <a:xfrm>
            <a:off x="2652903" y="4611624"/>
            <a:ext cx="429996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Equity invested includes management's $40.0m rollover; the sponsor receives 93.4% of equity to holders.</a:t>
            </a:r>
          </a:p>
        </p:txBody>
      </p:sp>
      <p:sp>
        <p:nvSpPr>
          <p:cNvPr id="17" name="hx_h"/>
          <p:cNvSpPr/>
          <p:nvPr/>
        </p:nvSpPr>
        <p:spPr>
          <a:xfrm>
            <a:off x="7090029" y="690372"/>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IRR by exit year</a:t>
            </a:r>
          </a:p>
        </p:txBody>
      </p:sp>
      <p:sp>
        <p:nvSpPr>
          <p:cNvPr id="18" name="hx_u"/>
          <p:cNvSpPr/>
          <p:nvPr/>
        </p:nvSpPr>
        <p:spPr>
          <a:xfrm>
            <a:off x="7090029" y="822960"/>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base case; MOIC at 10.0x</a:t>
            </a:r>
          </a:p>
        </p:txBody>
      </p:sp>
      <p:graphicFrame>
        <p:nvGraphicFramePr>
          <p:cNvPr id="19" name="hold"/>
          <p:cNvGraphicFramePr>
            <a:graphicFrameLocks noGrp="1"/>
          </p:cNvGraphicFramePr>
          <p:nvPr/>
        </p:nvGraphicFramePr>
        <p:xfrm>
          <a:off x="7090029" y="930148"/>
          <a:ext cx="2602611" cy="679704"/>
        </p:xfrm>
        <a:graphic>
          <a:graphicData uri="http://schemas.openxmlformats.org/drawingml/2006/table">
            <a:tbl>
              <a:tblPr firstRow="0" bandRow="0" lastRow="0" firstCol="0" lastCol="0" bandCol="0"/>
              <a:tblGrid>
                <a:gridCol w="780783"/>
                <a:gridCol w="449394"/>
                <a:gridCol w="457478"/>
                <a:gridCol w="457478"/>
                <a:gridCol w="457478"/>
              </a:tblGrid>
              <a:tr h="249936">
                <a:tc>
                  <a:txBody>
                    <a:bodyPr wrap="square"/>
                    <a:lstStyle/>
                    <a:p>
                      <a:pPr algn="l"/>
                      <a:r>
                        <a:rPr sz="700" b="1" i="0">
                          <a:solidFill>
                            <a:srgbClr val="1B1F24"/>
                          </a:solidFill>
                          <a:latin typeface="Calibri"/>
                        </a:rPr>
                        <a:t>Exit at year end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MOIC at 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FY2029</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16.4%</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22.5%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1.84x</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FY2030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2.19x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0" name="hdx_h"/>
          <p:cNvSpPr/>
          <p:nvPr/>
        </p:nvSpPr>
        <p:spPr>
          <a:xfrm>
            <a:off x="7090029" y="1701292"/>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Proceeds by holder at exit</a:t>
            </a:r>
          </a:p>
        </p:txBody>
      </p:sp>
      <p:sp>
        <p:nvSpPr>
          <p:cNvPr id="21" name="hdx_u"/>
          <p:cNvSpPr/>
          <p:nvPr/>
        </p:nvSpPr>
        <p:spPr>
          <a:xfrm>
            <a:off x="7090029" y="1833880"/>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base case; the plan takes 3.7% of exit equity</a:t>
            </a:r>
          </a:p>
        </p:txBody>
      </p:sp>
      <p:graphicFrame>
        <p:nvGraphicFramePr>
          <p:cNvPr id="22" name="holders"/>
          <p:cNvGraphicFramePr>
            <a:graphicFrameLocks noGrp="1"/>
          </p:cNvGraphicFramePr>
          <p:nvPr/>
        </p:nvGraphicFramePr>
        <p:xfrm>
          <a:off x="7090029" y="1941068"/>
          <a:ext cx="2602611" cy="716280"/>
        </p:xfrm>
        <a:graphic>
          <a:graphicData uri="http://schemas.openxmlformats.org/drawingml/2006/table">
            <a:tbl>
              <a:tblPr firstRow="0" bandRow="0" lastRow="0" firstCol="0" lastCol="0" bandCol="0"/>
              <a:tblGrid>
                <a:gridCol w="1093097"/>
                <a:gridCol w="497211"/>
                <a:gridCol w="601335"/>
                <a:gridCol w="410968"/>
              </a:tblGrid>
              <a:tr h="143256">
                <a:tc>
                  <a:txBody>
                    <a:bodyPr wrap="square"/>
                    <a:lstStyle/>
                    <a:p>
                      <a:pPr algn="l"/>
                      <a:r>
                        <a:rPr sz="700" b="1" i="0">
                          <a:solidFill>
                            <a:srgbClr val="1B1F24"/>
                          </a:solidFill>
                          <a:latin typeface="Calibri"/>
                        </a:rPr>
                        <a:t>Holder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Out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MOIC</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Sponsor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1,442.6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incentive plan</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equity</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1,605.0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2.66x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23" name="bex_h"/>
          <p:cNvSpPr/>
          <p:nvPr/>
        </p:nvSpPr>
        <p:spPr>
          <a:xfrm>
            <a:off x="7090029" y="2748788"/>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Break-even inputs for a 20.0% IRR</a:t>
            </a:r>
          </a:p>
        </p:txBody>
      </p:sp>
      <p:sp>
        <p:nvSpPr>
          <p:cNvPr id="24" name="bex_u"/>
          <p:cNvSpPr/>
          <p:nvPr/>
        </p:nvSpPr>
        <p:spPr>
          <a:xfrm>
            <a:off x="7090029" y="2881376"/>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each input moved alone from the base case; exit FY2031E</a:t>
            </a:r>
          </a:p>
        </p:txBody>
      </p:sp>
      <p:graphicFrame>
        <p:nvGraphicFramePr>
          <p:cNvPr id="25" name="beven"/>
          <p:cNvGraphicFramePr>
            <a:graphicFrameLocks noGrp="1"/>
          </p:cNvGraphicFramePr>
          <p:nvPr/>
        </p:nvGraphicFramePr>
        <p:xfrm>
          <a:off x="7090029" y="2988564"/>
          <a:ext cx="2602611" cy="1286256"/>
        </p:xfrm>
        <a:graphic>
          <a:graphicData uri="http://schemas.openxmlformats.org/drawingml/2006/table">
            <a:tbl>
              <a:tblPr firstRow="0" bandRow="0" lastRow="0" firstCol="0" lastCol="0" bandCol="0"/>
              <a:tblGrid>
                <a:gridCol w="1041044"/>
                <a:gridCol w="604346"/>
                <a:gridCol w="604346"/>
                <a:gridCol w="352875"/>
              </a:tblGrid>
              <a:tr h="143256">
                <a:tc>
                  <a:txBody>
                    <a:bodyPr wrap="square"/>
                    <a:lstStyle/>
                    <a:p>
                      <a:pPr algn="l"/>
                      <a:r>
                        <a:rPr sz="700" b="1" i="0">
                          <a:solidFill>
                            <a:srgbClr val="1B1F24"/>
                          </a:solidFill>
                          <a:latin typeface="Calibri"/>
                        </a:rPr>
                        <a:t>Input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Base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20.0% IRR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Cushion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0" i="0">
                          <a:solidFill>
                            <a:srgbClr val="1B1F24"/>
                          </a:solidFill>
                          <a:latin typeface="Calibri"/>
                        </a:rPr>
                        <a:t>Exit EV / FY2031E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9.77x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B1F24"/>
                          </a:solidFill>
                          <a:latin typeface="Calibri"/>
                        </a:rPr>
                        <a:t>-0.23x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249936">
                <a:tc>
                  <a:txBody>
                    <a:bodyPr wrap="square"/>
                    <a:lstStyle/>
                    <a:p>
                      <a:pPr algn="l"/>
                      <a:r>
                        <a:rPr sz="700" b="0" i="0">
                          <a:solidFill>
                            <a:srgbClr val="1B1F24"/>
                          </a:solidFill>
                          <a:latin typeface="Calibri"/>
                        </a:rPr>
                        <a:t>Adj. EBITDA margin, every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22.8% in FY31E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-37bp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Revenue growth, every segment and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 CAGR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 CAGR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-0.43pp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Entry EV / FY2026E 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+0.14x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Term SOFR, every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3.60% in FY27E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5.81% in FY27E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B1F24"/>
                          </a:solidFill>
                          <a:latin typeface="Calibri"/>
                        </a:rPr>
                        <a:t>+221bp</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6" name="bex_fn"/>
          <p:cNvSpPr/>
          <p:nvPr/>
        </p:nvSpPr>
        <p:spPr>
          <a:xfrm>
            <a:off x="7090029" y="4320540"/>
            <a:ext cx="2602611"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Margin and growth move by the same amount in every forecast year;</a:t>
            </a:r>
            <a:br/>
            <a:r>
              <a:rPr sz="700" b="0" i="0">
                <a:solidFill>
                  <a:srgbClr val="56606C"/>
                </a:solidFill>
                <a:latin typeface="Calibri"/>
              </a:rPr>
              <a:t>SOFR moves in parallel across the curve.</a:t>
            </a:r>
          </a:p>
        </p:txBody>
      </p:sp>
      <p:sp>
        <p:nvSpPr>
          <p:cNvPr id="27" name="lgx_h"/>
          <p:cNvSpPr/>
          <p:nvPr/>
        </p:nvSpPr>
        <p:spPr>
          <a:xfrm>
            <a:off x="365760" y="4791964"/>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entry debt and exit multiple</a:t>
            </a:r>
          </a:p>
        </p:txBody>
      </p:sp>
      <p:sp>
        <p:nvSpPr>
          <p:cNvPr id="28" name="lgx_u"/>
          <p:cNvSpPr/>
          <p:nvPr/>
        </p:nvSpPr>
        <p:spPr>
          <a:xfrm>
            <a:off x="365760" y="492455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total debt / FY2026E Adj. EBITDA, notes held at 1.25x</a:t>
            </a:r>
          </a:p>
        </p:txBody>
      </p:sp>
      <p:graphicFrame>
        <p:nvGraphicFramePr>
          <p:cNvPr id="29" name="levg"/>
          <p:cNvGraphicFramePr>
            <a:graphicFrameLocks noGrp="1"/>
          </p:cNvGraphicFramePr>
          <p:nvPr/>
        </p:nvGraphicFramePr>
        <p:xfrm>
          <a:off x="365760" y="5031740"/>
          <a:ext cx="4594860" cy="716280"/>
        </p:xfrm>
        <a:graphic>
          <a:graphicData uri="http://schemas.openxmlformats.org/drawingml/2006/table">
            <a:tbl>
              <a:tblPr firstRow="0" bandRow="0" lastRow="0" firstCol="0" lastCol="0" bandCol="0"/>
              <a:tblGrid>
                <a:gridCol w="918972"/>
                <a:gridCol w="733825"/>
                <a:gridCol w="733825"/>
                <a:gridCol w="740586"/>
                <a:gridCol w="733825"/>
                <a:gridCol w="733827"/>
              </a:tblGrid>
              <a:tr h="143256">
                <a:tc>
                  <a:txBody>
                    <a:bodyPr wrap="square"/>
                    <a:lstStyle/>
                    <a:p>
                      <a:pPr algn="l"/>
                      <a:r>
                        <a:rPr sz="700" b="1" i="0">
                          <a:solidFill>
                            <a:srgbClr val="1B1F24"/>
                          </a:solidFill>
                          <a:latin typeface="Calibri"/>
                        </a:rPr>
                        <a:t>Debt \ exit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4.75x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15.9%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17.3%</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18.6%</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19.9%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5.25x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16.7%</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6.25x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18.7%</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0" name="lgx_fn"/>
          <p:cNvSpPr/>
          <p:nvPr/>
        </p:nvSpPr>
        <p:spPr>
          <a:xfrm>
            <a:off x="365760" y="5793740"/>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hurdle. Shaded: base case.</a:t>
            </a:r>
          </a:p>
        </p:txBody>
      </p:sp>
      <p:sp>
        <p:nvSpPr>
          <p:cNvPr id="31" name="og_h"/>
          <p:cNvSpPr/>
          <p:nvPr/>
        </p:nvSpPr>
        <p:spPr>
          <a:xfrm>
            <a:off x="5097780" y="4791964"/>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revenue growth and margin</a:t>
            </a:r>
          </a:p>
        </p:txBody>
      </p:sp>
      <p:sp>
        <p:nvSpPr>
          <p:cNvPr id="32" name="og_u"/>
          <p:cNvSpPr/>
          <p:nvPr/>
        </p:nvSpPr>
        <p:spPr>
          <a:xfrm>
            <a:off x="5097780" y="492455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10.0x in and out; growth vs base in every year and segment</a:t>
            </a:r>
          </a:p>
        </p:txBody>
      </p:sp>
      <p:graphicFrame>
        <p:nvGraphicFramePr>
          <p:cNvPr id="33" name="opg"/>
          <p:cNvGraphicFramePr>
            <a:graphicFrameLocks noGrp="1"/>
          </p:cNvGraphicFramePr>
          <p:nvPr/>
        </p:nvGraphicFramePr>
        <p:xfrm>
          <a:off x="5097780" y="5031740"/>
          <a:ext cx="4594860" cy="716280"/>
        </p:xfrm>
        <a:graphic>
          <a:graphicData uri="http://schemas.openxmlformats.org/drawingml/2006/table">
            <a:tbl>
              <a:tblPr firstRow="0" bandRow="0" lastRow="0" firstCol="0" lastCol="0" bandCol="0"/>
              <a:tblGrid>
                <a:gridCol w="918972"/>
                <a:gridCol w="595333"/>
                <a:gridCol w="595333"/>
                <a:gridCol w="595333"/>
                <a:gridCol w="629962"/>
                <a:gridCol w="629962"/>
                <a:gridCol w="629965"/>
              </a:tblGrid>
              <a:tr h="143256">
                <a:tc>
                  <a:txBody>
                    <a:bodyPr wrap="square"/>
                    <a:lstStyle/>
                    <a:p>
                      <a:pPr algn="l"/>
                      <a:r>
                        <a:rPr sz="700" b="1" i="0">
                          <a:solidFill>
                            <a:srgbClr val="1B1F24"/>
                          </a:solidFill>
                          <a:latin typeface="Calibri"/>
                        </a:rPr>
                        <a:t>Growth \ margin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-2.0pp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-0.5pp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+0.5pp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-2.0pp</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13.8%</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15.8%</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16.7%</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19.3%</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15.4%</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+0.0pp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19.8%</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4" name="og_fn"/>
          <p:cNvSpPr/>
          <p:nvPr/>
        </p:nvSpPr>
        <p:spPr>
          <a:xfrm>
            <a:off x="5097780" y="5793740"/>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hurdle. Shaded: base case.</a:t>
            </a:r>
          </a:p>
        </p:txBody>
      </p:sp>
      <p:sp>
        <p:nvSpPr>
          <p:cNvPr id="35" name="ig_h"/>
          <p:cNvSpPr/>
          <p:nvPr/>
        </p:nvSpPr>
        <p:spPr>
          <a:xfrm>
            <a:off x="365760" y="5974080"/>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entry and exit multiple</a:t>
            </a:r>
          </a:p>
        </p:txBody>
      </p:sp>
      <p:sp>
        <p:nvSpPr>
          <p:cNvPr id="36" name="ig_u"/>
          <p:cNvSpPr/>
          <p:nvPr/>
        </p:nvSpPr>
        <p:spPr>
          <a:xfrm>
            <a:off x="365760" y="6106668"/>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exit FY2031E; debt sized at 5.75x at every entry multiple</a:t>
            </a:r>
          </a:p>
        </p:txBody>
      </p:sp>
      <p:graphicFrame>
        <p:nvGraphicFramePr>
          <p:cNvPr id="37" name="irrg"/>
          <p:cNvGraphicFramePr>
            <a:graphicFrameLocks noGrp="1"/>
          </p:cNvGraphicFramePr>
          <p:nvPr/>
        </p:nvGraphicFramePr>
        <p:xfrm>
          <a:off x="365760" y="6213856"/>
          <a:ext cx="4594860" cy="859536"/>
        </p:xfrm>
        <a:graphic>
          <a:graphicData uri="http://schemas.openxmlformats.org/drawingml/2006/table">
            <a:tbl>
              <a:tblPr firstRow="0" bandRow="0" lastRow="0" firstCol="0" lastCol="0" bandCol="0"/>
              <a:tblGrid>
                <a:gridCol w="735178"/>
                <a:gridCol w="550658"/>
                <a:gridCol w="550658"/>
                <a:gridCol w="550658"/>
                <a:gridCol w="555731"/>
                <a:gridCol w="550658"/>
                <a:gridCol w="550658"/>
                <a:gridCol w="550661"/>
              </a:tblGrid>
              <a:tr h="143256">
                <a:tc>
                  <a:txBody>
                    <a:bodyPr wrap="square"/>
                    <a:lstStyle/>
                    <a:p>
                      <a:pPr algn="l"/>
                      <a:r>
                        <a:rPr sz="700" b="1" i="0">
                          <a:solidFill>
                            <a:srgbClr val="1B1F24"/>
                          </a:solidFill>
                          <a:latin typeface="Calibri"/>
                        </a:rPr>
                        <a:t>In \ out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8.5x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24.8%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27.8%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16.0%</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13.8%</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15.4%</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19.7%</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11.8%</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13.4%</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14.9%</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16.3%</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18.9%</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8" name="ig_fn"/>
          <p:cNvSpPr/>
          <p:nvPr/>
        </p:nvSpPr>
        <p:spPr>
          <a:xfrm>
            <a:off x="365760" y="711911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IRR hurdle. Shaded: base case, 10.0x in and out.</a:t>
            </a:r>
          </a:p>
        </p:txBody>
      </p:sp>
      <p:sp>
        <p:nvSpPr>
          <p:cNvPr id="39" name="mg_h"/>
          <p:cNvSpPr/>
          <p:nvPr/>
        </p:nvSpPr>
        <p:spPr>
          <a:xfrm>
            <a:off x="5097780" y="5974080"/>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MOIC: entry and exit multiple</a:t>
            </a:r>
          </a:p>
        </p:txBody>
      </p:sp>
      <p:sp>
        <p:nvSpPr>
          <p:cNvPr id="40" name="mg_u"/>
          <p:cNvSpPr/>
          <p:nvPr/>
        </p:nvSpPr>
        <p:spPr>
          <a:xfrm>
            <a:off x="5097780" y="6106668"/>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exit FY2031E</a:t>
            </a:r>
          </a:p>
        </p:txBody>
      </p:sp>
      <p:graphicFrame>
        <p:nvGraphicFramePr>
          <p:cNvPr id="41" name="moicg"/>
          <p:cNvGraphicFramePr>
            <a:graphicFrameLocks noGrp="1"/>
          </p:cNvGraphicFramePr>
          <p:nvPr/>
        </p:nvGraphicFramePr>
        <p:xfrm>
          <a:off x="5097780" y="6213856"/>
          <a:ext cx="4594860" cy="859536"/>
        </p:xfrm>
        <a:graphic>
          <a:graphicData uri="http://schemas.openxmlformats.org/drawingml/2006/table">
            <a:tbl>
              <a:tblPr firstRow="0" bandRow="0" lastRow="0" firstCol="0" lastCol="0" bandCol="0"/>
              <a:tblGrid>
                <a:gridCol w="735178"/>
                <a:gridCol w="546878"/>
                <a:gridCol w="546878"/>
                <a:gridCol w="546878"/>
                <a:gridCol w="554761"/>
                <a:gridCol w="554761"/>
                <a:gridCol w="554761"/>
                <a:gridCol w="554765"/>
              </a:tblGrid>
              <a:tr h="143256">
                <a:tc>
                  <a:txBody>
                    <a:bodyPr wrap="square"/>
                    <a:lstStyle/>
                    <a:p>
                      <a:pPr algn="l"/>
                      <a:r>
                        <a:rPr sz="700" b="1" i="0">
                          <a:solidFill>
                            <a:srgbClr val="1B1F24"/>
                          </a:solidFill>
                          <a:latin typeface="Calibri"/>
                        </a:rPr>
                        <a:t>In \ out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8.5x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2.63x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2.83x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3.22x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3.41x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3.60x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2.33x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2.25x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2.40x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2.71x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1.91x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2.04x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2.18x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2.32x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2.46x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1.87x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2.00x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2.13x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2.25x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2.38x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2" name="mg_fn"/>
          <p:cNvSpPr/>
          <p:nvPr/>
        </p:nvSpPr>
        <p:spPr>
          <a:xfrm>
            <a:off x="5097780" y="711911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2.5x MOIC hurdle. Shaded: base case.</a:t>
            </a:r>
          </a:p>
        </p:txBody>
      </p:sp>
      <p:sp>
        <p:nvSpPr>
          <p:cNvPr id="43"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returns to the sponsor after the management incentive plan, gross of fund fees and carry; all figures illustrative.</a:t>
            </a:r>
          </a:p>
        </p:txBody>
      </p:sp>
    </p:spTree>
    <p:custDataLst>
      <p:tags r:id="rId3"/>
    </p:custData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32" name="chrome-1"/>
          <p:cNvCxnSpPr/>
          <p:nvPr/>
        </p:nvCxnSpPr>
        <p:spPr>
          <a:xfrm>
            <a:off x="365760" y="603504"/>
            <a:ext cx="9326880" cy="0"/>
          </a:xfrm>
          <a:prstGeom prst="line">
            <a:avLst/>
          </a:prstGeom>
          <a:ln w="12700">
            <a:solidFill>
              <a:srgbClr val="1F3D63"/>
            </a:solidFill>
          </a:ln>
        </p:spPr>
      </p:cxnSp>
      <p:cxnSp>
        <p:nvCxnSpPr>
          <p:cNvPr id="33" name="chrome-2"/>
          <p:cNvCxnSpPr/>
          <p:nvPr/>
        </p:nvCxnSpPr>
        <p:spPr>
          <a:xfrm>
            <a:off x="365760" y="7411212"/>
            <a:ext cx="9326880" cy="0"/>
          </a:xfrm>
          <a:prstGeom prst="line">
            <a:avLst/>
          </a:prstGeom>
          <a:ln w="6350">
            <a:solidFill>
              <a:srgbClr val="C3CAD3"/>
            </a:solidFill>
          </a:ln>
        </p:spPr>
      </p:cxnSp>
      <p:sp>
        <p:nvSpPr>
          <p:cNvPr id="34"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35"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4.5 DEBT CAPACITY</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Debt capacity and covenant headroom</a:t>
            </a:r>
          </a:p>
        </p:txBody>
      </p:sp>
      <p:sp>
        <p:nvSpPr>
          <p:cNvPr id="4" name="lx_h"/>
          <p:cNvSpPr/>
          <p:nvPr/>
        </p:nvSpPr>
        <p:spPr>
          <a:xfrm>
            <a:off x="365760" y="690372"/>
            <a:ext cx="417714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First-lien net leverage against the springing covenant</a:t>
            </a:r>
          </a:p>
        </p:txBody>
      </p:sp>
      <p:sp>
        <p:nvSpPr>
          <p:cNvPr id="5" name="lx_u"/>
          <p:cNvSpPr/>
          <p:nvPr/>
        </p:nvSpPr>
        <p:spPr>
          <a:xfrm>
            <a:off x="365760" y="822960"/>
            <a:ext cx="41771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Adj. EBITDA, at each year end; downside cuts FY2027E revenue and margin</a:t>
            </a:r>
          </a:p>
        </p:txBody>
      </p:sp>
      <p:graphicFrame>
        <p:nvGraphicFramePr>
          <p:cNvPr id="6" name="lev"/>
          <p:cNvGraphicFramePr>
            <a:graphicFrameLocks noGrp="1"/>
          </p:cNvGraphicFramePr>
          <p:nvPr/>
        </p:nvGraphicFramePr>
        <p:xfrm>
          <a:off x="365760" y="930148"/>
          <a:ext cx="4177145" cy="2318512"/>
        </p:xfrm>
        <a:graphic>
          <a:graphicData uri="http://schemas.openxmlformats.org/drawingml/2006/chart">
            <c:chart xmlns:c="http://schemas.openxmlformats.org/drawingml/2006/chart" r:id="rId2"/>
          </a:graphicData>
        </a:graphic>
      </p:graphicFrame>
      <p:sp>
        <p:nvSpPr>
          <p:cNvPr id="7" name="sx5_h"/>
          <p:cNvSpPr/>
          <p:nvPr/>
        </p:nvSpPr>
        <p:spPr>
          <a:xfrm>
            <a:off x="365760" y="3340100"/>
            <a:ext cx="417714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Credit statistics, base and downside</a:t>
            </a:r>
          </a:p>
        </p:txBody>
      </p:sp>
      <p:sp>
        <p:nvSpPr>
          <p:cNvPr id="8" name="sx5_u"/>
          <p:cNvSpPr/>
          <p:nvPr/>
        </p:nvSpPr>
        <p:spPr>
          <a:xfrm>
            <a:off x="365760" y="3472688"/>
            <a:ext cx="41771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x unless stated</a:t>
            </a:r>
          </a:p>
        </p:txBody>
      </p:sp>
      <p:graphicFrame>
        <p:nvGraphicFramePr>
          <p:cNvPr id="9" name="cstat"/>
          <p:cNvGraphicFramePr>
            <a:graphicFrameLocks noGrp="1"/>
          </p:cNvGraphicFramePr>
          <p:nvPr/>
        </p:nvGraphicFramePr>
        <p:xfrm>
          <a:off x="365760" y="3579876"/>
          <a:ext cx="4177145" cy="2435352"/>
        </p:xfrm>
        <a:graphic>
          <a:graphicData uri="http://schemas.openxmlformats.org/drawingml/2006/table">
            <a:tbl>
              <a:tblPr firstRow="0" bandRow="0" lastRow="0" firstCol="0" lastCol="0" bandCol="0"/>
              <a:tblGrid>
                <a:gridCol w="1253144"/>
                <a:gridCol w="578753"/>
                <a:gridCol w="469049"/>
                <a:gridCol w="469049"/>
                <a:gridCol w="469049"/>
                <a:gridCol w="469049"/>
                <a:gridCol w="469052"/>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PF FY26</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Base case</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Total debt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684.1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631.3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565.4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485.4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debt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699.5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659.1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606.3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540.4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Total debt /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First-lien net /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4.30x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3.58x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2.89x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2.24x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1.63x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capex)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FCF / total debt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TLB repaid, cumulative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Covenant headroom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34.8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75.3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84.1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Downside case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B0241B"/>
                          </a:solidFill>
                          <a:latin typeface="Calibri"/>
                        </a:rPr>
                        <a:t>First-lien net / EBITDA</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4.30x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4.84x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4.28x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3.58x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2.97x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2.41x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B0241B"/>
                          </a:solidFill>
                          <a:latin typeface="Calibri"/>
                        </a:rPr>
                        <a:t>Covenant headroom (%)</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34.8</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26.6</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35.2</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45.7</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54.9</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63.5</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0" name="sx5_fn"/>
          <p:cNvSpPr/>
          <p:nvPr/>
        </p:nvSpPr>
        <p:spPr>
          <a:xfrm>
            <a:off x="365760" y="6060948"/>
            <a:ext cx="4177145"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Covenant headroom: the share by which Adj. EBITDA could fall before first-lien net leverage reaches 6.60x. FCF /</a:t>
            </a:r>
            <a:br/>
            <a:r>
              <a:rPr sz="700" b="0" i="0">
                <a:solidFill>
                  <a:srgbClr val="56606C"/>
                </a:solidFill>
                <a:latin typeface="Calibri"/>
              </a:rPr>
              <a:t>total debt on opening debt.</a:t>
            </a:r>
          </a:p>
        </p:txBody>
      </p:sp>
      <p:sp>
        <p:nvSpPr>
          <p:cNvPr id="11" name="n5_h"/>
          <p:cNvSpPr/>
          <p:nvPr/>
        </p:nvSpPr>
        <p:spPr>
          <a:xfrm>
            <a:off x="365760" y="6330188"/>
            <a:ext cx="41771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Debt capacity</a:t>
            </a:r>
          </a:p>
        </p:txBody>
      </p:sp>
      <p:sp>
        <p:nvSpPr>
          <p:cNvPr id="12" name="d1"/>
          <p:cNvSpPr/>
          <p:nvPr/>
        </p:nvSpPr>
        <p:spPr>
          <a:xfrm>
            <a:off x="365760" y="6455156"/>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proposed 5.75x sits under three of four capacity tests; on (EBITDA - capex) cover it is $21.8m</a:t>
            </a:r>
            <a:br/>
            <a:r>
              <a:rPr sz="800" b="0" i="0">
                <a:solidFill>
                  <a:srgbClr val="1B1F24"/>
                </a:solidFill>
                <a:latin typeface="Calibri"/>
              </a:rPr>
              <a:t>over a 2.0x line at close (1.94x), which the base case clears by FY2028E (2.61x).</a:t>
            </a:r>
          </a:p>
        </p:txBody>
      </p:sp>
      <p:sp>
        <p:nvSpPr>
          <p:cNvPr id="13" name="d2"/>
          <p:cNvSpPr/>
          <p:nvPr/>
        </p:nvSpPr>
        <p:spPr>
          <a:xfrm>
            <a:off x="365760" y="6712204"/>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In the downside case Adj. EBITDA falls 16.5% in FY2027E and first-lien net leverage peaks at 4.84x,</a:t>
            </a:r>
            <a:br/>
            <a:r>
              <a:rPr sz="800" b="0" i="0">
                <a:solidFill>
                  <a:srgbClr val="1B1F24"/>
                </a:solidFill>
                <a:latin typeface="Calibri"/>
              </a:rPr>
              <a:t>still 26.6% inside the 6.60x covenant.</a:t>
            </a:r>
          </a:p>
        </p:txBody>
      </p:sp>
      <p:sp>
        <p:nvSpPr>
          <p:cNvPr id="14" name="d3"/>
          <p:cNvSpPr/>
          <p:nvPr/>
        </p:nvSpPr>
        <p:spPr>
          <a:xfrm>
            <a:off x="365760" y="6969252"/>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revolver is undrawn in both cases, so the springing test is never live; interest cover bottoms at</a:t>
            </a:r>
            <a:br/>
            <a:r>
              <a:rPr sz="800" b="0" i="0">
                <a:solidFill>
                  <a:srgbClr val="1B1F24"/>
                </a:solidFill>
                <a:latin typeface="Calibri"/>
              </a:rPr>
              <a:t>1.95x.</a:t>
            </a:r>
          </a:p>
        </p:txBody>
      </p:sp>
      <p:sp>
        <p:nvSpPr>
          <p:cNvPr id="15" name="fx5_h"/>
          <p:cNvSpPr/>
          <p:nvPr/>
        </p:nvSpPr>
        <p:spPr>
          <a:xfrm>
            <a:off x="4680065" y="690372"/>
            <a:ext cx="501257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Industrial LBO financings, 2025-2026</a:t>
            </a:r>
          </a:p>
        </p:txBody>
      </p:sp>
      <p:sp>
        <p:nvSpPr>
          <p:cNvPr id="16" name="fx5_u"/>
          <p:cNvSpPr/>
          <p:nvPr/>
        </p:nvSpPr>
        <p:spPr>
          <a:xfrm>
            <a:off x="4680065" y="822960"/>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precedents; leverage and EV / EBITDA on LTM EBITDA at close</a:t>
            </a:r>
          </a:p>
        </p:txBody>
      </p:sp>
      <p:graphicFrame>
        <p:nvGraphicFramePr>
          <p:cNvPr id="17" name="fin"/>
          <p:cNvGraphicFramePr>
            <a:graphicFrameLocks noGrp="1"/>
          </p:cNvGraphicFramePr>
          <p:nvPr/>
        </p:nvGraphicFramePr>
        <p:xfrm>
          <a:off x="4680065" y="930148"/>
          <a:ext cx="5012575" cy="2685288"/>
        </p:xfrm>
        <a:graphic>
          <a:graphicData uri="http://schemas.openxmlformats.org/drawingml/2006/table">
            <a:tbl>
              <a:tblPr firstRow="0" bandRow="0" lastRow="0" firstCol="0" lastCol="0" bandCol="0"/>
              <a:tblGrid>
                <a:gridCol w="1253144"/>
                <a:gridCol w="363186"/>
                <a:gridCol w="345605"/>
                <a:gridCol w="499878"/>
                <a:gridCol w="382372"/>
                <a:gridCol w="522190"/>
                <a:gridCol w="429340"/>
                <a:gridCol w="611771"/>
                <a:gridCol w="260786"/>
                <a:gridCol w="344303"/>
              </a:tblGrid>
              <a:tr h="249936">
                <a:tc>
                  <a:txBody>
                    <a:bodyPr wrap="square"/>
                    <a:lstStyle/>
                    <a:p>
                      <a:pPr algn="l"/>
                      <a:r>
                        <a:rPr sz="700" b="1" i="0">
                          <a:solidFill>
                            <a:srgbClr val="1B1F24"/>
                          </a:solidFill>
                          <a:latin typeface="Calibri"/>
                        </a:rPr>
                        <a:t>Borrower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Closed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Total lev.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First-lien lev.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Equity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TLB spread (bp)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OID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Ratings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Halberd Pumps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Q3 2026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11.2x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Ostrava Valve Holdings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Marrow Industrial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Tidewell Fluid Handling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Ferrous Flow Partners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Q1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Lindqvist Actuation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Q1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Corran Seals and Gaskets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Q4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Westbury Process Equipment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Q4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Aurel Metering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Brennan Compressor Group</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B1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Stellan Filtration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Pell and Rook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Mean</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1,290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5.67x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4.79x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46.2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99.10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Median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1,202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362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99.00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High</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2,350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5.50x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49.0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425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99.75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Low</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610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9.4x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5.00x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44.0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Corvane (proposed)</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Q4 2026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1,260.0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10.0x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4.50x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45.5</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350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99.00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B2 / B *</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18" name="fx5_fn"/>
          <p:cNvSpPr/>
          <p:nvPr/>
        </p:nvSpPr>
        <p:spPr>
          <a:xfrm>
            <a:off x="4680065" y="3661156"/>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Statistics of the 12 precedents in italics, median bold; Corvane at the proposed terms shaded. * Expected ratings.</a:t>
            </a:r>
          </a:p>
        </p:txBody>
      </p:sp>
      <p:sp>
        <p:nvSpPr>
          <p:cNvPr id="19" name="dx_h"/>
          <p:cNvSpPr/>
          <p:nvPr/>
        </p:nvSpPr>
        <p:spPr>
          <a:xfrm>
            <a:off x="4680065" y="3841496"/>
            <a:ext cx="501257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Debt capacity</a:t>
            </a:r>
          </a:p>
        </p:txBody>
      </p:sp>
      <p:sp>
        <p:nvSpPr>
          <p:cNvPr id="20" name="dx_u"/>
          <p:cNvSpPr/>
          <p:nvPr/>
        </p:nvSpPr>
        <p:spPr>
          <a:xfrm>
            <a:off x="4680065" y="3974084"/>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FY2026E Adj. EBITDA of $126.0m</a:t>
            </a:r>
          </a:p>
        </p:txBody>
      </p:sp>
      <p:graphicFrame>
        <p:nvGraphicFramePr>
          <p:cNvPr id="21" name="capm"/>
          <p:cNvGraphicFramePr>
            <a:graphicFrameLocks noGrp="1"/>
          </p:cNvGraphicFramePr>
          <p:nvPr/>
        </p:nvGraphicFramePr>
        <p:xfrm>
          <a:off x="4680065" y="4081272"/>
          <a:ext cx="5012575" cy="859536"/>
        </p:xfrm>
        <a:graphic>
          <a:graphicData uri="http://schemas.openxmlformats.org/drawingml/2006/table">
            <a:tbl>
              <a:tblPr firstRow="0" bandRow="0" lastRow="0" firstCol="0" lastCol="0" bandCol="0"/>
              <a:tblGrid>
                <a:gridCol w="1804527"/>
                <a:gridCol w="1804527"/>
                <a:gridCol w="867634"/>
                <a:gridCol w="535887"/>
              </a:tblGrid>
              <a:tr h="143256">
                <a:tc>
                  <a:txBody>
                    <a:bodyPr wrap="square"/>
                    <a:lstStyle/>
                    <a:p>
                      <a:pPr algn="l"/>
                      <a:r>
                        <a:rPr sz="700" b="1" i="0">
                          <a:solidFill>
                            <a:srgbClr val="1B1F24"/>
                          </a:solidFill>
                          <a:latin typeface="Calibri"/>
                        </a:rPr>
                        <a:t>Method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Basis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Max. debt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LBO comps median total leverage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5.75x x FY2026E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724.5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Rating threshold, 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6.00x total leverage at close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capex) / interest of 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at a 7.35% blended cost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Repay 50% of first lien in 5 years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cumulative FCF $332.5m against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822.5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Proposed structure</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TLB and senior notes</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724.5</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2" name="dx_fn"/>
          <p:cNvSpPr/>
          <p:nvPr/>
        </p:nvSpPr>
        <p:spPr>
          <a:xfrm>
            <a:off x="4680065" y="4986528"/>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Repayment test: debt such that five years of base-case levered FCF would repay half the first lien, with the notes outstanding.</a:t>
            </a:r>
          </a:p>
        </p:txBody>
      </p:sp>
      <p:sp>
        <p:nvSpPr>
          <p:cNvPr id="23" name="dnx_h"/>
          <p:cNvSpPr/>
          <p:nvPr/>
        </p:nvSpPr>
        <p:spPr>
          <a:xfrm>
            <a:off x="4680065" y="5166868"/>
            <a:ext cx="2708564"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Downside case definition</a:t>
            </a:r>
          </a:p>
        </p:txBody>
      </p:sp>
      <p:sp>
        <p:nvSpPr>
          <p:cNvPr id="24" name="dnx_u"/>
          <p:cNvSpPr/>
          <p:nvPr/>
        </p:nvSpPr>
        <p:spPr>
          <a:xfrm>
            <a:off x="4680065" y="5299456"/>
            <a:ext cx="2708564"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a 2009-style volume shock in FY2027E, then recovery</a:t>
            </a:r>
          </a:p>
        </p:txBody>
      </p:sp>
      <p:graphicFrame>
        <p:nvGraphicFramePr>
          <p:cNvPr id="25" name="dncase"/>
          <p:cNvGraphicFramePr>
            <a:graphicFrameLocks noGrp="1"/>
          </p:cNvGraphicFramePr>
          <p:nvPr/>
        </p:nvGraphicFramePr>
        <p:xfrm>
          <a:off x="4680065" y="5406644"/>
          <a:ext cx="2708564" cy="1002792"/>
        </p:xfrm>
        <a:graphic>
          <a:graphicData uri="http://schemas.openxmlformats.org/drawingml/2006/table">
            <a:tbl>
              <a:tblPr firstRow="0" bandRow="0" lastRow="0" firstCol="0" lastCol="0" bandCol="0"/>
              <a:tblGrid>
                <a:gridCol w="1083426"/>
                <a:gridCol w="325027"/>
                <a:gridCol w="325027"/>
                <a:gridCol w="325027"/>
                <a:gridCol w="325027"/>
                <a:gridCol w="325030"/>
              </a:tblGrid>
              <a:tr h="143256">
                <a:tc>
                  <a:txBody>
                    <a:bodyPr wrap="square"/>
                    <a:lstStyle/>
                    <a:p>
                      <a:pPr algn="l"/>
                      <a:r>
                        <a:rPr sz="700" b="1" i="0">
                          <a:solidFill>
                            <a:srgbClr val="1B1F24"/>
                          </a:solidFill>
                          <a:latin typeface="Calibri"/>
                        </a:rPr>
                        <a:t>Downside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Valves growth (%)</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B0241B"/>
                          </a:solidFill>
                          <a:latin typeface="Calibri"/>
                        </a:rPr>
                        <a:t>(10.0)</a:t>
                      </a:r>
                      <a:endParaRPr sz="700" b="1"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(12.0)</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(2.0)</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Margin vs base (pp)</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Revenue vs base (%)</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(13.2)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(15.7)</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(16.0)</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6" name="rtx_h"/>
          <p:cNvSpPr/>
          <p:nvPr/>
        </p:nvSpPr>
        <p:spPr>
          <a:xfrm>
            <a:off x="7525789" y="5166868"/>
            <a:ext cx="216685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Rate sensitivity</a:t>
            </a:r>
          </a:p>
        </p:txBody>
      </p:sp>
      <p:sp>
        <p:nvSpPr>
          <p:cNvPr id="27" name="rtx_u"/>
          <p:cNvSpPr/>
          <p:nvPr/>
        </p:nvSpPr>
        <p:spPr>
          <a:xfrm>
            <a:off x="7525789" y="5299456"/>
            <a:ext cx="216685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term SOFR moved in parallel; TLB unhedged</a:t>
            </a:r>
          </a:p>
        </p:txBody>
      </p:sp>
      <p:graphicFrame>
        <p:nvGraphicFramePr>
          <p:cNvPr id="28" name="rate"/>
          <p:cNvGraphicFramePr>
            <a:graphicFrameLocks noGrp="1"/>
          </p:cNvGraphicFramePr>
          <p:nvPr/>
        </p:nvGraphicFramePr>
        <p:xfrm>
          <a:off x="7525789" y="5406644"/>
          <a:ext cx="2166851" cy="859536"/>
        </p:xfrm>
        <a:graphic>
          <a:graphicData uri="http://schemas.openxmlformats.org/drawingml/2006/table">
            <a:tbl>
              <a:tblPr firstRow="0" bandRow="0" lastRow="0" firstCol="0" lastCol="0" bandCol="0"/>
              <a:tblGrid>
                <a:gridCol w="996751"/>
                <a:gridCol w="338441"/>
                <a:gridCol w="415829"/>
                <a:gridCol w="415830"/>
              </a:tblGrid>
              <a:tr h="143256">
                <a:tc>
                  <a:txBody>
                    <a:bodyPr wrap="square"/>
                    <a:lstStyle/>
                    <a:p>
                      <a:pPr algn="l"/>
                      <a:r>
                        <a:rPr sz="700" b="1" i="0">
                          <a:solidFill>
                            <a:srgbClr val="1B1F24"/>
                          </a:solidFill>
                          <a:latin typeface="Calibri"/>
                        </a:rPr>
                        <a:t>Base operating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F3D63"/>
                          </a:solidFill>
                          <a:latin typeface="Calibri"/>
                        </a:rPr>
                        <a:t>Curve</a:t>
                      </a:r>
                      <a:endParaRPr sz="700" b="1"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+100bp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+200bp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FY27E interest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F3D63"/>
                          </a:solidFill>
                          <a:latin typeface="Calibri"/>
                        </a:rPr>
                        <a:t>54.0</a:t>
                      </a:r>
                      <a:endParaRPr sz="700" b="1"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59.6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65.3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FY27E cover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2.60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5-year FCF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332.5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312.6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FY31E net lev.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IRR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9"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lender term sheets; precedent financings compiled by the deal team (fictional); all figures illustrative.</a:t>
            </a:r>
          </a:p>
        </p:txBody>
      </p:sp>
      <p:sp>
        <p:nvSpPr>
          <p:cNvPr id="30" name="dim-bracket"/>
          <p:cNvSpPr/>
          <p:nvPr/>
        </p:nvSpPr>
        <p:spPr>
          <a:xfrm>
            <a:off x="1581496" y="1351344"/>
            <a:ext cx="18288" cy="419393"/>
          </a:xfrm>
          <a:prstGeom prst="rightBracket">
            <a:avLst/>
          </a:prstGeom>
          <a:noFill/>
          <a:ln w="9525">
            <a:solidFill>
              <a:srgbClr val="1B1F24"/>
            </a:solidFill>
          </a:ln>
        </p:spPr>
        <p:txBody>
          <a:bodyPr rtlCol="0" anchor="ctr"/>
          <a:lstStyle/>
          <a:p>
            <a:pPr algn="ctr"/>
          </a:p>
        </p:txBody>
      </p:sp>
      <p:sp>
        <p:nvSpPr>
          <p:cNvPr id="31" name="dim-label"/>
          <p:cNvSpPr/>
          <p:nvPr/>
        </p:nvSpPr>
        <p:spPr>
          <a:xfrm>
            <a:off x="1618072" y="1516591"/>
            <a:ext cx="7469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B1F24"/>
                </a:solidFill>
                <a:latin typeface="Arial"/>
              </a:rPr>
              <a:t>26.6% headroom</a:t>
            </a:r>
          </a:p>
        </p:txBody>
      </p:sp>
    </p:spTree>
    <p:custDataLst>
      <p:tags r:id="rId3"/>
    </p:custData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35" name="chrome-1"/>
          <p:cNvCxnSpPr/>
          <p:nvPr/>
        </p:nvCxnSpPr>
        <p:spPr>
          <a:xfrm>
            <a:off x="365760" y="603504"/>
            <a:ext cx="9326880" cy="0"/>
          </a:xfrm>
          <a:prstGeom prst="line">
            <a:avLst/>
          </a:prstGeom>
          <a:ln w="12700">
            <a:solidFill>
              <a:srgbClr val="1F3D63"/>
            </a:solidFill>
          </a:ln>
        </p:spPr>
      </p:cxnSp>
      <p:cxnSp>
        <p:nvCxnSpPr>
          <p:cNvPr id="36" name="chrome-2"/>
          <p:cNvCxnSpPr/>
          <p:nvPr/>
        </p:nvCxnSpPr>
        <p:spPr>
          <a:xfrm>
            <a:off x="365760" y="7411212"/>
            <a:ext cx="9326880" cy="0"/>
          </a:xfrm>
          <a:prstGeom prst="line">
            <a:avLst/>
          </a:prstGeom>
          <a:ln w="6350">
            <a:solidFill>
              <a:srgbClr val="C3CAD3"/>
            </a:solidFill>
          </a:ln>
        </p:spPr>
      </p:cxnSp>
      <p:sp>
        <p:nvSpPr>
          <p:cNvPr id="37"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38"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4.6 EXIT SCENARIOS</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Exit scenarios and listed peer valuation</a:t>
            </a:r>
          </a:p>
        </p:txBody>
      </p:sp>
      <p:sp>
        <p:nvSpPr>
          <p:cNvPr id="4" name="scx_h"/>
          <p:cNvSpPr/>
          <p:nvPr/>
        </p:nvSpPr>
        <p:spPr>
          <a:xfrm>
            <a:off x="365760" y="690372"/>
            <a:ext cx="416705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Exit scenarios</a:t>
            </a:r>
          </a:p>
        </p:txBody>
      </p:sp>
      <p:sp>
        <p:nvSpPr>
          <p:cNvPr id="5" name="scx_u"/>
          <p:cNvSpPr/>
          <p:nvPr/>
        </p:nvSpPr>
        <p:spPr>
          <a:xfrm>
            <a:off x="365760" y="822960"/>
            <a:ext cx="416705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sponsor returns after net debt, exit costs and the incentive plan; base case shaded</a:t>
            </a:r>
          </a:p>
        </p:txBody>
      </p:sp>
      <p:graphicFrame>
        <p:nvGraphicFramePr>
          <p:cNvPr id="6" name="scen"/>
          <p:cNvGraphicFramePr>
            <a:graphicFrameLocks noGrp="1"/>
          </p:cNvGraphicFramePr>
          <p:nvPr/>
        </p:nvGraphicFramePr>
        <p:xfrm>
          <a:off x="365760" y="930148"/>
          <a:ext cx="4167051" cy="2039112"/>
        </p:xfrm>
        <a:graphic>
          <a:graphicData uri="http://schemas.openxmlformats.org/drawingml/2006/table">
            <a:tbl>
              <a:tblPr firstRow="0" bandRow="0" lastRow="0" firstCol="0" lastCol="0" bandCol="0"/>
              <a:tblGrid>
                <a:gridCol w="1041763"/>
                <a:gridCol w="781322"/>
                <a:gridCol w="781322"/>
                <a:gridCol w="781322"/>
                <a:gridCol w="781322"/>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Strategic sale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Sponsor to sponsor</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IPO and sell-down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Downside hold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Exit at year end</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FY2030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F3D63"/>
                          </a:solidFill>
                          <a:latin typeface="Calibri"/>
                        </a:rPr>
                        <a:t>FY2031</a:t>
                      </a:r>
                      <a:endParaRPr sz="700" b="0"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356616">
                <a:tc>
                  <a:txBody>
                    <a:bodyPr wrap="square"/>
                    <a:lstStyle/>
                    <a:p>
                      <a:pPr algn="l"/>
                      <a:r>
                        <a:rPr sz="700" b="0" i="0">
                          <a:solidFill>
                            <a:srgbClr val="1B1F24"/>
                          </a:solidFill>
                          <a:latin typeface="Calibri"/>
                        </a:rPr>
                        <a:t>Buyer universe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Flow-control strategics; synergy-paying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Large-cap industrial sponsors</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Listed flow-control peers; 15% IPO discount to 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Sponsors; cyclical trough multiple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Exit-year 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Exit EV / Adj. EBITDA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10.00x</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9.35x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Enterprise value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2,139.0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1,871.9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1,237.6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Less: net debt and exit costs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(397.0)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(395.1)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Equity value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1,605.0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1,476.8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710.3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proceeds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1,479.0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1,442.6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1,330.1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MOIC (x)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2.62x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2.56x</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2.36x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1.17x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IRR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27.3%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18.7%</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3.1%</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Probability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7" name="scx_fn"/>
          <p:cNvSpPr/>
          <p:nvPr/>
        </p:nvSpPr>
        <p:spPr>
          <a:xfrm>
            <a:off x="365760" y="3014980"/>
            <a:ext cx="4167051"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IPO: 11.0x listed value less a 15% discount (9.35x), sell-down treated as one exit at FY2031 year end. Downside</a:t>
            </a:r>
            <a:br/>
            <a:r>
              <a:rPr sz="700" b="0" i="0">
                <a:solidFill>
                  <a:srgbClr val="56606C"/>
                </a:solidFill>
                <a:latin typeface="Calibri"/>
              </a:rPr>
              <a:t>hold: downside case at 8.5x.</a:t>
            </a:r>
          </a:p>
        </p:txBody>
      </p:sp>
      <p:sp>
        <p:nvSpPr>
          <p:cNvPr id="8" name="mcx_h"/>
          <p:cNvSpPr/>
          <p:nvPr/>
        </p:nvSpPr>
        <p:spPr>
          <a:xfrm>
            <a:off x="4669971" y="690372"/>
            <a:ext cx="2299063"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MOIC and IRR by exit route</a:t>
            </a:r>
          </a:p>
        </p:txBody>
      </p:sp>
      <p:sp>
        <p:nvSpPr>
          <p:cNvPr id="9" name="mcx_u"/>
          <p:cNvSpPr/>
          <p:nvPr/>
        </p:nvSpPr>
        <p:spPr>
          <a:xfrm>
            <a:off x="4669971" y="822960"/>
            <a:ext cx="2299063"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and %; below the 2.5x MOIC hurdle in red</a:t>
            </a:r>
          </a:p>
        </p:txBody>
      </p:sp>
      <p:graphicFrame>
        <p:nvGraphicFramePr>
          <p:cNvPr id="10" name="moic"/>
          <p:cNvGraphicFramePr>
            <a:graphicFrameLocks noGrp="1"/>
          </p:cNvGraphicFramePr>
          <p:nvPr/>
        </p:nvGraphicFramePr>
        <p:xfrm>
          <a:off x="4669971" y="930148"/>
          <a:ext cx="2299063" cy="2428240"/>
        </p:xfrm>
        <a:graphic>
          <a:graphicData uri="http://schemas.openxmlformats.org/drawingml/2006/chart">
            <c:chart xmlns:c="http://schemas.openxmlformats.org/drawingml/2006/chart" r:id="rId2"/>
          </a:graphicData>
        </a:graphic>
      </p:graphicFrame>
      <p:sp>
        <p:nvSpPr>
          <p:cNvPr id="11" name="n6_h"/>
          <p:cNvSpPr/>
          <p:nvPr/>
        </p:nvSpPr>
        <p:spPr>
          <a:xfrm>
            <a:off x="7106194" y="690372"/>
            <a:ext cx="25864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Exit view</a:t>
            </a:r>
          </a:p>
        </p:txBody>
      </p:sp>
      <p:sp>
        <p:nvSpPr>
          <p:cNvPr id="12" name="x1"/>
          <p:cNvSpPr/>
          <p:nvPr/>
        </p:nvSpPr>
        <p:spPr>
          <a:xfrm>
            <a:off x="7106194" y="815340"/>
            <a:ext cx="2586446"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Probability-weighted: 2.34x and 19.7%. Two of four routes</a:t>
            </a:r>
            <a:br/>
            <a:r>
              <a:rPr sz="800" b="0" i="0">
                <a:solidFill>
                  <a:srgbClr val="1B1F24"/>
                </a:solidFill>
                <a:latin typeface="Calibri"/>
              </a:rPr>
              <a:t>clear both hurdles; the IPO's 15% discount takes it to 18.7%.</a:t>
            </a:r>
          </a:p>
        </p:txBody>
      </p:sp>
      <p:sp>
        <p:nvSpPr>
          <p:cNvPr id="13" name="x3"/>
          <p:cNvSpPr/>
          <p:nvPr/>
        </p:nvSpPr>
        <p:spPr>
          <a:xfrm>
            <a:off x="7106194" y="1072388"/>
            <a:ext cx="2586446"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Peers with 30% or more aftermarket trade at a median of</a:t>
            </a:r>
            <a:br/>
            <a:r>
              <a:rPr sz="800" b="0" i="0">
                <a:solidFill>
                  <a:srgbClr val="1B1F24"/>
                </a:solidFill>
                <a:latin typeface="Calibri"/>
              </a:rPr>
              <a:t>11.8x against 9.8x for the rest; Corvane reaches 30.5%</a:t>
            </a:r>
            <a:br/>
            <a:r>
              <a:rPr sz="800" b="0" i="0">
                <a:solidFill>
                  <a:srgbClr val="1B1F24"/>
                </a:solidFill>
                <a:latin typeface="Calibri"/>
              </a:rPr>
              <a:t>aftermarket by FY2031E.</a:t>
            </a:r>
          </a:p>
        </p:txBody>
      </p:sp>
      <p:sp>
        <p:nvSpPr>
          <p:cNvPr id="14" name="x4"/>
          <p:cNvSpPr/>
          <p:nvPr/>
        </p:nvSpPr>
        <p:spPr>
          <a:xfrm>
            <a:off x="7106194" y="1436116"/>
            <a:ext cx="2586446"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downside hold at 8.5x returns 1.17x, capital back with a</a:t>
            </a:r>
            <a:br/>
            <a:r>
              <a:rPr sz="800" b="0" i="0">
                <a:solidFill>
                  <a:srgbClr val="1B1F24"/>
                </a:solidFill>
                <a:latin typeface="Calibri"/>
              </a:rPr>
              <a:t>3.1% IRR.</a:t>
            </a:r>
          </a:p>
        </p:txBody>
      </p:sp>
      <p:sp>
        <p:nvSpPr>
          <p:cNvPr id="15" name="rfx_h"/>
          <p:cNvSpPr/>
          <p:nvPr/>
        </p:nvSpPr>
        <p:spPr>
          <a:xfrm>
            <a:off x="7106194" y="1766316"/>
            <a:ext cx="258644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Reference multiples against the base exit</a:t>
            </a:r>
          </a:p>
        </p:txBody>
      </p:sp>
      <p:sp>
        <p:nvSpPr>
          <p:cNvPr id="16" name="rfx_u"/>
          <p:cNvSpPr/>
          <p:nvPr/>
        </p:nvSpPr>
        <p:spPr>
          <a:xfrm>
            <a:off x="7106194" y="1898904"/>
            <a:ext cx="25864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EBITDA; bars from 6.0x; 6 of 7 sit above the 10.0x base exit (blue line)</a:t>
            </a:r>
          </a:p>
        </p:txBody>
      </p:sp>
      <p:graphicFrame>
        <p:nvGraphicFramePr>
          <p:cNvPr id="17" name="refm"/>
          <p:cNvGraphicFramePr>
            <a:graphicFrameLocks noGrp="1"/>
          </p:cNvGraphicFramePr>
          <p:nvPr/>
        </p:nvGraphicFramePr>
        <p:xfrm>
          <a:off x="7106194" y="2006092"/>
          <a:ext cx="2586446" cy="1352296"/>
        </p:xfrm>
        <a:graphic>
          <a:graphicData uri="http://schemas.openxmlformats.org/drawingml/2006/chart">
            <c:chart xmlns:c="http://schemas.openxmlformats.org/drawingml/2006/chart" r:id="rId3"/>
          </a:graphicData>
        </a:graphic>
      </p:graphicFrame>
      <p:sp>
        <p:nvSpPr>
          <p:cNvPr id="18" name="pcx_h"/>
          <p:cNvSpPr/>
          <p:nvPr/>
        </p:nvSpPr>
        <p:spPr>
          <a:xfrm>
            <a:off x="365760" y="3449828"/>
            <a:ext cx="5655212"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Listed flow-control peers: trading multiples</a:t>
            </a:r>
          </a:p>
        </p:txBody>
      </p:sp>
      <p:sp>
        <p:nvSpPr>
          <p:cNvPr id="19" name="pcx_u"/>
          <p:cNvSpPr/>
          <p:nvPr/>
        </p:nvSpPr>
        <p:spPr>
          <a:xfrm>
            <a:off x="365760" y="3582416"/>
            <a:ext cx="5655212"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companies; consensus estimates; EV in $m; statistics exclude Corvane</a:t>
            </a:r>
          </a:p>
        </p:txBody>
      </p:sp>
      <p:graphicFrame>
        <p:nvGraphicFramePr>
          <p:cNvPr id="20" name="peers"/>
          <p:cNvGraphicFramePr>
            <a:graphicFrameLocks noGrp="1"/>
          </p:cNvGraphicFramePr>
          <p:nvPr/>
        </p:nvGraphicFramePr>
        <p:xfrm>
          <a:off x="365760" y="3689604"/>
          <a:ext cx="5655212" cy="2898648"/>
        </p:xfrm>
        <a:graphic>
          <a:graphicData uri="http://schemas.openxmlformats.org/drawingml/2006/table">
            <a:tbl>
              <a:tblPr firstRow="0" bandRow="0" lastRow="0" firstCol="0" lastCol="0" bandCol="0"/>
              <a:tblGrid>
                <a:gridCol w="1131042"/>
                <a:gridCol w="345605"/>
                <a:gridCol w="537296"/>
                <a:gridCol w="543635"/>
                <a:gridCol w="543634"/>
                <a:gridCol w="543634"/>
                <a:gridCol w="543634"/>
                <a:gridCol w="543634"/>
                <a:gridCol w="543634"/>
                <a:gridCol w="379464"/>
              </a:tblGrid>
              <a:tr h="356616">
                <a:tc>
                  <a:txBody>
                    <a:bodyPr wrap="square"/>
                    <a:lstStyle/>
                    <a:p>
                      <a:pPr algn="l"/>
                      <a:r>
                        <a:rPr sz="700" b="1" i="0">
                          <a:solidFill>
                            <a:srgbClr val="1B1F24"/>
                          </a:solidFill>
                          <a:latin typeface="Calibri"/>
                        </a:rPr>
                        <a:t>Company</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Rev. 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 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 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growth 26E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EBITDA margin 26E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Aftermarket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Net debt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 / E 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Brightwater Valve Group</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9,840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13.6x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19.8x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Aldergate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Norrland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Castellan Process Technologies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Saxe-Halden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Tessaly Pumps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3,865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Pemberton Fluid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Hartwell Motion 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Orenvale Engineering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Quillon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Varga Hydraulics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Kormoran Industrial</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Mean</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4,061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1.89x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2.3x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15.8x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Median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3,492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1.77x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2.3x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15.8x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High</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9,840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13.6x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21.4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19.8x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Low</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1,180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Corvane at entry</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1,260.0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1.89x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10.0x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9.0x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5.4</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18.9</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27.3</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NA</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1" name="pcx_fn"/>
          <p:cNvSpPr/>
          <p:nvPr/>
        </p:nvSpPr>
        <p:spPr>
          <a:xfrm>
            <a:off x="365760" y="6633972"/>
            <a:ext cx="5655212"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Corvane at entry: EV of $1,260.0m on FY2026E and FY2027E base-case Adj. EBITDA; growth, margin and aftermarket share for FY2026E. Peers at 30% or</a:t>
            </a:r>
            <a:br/>
            <a:r>
              <a:rPr sz="700" b="0" i="0">
                <a:solidFill>
                  <a:srgbClr val="56606C"/>
                </a:solidFill>
                <a:latin typeface="Calibri"/>
              </a:rPr>
              <a:t>more aftermarket: Brightwater Valve Group, Aldergate Controls, Norrland Flow, Pemberton Fluid Systems, Quillon Instruments.</a:t>
            </a:r>
          </a:p>
        </p:txBody>
      </p:sp>
      <p:sp>
        <p:nvSpPr>
          <p:cNvPr id="22" name="prx_h"/>
          <p:cNvSpPr/>
          <p:nvPr/>
        </p:nvSpPr>
        <p:spPr>
          <a:xfrm>
            <a:off x="6158132" y="3449828"/>
            <a:ext cx="353450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Flow-control precedent transactions, 2023-2026</a:t>
            </a:r>
          </a:p>
        </p:txBody>
      </p:sp>
      <p:sp>
        <p:nvSpPr>
          <p:cNvPr id="23" name="prx_u"/>
          <p:cNvSpPr/>
          <p:nvPr/>
        </p:nvSpPr>
        <p:spPr>
          <a:xfrm>
            <a:off x="6158132" y="3582416"/>
            <a:ext cx="353450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deals; EV in $m; multiples of LTM EBITDA and revenue at announcement</a:t>
            </a:r>
          </a:p>
        </p:txBody>
      </p:sp>
      <p:graphicFrame>
        <p:nvGraphicFramePr>
          <p:cNvPr id="24" name="prec"/>
          <p:cNvGraphicFramePr>
            <a:graphicFrameLocks noGrp="1"/>
          </p:cNvGraphicFramePr>
          <p:nvPr/>
        </p:nvGraphicFramePr>
        <p:xfrm>
          <a:off x="6158132" y="3689604"/>
          <a:ext cx="3534508" cy="2325624"/>
        </p:xfrm>
        <a:graphic>
          <a:graphicData uri="http://schemas.openxmlformats.org/drawingml/2006/table">
            <a:tbl>
              <a:tblPr firstRow="0" bandRow="0" lastRow="0" firstCol="0" lastCol="0" bandCol="0"/>
              <a:tblGrid>
                <a:gridCol w="478955"/>
                <a:gridCol w="954317"/>
                <a:gridCol w="1060352"/>
                <a:gridCol w="345605"/>
                <a:gridCol w="347640"/>
                <a:gridCol w="347639"/>
              </a:tblGrid>
              <a:tr h="249936">
                <a:tc>
                  <a:txBody>
                    <a:bodyPr wrap="square"/>
                    <a:lstStyle/>
                    <a:p>
                      <a:pPr algn="l"/>
                      <a:r>
                        <a:rPr sz="700" b="1" i="0">
                          <a:solidFill>
                            <a:srgbClr val="1B1F24"/>
                          </a:solidFill>
                          <a:latin typeface="Calibri"/>
                        </a:rPr>
                        <a:t>Announced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Target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Acquirer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Rev.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Jun 2026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Ostrava Valve Holdings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Halvard Capital</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960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Mar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Lumen Fluid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Brightwater Valve Group</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Nov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Delacroix Pompes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Saxe-Halden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Aug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Ridgeway Actuators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Aldergate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May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Torvik Process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Norrland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Jan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Calder Pump Works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Kestrel Ridge Partners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Oct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Seaborne Flow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Castellan Process Technologies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Jun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Mattox Industrial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Pemberton Fluid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Feb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Arlen Hydraulic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Varga Hydraulics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Sep 2023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Penrose Metering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Quillon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1" i="0">
                          <a:solidFill>
                            <a:srgbClr val="1B1F24"/>
                          </a:solidFill>
                          <a:latin typeface="Calibri"/>
                        </a:rPr>
                        <a:t>Median, strategic buyers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820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1">
                          <a:solidFill>
                            <a:srgbClr val="1B1F24"/>
                          </a:solidFill>
                          <a:latin typeface="Calibri"/>
                        </a:rPr>
                        <a:t>Median, financial buyers</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1.67x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1">
                          <a:solidFill>
                            <a:srgbClr val="1B1F24"/>
                          </a:solidFill>
                          <a:latin typeface="Calibri"/>
                        </a:rPr>
                        <a:t>Median, all</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820</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11.6x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2.13x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5" name="prx_fn"/>
          <p:cNvSpPr/>
          <p:nvPr/>
        </p:nvSpPr>
        <p:spPr>
          <a:xfrm>
            <a:off x="6158132" y="6060948"/>
            <a:ext cx="353450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Financial buyers: Halvard Capital and Kestrel Ridge Partners; all other acquirers are listed</a:t>
            </a:r>
            <a:br/>
            <a:r>
              <a:rPr sz="700" b="0" i="0">
                <a:solidFill>
                  <a:srgbClr val="56606C"/>
                </a:solidFill>
                <a:latin typeface="Calibri"/>
              </a:rPr>
              <a:t>strategics from the peer set.</a:t>
            </a:r>
          </a:p>
        </p:txBody>
      </p:sp>
      <p:sp>
        <p:nvSpPr>
          <p:cNvPr id="26" name="prep_h"/>
          <p:cNvSpPr/>
          <p:nvPr/>
        </p:nvSpPr>
        <p:spPr>
          <a:xfrm>
            <a:off x="6158132" y="6330188"/>
            <a:ext cx="3534508"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Exit preparation</a:t>
            </a:r>
          </a:p>
        </p:txBody>
      </p:sp>
      <p:sp>
        <p:nvSpPr>
          <p:cNvPr id="27" name="e1"/>
          <p:cNvSpPr/>
          <p:nvPr/>
        </p:nvSpPr>
        <p:spPr>
          <a:xfrm>
            <a:off x="6158132" y="6455156"/>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Report aftermarket and services as a separate segment from FY2027E, so buyers</a:t>
            </a:r>
            <a:br/>
            <a:r>
              <a:rPr sz="800" b="0" i="0">
                <a:solidFill>
                  <a:srgbClr val="1B1F24"/>
                </a:solidFill>
                <a:latin typeface="Calibri"/>
              </a:rPr>
              <a:t>can price its 30.5% margin.</a:t>
            </a:r>
          </a:p>
        </p:txBody>
      </p:sp>
      <p:sp>
        <p:nvSpPr>
          <p:cNvPr id="28" name="e2"/>
          <p:cNvSpPr/>
          <p:nvPr/>
        </p:nvSpPr>
        <p:spPr>
          <a:xfrm>
            <a:off x="6158132" y="6712204"/>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Three years of audited segment accounts by FY2029E keep the IPO route open</a:t>
            </a:r>
            <a:br/>
            <a:r>
              <a:rPr sz="800" b="0" i="0">
                <a:solidFill>
                  <a:srgbClr val="1B1F24"/>
                </a:solidFill>
                <a:latin typeface="Calibri"/>
              </a:rPr>
              <a:t>alongside a sale.</a:t>
            </a:r>
          </a:p>
        </p:txBody>
      </p:sp>
      <p:sp>
        <p:nvSpPr>
          <p:cNvPr id="29" name="e3"/>
          <p:cNvSpPr/>
          <p:nvPr/>
        </p:nvSpPr>
        <p:spPr>
          <a:xfrm>
            <a:off x="6158132" y="6969252"/>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All 8 strategic acquirers of the last three years are listed peers in the table: the</a:t>
            </a:r>
            <a:br/>
            <a:r>
              <a:rPr sz="800" b="0" i="0">
                <a:solidFill>
                  <a:srgbClr val="1B1F24"/>
                </a:solidFill>
                <a:latin typeface="Calibri"/>
              </a:rPr>
              <a:t>buyer universe is known.</a:t>
            </a:r>
          </a:p>
        </p:txBody>
      </p:sp>
      <p:sp>
        <p:nvSpPr>
          <p:cNvPr id="30"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peer consensus estimates as of October 2026 (fictional companies); all figures illustrative.</a:t>
            </a:r>
          </a:p>
        </p:txBody>
      </p:sp>
      <p:cxnSp>
        <p:nvCxnSpPr>
          <p:cNvPr id="31" name="hurdle-line"/>
          <p:cNvCxnSpPr/>
          <p:nvPr/>
        </p:nvCxnSpPr>
        <p:spPr>
          <a:xfrm flipV="1">
            <a:off x="6647165" y="1221537"/>
            <a:ext cx="0" cy="2088286"/>
          </a:xfrm>
          <a:prstGeom prst="line">
            <a:avLst/>
          </a:prstGeom>
          <a:ln w="15875">
            <a:solidFill>
              <a:srgbClr val="B85400"/>
            </a:solidFill>
            <a:prstDash val="dash"/>
          </a:ln>
        </p:spPr>
      </p:cxnSp>
      <p:sp>
        <p:nvSpPr>
          <p:cNvPr id="32" name="hurdle-label"/>
          <p:cNvSpPr/>
          <p:nvPr/>
        </p:nvSpPr>
        <p:spPr>
          <a:xfrm>
            <a:off x="6387296" y="1132637"/>
            <a:ext cx="519738" cy="88900"/>
          </a:xfrm>
          <a:prstGeom prst="rect">
            <a:avLst/>
          </a:prstGeom>
          <a:noFill/>
        </p:spPr>
        <p:txBody>
          <a:bodyPr wrap="square" lIns="0" tIns="0" rIns="0" bIns="0" anchor="t">
            <a:noAutofit/>
          </a:bodyPr>
          <a:lstStyle/>
          <a:p>
            <a:pPr algn="ctr" marL="0" indent="0">
              <a:lnSpc>
                <a:spcPts val="700"/>
              </a:lnSpc>
              <a:spcBef>
                <a:spcPts val="0"/>
              </a:spcBef>
              <a:spcAft>
                <a:spcPts val="0"/>
              </a:spcAft>
              <a:buNone/>
            </a:pPr>
            <a:r>
              <a:rPr sz="700" b="1" i="0">
                <a:solidFill>
                  <a:srgbClr val="B85400"/>
                </a:solidFill>
                <a:latin typeface="Arial"/>
              </a:rPr>
              <a:t>Hurdle 2.5x</a:t>
            </a:r>
          </a:p>
        </p:txBody>
      </p:sp>
      <p:cxnSp>
        <p:nvCxnSpPr>
          <p:cNvPr id="33" name="basex-line"/>
          <p:cNvCxnSpPr/>
          <p:nvPr/>
        </p:nvCxnSpPr>
        <p:spPr>
          <a:xfrm flipV="1">
            <a:off x="9071893" y="2168368"/>
            <a:ext cx="0" cy="1162974"/>
          </a:xfrm>
          <a:prstGeom prst="line">
            <a:avLst/>
          </a:prstGeom>
          <a:ln w="15875">
            <a:solidFill>
              <a:srgbClr val="1F3D63"/>
            </a:solidFill>
          </a:ln>
        </p:spPr>
      </p:cxnSp>
      <p:sp>
        <p:nvSpPr>
          <p:cNvPr id="34" name="basex-label"/>
          <p:cNvSpPr/>
          <p:nvPr/>
        </p:nvSpPr>
        <p:spPr>
          <a:xfrm>
            <a:off x="8732869" y="2079468"/>
            <a:ext cx="678048" cy="88900"/>
          </a:xfrm>
          <a:prstGeom prst="rect">
            <a:avLst/>
          </a:prstGeom>
          <a:noFill/>
        </p:spPr>
        <p:txBody>
          <a:bodyPr wrap="square" lIns="0" tIns="0" rIns="0" bIns="0" anchor="t">
            <a:noAutofit/>
          </a:bodyPr>
          <a:lstStyle/>
          <a:p>
            <a:pPr algn="ctr" marL="0" indent="0">
              <a:lnSpc>
                <a:spcPts val="700"/>
              </a:lnSpc>
              <a:spcBef>
                <a:spcPts val="0"/>
              </a:spcBef>
              <a:spcAft>
                <a:spcPts val="0"/>
              </a:spcAft>
              <a:buNone/>
            </a:pPr>
            <a:r>
              <a:rPr sz="700" b="1" i="0">
                <a:solidFill>
                  <a:srgbClr val="1F3D63"/>
                </a:solidFill>
                <a:latin typeface="Arial"/>
              </a:rPr>
              <a:t>Base exit 10.0x</a:t>
            </a:r>
          </a:p>
        </p:txBody>
      </p:sp>
    </p:spTree>
    <p:custDataLst>
      <p:tags r:id="rId4"/>
    </p:custDataLst>
  </p:cSld>
  <p:clrMapOvr>
    <a:masterClrMapping/>
  </p:clrMapOvr>
</p:sld>
</file>

<file path=ppt/tags/tag1.xml><?xml version="1.0" encoding="utf-8"?>
<p:tagLst xmlns:p="http://schemas.openxmlformats.org/presentationml/2006/main">
  <p:tag name="pptx-skill" val="generated"/>
</p:tagLst>
</file>

<file path=ppt/tags/tag2.xml><?xml version="1.0" encoding="utf-8"?>
<p:tagLst xmlns:p="http://schemas.openxmlformats.org/presentationml/2006/main">
  <p:tag name="pptx-skill" val="generated"/>
</p:tagLst>
</file>

<file path=ppt/tags/tag3.xml><?xml version="1.0" encoding="utf-8"?>
<p:tagLst xmlns:p="http://schemas.openxmlformats.org/presentationml/2006/main">
  <p:tag name="pptx-skill" val="generated"/>
</p:tagLst>
</file>

<file path=ppt/tags/tag4.xml><?xml version="1.0" encoding="utf-8"?>
<p:tagLst xmlns:p="http://schemas.openxmlformats.org/presentationml/2006/main">
  <p:tag name="pptx-skill" val="generated"/>
</p:tagLst>
</file>

<file path=ppt/tags/tag5.xml><?xml version="1.0" encoding="utf-8"?>
<p:tagLst xmlns:p="http://schemas.openxmlformats.org/presentationml/2006/main">
  <p:tag name="pptx-skill" val="generated"/>
</p:tagLst>
</file>

<file path=ppt/tags/tag6.xml><?xml version="1.0" encoding="utf-8"?>
<p:tagLst xmlns:p="http://schemas.openxmlformats.org/presentationml/2006/main">
  <p:tag name="pptx-skill" val="generated"/>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2026-10-27T11:18:07Z</dcterms:created>
  <dcterms:modified xsi:type="dcterms:W3CDTF">2026-10-27T11:18:07Z</dcterms:modified>
  <cp:category/>
</cp:coreProperties>
</file>