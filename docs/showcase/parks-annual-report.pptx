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3"/>
          <c:y val="0.04"/>
          <c:w val="0.94"/>
          <c:h val="0.86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2025-26</c:v>
                </c:pt>
              </c:strCache>
            </c:strRef>
          </c:tx>
          <c:spPr>
            <a:ln w="31750">
              <a:solidFill>
                <a:srgbClr val="1F5A6E"/>
              </a:solidFill>
            </a:ln>
          </c:spPr>
          <c:marker>
            <c:symbol val="circle"/>
            <c:size val="6"/>
            <c:spPr>
              <a:solidFill>
                <a:srgbClr val="1F5A6E"/>
              </a:solidFill>
              <a:ln>
                <a:solidFill>
                  <a:srgbClr val="1F5A6E"/>
                </a:solidFill>
              </a:ln>
            </c:spPr>
          </c:marker>
          <c:dLbls>
            <c:dLbl>
              <c:idx val="9"/>
              <c:tx>
                <c:rich>
                  <a:bodyPr/>
                  <a:lstStyle/>
                  <a:p>
                    <a:r>
                      <a:rPr sz="1050" b="1" i="0">
                        <a:solidFill>
                          <a:srgbClr val="1F2723"/>
                        </a:solidFill>
                        <a:latin typeface="Inter"/>
                      </a:rPr>
                      <a:t>Low: 330,000</a:t>
                    </a:r>
                  </a:p>
                </c:rich>
              </c:tx>
              <c:txPr>
                <a:bodyPr/>
                <a:lstStyle/>
                <a:p>
                  <a:pPr>
                    <a:defRPr sz="1050" b="1" i="0">
                      <a:solidFill>
                        <a:srgbClr val="1F2723"/>
                      </a:solidFill>
                      <a:latin typeface="Inter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Sheet1!$B$2:$B$13</c:f>
              <c:numCache>
                <c:formatCode>#,##0</c:formatCode>
                <c:ptCount val="12"/>
                <c:pt idx="0">
                  <c:v>560</c:v>
                </c:pt>
                <c:pt idx="1">
                  <c:v>690</c:v>
                </c:pt>
                <c:pt idx="2">
                  <c:v>840</c:v>
                </c:pt>
                <c:pt idx="3">
                  <c:v>1060</c:v>
                </c:pt>
                <c:pt idx="4">
                  <c:v>1180</c:v>
                </c:pt>
                <c:pt idx="5">
                  <c:v>920</c:v>
                </c:pt>
                <c:pt idx="6">
                  <c:v>760</c:v>
                </c:pt>
                <c:pt idx="7">
                  <c:v>470</c:v>
                </c:pt>
                <c:pt idx="8">
                  <c:v>380</c:v>
                </c:pt>
                <c:pt idx="9">
                  <c:v>330</c:v>
                </c:pt>
                <c:pt idx="10">
                  <c:v>400</c:v>
                </c:pt>
                <c:pt idx="11">
                  <c:v>830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2024-25</c:v>
                </c:pt>
              </c:strCache>
            </c:strRef>
          </c:tx>
          <c:spPr>
            <a:ln w="25400">
              <a:solidFill>
                <a:srgbClr val="A9B3AC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Sheet1!$C$2:$C$13</c:f>
              <c:numCache>
                <c:formatCode>#,##0</c:formatCode>
                <c:ptCount val="12"/>
                <c:pt idx="0">
                  <c:v>520</c:v>
                </c:pt>
                <c:pt idx="1">
                  <c:v>640</c:v>
                </c:pt>
                <c:pt idx="2">
                  <c:v>780</c:v>
                </c:pt>
                <c:pt idx="3">
                  <c:v>1010</c:v>
                </c:pt>
                <c:pt idx="4">
                  <c:v>1120</c:v>
                </c:pt>
                <c:pt idx="5">
                  <c:v>860</c:v>
                </c:pt>
                <c:pt idx="6">
                  <c:v>700</c:v>
                </c:pt>
                <c:pt idx="7">
                  <c:v>430</c:v>
                </c:pt>
                <c:pt idx="8">
                  <c:v>360</c:v>
                </c:pt>
                <c:pt idx="9">
                  <c:v>310</c:v>
                </c:pt>
                <c:pt idx="10">
                  <c:v>380</c:v>
                </c:pt>
                <c:pt idx="11">
                  <c:v>830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/>
        <c:delete val="0"/>
        <c:axPos val="b"/>
        <c:majorTickMark val="none"/>
        <c:minorTickMark val="none"/>
        <c:tickLblPos val="nextTo"/>
        <c:spPr>
          <a:ln w="9525">
            <a:solidFill>
              <a:srgbClr val="CFCBBF"/>
            </a:solidFill>
          </a:ln>
        </c:spPr>
        <c:txPr>
          <a:bodyPr rot="0" vert="horz"/>
          <a:lstStyle/>
          <a:p>
            <a:pPr>
              <a:defRPr sz="1000" b="0" i="0">
                <a:solidFill>
                  <a:srgbClr val="58615B"/>
                </a:solidFill>
                <a:latin typeface="Inter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400.0"/>
          <c:min val="0.0"/>
        </c:scaling>
        <c:delete/>
        <c:axPos val="l"/>
        <c:majorTickMark val="out"/>
        <c:minorTickMark val="none"/>
        <c:tickLblPos val="nextTo"/>
        <c:crossAx val="2118791784"/>
        <c:crosses val="autoZero"/>
        <c:crossBetween val="between"/>
      </c:valAx>
      <c:spPr>
        <a:noFill/>
      </c:spPr>
    </c:plotArea>
    <c:plotVisOnly val="1"/>
    <c:dispBlanksAs val="gap"/>
    <c:showDLblsOverMax val="0"/>
  </c:chart>
  <c:txPr>
    <a:bodyPr/>
    <a:lstStyle/>
    <a:p>
      <a:pPr>
        <a:defRPr sz="1000" b="0" i="0">
          <a:solidFill>
            <a:srgbClr val="58615B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27"/>
          <c:y val="0.02"/>
          <c:w val="0.71"/>
          <c:h val="0.96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Change since 2021 (%)</c:v>
                </c:pt>
              </c:strCache>
            </c:strRef>
          </c:tx>
          <c:spPr>
            <a:solidFill>
              <a:srgbClr val="3B7A3A"/>
            </a:solidFill>
            <a:ln>
              <a:noFill/>
            </a:ln>
          </c:spPr>
          <c:dPt>
            <c:idx val="6"/>
            <c:spPr>
              <a:solidFill>
                <a:srgbClr val="B03E2C"/>
              </a:solidFill>
            </c:spPr>
          </c:dPt>
          <c:dPt>
            <c:idx val="7"/>
            <c:spPr>
              <a:solidFill>
                <a:srgbClr val="B03E2C"/>
              </a:solidFill>
            </c:spPr>
          </c:dPt>
          <c:dPt>
            <c:idx val="8"/>
            <c:spPr>
              <a:solidFill>
                <a:srgbClr val="B03E2C"/>
              </a:solidFill>
            </c:spPr>
          </c:dPt>
          <c:dLbls>
            <c:numFmt formatCode="+0&quot;%&quot;;-0&quot;%&quot;" sourceLinked="0"/>
            <c:txPr>
              <a:bodyPr/>
              <a:lstStyle/>
              <a:p>
                <a:pPr>
                  <a:defRPr sz="1050" b="1" i="0">
                    <a:solidFill>
                      <a:srgbClr val="1F2723"/>
                    </a:solidFill>
                    <a:latin typeface="Inter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Water vole</c:v>
                </c:pt>
                <c:pt idx="1">
                  <c:v>Pine marten</c:v>
                </c:pt>
                <c:pt idx="2">
                  <c:v>Red squirrel</c:v>
                </c:pt>
                <c:pt idx="3">
                  <c:v>Golden eagle (pairs)</c:v>
                </c:pt>
                <c:pt idx="4">
                  <c:v>Natterjack toad</c:v>
                </c:pt>
                <c:pt idx="5">
                  <c:v>Black grouse</c:v>
                </c:pt>
                <c:pt idx="6">
                  <c:v>Atlantic salmon (returning)</c:v>
                </c:pt>
                <c:pt idx="7">
                  <c:v>Freshwater pearl mussel</c:v>
                </c:pt>
                <c:pt idx="8">
                  <c:v>Capercaillie</c:v>
                </c:pt>
              </c:strCache>
            </c:strRef>
          </c:cat>
          <c:val>
            <c:numRef>
              <c:f>Sheet1!$B$2:$B$10</c:f>
              <c:numCache>
                <c:formatCode>0</c:formatCode>
                <c:ptCount val="9"/>
                <c:pt idx="0">
                  <c:v>41</c:v>
                </c:pt>
                <c:pt idx="1">
                  <c:v>34</c:v>
                </c:pt>
                <c:pt idx="2">
                  <c:v>22</c:v>
                </c:pt>
                <c:pt idx="3">
                  <c:v>18</c:v>
                </c:pt>
                <c:pt idx="4">
                  <c:v>12</c:v>
                </c:pt>
                <c:pt idx="5">
                  <c:v>5</c:v>
                </c:pt>
                <c:pt idx="6">
                  <c:v>-6</c:v>
                </c:pt>
                <c:pt idx="7">
                  <c:v>-9</c:v>
                </c:pt>
                <c:pt idx="8">
                  <c:v>-14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low"/>
        <c:spPr>
          <a:ln w="9525">
            <a:solidFill>
              <a:srgbClr val="CFCBBF"/>
            </a:solidFill>
          </a:ln>
        </c:spPr>
        <c:txPr>
          <a:bodyPr rot="0" vert="horz"/>
          <a:lstStyle/>
          <a:p>
            <a:pPr>
              <a:defRPr sz="1000" b="0" i="0">
                <a:solidFill>
                  <a:srgbClr val="1F2723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0.0"/>
          <c:min val="-25.0"/>
        </c:scaling>
        <c:delete/>
        <c:axPos val="b"/>
        <c:majorTickMark val="out"/>
        <c:minorTickMark val="none"/>
        <c:tickLblPos val="nextTo"/>
        <c:crossAx val="-2068027336"/>
        <c:crosses val="autoZero"/>
        <c:crossBetween val="between"/>
      </c:valAx>
      <c:spPr>
        <a:noFill/>
      </c:spPr>
    </c:plotArea>
    <c:dispBlanksAs val="gap"/>
  </c:chart>
  <c:txPr>
    <a:bodyPr/>
    <a:lstStyle/>
    <a:p>
      <a:pPr>
        <a:defRPr sz="1000" b="0" i="0">
          <a:solidFill>
            <a:srgbClr val="58615B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7"/>
          <c:y val="0.01"/>
          <c:w val="0.57"/>
          <c:h val="0.98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Of every $100 spent</c:v>
                </c:pt>
              </c:strCache>
            </c:strRef>
          </c:tx>
          <c:spPr>
            <a:solidFill>
              <a:srgbClr val="1F5A6E"/>
            </a:solidFill>
            <a:ln>
              <a:noFill/>
            </a:ln>
          </c:spPr>
          <c:dPt>
            <c:idx val="0"/>
            <c:spPr>
              <a:solidFill>
                <a:srgbClr val="B4561A"/>
              </a:solidFill>
            </c:spPr>
          </c:dPt>
          <c:dLbls>
            <c:dLbl>
              <c:idx val="0"/>
              <c:numFmt formatCode="&quot;$&quot;0" sourceLinked="0"/>
              <c:spPr/>
              <c:txPr>
                <a:bodyPr/>
                <a:lstStyle/>
                <a:p>
                  <a:pPr>
                    <a:defRPr sz="1050" b="1" i="0">
                      <a:solidFill>
                        <a:srgbClr val="B4561A"/>
                      </a:solidFill>
                      <a:latin typeface="Inter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&quot;$&quot;0" sourceLinked="0"/>
            <c:txPr>
              <a:bodyPr/>
              <a:lstStyle/>
              <a:p>
                <a:pPr>
                  <a:defRPr sz="1050" b="1" i="0">
                    <a:solidFill>
                      <a:srgbClr val="1F2723"/>
                    </a:solidFill>
                    <a:latin typeface="Inter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Conservation and habitats ($46.1m)</c:v>
                </c:pt>
                <c:pt idx="1">
                  <c:v>Rangers and visitor services ($35.6m)</c:v>
                </c:pt>
                <c:pt idx="2">
                  <c:v>Trails, roads and buildings ($31.8m)</c:v>
                </c:pt>
                <c:pt idx="3">
                  <c:v>Running the service ($15.2m)</c:v>
                </c:pt>
                <c:pt idx="4">
                  <c:v>Education and community ($12.4m)</c:v>
                </c:pt>
                <c:pt idx="5">
                  <c:v>Volunteer programme ($4.0m)</c:v>
                </c:pt>
              </c:strCache>
            </c:strRef>
          </c:cat>
          <c:val>
            <c:numRef>
              <c:f>Sheet1!$B$2:$B$7</c:f>
              <c:numCache>
                <c:formatCode>0</c:formatCode>
                <c:ptCount val="6"/>
                <c:pt idx="0">
                  <c:v>32</c:v>
                </c:pt>
                <c:pt idx="1">
                  <c:v>24</c:v>
                </c:pt>
                <c:pt idx="2">
                  <c:v>22</c:v>
                </c:pt>
                <c:pt idx="3">
                  <c:v>10</c:v>
                </c:pt>
                <c:pt idx="4">
                  <c:v>9</c:v>
                </c:pt>
                <c:pt idx="5">
                  <c:v>3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 w="9525">
            <a:solidFill>
              <a:srgbClr val="CFCBBF"/>
            </a:solidFill>
          </a:ln>
        </c:spPr>
        <c:txPr>
          <a:bodyPr rot="0" vert="horz"/>
          <a:lstStyle/>
          <a:p>
            <a:pPr>
              <a:defRPr sz="1000" b="0" i="0">
                <a:solidFill>
                  <a:srgbClr val="1F2723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6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  <c:crossBetween val="between"/>
      </c:valAx>
      <c:spPr>
        <a:noFill/>
      </c:spPr>
    </c:plotArea>
    <c:dispBlanksAs val="gap"/>
  </c:chart>
  <c:txPr>
    <a:bodyPr/>
    <a:lstStyle/>
    <a:p>
      <a:pPr>
        <a:defRPr sz="1000" b="0" i="0">
          <a:solidFill>
            <a:srgbClr val="58615B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13"/>
          <c:y val="0.08"/>
          <c:w val="0.86"/>
          <c:h val="0.6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 (thousands)</c:v>
                </c:pt>
              </c:strCache>
            </c:strRef>
          </c:tx>
          <c:spPr>
            <a:solidFill>
              <a:srgbClr val="1F5A6E"/>
            </a:solidFill>
            <a:ln>
              <a:noFill/>
            </a:ln>
          </c:spPr>
          <c:dPt>
            <c:idx val="4"/>
            <c:spPr>
              <a:solidFill>
                <a:srgbClr val="B4561A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050" b="1" i="0">
                        <a:solidFill>
                          <a:srgbClr val="1F2723"/>
                        </a:solidFill>
                        <a:latin typeface="Inter"/>
                      </a:rPr>
                      <a:t>118,000</a:t>
                    </a:r>
                  </a:p>
                </c:rich>
              </c:tx>
              <c:txPr>
                <a:bodyPr/>
                <a:lstStyle/>
                <a:p>
                  <a:pPr>
                    <a:defRPr sz="1050" b="1" i="0">
                      <a:solidFill>
                        <a:srgbClr val="1F2723"/>
                      </a:solidFill>
                      <a:latin typeface="Inter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050" b="1" i="0">
                        <a:solidFill>
                          <a:srgbClr val="1F2723"/>
                        </a:solidFill>
                        <a:latin typeface="Inter"/>
                      </a:rPr>
                      <a:t>139,000</a:t>
                    </a:r>
                  </a:p>
                </c:rich>
              </c:tx>
              <c:txPr>
                <a:bodyPr/>
                <a:lstStyle/>
                <a:p>
                  <a:pPr>
                    <a:defRPr sz="1050" b="1" i="0">
                      <a:solidFill>
                        <a:srgbClr val="1F2723"/>
                      </a:solidFill>
                      <a:latin typeface="Inter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050" b="1" i="0">
                        <a:solidFill>
                          <a:srgbClr val="1F2723"/>
                        </a:solidFill>
                        <a:latin typeface="Inter"/>
                      </a:rPr>
                      <a:t>158,000</a:t>
                    </a:r>
                  </a:p>
                </c:rich>
              </c:tx>
              <c:txPr>
                <a:bodyPr/>
                <a:lstStyle/>
                <a:p>
                  <a:pPr>
                    <a:defRPr sz="1050" b="1" i="0">
                      <a:solidFill>
                        <a:srgbClr val="1F2723"/>
                      </a:solidFill>
                      <a:latin typeface="Inter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050" b="1" i="0">
                        <a:solidFill>
                          <a:srgbClr val="1F2723"/>
                        </a:solidFill>
                        <a:latin typeface="Inter"/>
                      </a:rPr>
                      <a:t>171,000</a:t>
                    </a:r>
                  </a:p>
                </c:rich>
              </c:tx>
              <c:txPr>
                <a:bodyPr/>
                <a:lstStyle/>
                <a:p>
                  <a:pPr>
                    <a:defRPr sz="1050" b="1" i="0">
                      <a:solidFill>
                        <a:srgbClr val="1F2723"/>
                      </a:solidFill>
                      <a:latin typeface="Inter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050" b="1" i="0">
                        <a:solidFill>
                          <a:srgbClr val="B4561A"/>
                        </a:solidFill>
                        <a:latin typeface="Inter"/>
                      </a:rPr>
                      <a:t>192,000</a:t>
                    </a:r>
                  </a:p>
                </c:rich>
              </c:tx>
              <c:txPr>
                <a:bodyPr/>
                <a:lstStyle/>
                <a:p>
                  <a:pPr>
                    <a:defRPr sz="1050" b="1" i="0">
                      <a:solidFill>
                        <a:srgbClr val="B4561A"/>
                      </a:solidFill>
                      <a:latin typeface="Inter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" sourceLinked="0"/>
            <c:txPr>
              <a:bodyPr/>
              <a:lstStyle/>
              <a:p>
                <a:pPr>
                  <a:defRPr sz="1050" b="1" i="0">
                    <a:solidFill>
                      <a:srgbClr val="1F2723"/>
                    </a:solidFill>
                    <a:latin typeface="Inter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2021-22</c:v>
                </c:pt>
                <c:pt idx="1">
                  <c:v>2022-23</c:v>
                </c:pt>
                <c:pt idx="2">
                  <c:v>2023-24</c:v>
                </c:pt>
                <c:pt idx="3">
                  <c:v>2024-25</c:v>
                </c:pt>
                <c:pt idx="4">
                  <c:v>2025-26</c:v>
                </c:pt>
              </c:strCache>
            </c:strRef>
          </c:cat>
          <c:val>
            <c:numRef>
              <c:f>Sheet1!$B$2:$B$6</c:f>
              <c:numCache>
                <c:formatCode>0</c:formatCode>
                <c:ptCount val="5"/>
                <c:pt idx="0">
                  <c:v>118</c:v>
                </c:pt>
                <c:pt idx="1">
                  <c:v>139</c:v>
                </c:pt>
                <c:pt idx="2">
                  <c:v>158</c:v>
                </c:pt>
                <c:pt idx="3">
                  <c:v>171</c:v>
                </c:pt>
                <c:pt idx="4">
                  <c:v>192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/>
        <c:delete val="0"/>
        <c:axPos val="b"/>
        <c:majorTickMark val="none"/>
        <c:minorTickMark val="none"/>
        <c:tickLblPos val="nextTo"/>
        <c:spPr>
          <a:ln w="9525">
            <a:solidFill>
              <a:srgbClr val="CFCBBF"/>
            </a:solidFill>
          </a:ln>
        </c:spPr>
        <c:txPr>
          <a:bodyPr rot="0" vert="horz"/>
          <a:lstStyle/>
          <a:p>
            <a:pPr>
              <a:defRPr sz="1000" b="0" i="0">
                <a:solidFill>
                  <a:srgbClr val="58615B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15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  <c:crossBetween val="between"/>
      </c:valAx>
      <c:spPr>
        <a:noFill/>
      </c:spPr>
    </c:plotArea>
    <c:dispBlanksAs val="gap"/>
  </c:chart>
  <c:txPr>
    <a:bodyPr/>
    <a:lstStyle/>
    <a:p>
      <a:pPr>
        <a:defRPr sz="1000" b="0" i="0">
          <a:solidFill>
            <a:srgbClr val="58615B"/>
          </a:solidFill>
          <a:latin typeface="Inter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figures on this page are illustrative: Brannoch National Parks Service is fictional, and every number was invented for this example, computed and checked by assertion in figures.py.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figures on this page are illustrative: Brannoch National Parks Service is fictional, and every number was invented for this example, computed and checked by assertion in figures.py.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figures on this page are illustrative: Brannoch National Parks Service is fictional, and every number was invented for this example, computed and checked by assertion in figures.py.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figures on this page are illustrative: Brannoch National Parks Service is fictional, and every number was invented for this example, computed and checked by assertion in figures.py.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figures on this page are illustrative: Brannoch National Parks Service is fictional, and every number was invented for this example, computed and checked by assertion in figures.py.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tags" Target="../tags/tag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tags" Target="../tags/tag2.xm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tags" Target="../tags/tag3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tags" Target="../tags/tag4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tags" Target="../tags/tag5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15" name="chrome-1"/>
          <p:cNvCxnSpPr/>
          <p:nvPr/>
        </p:nvCxnSpPr>
        <p:spPr>
          <a:xfrm>
            <a:off x="548640" y="6423660"/>
            <a:ext cx="11094415" cy="0"/>
          </a:xfrm>
          <a:prstGeom prst="line">
            <a:avLst/>
          </a:prstGeom>
          <a:ln w="9525">
            <a:solidFill>
              <a:srgbClr val="CFCBBF"/>
            </a:solidFill>
          </a:ln>
        </p:spPr>
      </p:cxnSp>
      <p:sp>
        <p:nvSpPr>
          <p:cNvPr id="16" name="chrome-2"/>
          <p:cNvSpPr txBox="1"/>
          <p:nvPr/>
        </p:nvSpPr>
        <p:spPr>
          <a:xfrm>
            <a:off x="548640" y="6492240"/>
            <a:ext cx="6400800" cy="2286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sz="850" b="0">
                <a:solidFill>
                  <a:srgbClr val="58615B"/>
                </a:solidFill>
                <a:latin typeface="Inter"/>
              </a:rPr>
              <a:t>Brannoch National Parks Service  |  Annual Report 2025-26</a:t>
            </a:r>
          </a:p>
        </p:txBody>
      </p:sp>
      <p:sp>
        <p:nvSpPr>
          <p:cNvPr id="17" name="chrome-3"/>
          <p:cNvSpPr txBox="1"/>
          <p:nvPr/>
        </p:nvSpPr>
        <p:spPr>
          <a:xfrm>
            <a:off x="11185855" y="6492240"/>
            <a:ext cx="457200" cy="2286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fld id="{B6F15528-21DE-4FAA-801E-634DDDAF5B2F}" type="slidenum">
              <a:rPr sz="850">
                <a:solidFill>
                  <a:srgbClr val="58615B"/>
                </a:solidFill>
                <a:latin typeface="Inter"/>
              </a:rPr>
              <a:t>1</a:t>
            </a:fld>
          </a:p>
        </p:txBody>
      </p:sp>
      <p:sp>
        <p:nvSpPr>
          <p:cNvPr id="2" name="disc-fill"/>
          <p:cNvSpPr/>
          <p:nvPr/>
        </p:nvSpPr>
        <p:spPr>
          <a:xfrm>
            <a:off x="548640" y="548640"/>
            <a:ext cx="387370" cy="392430"/>
          </a:xfrm>
          <a:prstGeom prst="ellipse">
            <a:avLst/>
          </a:prstGeom>
          <a:solidFill>
            <a:srgbClr val="1F5A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disc-n"/>
          <p:cNvSpPr/>
          <p:nvPr/>
        </p:nvSpPr>
        <p:spPr>
          <a:xfrm>
            <a:off x="594360" y="640080"/>
            <a:ext cx="295930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Gelasio"/>
              </a:rPr>
              <a:t>1</a:t>
            </a:r>
          </a:p>
        </p:txBody>
      </p:sp>
      <p:sp>
        <p:nvSpPr>
          <p:cNvPr id="4" name="kicker"/>
          <p:cNvSpPr/>
          <p:nvPr/>
        </p:nvSpPr>
        <p:spPr>
          <a:xfrm>
            <a:off x="1118890" y="548640"/>
            <a:ext cx="1052447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00">
                <a:solidFill>
                  <a:srgbClr val="1F5A6E"/>
                </a:solidFill>
                <a:latin typeface="Inter"/>
              </a:rPr>
              <a:t>VISITORS AND ACCESS</a:t>
            </a:r>
          </a:p>
        </p:txBody>
      </p:sp>
      <p:sp>
        <p:nvSpPr>
          <p:cNvPr id="5" name="title"/>
          <p:cNvSpPr/>
          <p:nvPr/>
        </p:nvSpPr>
        <p:spPr>
          <a:xfrm>
            <a:off x="1118890" y="746760"/>
            <a:ext cx="1052447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1F2723"/>
                </a:solidFill>
                <a:latin typeface="Gelasio"/>
              </a:rPr>
              <a:t>Visits rose 6.0% to 8.42 million, and more than a third of visitors</a:t>
            </a:r>
            <a:br/>
            <a:r>
              <a:rPr sz="2400" b="1" i="0">
                <a:solidFill>
                  <a:srgbClr val="1F2723"/>
                </a:solidFill>
                <a:latin typeface="Gelasio"/>
              </a:rPr>
              <a:t>now arrive without a car</a:t>
            </a:r>
          </a:p>
        </p:txBody>
      </p:sp>
      <p:sp>
        <p:nvSpPr>
          <p:cNvPr id="6" name="chart-cap"/>
          <p:cNvSpPr/>
          <p:nvPr/>
        </p:nvSpPr>
        <p:spPr>
          <a:xfrm>
            <a:off x="548640" y="1661160"/>
            <a:ext cx="7029319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58615B"/>
                </a:solidFill>
                <a:latin typeface="Inter"/>
              </a:rPr>
              <a:t>Visits each month, thousands: </a:t>
            </a:r>
            <a:r>
              <a:rPr sz="1000" b="1" i="0">
                <a:solidFill>
                  <a:srgbClr val="1F5A6E"/>
                </a:solidFill>
                <a:latin typeface="Inter"/>
              </a:rPr>
              <a:t>this year, 2025-26</a:t>
            </a:r>
            <a:r>
              <a:rPr sz="1000" b="0" i="0">
                <a:solidFill>
                  <a:srgbClr val="58615B"/>
                </a:solidFill>
                <a:latin typeface="Inter"/>
              </a:rPr>
              <a:t>, and </a:t>
            </a:r>
            <a:r>
              <a:rPr sz="1000" b="1" i="0">
                <a:solidFill>
                  <a:srgbClr val="58615B"/>
                </a:solidFill>
                <a:latin typeface="Inter"/>
              </a:rPr>
              <a:t>last year, 2024-25</a:t>
            </a:r>
          </a:p>
        </p:txBody>
      </p:sp>
      <p:graphicFrame>
        <p:nvGraphicFramePr>
          <p:cNvPr id="7" name="visits"/>
          <p:cNvGraphicFramePr>
            <a:graphicFrameLocks noGrp="1"/>
          </p:cNvGraphicFramePr>
          <p:nvPr/>
        </p:nvGraphicFramePr>
        <p:xfrm>
          <a:off x="548640" y="1905000"/>
          <a:ext cx="7029319" cy="4000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panel-fill"/>
          <p:cNvSpPr/>
          <p:nvPr/>
        </p:nvSpPr>
        <p:spPr>
          <a:xfrm>
            <a:off x="7943719" y="1661160"/>
            <a:ext cx="3699641" cy="4244340"/>
          </a:xfrm>
          <a:prstGeom prst="rect">
            <a:avLst/>
          </a:prstGeom>
          <a:solidFill>
            <a:srgbClr val="EFEC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panel-h"/>
          <p:cNvSpPr/>
          <p:nvPr/>
        </p:nvSpPr>
        <p:spPr>
          <a:xfrm>
            <a:off x="8126599" y="1844040"/>
            <a:ext cx="3333881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1F2723"/>
                </a:solidFill>
                <a:latin typeface="Gelasio"/>
              </a:rPr>
              <a:t>How visitors arrived</a:t>
            </a:r>
          </a:p>
        </p:txBody>
      </p:sp>
      <p:graphicFrame>
        <p:nvGraphicFramePr>
          <p:cNvPr id="10" name="arrive"/>
          <p:cNvGraphicFramePr>
            <a:graphicFrameLocks noGrp="1"/>
          </p:cNvGraphicFramePr>
          <p:nvPr/>
        </p:nvGraphicFramePr>
        <p:xfrm>
          <a:off x="8126599" y="2145030"/>
          <a:ext cx="3333881" cy="1836928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33520"/>
                <a:gridCol w="733454"/>
                <a:gridCol w="733454"/>
                <a:gridCol w="733453"/>
              </a:tblGrid>
              <a:tr h="488188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2723"/>
                          </a:solidFill>
                          <a:latin typeface="Inter"/>
                        </a:rPr>
                        <a:t>Share of visits</a:t>
                      </a:r>
                      <a:endParaRPr sz="1000" b="1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F2723"/>
                          </a:solidFill>
                          <a:latin typeface="Inter"/>
                        </a:rPr>
                        <a:t>2024-25</a:t>
                      </a:r>
                      <a:endParaRPr sz="1000" b="1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F2723"/>
                          </a:solidFill>
                          <a:latin typeface="Inter"/>
                        </a:rPr>
                        <a:t>2025-26</a:t>
                      </a:r>
                      <a:endParaRPr sz="1000" b="1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F2723"/>
                          </a:solidFill>
                          <a:latin typeface="Inter"/>
                        </a:rPr>
                        <a:t>Change</a:t>
                      </a:r>
                      <a:endParaRPr sz="1000" b="1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723"/>
                          </a:solidFill>
                          <a:latin typeface="Inter"/>
                        </a:rPr>
                        <a:t>Car</a:t>
                      </a:r>
                      <a:endParaRPr sz="1050" b="0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Inter"/>
                        </a:rPr>
                        <a:t>71%</a:t>
                      </a:r>
                      <a:endParaRPr sz="1050" b="0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Inter"/>
                        </a:rPr>
                        <a:t>64%</a:t>
                      </a:r>
                      <a:endParaRPr sz="1050" b="0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Inter"/>
                        </a:rPr>
                        <a:t>-7 pts</a:t>
                      </a:r>
                      <a:endParaRPr sz="1050" b="0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2723"/>
                          </a:solidFill>
                          <a:latin typeface="Inter"/>
                        </a:rPr>
                        <a:t>Bus, shuttle or train</a:t>
                      </a:r>
                      <a:endParaRPr sz="1050" b="1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1F2723"/>
                          </a:solidFill>
                          <a:latin typeface="Inter"/>
                        </a:rPr>
                        <a:t>19%</a:t>
                      </a:r>
                      <a:endParaRPr sz="1050" b="1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1F2723"/>
                          </a:solidFill>
                          <a:latin typeface="Inter"/>
                        </a:rPr>
                        <a:t>25%</a:t>
                      </a:r>
                      <a:endParaRPr sz="1050" b="1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B4561A"/>
                          </a:solidFill>
                          <a:latin typeface="Inter"/>
                        </a:rPr>
                        <a:t>+6 pts</a:t>
                      </a:r>
                      <a:endParaRPr sz="1050" b="1" i="0">
                        <a:solidFill>
                          <a:srgbClr val="B4561A"/>
                        </a:solidFill>
                        <a:latin typeface="Inter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723"/>
                          </a:solidFill>
                          <a:latin typeface="Inter"/>
                        </a:rPr>
                        <a:t>On foot or by bike</a:t>
                      </a:r>
                      <a:endParaRPr sz="1050" b="0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9525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Inter"/>
                        </a:rPr>
                        <a:t>10%</a:t>
                      </a:r>
                      <a:endParaRPr sz="1050" b="0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9525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Inter"/>
                        </a:rPr>
                        <a:t>11%</a:t>
                      </a:r>
                      <a:endParaRPr sz="1050" b="0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9525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Inter"/>
                        </a:rPr>
                        <a:t>+1 pt</a:t>
                      </a:r>
                      <a:endParaRPr sz="1050" b="0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9525">
                      <a:solidFill>
                        <a:srgbClr val="1F5A6E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trail"/>
          <p:cNvSpPr/>
          <p:nvPr/>
        </p:nvSpPr>
        <p:spPr>
          <a:xfrm>
            <a:off x="8126599" y="4073398"/>
            <a:ext cx="3333881" cy="1483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44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1F2723"/>
                </a:solidFill>
                <a:latin typeface="Inter"/>
              </a:rPr>
              <a:t>Step-free trails</a:t>
            </a:r>
          </a:p>
          <a:p>
            <a:pPr algn="l" marL="0" indent="0">
              <a:lnSpc>
                <a:spcPts val="15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0" i="0">
                <a:solidFill>
                  <a:srgbClr val="1F2723"/>
                </a:solidFill>
                <a:latin typeface="Inter"/>
              </a:rPr>
              <a:t>241 km of trail can now be used without steps</a:t>
            </a:r>
            <a:br/>
            <a:r>
              <a:rPr sz="1200" b="0" i="0">
                <a:solidFill>
                  <a:srgbClr val="1F2723"/>
                </a:solidFill>
                <a:latin typeface="Inter"/>
              </a:rPr>
              <a:t>by wheelchairs and buggies, 53 km more</a:t>
            </a:r>
            <a:br/>
            <a:r>
              <a:rPr sz="1200" b="0" i="0">
                <a:solidFill>
                  <a:srgbClr val="1F2723"/>
                </a:solidFill>
                <a:latin typeface="Inter"/>
              </a:rPr>
              <a:t>than last year.</a:t>
            </a:r>
          </a:p>
          <a:p>
            <a:pPr algn="l" marL="0" indent="0">
              <a:lnSpc>
                <a:spcPts val="144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1F2723"/>
                </a:solidFill>
                <a:latin typeface="Inter"/>
              </a:rPr>
              <a:t>School visits</a:t>
            </a:r>
          </a:p>
          <a:p>
            <a:pPr algn="l" marL="0" indent="0">
              <a:lnSpc>
                <a:spcPts val="15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0" i="0">
                <a:solidFill>
                  <a:srgbClr val="1F2723"/>
                </a:solidFill>
                <a:latin typeface="Inter"/>
              </a:rPr>
              <a:t>41,300 pupils came on free school trips.</a:t>
            </a:r>
          </a:p>
        </p:txBody>
      </p:sp>
      <p:sp>
        <p:nvSpPr>
          <p:cNvPr id="12" name="source"/>
          <p:cNvSpPr/>
          <p:nvPr/>
        </p:nvSpPr>
        <p:spPr>
          <a:xfrm>
            <a:off x="548640" y="6179820"/>
            <a:ext cx="11094720" cy="1295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58615B"/>
                </a:solidFill>
                <a:latin typeface="Inter"/>
              </a:rPr>
              <a:t>Visits are counted at park entrances; how visitors arrived comes from our visitor survey. Source: Brannoch National Parks Service records, April 2025 to March 2026. Illustrative figures for a fictional service.</a:t>
            </a:r>
          </a:p>
        </p:txBody>
      </p:sp>
      <p:sp>
        <p:nvSpPr>
          <p:cNvPr id="13" name="peak-box"/>
          <p:cNvSpPr/>
          <p:nvPr/>
        </p:nvSpPr>
        <p:spPr>
          <a:xfrm>
            <a:off x="3153535" y="2521839"/>
            <a:ext cx="167640" cy="167640"/>
          </a:xfrm>
          <a:prstGeom prst="ellipse">
            <a:avLst/>
          </a:prstGeom>
          <a:noFill/>
          <a:ln w="22225">
            <a:solidFill>
              <a:srgbClr val="B456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peak-label"/>
          <p:cNvSpPr/>
          <p:nvPr/>
        </p:nvSpPr>
        <p:spPr>
          <a:xfrm>
            <a:off x="3423727" y="2525649"/>
            <a:ext cx="2171008" cy="1600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B4561A"/>
                </a:solidFill>
                <a:latin typeface="Inter"/>
              </a:rPr>
              <a:t>Peak: 1.18 million visits in August</a:t>
            </a:r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16" name="chrome-1"/>
          <p:cNvCxnSpPr/>
          <p:nvPr/>
        </p:nvCxnSpPr>
        <p:spPr>
          <a:xfrm>
            <a:off x="548640" y="6423660"/>
            <a:ext cx="11094415" cy="0"/>
          </a:xfrm>
          <a:prstGeom prst="line">
            <a:avLst/>
          </a:prstGeom>
          <a:ln w="9525">
            <a:solidFill>
              <a:srgbClr val="CFCBBF"/>
            </a:solidFill>
          </a:ln>
        </p:spPr>
      </p:cxnSp>
      <p:sp>
        <p:nvSpPr>
          <p:cNvPr id="17" name="chrome-2"/>
          <p:cNvSpPr txBox="1"/>
          <p:nvPr/>
        </p:nvSpPr>
        <p:spPr>
          <a:xfrm>
            <a:off x="548640" y="6492240"/>
            <a:ext cx="6400800" cy="2286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sz="850" b="0">
                <a:solidFill>
                  <a:srgbClr val="58615B"/>
                </a:solidFill>
                <a:latin typeface="Inter"/>
              </a:rPr>
              <a:t>Brannoch National Parks Service  |  Annual Report 2025-26</a:t>
            </a:r>
          </a:p>
        </p:txBody>
      </p:sp>
      <p:sp>
        <p:nvSpPr>
          <p:cNvPr id="18" name="chrome-3"/>
          <p:cNvSpPr txBox="1"/>
          <p:nvPr/>
        </p:nvSpPr>
        <p:spPr>
          <a:xfrm>
            <a:off x="11185855" y="6492240"/>
            <a:ext cx="457200" cy="2286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fld id="{B6F15528-21DE-4FAA-801E-634DDDAF5B2F}" type="slidenum">
              <a:rPr sz="850">
                <a:solidFill>
                  <a:srgbClr val="58615B"/>
                </a:solidFill>
                <a:latin typeface="Inter"/>
              </a:rPr>
              <a:t>1</a:t>
            </a:fld>
          </a:p>
        </p:txBody>
      </p:sp>
      <p:sp>
        <p:nvSpPr>
          <p:cNvPr id="2" name="disc-fill"/>
          <p:cNvSpPr/>
          <p:nvPr/>
        </p:nvSpPr>
        <p:spPr>
          <a:xfrm>
            <a:off x="548640" y="548640"/>
            <a:ext cx="387370" cy="392430"/>
          </a:xfrm>
          <a:prstGeom prst="ellipse">
            <a:avLst/>
          </a:prstGeom>
          <a:solidFill>
            <a:srgbClr val="1F5A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disc-n"/>
          <p:cNvSpPr/>
          <p:nvPr/>
        </p:nvSpPr>
        <p:spPr>
          <a:xfrm>
            <a:off x="594360" y="640080"/>
            <a:ext cx="295930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Gelasio"/>
              </a:rPr>
              <a:t>2</a:t>
            </a:r>
          </a:p>
        </p:txBody>
      </p:sp>
      <p:sp>
        <p:nvSpPr>
          <p:cNvPr id="4" name="kicker"/>
          <p:cNvSpPr/>
          <p:nvPr/>
        </p:nvSpPr>
        <p:spPr>
          <a:xfrm>
            <a:off x="1118890" y="548640"/>
            <a:ext cx="1052447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00">
                <a:solidFill>
                  <a:srgbClr val="1F5A6E"/>
                </a:solidFill>
                <a:latin typeface="Inter"/>
              </a:rPr>
              <a:t>CONSERVATION OUTCOMES</a:t>
            </a:r>
          </a:p>
        </p:txBody>
      </p:sp>
      <p:sp>
        <p:nvSpPr>
          <p:cNvPr id="5" name="title"/>
          <p:cNvSpPr/>
          <p:nvPr/>
        </p:nvSpPr>
        <p:spPr>
          <a:xfrm>
            <a:off x="1118890" y="746760"/>
            <a:ext cx="1052447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1F2723"/>
                </a:solidFill>
                <a:latin typeface="Gelasio"/>
              </a:rPr>
              <a:t>Six of nine priority species have grown since 2021; three that need</a:t>
            </a:r>
            <a:br/>
            <a:r>
              <a:rPr sz="2400" b="1" i="0">
                <a:solidFill>
                  <a:srgbClr val="1F2723"/>
                </a:solidFill>
                <a:latin typeface="Gelasio"/>
              </a:rPr>
              <a:t>rivers or old pinewood have fallen</a:t>
            </a:r>
          </a:p>
        </p:txBody>
      </p:sp>
      <p:sp>
        <p:nvSpPr>
          <p:cNvPr id="6" name="chart-cap"/>
          <p:cNvSpPr/>
          <p:nvPr/>
        </p:nvSpPr>
        <p:spPr>
          <a:xfrm>
            <a:off x="548640" y="1661160"/>
            <a:ext cx="7029319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58615B"/>
                </a:solidFill>
                <a:latin typeface="Inter"/>
              </a:rPr>
              <a:t>Change in each species' counted population since the 2021 count, %</a:t>
            </a:r>
          </a:p>
        </p:txBody>
      </p:sp>
      <p:graphicFrame>
        <p:nvGraphicFramePr>
          <p:cNvPr id="7" name="species"/>
          <p:cNvGraphicFramePr>
            <a:graphicFrameLocks noGrp="1"/>
          </p:cNvGraphicFramePr>
          <p:nvPr/>
        </p:nvGraphicFramePr>
        <p:xfrm>
          <a:off x="548640" y="1905000"/>
          <a:ext cx="7029319" cy="4000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panel-fill"/>
          <p:cNvSpPr/>
          <p:nvPr/>
        </p:nvSpPr>
        <p:spPr>
          <a:xfrm>
            <a:off x="7943719" y="1661160"/>
            <a:ext cx="3699641" cy="4244340"/>
          </a:xfrm>
          <a:prstGeom prst="rect">
            <a:avLst/>
          </a:prstGeom>
          <a:solidFill>
            <a:srgbClr val="EFEC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panel-h"/>
          <p:cNvSpPr/>
          <p:nvPr/>
        </p:nvSpPr>
        <p:spPr>
          <a:xfrm>
            <a:off x="8126599" y="1844040"/>
            <a:ext cx="3333881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1F2723"/>
                </a:solidFill>
                <a:latin typeface="Gelasio"/>
              </a:rPr>
              <a:t>Habitat restored this year</a:t>
            </a:r>
          </a:p>
        </p:txBody>
      </p:sp>
      <p:sp>
        <p:nvSpPr>
          <p:cNvPr id="10" name="hab"/>
          <p:cNvSpPr/>
          <p:nvPr/>
        </p:nvSpPr>
        <p:spPr>
          <a:xfrm>
            <a:off x="8126599" y="2145030"/>
            <a:ext cx="3333881" cy="1257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0" i="0">
                <a:solidFill>
                  <a:srgbClr val="1F2723"/>
                </a:solidFill>
                <a:latin typeface="Inter"/>
              </a:rPr>
              <a:t>We restored </a:t>
            </a:r>
            <a:r>
              <a:rPr sz="1200" b="1" i="0">
                <a:solidFill>
                  <a:srgbClr val="1F2723"/>
                </a:solidFill>
                <a:latin typeface="Inter"/>
              </a:rPr>
              <a:t>2,140 hectares</a:t>
            </a:r>
            <a:r>
              <a:rPr sz="1200" b="0" i="0">
                <a:solidFill>
                  <a:srgbClr val="1F2723"/>
                </a:solidFill>
                <a:latin typeface="Inter"/>
              </a:rPr>
              <a:t> against a target</a:t>
            </a:r>
            <a:br/>
            <a:r>
              <a:rPr sz="1200" b="0" i="0">
                <a:solidFill>
                  <a:srgbClr val="1F2723"/>
                </a:solidFill>
                <a:latin typeface="Inter"/>
              </a:rPr>
              <a:t>of 2,000:</a:t>
            </a:r>
          </a:p>
          <a:p>
            <a:pPr algn="l" marL="0" indent="0">
              <a:lnSpc>
                <a:spcPts val="15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0" i="0">
                <a:solidFill>
                  <a:srgbClr val="1F2723"/>
                </a:solidFill>
                <a:latin typeface="Inter"/>
              </a:rPr>
              <a:t>1,260 ha of peatland re-wetted</a:t>
            </a:r>
          </a:p>
          <a:p>
            <a:pPr algn="l" marL="0" indent="0">
              <a:lnSpc>
                <a:spcPts val="15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0" i="0">
                <a:solidFill>
                  <a:srgbClr val="1F2723"/>
                </a:solidFill>
                <a:latin typeface="Inter"/>
              </a:rPr>
              <a:t>540 ha of native woodland planted</a:t>
            </a:r>
          </a:p>
          <a:p>
            <a:pPr algn="l" marL="0" indent="0">
              <a:lnSpc>
                <a:spcPts val="15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0" i="0">
                <a:solidFill>
                  <a:srgbClr val="1F2723"/>
                </a:solidFill>
                <a:latin typeface="Inter"/>
              </a:rPr>
              <a:t>340 ha of wetland restored</a:t>
            </a:r>
          </a:p>
        </p:txBody>
      </p:sp>
      <p:sp>
        <p:nvSpPr>
          <p:cNvPr id="11" name="why"/>
          <p:cNvSpPr/>
          <p:nvPr/>
        </p:nvSpPr>
        <p:spPr>
          <a:xfrm>
            <a:off x="8126599" y="3493770"/>
            <a:ext cx="3333881" cy="1122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44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1F2723"/>
                </a:solidFill>
                <a:latin typeface="Inter"/>
              </a:rPr>
              <a:t>Why three species fell</a:t>
            </a:r>
          </a:p>
          <a:p>
            <a:pPr algn="l" marL="0" indent="0">
              <a:lnSpc>
                <a:spcPts val="15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0" i="0">
                <a:solidFill>
                  <a:srgbClr val="1F2723"/>
                </a:solidFill>
                <a:latin typeface="Inter"/>
              </a:rPr>
              <a:t>Salmon and pearl mussels need cool, clean</a:t>
            </a:r>
            <a:br/>
            <a:r>
              <a:rPr sz="1200" b="0" i="0">
                <a:solidFill>
                  <a:srgbClr val="1F2723"/>
                </a:solidFill>
                <a:latin typeface="Inter"/>
              </a:rPr>
              <a:t>rivers; warmer summers and silt from eroding</a:t>
            </a:r>
            <a:br/>
            <a:r>
              <a:rPr sz="1200" b="0" i="0">
                <a:solidFill>
                  <a:srgbClr val="1F2723"/>
                </a:solidFill>
                <a:latin typeface="Inter"/>
              </a:rPr>
              <a:t>banks harm both. Capercaillie are disturbed</a:t>
            </a:r>
            <a:br/>
            <a:r>
              <a:rPr sz="1200" b="0" i="0">
                <a:solidFill>
                  <a:srgbClr val="1F2723"/>
                </a:solidFill>
                <a:latin typeface="Inter"/>
              </a:rPr>
              <a:t>by walkers leaving the path in old pinewood.</a:t>
            </a:r>
          </a:p>
        </p:txBody>
      </p:sp>
      <p:sp>
        <p:nvSpPr>
          <p:cNvPr id="12" name="ha"/>
          <p:cNvSpPr/>
          <p:nvPr/>
        </p:nvSpPr>
        <p:spPr>
          <a:xfrm>
            <a:off x="8126599" y="4707890"/>
            <a:ext cx="3333881" cy="1295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58615B"/>
                </a:solidFill>
                <a:latin typeface="Inter"/>
              </a:rPr>
              <a:t>A hectare is a square 100 m by 100 m.</a:t>
            </a:r>
          </a:p>
        </p:txBody>
      </p:sp>
      <p:sp>
        <p:nvSpPr>
          <p:cNvPr id="13" name="source"/>
          <p:cNvSpPr/>
          <p:nvPr/>
        </p:nvSpPr>
        <p:spPr>
          <a:xfrm>
            <a:off x="548640" y="6179820"/>
            <a:ext cx="11094720" cy="1295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58615B"/>
                </a:solidFill>
                <a:latin typeface="Inter"/>
              </a:rPr>
              <a:t>Species are counted by rangers and volunteers each spring against the 2021 baseline count. Source: Brannoch National Parks Service records, April 2025 to March 2026. Illustrative figures for a fictional service.</a:t>
            </a:r>
          </a:p>
        </p:txBody>
      </p:sp>
      <p:sp>
        <p:nvSpPr>
          <p:cNvPr id="14" name="fallers-bracket"/>
          <p:cNvSpPr/>
          <p:nvPr/>
        </p:nvSpPr>
        <p:spPr>
          <a:xfrm>
            <a:off x="4293042" y="4611545"/>
            <a:ext cx="45720" cy="1147730"/>
          </a:xfrm>
          <a:prstGeom prst="rightBracket">
            <a:avLst/>
          </a:prstGeom>
          <a:noFill/>
          <a:ln w="15875">
            <a:solidFill>
              <a:srgbClr val="B456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allers-label"/>
          <p:cNvSpPr/>
          <p:nvPr/>
        </p:nvSpPr>
        <p:spPr>
          <a:xfrm>
            <a:off x="4521642" y="5025390"/>
            <a:ext cx="220135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B4561A"/>
                </a:solidFill>
                <a:latin typeface="Inter"/>
              </a:rPr>
              <a:t>Fell since 2021: next year's focus</a:t>
            </a:r>
            <a:br/>
            <a:r>
              <a:rPr sz="1050" b="1" i="0">
                <a:solidFill>
                  <a:srgbClr val="B4561A"/>
                </a:solidFill>
                <a:latin typeface="Inter"/>
              </a:rPr>
              <a:t>is their rivers and pinewood</a:t>
            </a:r>
          </a:p>
        </p:txBody>
      </p:sp>
    </p:spTree>
    <p:custDataLst>
      <p:tags r:id="rId3"/>
    </p:custData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14" name="chrome-1"/>
          <p:cNvCxnSpPr/>
          <p:nvPr/>
        </p:nvCxnSpPr>
        <p:spPr>
          <a:xfrm>
            <a:off x="548640" y="6423660"/>
            <a:ext cx="11094415" cy="0"/>
          </a:xfrm>
          <a:prstGeom prst="line">
            <a:avLst/>
          </a:prstGeom>
          <a:ln w="9525">
            <a:solidFill>
              <a:srgbClr val="CFCBBF"/>
            </a:solidFill>
          </a:ln>
        </p:spPr>
      </p:cxnSp>
      <p:sp>
        <p:nvSpPr>
          <p:cNvPr id="15" name="chrome-2"/>
          <p:cNvSpPr txBox="1"/>
          <p:nvPr/>
        </p:nvSpPr>
        <p:spPr>
          <a:xfrm>
            <a:off x="548640" y="6492240"/>
            <a:ext cx="6400800" cy="2286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sz="850" b="0">
                <a:solidFill>
                  <a:srgbClr val="58615B"/>
                </a:solidFill>
                <a:latin typeface="Inter"/>
              </a:rPr>
              <a:t>Brannoch National Parks Service  |  Annual Report 2025-26</a:t>
            </a:r>
          </a:p>
        </p:txBody>
      </p:sp>
      <p:sp>
        <p:nvSpPr>
          <p:cNvPr id="16" name="chrome-3"/>
          <p:cNvSpPr txBox="1"/>
          <p:nvPr/>
        </p:nvSpPr>
        <p:spPr>
          <a:xfrm>
            <a:off x="11185855" y="6492240"/>
            <a:ext cx="457200" cy="2286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fld id="{B6F15528-21DE-4FAA-801E-634DDDAF5B2F}" type="slidenum">
              <a:rPr sz="850">
                <a:solidFill>
                  <a:srgbClr val="58615B"/>
                </a:solidFill>
                <a:latin typeface="Inter"/>
              </a:rPr>
              <a:t>1</a:t>
            </a:fld>
          </a:p>
        </p:txBody>
      </p:sp>
      <p:sp>
        <p:nvSpPr>
          <p:cNvPr id="2" name="disc-fill"/>
          <p:cNvSpPr/>
          <p:nvPr/>
        </p:nvSpPr>
        <p:spPr>
          <a:xfrm>
            <a:off x="548640" y="548640"/>
            <a:ext cx="387370" cy="392430"/>
          </a:xfrm>
          <a:prstGeom prst="ellipse">
            <a:avLst/>
          </a:prstGeom>
          <a:solidFill>
            <a:srgbClr val="1F5A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disc-n"/>
          <p:cNvSpPr/>
          <p:nvPr/>
        </p:nvSpPr>
        <p:spPr>
          <a:xfrm>
            <a:off x="594360" y="640080"/>
            <a:ext cx="295930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Gelasio"/>
              </a:rPr>
              <a:t>3</a:t>
            </a:r>
          </a:p>
        </p:txBody>
      </p:sp>
      <p:sp>
        <p:nvSpPr>
          <p:cNvPr id="4" name="kicker"/>
          <p:cNvSpPr/>
          <p:nvPr/>
        </p:nvSpPr>
        <p:spPr>
          <a:xfrm>
            <a:off x="1118890" y="548640"/>
            <a:ext cx="1052447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00">
                <a:solidFill>
                  <a:srgbClr val="1F5A6E"/>
                </a:solidFill>
                <a:latin typeface="Inter"/>
              </a:rPr>
              <a:t>BUDGET AND WHERE IT GOES</a:t>
            </a:r>
          </a:p>
        </p:txBody>
      </p:sp>
      <p:sp>
        <p:nvSpPr>
          <p:cNvPr id="5" name="title"/>
          <p:cNvSpPr/>
          <p:nvPr/>
        </p:nvSpPr>
        <p:spPr>
          <a:xfrm>
            <a:off x="1118890" y="746760"/>
            <a:ext cx="1052447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1F2723"/>
                </a:solidFill>
                <a:latin typeface="Gelasio"/>
              </a:rPr>
              <a:t>Of every $100 we spent, $32 went to conservation and $10 to</a:t>
            </a:r>
            <a:br/>
            <a:r>
              <a:rPr sz="2400" b="1" i="0">
                <a:solidFill>
                  <a:srgbClr val="1F2723"/>
                </a:solidFill>
                <a:latin typeface="Gelasio"/>
              </a:rPr>
              <a:t>running the service</a:t>
            </a:r>
          </a:p>
        </p:txBody>
      </p:sp>
      <p:sp>
        <p:nvSpPr>
          <p:cNvPr id="6" name="lead"/>
          <p:cNvSpPr/>
          <p:nvPr/>
        </p:nvSpPr>
        <p:spPr>
          <a:xfrm>
            <a:off x="548640" y="1661160"/>
            <a:ext cx="1109472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0" i="0">
                <a:solidFill>
                  <a:srgbClr val="1F2723"/>
                </a:solidFill>
                <a:latin typeface="Inter"/>
              </a:rPr>
              <a:t>We received $148.3m, 5.3% more than last year, and spent $145.1m. The $3.2m left over is set aside for repairs. The government grant paid 65% of our</a:t>
            </a:r>
            <a:br/>
            <a:r>
              <a:rPr sz="1200" b="0" i="0">
                <a:solidFill>
                  <a:srgbClr val="1F2723"/>
                </a:solidFill>
                <a:latin typeface="Inter"/>
              </a:rPr>
              <a:t>income; visitors, shops, donors and trusts gave the other $51.9m.</a:t>
            </a:r>
          </a:p>
        </p:txBody>
      </p:sp>
      <p:sp>
        <p:nvSpPr>
          <p:cNvPr id="7" name="chart-h"/>
          <p:cNvSpPr/>
          <p:nvPr/>
        </p:nvSpPr>
        <p:spPr>
          <a:xfrm>
            <a:off x="548640" y="2392680"/>
            <a:ext cx="6349793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1F2723"/>
                </a:solidFill>
                <a:latin typeface="Gelasio"/>
              </a:rPr>
              <a:t>Where each $100 went</a:t>
            </a:r>
          </a:p>
        </p:txBody>
      </p:sp>
      <p:sp>
        <p:nvSpPr>
          <p:cNvPr id="8" name="chart-cap"/>
          <p:cNvSpPr/>
          <p:nvPr/>
        </p:nvSpPr>
        <p:spPr>
          <a:xfrm>
            <a:off x="548640" y="2693670"/>
            <a:ext cx="6349793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58615B"/>
                </a:solidFill>
                <a:latin typeface="Inter"/>
              </a:rPr>
              <a:t>Dollars of every $100 spent in 2025-26; the area's spending in $m after its name</a:t>
            </a:r>
          </a:p>
        </p:txBody>
      </p:sp>
      <p:graphicFrame>
        <p:nvGraphicFramePr>
          <p:cNvPr id="9" name="spend"/>
          <p:cNvGraphicFramePr>
            <a:graphicFrameLocks noGrp="1"/>
          </p:cNvGraphicFramePr>
          <p:nvPr/>
        </p:nvGraphicFramePr>
        <p:xfrm>
          <a:off x="548640" y="2937510"/>
          <a:ext cx="6349793" cy="296799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ab-h"/>
          <p:cNvSpPr/>
          <p:nvPr/>
        </p:nvSpPr>
        <p:spPr>
          <a:xfrm>
            <a:off x="7264193" y="2392680"/>
            <a:ext cx="4379167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1F2723"/>
                </a:solidFill>
                <a:latin typeface="Gelasio"/>
              </a:rPr>
              <a:t>Where the money came from</a:t>
            </a:r>
          </a:p>
        </p:txBody>
      </p:sp>
      <p:sp>
        <p:nvSpPr>
          <p:cNvPr id="11" name="tab-cap"/>
          <p:cNvSpPr/>
          <p:nvPr/>
        </p:nvSpPr>
        <p:spPr>
          <a:xfrm>
            <a:off x="7264193" y="2693670"/>
            <a:ext cx="4379167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58615B"/>
                </a:solidFill>
                <a:latin typeface="Inter"/>
              </a:rPr>
              <a:t>Income, $m</a:t>
            </a:r>
          </a:p>
        </p:txBody>
      </p:sp>
      <p:graphicFrame>
        <p:nvGraphicFramePr>
          <p:cNvPr id="12" name="income"/>
          <p:cNvGraphicFramePr>
            <a:graphicFrameLocks noGrp="1"/>
          </p:cNvGraphicFramePr>
          <p:nvPr/>
        </p:nvGraphicFramePr>
        <p:xfrm>
          <a:off x="7264193" y="2937510"/>
          <a:ext cx="4379167" cy="2392934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627500"/>
                <a:gridCol w="875833"/>
                <a:gridCol w="875834"/>
              </a:tblGrid>
              <a:tr h="335534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2723"/>
                          </a:solidFill>
                          <a:latin typeface="Inter"/>
                        </a:rPr>
                        <a:t>Source</a:t>
                      </a:r>
                      <a:endParaRPr sz="1000" b="1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F2723"/>
                          </a:solidFill>
                          <a:latin typeface="Inter"/>
                        </a:rPr>
                        <a:t>2024-25</a:t>
                      </a:r>
                      <a:endParaRPr sz="1000" b="1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F2723"/>
                          </a:solidFill>
                          <a:latin typeface="Inter"/>
                        </a:rPr>
                        <a:t>2025-26</a:t>
                      </a:r>
                      <a:endParaRPr sz="1000" b="1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723"/>
                          </a:solidFill>
                          <a:latin typeface="Inter"/>
                        </a:rPr>
                        <a:t>Government grant</a:t>
                      </a:r>
                      <a:endParaRPr sz="1050" b="0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Inter"/>
                        </a:rPr>
                        <a:t>94.0</a:t>
                      </a:r>
                      <a:endParaRPr sz="1050" b="0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Inter"/>
                        </a:rPr>
                        <a:t>96.4</a:t>
                      </a:r>
                      <a:endParaRPr sz="1050" b="0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723"/>
                          </a:solidFill>
                          <a:latin typeface="Inter"/>
                        </a:rPr>
                        <a:t>Parking, camping and permits</a:t>
                      </a:r>
                      <a:endParaRPr sz="1050" b="0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Inter"/>
                        </a:rPr>
                        <a:t>25.9</a:t>
                      </a:r>
                      <a:endParaRPr sz="1050" b="0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Inter"/>
                        </a:rPr>
                        <a:t>28.7</a:t>
                      </a:r>
                      <a:endParaRPr sz="1050" b="0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723"/>
                          </a:solidFill>
                          <a:latin typeface="Inter"/>
                        </a:rPr>
                        <a:t>Shops, cafes and leases</a:t>
                      </a:r>
                      <a:endParaRPr sz="1050" b="0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Inter"/>
                        </a:rPr>
                        <a:t>10.6</a:t>
                      </a:r>
                      <a:endParaRPr sz="1050" b="0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Inter"/>
                        </a:rPr>
                        <a:t>11.2</a:t>
                      </a:r>
                      <a:endParaRPr sz="1050" b="0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723"/>
                          </a:solidFill>
                          <a:latin typeface="Inter"/>
                        </a:rPr>
                        <a:t>Donations and legacies</a:t>
                      </a:r>
                      <a:endParaRPr sz="1050" b="0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Inter"/>
                        </a:rPr>
                        <a:t>6.8</a:t>
                      </a:r>
                      <a:endParaRPr sz="1050" b="0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Inter"/>
                        </a:rPr>
                        <a:t>7.9</a:t>
                      </a:r>
                      <a:endParaRPr sz="1050" b="0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723"/>
                          </a:solidFill>
                          <a:latin typeface="Inter"/>
                        </a:rPr>
                        <a:t>Grants from trusts</a:t>
                      </a:r>
                      <a:endParaRPr sz="1050" b="0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Inter"/>
                        </a:rPr>
                        <a:t>3.5</a:t>
                      </a:r>
                      <a:endParaRPr sz="1050" b="0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Inter"/>
                        </a:rPr>
                        <a:t>4.1</a:t>
                      </a:r>
                      <a:endParaRPr sz="1050" b="0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2723"/>
                          </a:solidFill>
                          <a:latin typeface="Inter"/>
                        </a:rPr>
                        <a:t>Total income</a:t>
                      </a:r>
                      <a:endParaRPr sz="1050" b="1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9525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1F2723"/>
                          </a:solidFill>
                          <a:latin typeface="Inter"/>
                        </a:rPr>
                        <a:t>140.8</a:t>
                      </a:r>
                      <a:endParaRPr sz="1050" b="1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9525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1F2723"/>
                          </a:solidFill>
                          <a:latin typeface="Inter"/>
                        </a:rPr>
                        <a:t>148.3</a:t>
                      </a:r>
                      <a:endParaRPr sz="1050" b="1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9525">
                      <a:solidFill>
                        <a:srgbClr val="1F5A6E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3" name="source"/>
          <p:cNvSpPr/>
          <p:nvPr/>
        </p:nvSpPr>
        <p:spPr>
          <a:xfrm>
            <a:off x="548640" y="6179820"/>
            <a:ext cx="11094720" cy="1295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58615B"/>
                </a:solidFill>
                <a:latin typeface="Inter"/>
              </a:rPr>
              <a:t>Spending shares are rounded so that they add to $100. Source: Brannoch National Parks Service records, April 2025 to March 2026. Illustrative figures for a fictional service.</a:t>
            </a:r>
          </a:p>
        </p:txBody>
      </p:sp>
    </p:spTree>
    <p:custDataLst>
      <p:tags r:id="rId3"/>
    </p:custDataLst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4" name="chrome-1"/>
          <p:cNvCxnSpPr/>
          <p:nvPr/>
        </p:nvCxnSpPr>
        <p:spPr>
          <a:xfrm>
            <a:off x="548640" y="6423660"/>
            <a:ext cx="11094415" cy="0"/>
          </a:xfrm>
          <a:prstGeom prst="line">
            <a:avLst/>
          </a:prstGeom>
          <a:ln w="9525">
            <a:solidFill>
              <a:srgbClr val="CFCBBF"/>
            </a:solidFill>
          </a:ln>
        </p:spPr>
      </p:cxnSp>
      <p:sp>
        <p:nvSpPr>
          <p:cNvPr id="25" name="chrome-2"/>
          <p:cNvSpPr txBox="1"/>
          <p:nvPr/>
        </p:nvSpPr>
        <p:spPr>
          <a:xfrm>
            <a:off x="548640" y="6492240"/>
            <a:ext cx="6400800" cy="2286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sz="850" b="0">
                <a:solidFill>
                  <a:srgbClr val="58615B"/>
                </a:solidFill>
                <a:latin typeface="Inter"/>
              </a:rPr>
              <a:t>Brannoch National Parks Service  |  Annual Report 2025-26</a:t>
            </a:r>
          </a:p>
        </p:txBody>
      </p:sp>
      <p:sp>
        <p:nvSpPr>
          <p:cNvPr id="26" name="chrome-3"/>
          <p:cNvSpPr txBox="1"/>
          <p:nvPr/>
        </p:nvSpPr>
        <p:spPr>
          <a:xfrm>
            <a:off x="11185855" y="6492240"/>
            <a:ext cx="457200" cy="2286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fld id="{B6F15528-21DE-4FAA-801E-634DDDAF5B2F}" type="slidenum">
              <a:rPr sz="850">
                <a:solidFill>
                  <a:srgbClr val="58615B"/>
                </a:solidFill>
                <a:latin typeface="Inter"/>
              </a:rPr>
              <a:t>1</a:t>
            </a:fld>
          </a:p>
        </p:txBody>
      </p:sp>
      <p:sp>
        <p:nvSpPr>
          <p:cNvPr id="2" name="disc-fill"/>
          <p:cNvSpPr/>
          <p:nvPr/>
        </p:nvSpPr>
        <p:spPr>
          <a:xfrm>
            <a:off x="548640" y="548640"/>
            <a:ext cx="387370" cy="392430"/>
          </a:xfrm>
          <a:prstGeom prst="ellipse">
            <a:avLst/>
          </a:prstGeom>
          <a:solidFill>
            <a:srgbClr val="1F5A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disc-n"/>
          <p:cNvSpPr/>
          <p:nvPr/>
        </p:nvSpPr>
        <p:spPr>
          <a:xfrm>
            <a:off x="594360" y="640080"/>
            <a:ext cx="295930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Gelasio"/>
              </a:rPr>
              <a:t>4</a:t>
            </a:r>
          </a:p>
        </p:txBody>
      </p:sp>
      <p:sp>
        <p:nvSpPr>
          <p:cNvPr id="4" name="kicker"/>
          <p:cNvSpPr/>
          <p:nvPr/>
        </p:nvSpPr>
        <p:spPr>
          <a:xfrm>
            <a:off x="1118890" y="548640"/>
            <a:ext cx="1052447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00">
                <a:solidFill>
                  <a:srgbClr val="1F5A6E"/>
                </a:solidFill>
                <a:latin typeface="Inter"/>
              </a:rPr>
              <a:t>VOLUNTEER PROGRAMME</a:t>
            </a:r>
          </a:p>
        </p:txBody>
      </p:sp>
      <p:sp>
        <p:nvSpPr>
          <p:cNvPr id="5" name="title"/>
          <p:cNvSpPr/>
          <p:nvPr/>
        </p:nvSpPr>
        <p:spPr>
          <a:xfrm>
            <a:off x="1118890" y="746760"/>
            <a:ext cx="1052447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1F2723"/>
                </a:solidFill>
                <a:latin typeface="Gelasio"/>
              </a:rPr>
              <a:t>Volunteers gave 192,000 hours this year, up 63% in four years</a:t>
            </a:r>
          </a:p>
        </p:txBody>
      </p:sp>
      <p:sp>
        <p:nvSpPr>
          <p:cNvPr id="6" name="chart-cap"/>
          <p:cNvSpPr/>
          <p:nvPr/>
        </p:nvSpPr>
        <p:spPr>
          <a:xfrm>
            <a:off x="548640" y="1341120"/>
            <a:ext cx="715264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58615B"/>
                </a:solidFill>
                <a:latin typeface="Inter"/>
              </a:rPr>
              <a:t>Volunteer hours each year, with the number of volunteers under each year</a:t>
            </a:r>
          </a:p>
        </p:txBody>
      </p:sp>
      <p:graphicFrame>
        <p:nvGraphicFramePr>
          <p:cNvPr id="7" name="hours"/>
          <p:cNvGraphicFramePr>
            <a:graphicFrameLocks noGrp="1"/>
          </p:cNvGraphicFramePr>
          <p:nvPr/>
        </p:nvGraphicFramePr>
        <p:xfrm>
          <a:off x="548640" y="1584960"/>
          <a:ext cx="7152640" cy="320167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worth-h"/>
          <p:cNvSpPr/>
          <p:nvPr/>
        </p:nvSpPr>
        <p:spPr>
          <a:xfrm>
            <a:off x="8067040" y="1341120"/>
            <a:ext cx="3576320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1F2723"/>
                </a:solidFill>
                <a:latin typeface="Gelasio"/>
              </a:rPr>
              <a:t>What the work is worth</a:t>
            </a:r>
          </a:p>
        </p:txBody>
      </p:sp>
      <p:sp>
        <p:nvSpPr>
          <p:cNvPr id="9" name="worth"/>
          <p:cNvSpPr/>
          <p:nvPr/>
        </p:nvSpPr>
        <p:spPr>
          <a:xfrm>
            <a:off x="8067040" y="1642110"/>
            <a:ext cx="3576320" cy="1104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0" i="0">
                <a:solidFill>
                  <a:srgbClr val="1F2723"/>
                </a:solidFill>
                <a:latin typeface="Inter"/>
              </a:rPr>
              <a:t>At $24.50 an hour, this year's hours are worth</a:t>
            </a:r>
            <a:br/>
            <a:r>
              <a:rPr sz="1200" b="0" i="0">
                <a:solidFill>
                  <a:srgbClr val="1F2723"/>
                </a:solidFill>
                <a:latin typeface="Inter"/>
              </a:rPr>
              <a:t>$4.70m: $1.18 of work for every $1 the</a:t>
            </a:r>
            <a:br/>
            <a:r>
              <a:rPr sz="1200" b="0" i="0">
                <a:solidFill>
                  <a:srgbClr val="1F2723"/>
                </a:solidFill>
                <a:latin typeface="Inter"/>
              </a:rPr>
              <a:t>programme cost us ($4.0m).</a:t>
            </a:r>
          </a:p>
          <a:p>
            <a:pPr algn="l" marL="0" indent="0">
              <a:lnSpc>
                <a:spcPts val="15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0" i="0">
                <a:solidFill>
                  <a:srgbClr val="1F2723"/>
                </a:solidFill>
                <a:latin typeface="Inter"/>
              </a:rPr>
              <a:t>That is the work of 116 full-time staff, given by</a:t>
            </a:r>
            <a:br/>
            <a:r>
              <a:rPr sz="1200" b="0" i="0">
                <a:solidFill>
                  <a:srgbClr val="1F2723"/>
                </a:solidFill>
                <a:latin typeface="Inter"/>
              </a:rPr>
              <a:t>4,760 people.</a:t>
            </a:r>
          </a:p>
        </p:txBody>
      </p:sp>
      <p:sp>
        <p:nvSpPr>
          <p:cNvPr id="10" name="worth-n"/>
          <p:cNvSpPr/>
          <p:nvPr/>
        </p:nvSpPr>
        <p:spPr>
          <a:xfrm>
            <a:off x="8067040" y="2838450"/>
            <a:ext cx="357632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58615B"/>
                </a:solidFill>
                <a:latin typeface="Inter"/>
              </a:rPr>
              <a:t>$24.50 is the average hourly cost of a seasonal ranger; a full-time</a:t>
            </a:r>
            <a:br/>
            <a:r>
              <a:rPr sz="850" b="0" i="0">
                <a:solidFill>
                  <a:srgbClr val="58615B"/>
                </a:solidFill>
                <a:latin typeface="Inter"/>
              </a:rPr>
              <a:t>year is 1,650 hours.</a:t>
            </a:r>
          </a:p>
        </p:txBody>
      </p:sp>
      <p:sp>
        <p:nvSpPr>
          <p:cNvPr id="11" name="acts-h"/>
          <p:cNvSpPr/>
          <p:nvPr/>
        </p:nvSpPr>
        <p:spPr>
          <a:xfrm>
            <a:off x="548640" y="5060950"/>
            <a:ext cx="11094720" cy="284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44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1F2723"/>
                </a:solidFill>
                <a:latin typeface="Inter"/>
              </a:rPr>
              <a:t>What volunteers did in 2025-26</a:t>
            </a:r>
          </a:p>
        </p:txBody>
      </p:sp>
      <p:sp>
        <p:nvSpPr>
          <p:cNvPr id="12" name="act0"/>
          <p:cNvSpPr/>
          <p:nvPr/>
        </p:nvSpPr>
        <p:spPr>
          <a:xfrm>
            <a:off x="548640" y="5391150"/>
            <a:ext cx="2072640" cy="5143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1F2723"/>
                </a:solidFill>
                <a:latin typeface="Gelasio"/>
              </a:rPr>
              <a:t>74,000</a:t>
            </a:r>
          </a:p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58615B"/>
                </a:solidFill>
                <a:latin typeface="Inter"/>
              </a:rPr>
              <a:t>hours of habitat work</a:t>
            </a:r>
          </a:p>
        </p:txBody>
      </p:sp>
      <p:sp>
        <p:nvSpPr>
          <p:cNvPr id="13" name="act1"/>
          <p:cNvSpPr/>
          <p:nvPr/>
        </p:nvSpPr>
        <p:spPr>
          <a:xfrm>
            <a:off x="2804160" y="5391150"/>
            <a:ext cx="2072640" cy="5143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1F2723"/>
                </a:solidFill>
                <a:latin typeface="Gelasio"/>
              </a:rPr>
              <a:t>48,000</a:t>
            </a:r>
          </a:p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58615B"/>
                </a:solidFill>
                <a:latin typeface="Inter"/>
              </a:rPr>
              <a:t>hours repairing trails</a:t>
            </a:r>
          </a:p>
        </p:txBody>
      </p:sp>
      <p:sp>
        <p:nvSpPr>
          <p:cNvPr id="14" name="act2"/>
          <p:cNvSpPr/>
          <p:nvPr/>
        </p:nvSpPr>
        <p:spPr>
          <a:xfrm>
            <a:off x="5059680" y="5391150"/>
            <a:ext cx="2072640" cy="5143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1F2723"/>
                </a:solidFill>
                <a:latin typeface="Gelasio"/>
              </a:rPr>
              <a:t>39,000</a:t>
            </a:r>
          </a:p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58615B"/>
                </a:solidFill>
                <a:latin typeface="Inter"/>
              </a:rPr>
              <a:t>hours welcoming and guiding</a:t>
            </a:r>
            <a:br/>
            <a:r>
              <a:rPr sz="1000" b="0" i="0">
                <a:solidFill>
                  <a:srgbClr val="58615B"/>
                </a:solidFill>
                <a:latin typeface="Inter"/>
              </a:rPr>
              <a:t>visitors</a:t>
            </a:r>
          </a:p>
        </p:txBody>
      </p:sp>
      <p:sp>
        <p:nvSpPr>
          <p:cNvPr id="15" name="act3"/>
          <p:cNvSpPr/>
          <p:nvPr/>
        </p:nvSpPr>
        <p:spPr>
          <a:xfrm>
            <a:off x="7315200" y="5391150"/>
            <a:ext cx="2072640" cy="5143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1F2723"/>
                </a:solidFill>
                <a:latin typeface="Gelasio"/>
              </a:rPr>
              <a:t>21,000</a:t>
            </a:r>
          </a:p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58615B"/>
                </a:solidFill>
                <a:latin typeface="Inter"/>
              </a:rPr>
              <a:t>hours of wildlife surveys</a:t>
            </a:r>
          </a:p>
        </p:txBody>
      </p:sp>
      <p:sp>
        <p:nvSpPr>
          <p:cNvPr id="16" name="act4"/>
          <p:cNvSpPr/>
          <p:nvPr/>
        </p:nvSpPr>
        <p:spPr>
          <a:xfrm>
            <a:off x="9570720" y="5391150"/>
            <a:ext cx="2072640" cy="5143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1F2723"/>
                </a:solidFill>
                <a:latin typeface="Gelasio"/>
              </a:rPr>
              <a:t>10,000</a:t>
            </a:r>
          </a:p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58615B"/>
                </a:solidFill>
                <a:latin typeface="Inter"/>
              </a:rPr>
              <a:t>hours of litter clean-ups</a:t>
            </a:r>
          </a:p>
        </p:txBody>
      </p:sp>
      <p:sp>
        <p:nvSpPr>
          <p:cNvPr id="17" name="source"/>
          <p:cNvSpPr/>
          <p:nvPr/>
        </p:nvSpPr>
        <p:spPr>
          <a:xfrm>
            <a:off x="548640" y="6179820"/>
            <a:ext cx="11094720" cy="1295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58615B"/>
                </a:solidFill>
                <a:latin typeface="Inter"/>
              </a:rPr>
              <a:t>Hours are logged by volunteers and checked by their team leaders. Source: Brannoch National Parks Service records, April 2025 to March 2026. Illustrative figures for a fictional service.</a:t>
            </a:r>
          </a:p>
        </p:txBody>
      </p:sp>
      <p:sp>
        <p:nvSpPr>
          <p:cNvPr id="18" name="vols-0-text"/>
          <p:cNvSpPr/>
          <p:nvPr/>
        </p:nvSpPr>
        <p:spPr>
          <a:xfrm>
            <a:off x="1879081" y="4323029"/>
            <a:ext cx="429058" cy="1600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5A6E"/>
                </a:solidFill>
                <a:latin typeface="Inter"/>
              </a:rPr>
              <a:t>2,950</a:t>
            </a:r>
          </a:p>
        </p:txBody>
      </p:sp>
      <p:sp>
        <p:nvSpPr>
          <p:cNvPr id="19" name="vols-1-text"/>
          <p:cNvSpPr/>
          <p:nvPr/>
        </p:nvSpPr>
        <p:spPr>
          <a:xfrm>
            <a:off x="3123465" y="4323029"/>
            <a:ext cx="400799" cy="1600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5A6E"/>
                </a:solidFill>
                <a:latin typeface="Inter"/>
              </a:rPr>
              <a:t>3,410</a:t>
            </a:r>
          </a:p>
        </p:txBody>
      </p:sp>
      <p:sp>
        <p:nvSpPr>
          <p:cNvPr id="20" name="vols-2-text"/>
          <p:cNvSpPr/>
          <p:nvPr/>
        </p:nvSpPr>
        <p:spPr>
          <a:xfrm>
            <a:off x="4340110" y="4323029"/>
            <a:ext cx="428016" cy="1600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5A6E"/>
                </a:solidFill>
                <a:latin typeface="Inter"/>
              </a:rPr>
              <a:t>3,880</a:t>
            </a:r>
          </a:p>
        </p:txBody>
      </p:sp>
      <p:sp>
        <p:nvSpPr>
          <p:cNvPr id="21" name="vols-3-text"/>
          <p:cNvSpPr/>
          <p:nvPr/>
        </p:nvSpPr>
        <p:spPr>
          <a:xfrm>
            <a:off x="5570559" y="4323029"/>
            <a:ext cx="427626" cy="1600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5A6E"/>
                </a:solidFill>
                <a:latin typeface="Inter"/>
              </a:rPr>
              <a:t>4,320</a:t>
            </a:r>
          </a:p>
        </p:txBody>
      </p:sp>
      <p:sp>
        <p:nvSpPr>
          <p:cNvPr id="22" name="vols-4-text"/>
          <p:cNvSpPr/>
          <p:nvPr/>
        </p:nvSpPr>
        <p:spPr>
          <a:xfrm>
            <a:off x="6804981" y="4323029"/>
            <a:ext cx="419291" cy="1600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5A6E"/>
                </a:solidFill>
                <a:latin typeface="Inter"/>
              </a:rPr>
              <a:t>4,760</a:t>
            </a:r>
          </a:p>
        </p:txBody>
      </p:sp>
      <p:sp>
        <p:nvSpPr>
          <p:cNvPr id="23" name="vols-label"/>
          <p:cNvSpPr/>
          <p:nvPr/>
        </p:nvSpPr>
        <p:spPr>
          <a:xfrm>
            <a:off x="796566" y="4326839"/>
            <a:ext cx="681917" cy="152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58615B"/>
                </a:solidFill>
                <a:latin typeface="Inter"/>
              </a:rPr>
              <a:t>Volunteers</a:t>
            </a:r>
          </a:p>
        </p:txBody>
      </p:sp>
    </p:spTree>
    <p:custDataLst>
      <p:tags r:id="rId3"/>
    </p:custData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9" name="chrome-1"/>
          <p:cNvCxnSpPr/>
          <p:nvPr/>
        </p:nvCxnSpPr>
        <p:spPr>
          <a:xfrm>
            <a:off x="548640" y="6423660"/>
            <a:ext cx="11094415" cy="0"/>
          </a:xfrm>
          <a:prstGeom prst="line">
            <a:avLst/>
          </a:prstGeom>
          <a:ln w="9525">
            <a:solidFill>
              <a:srgbClr val="CFCBBF"/>
            </a:solidFill>
          </a:ln>
        </p:spPr>
      </p:cxnSp>
      <p:sp>
        <p:nvSpPr>
          <p:cNvPr id="10" name="chrome-2"/>
          <p:cNvSpPr txBox="1"/>
          <p:nvPr/>
        </p:nvSpPr>
        <p:spPr>
          <a:xfrm>
            <a:off x="548640" y="6492240"/>
            <a:ext cx="6400800" cy="2286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sz="850" b="0">
                <a:solidFill>
                  <a:srgbClr val="58615B"/>
                </a:solidFill>
                <a:latin typeface="Inter"/>
              </a:rPr>
              <a:t>Brannoch National Parks Service  |  Annual Report 2025-26</a:t>
            </a:r>
          </a:p>
        </p:txBody>
      </p:sp>
      <p:sp>
        <p:nvSpPr>
          <p:cNvPr id="11" name="chrome-3"/>
          <p:cNvSpPr txBox="1"/>
          <p:nvPr/>
        </p:nvSpPr>
        <p:spPr>
          <a:xfrm>
            <a:off x="11185855" y="6492240"/>
            <a:ext cx="457200" cy="2286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fld id="{B6F15528-21DE-4FAA-801E-634DDDAF5B2F}" type="slidenum">
              <a:rPr sz="850">
                <a:solidFill>
                  <a:srgbClr val="58615B"/>
                </a:solidFill>
                <a:latin typeface="Inter"/>
              </a:rPr>
              <a:t>1</a:t>
            </a:fld>
          </a:p>
        </p:txBody>
      </p:sp>
      <p:sp>
        <p:nvSpPr>
          <p:cNvPr id="2" name="disc-fill"/>
          <p:cNvSpPr/>
          <p:nvPr/>
        </p:nvSpPr>
        <p:spPr>
          <a:xfrm>
            <a:off x="548640" y="548640"/>
            <a:ext cx="387370" cy="392430"/>
          </a:xfrm>
          <a:prstGeom prst="ellipse">
            <a:avLst/>
          </a:prstGeom>
          <a:solidFill>
            <a:srgbClr val="1F5A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disc-n"/>
          <p:cNvSpPr/>
          <p:nvPr/>
        </p:nvSpPr>
        <p:spPr>
          <a:xfrm>
            <a:off x="594360" y="640080"/>
            <a:ext cx="295930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Gelasio"/>
              </a:rPr>
              <a:t>5</a:t>
            </a:r>
          </a:p>
        </p:txBody>
      </p:sp>
      <p:sp>
        <p:nvSpPr>
          <p:cNvPr id="4" name="kicker"/>
          <p:cNvSpPr/>
          <p:nvPr/>
        </p:nvSpPr>
        <p:spPr>
          <a:xfrm>
            <a:off x="1118890" y="548640"/>
            <a:ext cx="1052447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00">
                <a:solidFill>
                  <a:srgbClr val="1F5A6E"/>
                </a:solidFill>
                <a:latin typeface="Inter"/>
              </a:rPr>
              <a:t>PRIORITIES FOR NEXT YEAR</a:t>
            </a:r>
          </a:p>
        </p:txBody>
      </p:sp>
      <p:sp>
        <p:nvSpPr>
          <p:cNvPr id="5" name="title"/>
          <p:cNvSpPr/>
          <p:nvPr/>
        </p:nvSpPr>
        <p:spPr>
          <a:xfrm>
            <a:off x="1118890" y="746760"/>
            <a:ext cx="1052447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1F2723"/>
                </a:solidFill>
                <a:latin typeface="Gelasio"/>
              </a:rPr>
              <a:t>Five commitments for 2026-27, costing $13.6m, each with a</a:t>
            </a:r>
            <a:br/>
            <a:r>
              <a:rPr sz="2400" b="1" i="0">
                <a:solidFill>
                  <a:srgbClr val="1F2723"/>
                </a:solidFill>
                <a:latin typeface="Gelasio"/>
              </a:rPr>
              <a:t>measure we will report next year</a:t>
            </a:r>
          </a:p>
        </p:txBody>
      </p:sp>
      <p:sp>
        <p:nvSpPr>
          <p:cNvPr id="6" name="lead"/>
          <p:cNvSpPr/>
          <p:nvPr/>
        </p:nvSpPr>
        <p:spPr>
          <a:xfrm>
            <a:off x="548640" y="1831255"/>
            <a:ext cx="1109472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0" i="0">
                <a:solidFill>
                  <a:srgbClr val="1F2723"/>
                </a:solidFill>
                <a:latin typeface="Inter"/>
              </a:rPr>
              <a:t>Each commitment answers a finding on the pages before. Hold us to the measures: next year's report will say whether we met each one.</a:t>
            </a:r>
          </a:p>
        </p:txBody>
      </p:sp>
      <p:graphicFrame>
        <p:nvGraphicFramePr>
          <p:cNvPr id="7" name="prio"/>
          <p:cNvGraphicFramePr>
            <a:graphicFrameLocks noGrp="1"/>
          </p:cNvGraphicFramePr>
          <p:nvPr/>
        </p:nvGraphicFramePr>
        <p:xfrm>
          <a:off x="548640" y="2542371"/>
          <a:ext cx="11094720" cy="3193034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107997"/>
                <a:gridCol w="4326941"/>
                <a:gridCol w="3328416"/>
                <a:gridCol w="1331366"/>
              </a:tblGrid>
              <a:tr h="335534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2723"/>
                          </a:solidFill>
                          <a:latin typeface="Inter"/>
                        </a:rPr>
                        <a:t>Commitment</a:t>
                      </a:r>
                      <a:endParaRPr sz="1000" b="1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2723"/>
                          </a:solidFill>
                          <a:latin typeface="Inter"/>
                        </a:rPr>
                        <a:t>What we will do</a:t>
                      </a:r>
                      <a:endParaRPr sz="1000" b="1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2723"/>
                          </a:solidFill>
                          <a:latin typeface="Inter"/>
                        </a:rPr>
                        <a:t>How you will know, by March 2027</a:t>
                      </a:r>
                      <a:endParaRPr sz="1000" b="1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F2723"/>
                          </a:solidFill>
                          <a:latin typeface="Inter"/>
                        </a:rPr>
                        <a:t>Budget ($m)</a:t>
                      </a:r>
                      <a:endParaRPr sz="1000" b="1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2723"/>
                          </a:solidFill>
                          <a:latin typeface="Inter"/>
                        </a:rPr>
                        <a:t>1  Healthier rivers</a:t>
                      </a:r>
                      <a:endParaRPr sz="1050" b="1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723"/>
                          </a:solidFill>
                          <a:latin typeface="Inter"/>
                        </a:rPr>
                        <a:t>Replant 18 km of riverbank with native trees and fence it from grazing, to cool and clean the water for salmon and mussels</a:t>
                      </a:r>
                      <a:endParaRPr sz="1050" b="0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2723"/>
                          </a:solidFill>
                          <a:latin typeface="Inter"/>
                        </a:rPr>
                        <a:t>18 km planted; silt and summer water temperature measured at 12 river sites</a:t>
                      </a:r>
                      <a:endParaRPr sz="1050" b="1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Inter"/>
                        </a:rPr>
                        <a:t>3.4</a:t>
                      </a:r>
                      <a:endParaRPr sz="1050" b="0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2723"/>
                          </a:solidFill>
                          <a:latin typeface="Inter"/>
                        </a:rPr>
                        <a:t>2  Getting here without a car</a:t>
                      </a:r>
                      <a:endParaRPr sz="1050" b="1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723"/>
                          </a:solidFill>
                          <a:latin typeface="Inter"/>
                        </a:rPr>
                        <a:t>Run three new shuttle routes from rail stations and towns, with one ticket for the bus and entry</a:t>
                      </a:r>
                      <a:endParaRPr sz="1050" b="0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2723"/>
                          </a:solidFill>
                          <a:latin typeface="Inter"/>
                        </a:rPr>
                        <a:t>30% of visits by bus, shuttle or train, up from 25%</a:t>
                      </a:r>
                      <a:endParaRPr sz="1050" b="1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Inter"/>
                        </a:rPr>
                        <a:t>2.6</a:t>
                      </a:r>
                      <a:endParaRPr sz="1050" b="0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2723"/>
                          </a:solidFill>
                          <a:latin typeface="Inter"/>
                        </a:rPr>
                        <a:t>3  Step-free trails</a:t>
                      </a:r>
                      <a:endParaRPr sz="1050" b="1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723"/>
                          </a:solidFill>
                          <a:latin typeface="Inter"/>
                        </a:rPr>
                        <a:t>Resurface and widen trails so wheelchairs, buggies and walking frames can use them</a:t>
                      </a:r>
                      <a:endParaRPr sz="1050" b="0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2723"/>
                          </a:solidFill>
                          <a:latin typeface="Inter"/>
                        </a:rPr>
                        <a:t>281 km of step-free trail, up from 241 km</a:t>
                      </a:r>
                      <a:endParaRPr sz="1050" b="1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Inter"/>
                        </a:rPr>
                        <a:t>1.9</a:t>
                      </a:r>
                      <a:endParaRPr sz="1050" b="0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2723"/>
                          </a:solidFill>
                          <a:latin typeface="Inter"/>
                        </a:rPr>
                        <a:t>4  Repairs we have put off</a:t>
                      </a:r>
                      <a:endParaRPr sz="1050" b="1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723"/>
                          </a:solidFill>
                          <a:latin typeface="Inter"/>
                        </a:rPr>
                        <a:t>Fix bridges, toilets and paths on our list of 214 priority repairs, worst first</a:t>
                      </a:r>
                      <a:endParaRPr sz="1050" b="0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2723"/>
                          </a:solidFill>
                          <a:latin typeface="Inter"/>
                        </a:rPr>
                        <a:t>60 of the 214 repairs done (28%)</a:t>
                      </a:r>
                      <a:endParaRPr sz="1050" b="1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Inter"/>
                        </a:rPr>
                        <a:t>4.8</a:t>
                      </a:r>
                      <a:endParaRPr sz="1050" b="0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6350">
                      <a:solidFill>
                        <a:srgbClr val="CFCBBF"/>
                      </a:solidFill>
                    </a:lnB>
                    <a:noFill/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2723"/>
                          </a:solidFill>
                          <a:latin typeface="Inter"/>
                        </a:rPr>
                        <a:t>5  More and younger volunteers</a:t>
                      </a:r>
                      <a:endParaRPr sz="1050" b="1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723"/>
                          </a:solidFill>
                          <a:latin typeface="Inter"/>
                        </a:rPr>
                        <a:t>Start a scheme for 16 to 25 year olds and add weekend and evening sessions</a:t>
                      </a:r>
                      <a:endParaRPr sz="1050" b="0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2723"/>
                          </a:solidFill>
                          <a:latin typeface="Inter"/>
                        </a:rPr>
                        <a:t>5,300 volunteers, up from 4,760</a:t>
                      </a:r>
                      <a:endParaRPr sz="1050" b="1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F2723"/>
                          </a:solidFill>
                          <a:latin typeface="Inter"/>
                        </a:rPr>
                        <a:t>0.9</a:t>
                      </a:r>
                      <a:endParaRPr sz="1050" b="0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FCBBF"/>
                      </a:solidFill>
                    </a:lnT>
                    <a:lnB w="19050">
                      <a:solidFill>
                        <a:srgbClr val="1F5A6E"/>
                      </a:solidFill>
                    </a:lnB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2723"/>
                          </a:solidFill>
                          <a:latin typeface="Inter"/>
                        </a:rPr>
                        <a:t>Total</a:t>
                      </a:r>
                      <a:endParaRPr sz="1050" b="1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9525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050" b="1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9525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050" b="1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9525">
                      <a:solidFill>
                        <a:srgbClr val="1F5A6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1F2723"/>
                          </a:solidFill>
                          <a:latin typeface="Inter"/>
                        </a:rPr>
                        <a:t>13.6</a:t>
                      </a:r>
                      <a:endParaRPr sz="1050" b="1" i="0">
                        <a:solidFill>
                          <a:srgbClr val="1F2723"/>
                        </a:solidFill>
                        <a:latin typeface="Inter"/>
                      </a:endParaRPr>
                    </a:p>
                  </a:txBody>
                  <a:tcPr marL="91440" marR="91440" marT="91440" marB="91440" anchor="t">
                    <a:lnL w="0">
                      <a:noFill/>
                    </a:lnL>
                    <a:lnR w="0">
                      <a:noFill/>
                    </a:lnR>
                    <a:lnT w="19050">
                      <a:solidFill>
                        <a:srgbClr val="1F5A6E"/>
                      </a:solidFill>
                    </a:lnT>
                    <a:lnB w="9525">
                      <a:solidFill>
                        <a:srgbClr val="1F5A6E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source"/>
          <p:cNvSpPr/>
          <p:nvPr/>
        </p:nvSpPr>
        <p:spPr>
          <a:xfrm>
            <a:off x="548640" y="6179820"/>
            <a:ext cx="11094720" cy="1295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58615B"/>
                </a:solidFill>
                <a:latin typeface="Inter"/>
              </a:rPr>
              <a:t>Budgets are from the 2026-27 spending plan approved by the Service's board. Source: Brannoch National Parks Service records, April 2025 to March 2026. Illustrative figures for a fictional service.</a:t>
            </a:r>
          </a:p>
        </p:txBody>
      </p:sp>
    </p:spTree>
    <p:custDataLst>
      <p:tags r:id="rId2"/>
    </p:custDataLst>
  </p:cSld>
  <p:clrMapOvr>
    <a:masterClrMapping/>
  </p:clrMapOvr>
</p:sld>
</file>

<file path=ppt/tags/tag1.xml><?xml version="1.0" encoding="utf-8"?>
<p:tagLst xmlns:p="http://schemas.openxmlformats.org/presentationml/2006/main">
  <p:tag name="pptx-skill" val="generated"/>
</p:tagLst>
</file>

<file path=ppt/tags/tag2.xml><?xml version="1.0" encoding="utf-8"?>
<p:tagLst xmlns:p="http://schemas.openxmlformats.org/presentationml/2006/main">
  <p:tag name="pptx-skill" val="generated"/>
</p:tagLst>
</file>

<file path=ppt/tags/tag3.xml><?xml version="1.0" encoding="utf-8"?>
<p:tagLst xmlns:p="http://schemas.openxmlformats.org/presentationml/2006/main">
  <p:tag name="pptx-skill" val="generated"/>
</p:tagLst>
</file>

<file path=ppt/tags/tag4.xml><?xml version="1.0" encoding="utf-8"?>
<p:tagLst xmlns:p="http://schemas.openxmlformats.org/presentationml/2006/main">
  <p:tag name="pptx-skill" val="generated"/>
</p:tagLst>
</file>

<file path=ppt/tags/tag5.xml><?xml version="1.0" encoding="utf-8"?>
<p:tagLst xmlns:p="http://schemas.openxmlformats.org/presentationml/2006/main">
  <p:tag name="pptx-skill" val="generated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