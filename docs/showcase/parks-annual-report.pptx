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2025-26</c:v>
                </c:pt>
              </c:strCache>
            </c:strRef>
          </c:tx>
          <c:spPr>
            <a:ln w="31750">
              <a:solidFill>
                <a:srgbClr val="1F5A6E"/>
              </a:solidFill>
            </a:ln>
          </c:spPr>
          <c:marker>
            <c:symbol val="circle"/>
            <c:size val="6"/>
            <c:spPr>
              <a:solidFill>
                <a:srgbClr val="1F5A6E"/>
              </a:solidFill>
              <a:ln>
                <a:solidFill>
                  <a:srgbClr val="1F5A6E"/>
                </a:solidFill>
              </a:ln>
            </c:spPr>
          </c:marker>
          <c:dLbls>
            <c:dLbl>
              <c:idx val="9"/>
              <c:tx>
                <c:rich>
                  <a:bodyPr/>
                  <a:lstStyle/>
                  <a:p>
                    <a:r>
                      <a:rPr sz="1050" b="1" i="0">
                        <a:solidFill>
                          <a:srgbClr val="1F2723"/>
                        </a:solidFill>
                        <a:latin typeface="Arial"/>
                      </a:rPr>
                      <a:t>Low: 330 in January</a:t>
                    </a:r>
                  </a:p>
                </c:rich>
              </c:tx>
              <c:txPr>
                <a:bodyPr/>
                <a:lstStyle/>
                <a:p>
                  <a:pPr>
                    <a:defRPr sz="1050" b="1" i="0">
                      <a:solidFill>
                        <a:srgbClr val="1F2723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610</c:v>
                </c:pt>
                <c:pt idx="1">
                  <c:v>750</c:v>
                </c:pt>
                <c:pt idx="2">
                  <c:v>910</c:v>
                </c:pt>
                <c:pt idx="3">
                  <c:v>1060</c:v>
                </c:pt>
                <c:pt idx="4">
                  <c:v>1180</c:v>
                </c:pt>
                <c:pt idx="5">
                  <c:v>980</c:v>
                </c:pt>
                <c:pt idx="6">
                  <c:v>810</c:v>
                </c:pt>
                <c:pt idx="7">
                  <c:v>510</c:v>
                </c:pt>
                <c:pt idx="8">
                  <c:v>380</c:v>
                </c:pt>
                <c:pt idx="9">
                  <c:v>330</c:v>
                </c:pt>
                <c:pt idx="10">
                  <c:v>400</c:v>
                </c:pt>
                <c:pt idx="11">
                  <c:v>500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2024-25</c:v>
                </c:pt>
              </c:strCache>
            </c:strRef>
          </c:tx>
          <c:spPr>
            <a:ln w="25400">
              <a:solidFill>
                <a:srgbClr val="A9B3AC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570</c:v>
                </c:pt>
                <c:pt idx="1">
                  <c:v>700</c:v>
                </c:pt>
                <c:pt idx="2">
                  <c:v>850</c:v>
                </c:pt>
                <c:pt idx="3">
                  <c:v>1010</c:v>
                </c:pt>
                <c:pt idx="4">
                  <c:v>1120</c:v>
                </c:pt>
                <c:pt idx="5">
                  <c:v>920</c:v>
                </c:pt>
                <c:pt idx="6">
                  <c:v>750</c:v>
                </c:pt>
                <c:pt idx="7">
                  <c:v>470</c:v>
                </c:pt>
                <c:pt idx="8">
                  <c:v>360</c:v>
                </c:pt>
                <c:pt idx="9">
                  <c:v>310</c:v>
                </c:pt>
                <c:pt idx="10">
                  <c:v>380</c:v>
                </c:pt>
                <c:pt idx="11">
                  <c:v>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FCBBF"/>
            </a:solidFill>
          </a:ln>
        </c:spPr>
        <c:txPr>
          <a:bodyPr rot="0" vert="horz"/>
          <a:lstStyle/>
          <a:p>
            <a:pPr>
              <a:defRPr sz="1000" b="0" i="0">
                <a:solidFill>
                  <a:srgbClr val="58615B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400.0"/>
          <c:min val="0.0"/>
        </c:scaling>
        <c:delete val="0"/>
        <c:axPos val="l"/>
        <c:majorGridlines>
          <c:spPr>
            <a:ln w="6350">
              <a:solidFill>
                <a:srgbClr val="CFCBBF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 i="0">
                <a:solidFill>
                  <a:srgbClr val="58615B"/>
                </a:solidFill>
                <a:latin typeface="Arial"/>
              </a:defRPr>
            </a:pPr>
          </a:p>
        </c:txPr>
        <c:crossAx val="2118791784"/>
        <c:crosses val="autoZero"/>
        <c:crossBetween val="between"/>
        <c:majorUnit val="200.0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000" b="0" i="0">
          <a:solidFill>
            <a:srgbClr val="58615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7"/>
          <c:y val="0.02"/>
          <c:w val="0.71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since 2021 (%)</c:v>
                </c:pt>
              </c:strCache>
            </c:strRef>
          </c:tx>
          <c:spPr>
            <a:solidFill>
              <a:srgbClr val="3B7A3A"/>
            </a:solidFill>
            <a:ln>
              <a:noFill/>
            </a:ln>
          </c:spPr>
          <c:dPt>
            <c:idx val="6"/>
            <c:spPr>
              <a:solidFill>
                <a:srgbClr val="B03E2C"/>
              </a:solidFill>
            </c:spPr>
          </c:dPt>
          <c:dPt>
            <c:idx val="7"/>
            <c:spPr>
              <a:solidFill>
                <a:srgbClr val="B03E2C"/>
              </a:solidFill>
            </c:spPr>
          </c:dPt>
          <c:dPt>
            <c:idx val="8"/>
            <c:spPr>
              <a:solidFill>
                <a:srgbClr val="B03E2C"/>
              </a:solidFill>
            </c:spPr>
          </c:dPt>
          <c:dLbls>
            <c:numFmt formatCode="+0&quot;%&quot;;-0&quot;%&quot;" sourceLinked="0"/>
            <c:txPr>
              <a:bodyPr/>
              <a:lstStyle/>
              <a:p>
                <a:pPr>
                  <a:defRPr sz="1050" b="1" i="0">
                    <a:solidFill>
                      <a:srgbClr val="1F272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Water vole</c:v>
                </c:pt>
                <c:pt idx="1">
                  <c:v>Pine marten</c:v>
                </c:pt>
                <c:pt idx="2">
                  <c:v>Red squirrel</c:v>
                </c:pt>
                <c:pt idx="3">
                  <c:v>Golden eagle (pairs)</c:v>
                </c:pt>
                <c:pt idx="4">
                  <c:v>Natterjack toad</c:v>
                </c:pt>
                <c:pt idx="5">
                  <c:v>Black grouse</c:v>
                </c:pt>
                <c:pt idx="6">
                  <c:v>Atlantic salmon (returning)</c:v>
                </c:pt>
                <c:pt idx="7">
                  <c:v>Freshwater pearl mussel</c:v>
                </c:pt>
                <c:pt idx="8">
                  <c:v>Capercaillie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41</c:v>
                </c:pt>
                <c:pt idx="1">
                  <c:v>34</c:v>
                </c:pt>
                <c:pt idx="2">
                  <c:v>22</c:v>
                </c:pt>
                <c:pt idx="3">
                  <c:v>18</c:v>
                </c:pt>
                <c:pt idx="4">
                  <c:v>12</c:v>
                </c:pt>
                <c:pt idx="5">
                  <c:v>5</c:v>
                </c:pt>
                <c:pt idx="6">
                  <c:v>-6</c:v>
                </c:pt>
                <c:pt idx="7">
                  <c:v>-9</c:v>
                </c:pt>
                <c:pt idx="8">
                  <c:v>-14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CFCBBF"/>
            </a:solidFill>
          </a:ln>
        </c:spPr>
        <c:txPr>
          <a:bodyPr rot="0" vert="horz"/>
          <a:lstStyle/>
          <a:p>
            <a:pPr>
              <a:defRPr sz="1000" b="0" i="0">
                <a:solidFill>
                  <a:srgbClr val="1F272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-25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000" b="0" i="0">
          <a:solidFill>
            <a:srgbClr val="58615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7"/>
          <c:y val="0.01"/>
          <c:w val="0.57"/>
          <c:h val="0.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 every $100 spent</c:v>
                </c:pt>
              </c:strCache>
            </c:strRef>
          </c:tx>
          <c:spPr>
            <a:solidFill>
              <a:srgbClr val="1F5A6E"/>
            </a:solidFill>
            <a:ln>
              <a:noFill/>
            </a:ln>
          </c:spPr>
          <c:dPt>
            <c:idx val="0"/>
            <c:spPr>
              <a:solidFill>
                <a:srgbClr val="B4561A"/>
              </a:solidFill>
            </c:spPr>
          </c:dPt>
          <c:dLbls>
            <c:dLbl>
              <c:idx val="0"/>
              <c:numFmt formatCode="&quot;$&quot;0" sourceLinked="0"/>
              <c:spPr/>
              <c:txPr>
                <a:bodyPr/>
                <a:lstStyle/>
                <a:p>
                  <a:pPr>
                    <a:defRPr sz="1050" b="1" i="0">
                      <a:solidFill>
                        <a:srgbClr val="B4561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0" sourceLinked="0"/>
            <c:txPr>
              <a:bodyPr/>
              <a:lstStyle/>
              <a:p>
                <a:pPr>
                  <a:defRPr sz="1050" b="1" i="0">
                    <a:solidFill>
                      <a:srgbClr val="1F272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Conservation and habitats ($46.1m)</c:v>
                </c:pt>
                <c:pt idx="1">
                  <c:v>Rangers and visitor services ($35.6m)</c:v>
                </c:pt>
                <c:pt idx="2">
                  <c:v>Trails, roads and buildings ($31.8m)</c:v>
                </c:pt>
                <c:pt idx="3">
                  <c:v>Running the service ($15.2m)</c:v>
                </c:pt>
                <c:pt idx="4">
                  <c:v>Education and community ($12.4m)</c:v>
                </c:pt>
                <c:pt idx="5">
                  <c:v>Volunteer programme ($4.0m)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32</c:v>
                </c:pt>
                <c:pt idx="1">
                  <c:v>24</c:v>
                </c:pt>
                <c:pt idx="2">
                  <c:v>22</c:v>
                </c:pt>
                <c:pt idx="3">
                  <c:v>10</c:v>
                </c:pt>
                <c:pt idx="4">
                  <c:v>9</c:v>
                </c:pt>
                <c:pt idx="5">
                  <c:v>3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FCBBF"/>
            </a:solidFill>
          </a:ln>
        </c:spPr>
        <c:txPr>
          <a:bodyPr rot="0" vert="horz"/>
          <a:lstStyle/>
          <a:p>
            <a:pPr>
              <a:defRPr sz="1000" b="0" i="0">
                <a:solidFill>
                  <a:srgbClr val="1F272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000" b="0" i="0">
          <a:solidFill>
            <a:srgbClr val="58615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6"/>
          <c:h val="0.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(thousands)</c:v>
                </c:pt>
              </c:strCache>
            </c:strRef>
          </c:tx>
          <c:spPr>
            <a:solidFill>
              <a:srgbClr val="1F5A6E"/>
            </a:solidFill>
            <a:ln>
              <a:noFill/>
            </a:ln>
          </c:spPr>
          <c:dPt>
            <c:idx val="4"/>
            <c:spPr>
              <a:solidFill>
                <a:srgbClr val="B4561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 i="0">
                        <a:solidFill>
                          <a:srgbClr val="1F2723"/>
                        </a:solidFill>
                        <a:latin typeface="Arial"/>
                      </a:rPr>
                      <a:t>118,000</a:t>
                    </a:r>
                  </a:p>
                </c:rich>
              </c:tx>
              <c:txPr>
                <a:bodyPr/>
                <a:lstStyle/>
                <a:p>
                  <a:pPr>
                    <a:defRPr sz="1050" b="1" i="0">
                      <a:solidFill>
                        <a:srgbClr val="1F2723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 i="0">
                        <a:solidFill>
                          <a:srgbClr val="1F2723"/>
                        </a:solidFill>
                        <a:latin typeface="Arial"/>
                      </a:rPr>
                      <a:t>139,000</a:t>
                    </a:r>
                  </a:p>
                </c:rich>
              </c:tx>
              <c:txPr>
                <a:bodyPr/>
                <a:lstStyle/>
                <a:p>
                  <a:pPr>
                    <a:defRPr sz="1050" b="1" i="0">
                      <a:solidFill>
                        <a:srgbClr val="1F2723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 i="0">
                        <a:solidFill>
                          <a:srgbClr val="1F2723"/>
                        </a:solidFill>
                        <a:latin typeface="Arial"/>
                      </a:rPr>
                      <a:t>158,000</a:t>
                    </a:r>
                  </a:p>
                </c:rich>
              </c:tx>
              <c:txPr>
                <a:bodyPr/>
                <a:lstStyle/>
                <a:p>
                  <a:pPr>
                    <a:defRPr sz="1050" b="1" i="0">
                      <a:solidFill>
                        <a:srgbClr val="1F2723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 i="0">
                        <a:solidFill>
                          <a:srgbClr val="1F2723"/>
                        </a:solidFill>
                        <a:latin typeface="Arial"/>
                      </a:rPr>
                      <a:t>171,000</a:t>
                    </a:r>
                  </a:p>
                </c:rich>
              </c:tx>
              <c:txPr>
                <a:bodyPr/>
                <a:lstStyle/>
                <a:p>
                  <a:pPr>
                    <a:defRPr sz="1050" b="1" i="0">
                      <a:solidFill>
                        <a:srgbClr val="1F2723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 i="0">
                        <a:solidFill>
                          <a:srgbClr val="B4561A"/>
                        </a:solidFill>
                        <a:latin typeface="Arial"/>
                      </a:rPr>
                      <a:t>192,000</a:t>
                    </a:r>
                  </a:p>
                </c:rich>
              </c:tx>
              <c:txPr>
                <a:bodyPr/>
                <a:lstStyle/>
                <a:p>
                  <a:pPr>
                    <a:defRPr sz="1050" b="1" i="0">
                      <a:solidFill>
                        <a:srgbClr val="B4561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050" b="1" i="0">
                    <a:solidFill>
                      <a:srgbClr val="1F272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118</c:v>
                </c:pt>
                <c:pt idx="1">
                  <c:v>139</c:v>
                </c:pt>
                <c:pt idx="2">
                  <c:v>158</c:v>
                </c:pt>
                <c:pt idx="3">
                  <c:v>171</c:v>
                </c:pt>
                <c:pt idx="4">
                  <c:v>192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FCBBF"/>
            </a:solidFill>
          </a:ln>
        </c:spPr>
        <c:txPr>
          <a:bodyPr rot="0" vert="horz"/>
          <a:lstStyle/>
          <a:p>
            <a:pPr>
              <a:defRPr sz="1000" b="0" i="0">
                <a:solidFill>
                  <a:srgbClr val="58615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000" b="0" i="0">
          <a:solidFill>
            <a:srgbClr val="58615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Brannoch National Parks Service is fictional, and every number was invented for this example, computed and checked by assertion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Brannoch National Parks Service is fictional, and every number was invented for this example, computed and checked by assertion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Brannoch National Parks Service is fictional, and every number was invented for this example, computed and checked by assertion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Brannoch National Parks Service is fictional, and every number was invented for this example, computed and checked by assertion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Brannoch National Parks Service is fictional, and every number was invented for this example, computed and checked by assertion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tags" Target="../tags/tag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tags" Target="../tags/tag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5" name="chrome-1"/>
          <p:cNvCxnSpPr/>
          <p:nvPr/>
        </p:nvCxnSpPr>
        <p:spPr>
          <a:xfrm>
            <a:off x="548640" y="6423660"/>
            <a:ext cx="11094415" cy="0"/>
          </a:xfrm>
          <a:prstGeom prst="line">
            <a:avLst/>
          </a:prstGeom>
          <a:ln w="9525">
            <a:solidFill>
              <a:srgbClr val="CFCBBF"/>
            </a:solidFill>
          </a:ln>
        </p:spPr>
      </p:cxnSp>
      <p:sp>
        <p:nvSpPr>
          <p:cNvPr id="16" name="chrome-2"/>
          <p:cNvSpPr txBox="1"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850" b="0">
                <a:solidFill>
                  <a:srgbClr val="58615B"/>
                </a:solidFill>
                <a:latin typeface="Arial"/>
              </a:rPr>
              <a:t>Brannoch National Parks Service  |  Annual Report 2025-26</a:t>
            </a:r>
          </a:p>
        </p:txBody>
      </p:sp>
      <p:sp>
        <p:nvSpPr>
          <p:cNvPr id="17" name="chrome-3"/>
          <p:cNvSpPr txBox="1"/>
          <p:nvPr/>
        </p:nvSpPr>
        <p:spPr>
          <a:xfrm>
            <a:off x="11185855" y="64922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850">
                <a:solidFill>
                  <a:srgbClr val="58615B"/>
                </a:solidFill>
                <a:latin typeface="Arial"/>
              </a:rPr>
              <a:t>1</a:t>
            </a:fld>
          </a:p>
        </p:txBody>
      </p:sp>
      <p:sp>
        <p:nvSpPr>
          <p:cNvPr id="2" name="disc-fill"/>
          <p:cNvSpPr/>
          <p:nvPr/>
        </p:nvSpPr>
        <p:spPr>
          <a:xfrm>
            <a:off x="548640" y="548640"/>
            <a:ext cx="387370" cy="392430"/>
          </a:xfrm>
          <a:prstGeom prst="ellipse">
            <a:avLst/>
          </a:prstGeom>
          <a:solidFill>
            <a:srgbClr val="1F5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isc-n"/>
          <p:cNvSpPr/>
          <p:nvPr/>
        </p:nvSpPr>
        <p:spPr>
          <a:xfrm>
            <a:off x="594360" y="640080"/>
            <a:ext cx="29593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kicker"/>
          <p:cNvSpPr/>
          <p:nvPr/>
        </p:nvSpPr>
        <p:spPr>
          <a:xfrm>
            <a:off x="1118890" y="548640"/>
            <a:ext cx="105244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00">
                <a:solidFill>
                  <a:srgbClr val="1F5A6E"/>
                </a:solidFill>
                <a:latin typeface="Arial"/>
              </a:rPr>
              <a:t>VISITORS AND ACCESS</a:t>
            </a:r>
          </a:p>
        </p:txBody>
      </p:sp>
      <p:sp>
        <p:nvSpPr>
          <p:cNvPr id="5" name="title"/>
          <p:cNvSpPr/>
          <p:nvPr/>
        </p:nvSpPr>
        <p:spPr>
          <a:xfrm>
            <a:off x="1118890" y="746760"/>
            <a:ext cx="1052447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F2723"/>
                </a:solidFill>
                <a:latin typeface="Georgia"/>
              </a:rPr>
              <a:t>Visits rose 6.0% to 8.42 million, and more than a third of visitors</a:t>
            </a:r>
            <a:br/>
            <a:r>
              <a:rPr sz="2400" b="1" i="0">
                <a:solidFill>
                  <a:srgbClr val="1F2723"/>
                </a:solidFill>
                <a:latin typeface="Georgia"/>
              </a:rPr>
              <a:t>now arrive without a car</a:t>
            </a:r>
          </a:p>
        </p:txBody>
      </p:sp>
      <p:sp>
        <p:nvSpPr>
          <p:cNvPr id="6" name="chart-cap"/>
          <p:cNvSpPr/>
          <p:nvPr/>
        </p:nvSpPr>
        <p:spPr>
          <a:xfrm>
            <a:off x="548640" y="1661160"/>
            <a:ext cx="702931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Visits each month, thousands: </a:t>
            </a:r>
            <a:r>
              <a:rPr sz="1000" b="1" i="0">
                <a:solidFill>
                  <a:srgbClr val="1F5A6E"/>
                </a:solidFill>
                <a:latin typeface="Arial"/>
              </a:rPr>
              <a:t>this year, 2025-26</a:t>
            </a:r>
            <a:r>
              <a:rPr sz="1000" b="0" i="0">
                <a:solidFill>
                  <a:srgbClr val="58615B"/>
                </a:solidFill>
                <a:latin typeface="Arial"/>
              </a:rPr>
              <a:t>, and </a:t>
            </a:r>
            <a:r>
              <a:rPr sz="1000" b="1" i="0">
                <a:solidFill>
                  <a:srgbClr val="58615B"/>
                </a:solidFill>
                <a:latin typeface="Arial"/>
              </a:rPr>
              <a:t>last year, 2024-25</a:t>
            </a:r>
          </a:p>
        </p:txBody>
      </p:sp>
      <p:graphicFrame>
        <p:nvGraphicFramePr>
          <p:cNvPr id="7" name="visits"/>
          <p:cNvGraphicFramePr>
            <a:graphicFrameLocks noGrp="1"/>
          </p:cNvGraphicFramePr>
          <p:nvPr/>
        </p:nvGraphicFramePr>
        <p:xfrm>
          <a:off x="548640" y="1905000"/>
          <a:ext cx="7029319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anel-fill"/>
          <p:cNvSpPr/>
          <p:nvPr/>
        </p:nvSpPr>
        <p:spPr>
          <a:xfrm>
            <a:off x="7943719" y="1661160"/>
            <a:ext cx="3699641" cy="4244340"/>
          </a:xfrm>
          <a:prstGeom prst="rect">
            <a:avLst/>
          </a:prstGeom>
          <a:solidFill>
            <a:srgbClr val="EFE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anel-h"/>
          <p:cNvSpPr/>
          <p:nvPr/>
        </p:nvSpPr>
        <p:spPr>
          <a:xfrm>
            <a:off x="8126599" y="1844040"/>
            <a:ext cx="3333881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How visitors arrived</a:t>
            </a:r>
          </a:p>
        </p:txBody>
      </p:sp>
      <p:graphicFrame>
        <p:nvGraphicFramePr>
          <p:cNvPr id="10" name="arrive"/>
          <p:cNvGraphicFramePr>
            <a:graphicFrameLocks noGrp="1"/>
          </p:cNvGraphicFramePr>
          <p:nvPr/>
        </p:nvGraphicFramePr>
        <p:xfrm>
          <a:off x="8126599" y="2145030"/>
          <a:ext cx="3333881" cy="168427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33520"/>
                <a:gridCol w="733454"/>
                <a:gridCol w="733454"/>
                <a:gridCol w="733453"/>
              </a:tblGrid>
              <a:tr h="33553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Share of visits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2024-25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2025-26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Change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Car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71%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64%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-7 pts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Bus, shuttle or train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19%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25%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B4561A"/>
                          </a:solidFill>
                          <a:latin typeface="Arial"/>
                        </a:rPr>
                        <a:t>+6 pts</a:t>
                      </a:r>
                      <a:endParaRPr sz="1050" b="1" i="0">
                        <a:solidFill>
                          <a:srgbClr val="B4561A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On foot or by bike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10%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11%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+1 pt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rail"/>
          <p:cNvSpPr/>
          <p:nvPr/>
        </p:nvSpPr>
        <p:spPr>
          <a:xfrm>
            <a:off x="8126599" y="3920744"/>
            <a:ext cx="3333881" cy="148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1F2723"/>
                </a:solidFill>
                <a:latin typeface="Arial"/>
              </a:rPr>
              <a:t>Step-free trails</a:t>
            </a:r>
          </a:p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241 km of trail can now be used without steps by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wheelchairs and buggies, 53 km more than last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year.</a:t>
            </a:r>
          </a:p>
          <a:p>
            <a:pPr algn="l" marL="0" indent="0">
              <a:lnSpc>
                <a:spcPts val="144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1F2723"/>
                </a:solidFill>
                <a:latin typeface="Arial"/>
              </a:rPr>
              <a:t>School visits</a:t>
            </a:r>
          </a:p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41,300 pupils came on free school trips.</a:t>
            </a:r>
          </a:p>
        </p:txBody>
      </p:sp>
      <p:sp>
        <p:nvSpPr>
          <p:cNvPr id="12" name="source"/>
          <p:cNvSpPr/>
          <p:nvPr/>
        </p:nvSpPr>
        <p:spPr>
          <a:xfrm>
            <a:off x="548640" y="6179820"/>
            <a:ext cx="11094720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58615B"/>
                </a:solidFill>
                <a:latin typeface="Arial"/>
              </a:rPr>
              <a:t>Visits are counted at park entrances; how visitors arrived comes from our visitor survey. Source: Brannoch National Parks Service records, April 2025 to March 2026. Illustrative figures for a fictional service.</a:t>
            </a:r>
          </a:p>
        </p:txBody>
      </p:sp>
      <p:sp>
        <p:nvSpPr>
          <p:cNvPr id="13" name="peak-box"/>
          <p:cNvSpPr/>
          <p:nvPr/>
        </p:nvSpPr>
        <p:spPr>
          <a:xfrm>
            <a:off x="3329267" y="2521839"/>
            <a:ext cx="167640" cy="167640"/>
          </a:xfrm>
          <a:prstGeom prst="ellipse">
            <a:avLst/>
          </a:prstGeom>
          <a:noFill/>
          <a:ln w="22225">
            <a:solidFill>
              <a:srgbClr val="B456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eak-label"/>
          <p:cNvSpPr/>
          <p:nvPr/>
        </p:nvSpPr>
        <p:spPr>
          <a:xfrm>
            <a:off x="3599460" y="2525649"/>
            <a:ext cx="141394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B4561A"/>
                </a:solidFill>
                <a:latin typeface="Arial"/>
              </a:rPr>
              <a:t>Peak: 1,180 in August</a:t>
            </a: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6" name="chrome-1"/>
          <p:cNvCxnSpPr/>
          <p:nvPr/>
        </p:nvCxnSpPr>
        <p:spPr>
          <a:xfrm>
            <a:off x="548640" y="6423660"/>
            <a:ext cx="11094415" cy="0"/>
          </a:xfrm>
          <a:prstGeom prst="line">
            <a:avLst/>
          </a:prstGeom>
          <a:ln w="9525">
            <a:solidFill>
              <a:srgbClr val="CFCBBF"/>
            </a:solidFill>
          </a:ln>
        </p:spPr>
      </p:cxnSp>
      <p:sp>
        <p:nvSpPr>
          <p:cNvPr id="17" name="chrome-2"/>
          <p:cNvSpPr txBox="1"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850" b="0">
                <a:solidFill>
                  <a:srgbClr val="58615B"/>
                </a:solidFill>
                <a:latin typeface="Arial"/>
              </a:rPr>
              <a:t>Brannoch National Parks Service  |  Annual Report 2025-26</a:t>
            </a:r>
          </a:p>
        </p:txBody>
      </p:sp>
      <p:sp>
        <p:nvSpPr>
          <p:cNvPr id="18" name="chrome-3"/>
          <p:cNvSpPr txBox="1"/>
          <p:nvPr/>
        </p:nvSpPr>
        <p:spPr>
          <a:xfrm>
            <a:off x="11185855" y="64922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850">
                <a:solidFill>
                  <a:srgbClr val="58615B"/>
                </a:solidFill>
                <a:latin typeface="Arial"/>
              </a:rPr>
              <a:t>1</a:t>
            </a:fld>
          </a:p>
        </p:txBody>
      </p:sp>
      <p:sp>
        <p:nvSpPr>
          <p:cNvPr id="2" name="disc-fill"/>
          <p:cNvSpPr/>
          <p:nvPr/>
        </p:nvSpPr>
        <p:spPr>
          <a:xfrm>
            <a:off x="537667" y="537667"/>
            <a:ext cx="388279" cy="381787"/>
          </a:xfrm>
          <a:prstGeom prst="ellipse">
            <a:avLst/>
          </a:prstGeom>
          <a:solidFill>
            <a:srgbClr val="1F5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isc-n"/>
          <p:cNvSpPr/>
          <p:nvPr/>
        </p:nvSpPr>
        <p:spPr>
          <a:xfrm>
            <a:off x="582473" y="627278"/>
            <a:ext cx="298667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kicker"/>
          <p:cNvSpPr/>
          <p:nvPr/>
        </p:nvSpPr>
        <p:spPr>
          <a:xfrm>
            <a:off x="1105168" y="537667"/>
            <a:ext cx="1054916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98">
                <a:solidFill>
                  <a:srgbClr val="1F5A6E"/>
                </a:solidFill>
                <a:latin typeface="Arial"/>
              </a:rPr>
              <a:t>CONSERVATION OUTCOMES</a:t>
            </a:r>
          </a:p>
        </p:txBody>
      </p:sp>
      <p:sp>
        <p:nvSpPr>
          <p:cNvPr id="5" name="title"/>
          <p:cNvSpPr/>
          <p:nvPr/>
        </p:nvSpPr>
        <p:spPr>
          <a:xfrm>
            <a:off x="1105168" y="734873"/>
            <a:ext cx="10549165" cy="626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50" b="1" i="0">
                <a:solidFill>
                  <a:srgbClr val="1F2723"/>
                </a:solidFill>
                <a:latin typeface="Georgia"/>
              </a:rPr>
              <a:t>Six of nine priority species have grown since 2021; three that need</a:t>
            </a:r>
            <a:br/>
            <a:r>
              <a:rPr sz="2350" b="1" i="0">
                <a:solidFill>
                  <a:srgbClr val="1F2723"/>
                </a:solidFill>
                <a:latin typeface="Georgia"/>
              </a:rPr>
              <a:t>rivers or old pinewood have fallen</a:t>
            </a:r>
          </a:p>
        </p:txBody>
      </p:sp>
      <p:sp>
        <p:nvSpPr>
          <p:cNvPr id="6" name="chart-cap"/>
          <p:cNvSpPr/>
          <p:nvPr/>
        </p:nvSpPr>
        <p:spPr>
          <a:xfrm>
            <a:off x="537667" y="1630579"/>
            <a:ext cx="704849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Change in each species' counted population since the 2021 count, %</a:t>
            </a:r>
          </a:p>
        </p:txBody>
      </p:sp>
      <p:graphicFrame>
        <p:nvGraphicFramePr>
          <p:cNvPr id="7" name="species"/>
          <p:cNvGraphicFramePr>
            <a:graphicFrameLocks noGrp="1"/>
          </p:cNvGraphicFramePr>
          <p:nvPr/>
        </p:nvGraphicFramePr>
        <p:xfrm>
          <a:off x="537667" y="1872590"/>
          <a:ext cx="7048490" cy="40493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anel-fill"/>
          <p:cNvSpPr/>
          <p:nvPr/>
        </p:nvSpPr>
        <p:spPr>
          <a:xfrm>
            <a:off x="7944602" y="1630579"/>
            <a:ext cx="3709731" cy="4291380"/>
          </a:xfrm>
          <a:prstGeom prst="rect">
            <a:avLst/>
          </a:prstGeom>
          <a:solidFill>
            <a:srgbClr val="EFE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anel-h"/>
          <p:cNvSpPr/>
          <p:nvPr/>
        </p:nvSpPr>
        <p:spPr>
          <a:xfrm>
            <a:off x="8123824" y="1809801"/>
            <a:ext cx="3351287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1F2723"/>
                </a:solidFill>
                <a:latin typeface="Georgia"/>
              </a:rPr>
              <a:t>Habitat restored this year</a:t>
            </a:r>
          </a:p>
        </p:txBody>
      </p:sp>
      <p:sp>
        <p:nvSpPr>
          <p:cNvPr id="10" name="hab"/>
          <p:cNvSpPr/>
          <p:nvPr/>
        </p:nvSpPr>
        <p:spPr>
          <a:xfrm>
            <a:off x="8123824" y="2167942"/>
            <a:ext cx="3351287" cy="4556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We restored </a:t>
            </a:r>
            <a:r>
              <a:rPr sz="1200" b="1" i="0">
                <a:solidFill>
                  <a:srgbClr val="1F2723"/>
                </a:solidFill>
                <a:latin typeface="Arial"/>
              </a:rPr>
              <a:t>2,140 hectares</a:t>
            </a:r>
            <a:r>
              <a:rPr sz="1200" b="0" i="0">
                <a:solidFill>
                  <a:srgbClr val="1F2723"/>
                </a:solidFill>
                <a:latin typeface="Arial"/>
              </a:rPr>
              <a:t>, 107% of our 2,000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target.</a:t>
            </a:r>
          </a:p>
        </p:txBody>
      </p:sp>
      <p:graphicFrame>
        <p:nvGraphicFramePr>
          <p:cNvPr id="11" name="habt"/>
          <p:cNvGraphicFramePr>
            <a:graphicFrameLocks noGrp="1"/>
          </p:cNvGraphicFramePr>
          <p:nvPr/>
        </p:nvGraphicFramePr>
        <p:xfrm>
          <a:off x="8123824" y="2779193"/>
          <a:ext cx="3351287" cy="168884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876721"/>
                <a:gridCol w="737283"/>
                <a:gridCol w="737283"/>
              </a:tblGrid>
              <a:tr h="3318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Habitat work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Hectares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Share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33924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Peatland re-wetted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1,260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59%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33924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Native woodland planted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540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25%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33924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Wetland restored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340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16%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33924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Total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2,140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100%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89611" marR="89611" marT="89611" marB="89611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why"/>
          <p:cNvSpPr/>
          <p:nvPr/>
        </p:nvSpPr>
        <p:spPr>
          <a:xfrm>
            <a:off x="8123824" y="4623613"/>
            <a:ext cx="3351287" cy="11191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588"/>
              </a:spcBef>
              <a:spcAft>
                <a:spcPts val="196"/>
              </a:spcAft>
              <a:buNone/>
            </a:pPr>
            <a:r>
              <a:rPr sz="1200" b="1" i="0">
                <a:solidFill>
                  <a:srgbClr val="1F2723"/>
                </a:solidFill>
                <a:latin typeface="Arial"/>
              </a:rPr>
              <a:t>Why three species fell</a:t>
            </a:r>
          </a:p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Salmon and pearl mussels need cool, clean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rivers; warmer summers and silt from eroding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banks harm both. Capercaillie are disturbed by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walkers leaving the path in old pinewood.</a:t>
            </a:r>
          </a:p>
        </p:txBody>
      </p:sp>
      <p:sp>
        <p:nvSpPr>
          <p:cNvPr id="13" name="source"/>
          <p:cNvSpPr/>
          <p:nvPr/>
        </p:nvSpPr>
        <p:spPr>
          <a:xfrm>
            <a:off x="537667" y="6190793"/>
            <a:ext cx="11116666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58615B"/>
                </a:solidFill>
                <a:latin typeface="Arial"/>
              </a:rPr>
              <a:t>Species are counted by rangers and volunteers each spring against the 2021 baseline count. Source: Brannoch National Parks Service records, April 2025 to March 2026. Illustrative figures for a fictional service.</a:t>
            </a:r>
          </a:p>
        </p:txBody>
      </p:sp>
      <p:sp>
        <p:nvSpPr>
          <p:cNvPr id="14" name="fallers-bracket"/>
          <p:cNvSpPr/>
          <p:nvPr/>
        </p:nvSpPr>
        <p:spPr>
          <a:xfrm>
            <a:off x="4288124" y="4612198"/>
            <a:ext cx="44806" cy="1161750"/>
          </a:xfrm>
          <a:prstGeom prst="rightBracket">
            <a:avLst/>
          </a:prstGeom>
          <a:noFill/>
          <a:ln w="15875">
            <a:solidFill>
              <a:srgbClr val="B456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allers-label"/>
          <p:cNvSpPr/>
          <p:nvPr/>
        </p:nvSpPr>
        <p:spPr>
          <a:xfrm>
            <a:off x="4512152" y="5033053"/>
            <a:ext cx="214756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B4561A"/>
                </a:solidFill>
                <a:latin typeface="Arial"/>
              </a:rPr>
              <a:t>Fell since 2021: next year's focus</a:t>
            </a:r>
            <a:br/>
            <a:r>
              <a:rPr sz="1050" b="1" i="0">
                <a:solidFill>
                  <a:srgbClr val="B4561A"/>
                </a:solidFill>
                <a:latin typeface="Arial"/>
              </a:rPr>
              <a:t>is their rivers and pinewood</a:t>
            </a: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4" name="chrome-1"/>
          <p:cNvCxnSpPr/>
          <p:nvPr/>
        </p:nvCxnSpPr>
        <p:spPr>
          <a:xfrm>
            <a:off x="548640" y="6423660"/>
            <a:ext cx="11094415" cy="0"/>
          </a:xfrm>
          <a:prstGeom prst="line">
            <a:avLst/>
          </a:prstGeom>
          <a:ln w="9525">
            <a:solidFill>
              <a:srgbClr val="CFCBBF"/>
            </a:solidFill>
          </a:ln>
        </p:spPr>
      </p:cxnSp>
      <p:sp>
        <p:nvSpPr>
          <p:cNvPr id="15" name="chrome-2"/>
          <p:cNvSpPr txBox="1"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850" b="0">
                <a:solidFill>
                  <a:srgbClr val="58615B"/>
                </a:solidFill>
                <a:latin typeface="Arial"/>
              </a:rPr>
              <a:t>Brannoch National Parks Service  |  Annual Report 2025-26</a:t>
            </a:r>
          </a:p>
        </p:txBody>
      </p:sp>
      <p:sp>
        <p:nvSpPr>
          <p:cNvPr id="16" name="chrome-3"/>
          <p:cNvSpPr txBox="1"/>
          <p:nvPr/>
        </p:nvSpPr>
        <p:spPr>
          <a:xfrm>
            <a:off x="11185855" y="64922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850">
                <a:solidFill>
                  <a:srgbClr val="58615B"/>
                </a:solidFill>
                <a:latin typeface="Arial"/>
              </a:rPr>
              <a:t>1</a:t>
            </a:fld>
          </a:p>
        </p:txBody>
      </p:sp>
      <p:sp>
        <p:nvSpPr>
          <p:cNvPr id="2" name="disc-fill"/>
          <p:cNvSpPr/>
          <p:nvPr/>
        </p:nvSpPr>
        <p:spPr>
          <a:xfrm>
            <a:off x="548640" y="548640"/>
            <a:ext cx="387370" cy="392430"/>
          </a:xfrm>
          <a:prstGeom prst="ellipse">
            <a:avLst/>
          </a:prstGeom>
          <a:solidFill>
            <a:srgbClr val="1F5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isc-n"/>
          <p:cNvSpPr/>
          <p:nvPr/>
        </p:nvSpPr>
        <p:spPr>
          <a:xfrm>
            <a:off x="594360" y="640080"/>
            <a:ext cx="29593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4" name="kicker"/>
          <p:cNvSpPr/>
          <p:nvPr/>
        </p:nvSpPr>
        <p:spPr>
          <a:xfrm>
            <a:off x="1118890" y="548640"/>
            <a:ext cx="105244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00">
                <a:solidFill>
                  <a:srgbClr val="1F5A6E"/>
                </a:solidFill>
                <a:latin typeface="Arial"/>
              </a:rPr>
              <a:t>BUDGET AND WHERE IT GOES</a:t>
            </a:r>
          </a:p>
        </p:txBody>
      </p:sp>
      <p:sp>
        <p:nvSpPr>
          <p:cNvPr id="5" name="title"/>
          <p:cNvSpPr/>
          <p:nvPr/>
        </p:nvSpPr>
        <p:spPr>
          <a:xfrm>
            <a:off x="1118890" y="746760"/>
            <a:ext cx="1052447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F2723"/>
                </a:solidFill>
                <a:latin typeface="Georgia"/>
              </a:rPr>
              <a:t>Of every $100 we spent, $32 went to conservation and $10 to</a:t>
            </a:r>
            <a:br/>
            <a:r>
              <a:rPr sz="2400" b="1" i="0">
                <a:solidFill>
                  <a:srgbClr val="1F2723"/>
                </a:solidFill>
                <a:latin typeface="Georgia"/>
              </a:rPr>
              <a:t>running the service</a:t>
            </a:r>
          </a:p>
        </p:txBody>
      </p:sp>
      <p:sp>
        <p:nvSpPr>
          <p:cNvPr id="6" name="lead"/>
          <p:cNvSpPr/>
          <p:nvPr/>
        </p:nvSpPr>
        <p:spPr>
          <a:xfrm>
            <a:off x="548640" y="1661160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We received $148.3m, 5.3% more than last year, and spent $145.1m. The $3.2m left over is set aside for repairs. The government grant paid 65% of our income;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visitors, shops, donors and trusts gave the other $51.9m.</a:t>
            </a:r>
          </a:p>
        </p:txBody>
      </p:sp>
      <p:sp>
        <p:nvSpPr>
          <p:cNvPr id="7" name="chart-h"/>
          <p:cNvSpPr/>
          <p:nvPr/>
        </p:nvSpPr>
        <p:spPr>
          <a:xfrm>
            <a:off x="548640" y="2392680"/>
            <a:ext cx="6349793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Where each $100 went</a:t>
            </a:r>
          </a:p>
        </p:txBody>
      </p:sp>
      <p:sp>
        <p:nvSpPr>
          <p:cNvPr id="8" name="chart-cap"/>
          <p:cNvSpPr/>
          <p:nvPr/>
        </p:nvSpPr>
        <p:spPr>
          <a:xfrm>
            <a:off x="548640" y="2693670"/>
            <a:ext cx="634979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Dollars of every $100 spent in 2025-26; the area's spending in $m after its name</a:t>
            </a:r>
          </a:p>
        </p:txBody>
      </p:sp>
      <p:graphicFrame>
        <p:nvGraphicFramePr>
          <p:cNvPr id="9" name="spend"/>
          <p:cNvGraphicFramePr>
            <a:graphicFrameLocks noGrp="1"/>
          </p:cNvGraphicFramePr>
          <p:nvPr/>
        </p:nvGraphicFramePr>
        <p:xfrm>
          <a:off x="548640" y="2937510"/>
          <a:ext cx="6349793" cy="29679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ab-h"/>
          <p:cNvSpPr/>
          <p:nvPr/>
        </p:nvSpPr>
        <p:spPr>
          <a:xfrm>
            <a:off x="7264193" y="2392680"/>
            <a:ext cx="4379167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Where the money came from</a:t>
            </a:r>
          </a:p>
        </p:txBody>
      </p:sp>
      <p:sp>
        <p:nvSpPr>
          <p:cNvPr id="11" name="tab-cap"/>
          <p:cNvSpPr/>
          <p:nvPr/>
        </p:nvSpPr>
        <p:spPr>
          <a:xfrm>
            <a:off x="7264193" y="2693670"/>
            <a:ext cx="437916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Income, $m</a:t>
            </a:r>
          </a:p>
        </p:txBody>
      </p:sp>
      <p:graphicFrame>
        <p:nvGraphicFramePr>
          <p:cNvPr id="12" name="income"/>
          <p:cNvGraphicFramePr>
            <a:graphicFrameLocks noGrp="1"/>
          </p:cNvGraphicFramePr>
          <p:nvPr/>
        </p:nvGraphicFramePr>
        <p:xfrm>
          <a:off x="7264193" y="2937510"/>
          <a:ext cx="4379167" cy="239293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627500"/>
                <a:gridCol w="875833"/>
                <a:gridCol w="875834"/>
              </a:tblGrid>
              <a:tr h="33553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Source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2024-25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2025-26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Government grant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94.0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96.4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Parking, camping and permits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25.9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28.7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Shops, cafes and leases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10.6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11.2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Donations and legacies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6.8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7.9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Grants from trusts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3.5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4.1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Total income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140.8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148.3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ource"/>
          <p:cNvSpPr/>
          <p:nvPr/>
        </p:nvSpPr>
        <p:spPr>
          <a:xfrm>
            <a:off x="548640" y="6179820"/>
            <a:ext cx="11094720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58615B"/>
                </a:solidFill>
                <a:latin typeface="Arial"/>
              </a:rPr>
              <a:t>Spending shares are rounded so that they add to $100. Source: Brannoch National Parks Service records, April 2025 to March 2026. Illustrative figures for a fictional service.</a:t>
            </a: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4" name="chrome-1"/>
          <p:cNvCxnSpPr/>
          <p:nvPr/>
        </p:nvCxnSpPr>
        <p:spPr>
          <a:xfrm>
            <a:off x="548640" y="6423660"/>
            <a:ext cx="11094415" cy="0"/>
          </a:xfrm>
          <a:prstGeom prst="line">
            <a:avLst/>
          </a:prstGeom>
          <a:ln w="9525">
            <a:solidFill>
              <a:srgbClr val="CFCBBF"/>
            </a:solidFill>
          </a:ln>
        </p:spPr>
      </p:cxnSp>
      <p:sp>
        <p:nvSpPr>
          <p:cNvPr id="25" name="chrome-2"/>
          <p:cNvSpPr txBox="1"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850" b="0">
                <a:solidFill>
                  <a:srgbClr val="58615B"/>
                </a:solidFill>
                <a:latin typeface="Arial"/>
              </a:rPr>
              <a:t>Brannoch National Parks Service  |  Annual Report 2025-26</a:t>
            </a:r>
          </a:p>
        </p:txBody>
      </p:sp>
      <p:sp>
        <p:nvSpPr>
          <p:cNvPr id="26" name="chrome-3"/>
          <p:cNvSpPr txBox="1"/>
          <p:nvPr/>
        </p:nvSpPr>
        <p:spPr>
          <a:xfrm>
            <a:off x="11185855" y="64922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850">
                <a:solidFill>
                  <a:srgbClr val="58615B"/>
                </a:solidFill>
                <a:latin typeface="Arial"/>
              </a:rPr>
              <a:t>1</a:t>
            </a:fld>
          </a:p>
        </p:txBody>
      </p:sp>
      <p:sp>
        <p:nvSpPr>
          <p:cNvPr id="2" name="disc-fill"/>
          <p:cNvSpPr/>
          <p:nvPr/>
        </p:nvSpPr>
        <p:spPr>
          <a:xfrm>
            <a:off x="548640" y="548640"/>
            <a:ext cx="387370" cy="392430"/>
          </a:xfrm>
          <a:prstGeom prst="ellipse">
            <a:avLst/>
          </a:prstGeom>
          <a:solidFill>
            <a:srgbClr val="1F5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isc-n"/>
          <p:cNvSpPr/>
          <p:nvPr/>
        </p:nvSpPr>
        <p:spPr>
          <a:xfrm>
            <a:off x="594360" y="640080"/>
            <a:ext cx="29593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kicker"/>
          <p:cNvSpPr/>
          <p:nvPr/>
        </p:nvSpPr>
        <p:spPr>
          <a:xfrm>
            <a:off x="1118890" y="548640"/>
            <a:ext cx="105244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00">
                <a:solidFill>
                  <a:srgbClr val="1F5A6E"/>
                </a:solidFill>
                <a:latin typeface="Arial"/>
              </a:rPr>
              <a:t>VOLUNTEER PROGRAMME</a:t>
            </a:r>
          </a:p>
        </p:txBody>
      </p:sp>
      <p:sp>
        <p:nvSpPr>
          <p:cNvPr id="5" name="title"/>
          <p:cNvSpPr/>
          <p:nvPr/>
        </p:nvSpPr>
        <p:spPr>
          <a:xfrm>
            <a:off x="1118890" y="746760"/>
            <a:ext cx="1052447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F2723"/>
                </a:solidFill>
                <a:latin typeface="Georgia"/>
              </a:rPr>
              <a:t>Volunteers gave 192,000 hours this year, up 63% in four years</a:t>
            </a:r>
          </a:p>
        </p:txBody>
      </p:sp>
      <p:sp>
        <p:nvSpPr>
          <p:cNvPr id="6" name="chart-cap"/>
          <p:cNvSpPr/>
          <p:nvPr/>
        </p:nvSpPr>
        <p:spPr>
          <a:xfrm>
            <a:off x="548640" y="1341120"/>
            <a:ext cx="715264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Volunteer hours each year, with the number of volunteers under each year</a:t>
            </a:r>
          </a:p>
        </p:txBody>
      </p:sp>
      <p:graphicFrame>
        <p:nvGraphicFramePr>
          <p:cNvPr id="7" name="hours"/>
          <p:cNvGraphicFramePr>
            <a:graphicFrameLocks noGrp="1"/>
          </p:cNvGraphicFramePr>
          <p:nvPr/>
        </p:nvGraphicFramePr>
        <p:xfrm>
          <a:off x="548640" y="1584960"/>
          <a:ext cx="7152640" cy="32016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worth-h"/>
          <p:cNvSpPr/>
          <p:nvPr/>
        </p:nvSpPr>
        <p:spPr>
          <a:xfrm>
            <a:off x="8067040" y="1341120"/>
            <a:ext cx="357632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What the work is worth</a:t>
            </a:r>
          </a:p>
        </p:txBody>
      </p:sp>
      <p:sp>
        <p:nvSpPr>
          <p:cNvPr id="9" name="worth"/>
          <p:cNvSpPr/>
          <p:nvPr/>
        </p:nvSpPr>
        <p:spPr>
          <a:xfrm>
            <a:off x="8067040" y="1642110"/>
            <a:ext cx="357632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At $24.50 an hour, this year's hours are worth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$4.70m: $1.18 of work for every $1 the programme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cost us ($4.0m).</a:t>
            </a:r>
          </a:p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That is the work of 116 full-time staff, given by 4,760</a:t>
            </a:r>
            <a:br/>
            <a:r>
              <a:rPr sz="1200" b="0" i="0">
                <a:solidFill>
                  <a:srgbClr val="1F2723"/>
                </a:solidFill>
                <a:latin typeface="Arial"/>
              </a:rPr>
              <a:t>people.</a:t>
            </a:r>
          </a:p>
        </p:txBody>
      </p:sp>
      <p:sp>
        <p:nvSpPr>
          <p:cNvPr id="10" name="worth-n"/>
          <p:cNvSpPr/>
          <p:nvPr/>
        </p:nvSpPr>
        <p:spPr>
          <a:xfrm>
            <a:off x="8067040" y="2838450"/>
            <a:ext cx="35763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58615B"/>
                </a:solidFill>
                <a:latin typeface="Arial"/>
              </a:rPr>
              <a:t>$24.50 is the average hourly cost of a seasonal ranger; a full-time year is</a:t>
            </a:r>
            <a:br/>
            <a:r>
              <a:rPr sz="850" b="0" i="0">
                <a:solidFill>
                  <a:srgbClr val="58615B"/>
                </a:solidFill>
                <a:latin typeface="Arial"/>
              </a:rPr>
              <a:t>1,650 hours.</a:t>
            </a:r>
          </a:p>
        </p:txBody>
      </p:sp>
      <p:sp>
        <p:nvSpPr>
          <p:cNvPr id="11" name="acts-h"/>
          <p:cNvSpPr/>
          <p:nvPr/>
        </p:nvSpPr>
        <p:spPr>
          <a:xfrm>
            <a:off x="548640" y="5060950"/>
            <a:ext cx="11094720" cy="28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1F2723"/>
                </a:solidFill>
                <a:latin typeface="Arial"/>
              </a:rPr>
              <a:t>What volunteers did in 2025-26</a:t>
            </a:r>
          </a:p>
        </p:txBody>
      </p:sp>
      <p:sp>
        <p:nvSpPr>
          <p:cNvPr id="12" name="act0"/>
          <p:cNvSpPr/>
          <p:nvPr/>
        </p:nvSpPr>
        <p:spPr>
          <a:xfrm>
            <a:off x="548640" y="5391150"/>
            <a:ext cx="207264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74,000</a:t>
            </a:r>
          </a:p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hours of habitat work</a:t>
            </a:r>
          </a:p>
        </p:txBody>
      </p:sp>
      <p:sp>
        <p:nvSpPr>
          <p:cNvPr id="13" name="act1"/>
          <p:cNvSpPr/>
          <p:nvPr/>
        </p:nvSpPr>
        <p:spPr>
          <a:xfrm>
            <a:off x="2804160" y="5391150"/>
            <a:ext cx="207264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48,000</a:t>
            </a:r>
          </a:p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hours repairing trails</a:t>
            </a:r>
          </a:p>
        </p:txBody>
      </p:sp>
      <p:sp>
        <p:nvSpPr>
          <p:cNvPr id="14" name="act2"/>
          <p:cNvSpPr/>
          <p:nvPr/>
        </p:nvSpPr>
        <p:spPr>
          <a:xfrm>
            <a:off x="5059680" y="5391150"/>
            <a:ext cx="207264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39,000</a:t>
            </a:r>
          </a:p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hours welcoming and guiding</a:t>
            </a:r>
            <a:br/>
            <a:r>
              <a:rPr sz="1000" b="0" i="0">
                <a:solidFill>
                  <a:srgbClr val="58615B"/>
                </a:solidFill>
                <a:latin typeface="Arial"/>
              </a:rPr>
              <a:t>visitors</a:t>
            </a:r>
          </a:p>
        </p:txBody>
      </p:sp>
      <p:sp>
        <p:nvSpPr>
          <p:cNvPr id="15" name="act3"/>
          <p:cNvSpPr/>
          <p:nvPr/>
        </p:nvSpPr>
        <p:spPr>
          <a:xfrm>
            <a:off x="7315200" y="5391150"/>
            <a:ext cx="207264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21,000</a:t>
            </a:r>
          </a:p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hours of wildlife surveys</a:t>
            </a:r>
          </a:p>
        </p:txBody>
      </p:sp>
      <p:sp>
        <p:nvSpPr>
          <p:cNvPr id="16" name="act4"/>
          <p:cNvSpPr/>
          <p:nvPr/>
        </p:nvSpPr>
        <p:spPr>
          <a:xfrm>
            <a:off x="9570720" y="5391150"/>
            <a:ext cx="207264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F2723"/>
                </a:solidFill>
                <a:latin typeface="Georgia"/>
              </a:rPr>
              <a:t>10,000</a:t>
            </a:r>
          </a:p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hours of litter clean-ups</a:t>
            </a:r>
          </a:p>
        </p:txBody>
      </p:sp>
      <p:sp>
        <p:nvSpPr>
          <p:cNvPr id="17" name="source"/>
          <p:cNvSpPr/>
          <p:nvPr/>
        </p:nvSpPr>
        <p:spPr>
          <a:xfrm>
            <a:off x="548640" y="6179820"/>
            <a:ext cx="11094720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58615B"/>
                </a:solidFill>
                <a:latin typeface="Arial"/>
              </a:rPr>
              <a:t>Hours are logged by volunteers and checked by their team leaders. Source: Brannoch National Parks Service records, April 2025 to March 2026. Illustrative figures for a fictional service.</a:t>
            </a:r>
          </a:p>
        </p:txBody>
      </p:sp>
      <p:sp>
        <p:nvSpPr>
          <p:cNvPr id="18" name="vols-0-text"/>
          <p:cNvSpPr/>
          <p:nvPr/>
        </p:nvSpPr>
        <p:spPr>
          <a:xfrm>
            <a:off x="1906526" y="4323029"/>
            <a:ext cx="374169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5A6E"/>
                </a:solidFill>
                <a:latin typeface="Arial"/>
              </a:rPr>
              <a:t>2,950</a:t>
            </a:r>
          </a:p>
        </p:txBody>
      </p:sp>
      <p:sp>
        <p:nvSpPr>
          <p:cNvPr id="19" name="vols-1-text"/>
          <p:cNvSpPr/>
          <p:nvPr/>
        </p:nvSpPr>
        <p:spPr>
          <a:xfrm>
            <a:off x="3136780" y="4323029"/>
            <a:ext cx="374169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5A6E"/>
                </a:solidFill>
                <a:latin typeface="Arial"/>
              </a:rPr>
              <a:t>3,410</a:t>
            </a:r>
          </a:p>
        </p:txBody>
      </p:sp>
      <p:sp>
        <p:nvSpPr>
          <p:cNvPr id="20" name="vols-2-text"/>
          <p:cNvSpPr/>
          <p:nvPr/>
        </p:nvSpPr>
        <p:spPr>
          <a:xfrm>
            <a:off x="4367034" y="4323029"/>
            <a:ext cx="374169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5A6E"/>
                </a:solidFill>
                <a:latin typeface="Arial"/>
              </a:rPr>
              <a:t>3,880</a:t>
            </a:r>
          </a:p>
        </p:txBody>
      </p:sp>
      <p:sp>
        <p:nvSpPr>
          <p:cNvPr id="21" name="vols-3-text"/>
          <p:cNvSpPr/>
          <p:nvPr/>
        </p:nvSpPr>
        <p:spPr>
          <a:xfrm>
            <a:off x="5597288" y="4323029"/>
            <a:ext cx="374169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5A6E"/>
                </a:solidFill>
                <a:latin typeface="Arial"/>
              </a:rPr>
              <a:t>4,320</a:t>
            </a:r>
          </a:p>
        </p:txBody>
      </p:sp>
      <p:sp>
        <p:nvSpPr>
          <p:cNvPr id="22" name="vols-4-text"/>
          <p:cNvSpPr/>
          <p:nvPr/>
        </p:nvSpPr>
        <p:spPr>
          <a:xfrm>
            <a:off x="6827542" y="4323029"/>
            <a:ext cx="374169" cy="160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F5A6E"/>
                </a:solidFill>
                <a:latin typeface="Arial"/>
              </a:rPr>
              <a:t>4,760</a:t>
            </a:r>
          </a:p>
        </p:txBody>
      </p:sp>
      <p:sp>
        <p:nvSpPr>
          <p:cNvPr id="23" name="vols-label"/>
          <p:cNvSpPr/>
          <p:nvPr/>
        </p:nvSpPr>
        <p:spPr>
          <a:xfrm>
            <a:off x="837866" y="4326839"/>
            <a:ext cx="640617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8615B"/>
                </a:solidFill>
                <a:latin typeface="Arial"/>
              </a:rPr>
              <a:t>Volunteers</a:t>
            </a: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9" name="chrome-1"/>
          <p:cNvCxnSpPr/>
          <p:nvPr/>
        </p:nvCxnSpPr>
        <p:spPr>
          <a:xfrm>
            <a:off x="548640" y="6423660"/>
            <a:ext cx="11094415" cy="0"/>
          </a:xfrm>
          <a:prstGeom prst="line">
            <a:avLst/>
          </a:prstGeom>
          <a:ln w="9525">
            <a:solidFill>
              <a:srgbClr val="CFCBBF"/>
            </a:solidFill>
          </a:ln>
        </p:spPr>
      </p:cxnSp>
      <p:sp>
        <p:nvSpPr>
          <p:cNvPr id="10" name="chrome-2"/>
          <p:cNvSpPr txBox="1"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850" b="0">
                <a:solidFill>
                  <a:srgbClr val="58615B"/>
                </a:solidFill>
                <a:latin typeface="Arial"/>
              </a:rPr>
              <a:t>Brannoch National Parks Service  |  Annual Report 2025-26</a:t>
            </a:r>
          </a:p>
        </p:txBody>
      </p:sp>
      <p:sp>
        <p:nvSpPr>
          <p:cNvPr id="11" name="chrome-3"/>
          <p:cNvSpPr txBox="1"/>
          <p:nvPr/>
        </p:nvSpPr>
        <p:spPr>
          <a:xfrm>
            <a:off x="11185855" y="64922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850">
                <a:solidFill>
                  <a:srgbClr val="58615B"/>
                </a:solidFill>
                <a:latin typeface="Arial"/>
              </a:rPr>
              <a:t>1</a:t>
            </a:fld>
          </a:p>
        </p:txBody>
      </p:sp>
      <p:sp>
        <p:nvSpPr>
          <p:cNvPr id="2" name="disc-fill"/>
          <p:cNvSpPr/>
          <p:nvPr/>
        </p:nvSpPr>
        <p:spPr>
          <a:xfrm>
            <a:off x="548640" y="548640"/>
            <a:ext cx="387370" cy="392430"/>
          </a:xfrm>
          <a:prstGeom prst="ellipse">
            <a:avLst/>
          </a:prstGeom>
          <a:solidFill>
            <a:srgbClr val="1F5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isc-n"/>
          <p:cNvSpPr/>
          <p:nvPr/>
        </p:nvSpPr>
        <p:spPr>
          <a:xfrm>
            <a:off x="594360" y="640080"/>
            <a:ext cx="29593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" name="kicker"/>
          <p:cNvSpPr/>
          <p:nvPr/>
        </p:nvSpPr>
        <p:spPr>
          <a:xfrm>
            <a:off x="1118890" y="548640"/>
            <a:ext cx="105244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00">
                <a:solidFill>
                  <a:srgbClr val="1F5A6E"/>
                </a:solidFill>
                <a:latin typeface="Arial"/>
              </a:rPr>
              <a:t>PRIORITIES FOR NEXT YEAR</a:t>
            </a:r>
          </a:p>
        </p:txBody>
      </p:sp>
      <p:sp>
        <p:nvSpPr>
          <p:cNvPr id="5" name="title"/>
          <p:cNvSpPr/>
          <p:nvPr/>
        </p:nvSpPr>
        <p:spPr>
          <a:xfrm>
            <a:off x="1118890" y="746760"/>
            <a:ext cx="1052447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F2723"/>
                </a:solidFill>
                <a:latin typeface="Georgia"/>
              </a:rPr>
              <a:t>Five commitments for 2026-27, costing $13.6m, each with a</a:t>
            </a:r>
            <a:br/>
            <a:r>
              <a:rPr sz="2400" b="1" i="0">
                <a:solidFill>
                  <a:srgbClr val="1F2723"/>
                </a:solidFill>
                <a:latin typeface="Georgia"/>
              </a:rPr>
              <a:t>measure we will report next year</a:t>
            </a:r>
          </a:p>
        </p:txBody>
      </p:sp>
      <p:sp>
        <p:nvSpPr>
          <p:cNvPr id="6" name="lead"/>
          <p:cNvSpPr/>
          <p:nvPr/>
        </p:nvSpPr>
        <p:spPr>
          <a:xfrm>
            <a:off x="548640" y="1831255"/>
            <a:ext cx="1109472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1F2723"/>
                </a:solidFill>
                <a:latin typeface="Arial"/>
              </a:rPr>
              <a:t>Each commitment answers a finding on the pages before. Hold us to the measures: next year's report will say whether we met each one.</a:t>
            </a:r>
          </a:p>
        </p:txBody>
      </p:sp>
      <p:graphicFrame>
        <p:nvGraphicFramePr>
          <p:cNvPr id="7" name="prio"/>
          <p:cNvGraphicFramePr>
            <a:graphicFrameLocks noGrp="1"/>
          </p:cNvGraphicFramePr>
          <p:nvPr/>
        </p:nvGraphicFramePr>
        <p:xfrm>
          <a:off x="548640" y="2542371"/>
          <a:ext cx="11094720" cy="319303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107997"/>
                <a:gridCol w="4326941"/>
                <a:gridCol w="3328416"/>
                <a:gridCol w="1331366"/>
              </a:tblGrid>
              <a:tr h="33553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Commitment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What we will do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How you will know, by March 2027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F2723"/>
                          </a:solidFill>
                          <a:latin typeface="Arial"/>
                        </a:rPr>
                        <a:t>Budget ($m)</a:t>
                      </a:r>
                      <a:endParaRPr sz="100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  Healthier rivers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Replant 18 km of riverbank with native trees and fence it from grazing, to cool and clean the water for salmon and mussels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18 km planted; silt and summer water temperature measured at 12 river sites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3.4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2  Getting here without a car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Run three new shuttle routes from rail stations and towns, with one ticket for the bus and entry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30% of visits by bus, shuttle or train, up from 25%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2.6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3  Step-free trails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Resurface and widen trails so wheelchairs, buggies and walking frames can use them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281 km of step-free trail, up from 241 km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1.9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4  Repairs we have put off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Fix bridges, toilets and paths on our list of 214 priority repairs, worst first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60 of the 214 repairs done (28%)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4.8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6350">
                      <a:solidFill>
                        <a:srgbClr val="CFCB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5  More and younger volunteers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Start a scheme for 16 to 25 year olds and add weekend and evening sessions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5,300 volunteers, up from 4,760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723"/>
                          </a:solidFill>
                          <a:latin typeface="Arial"/>
                        </a:rPr>
                        <a:t>0.9</a:t>
                      </a:r>
                      <a:endParaRPr sz="1050" b="0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FCBBF"/>
                      </a:solidFill>
                    </a:lnT>
                    <a:lnB w="19050">
                      <a:solidFill>
                        <a:srgbClr val="1F5A6E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Total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F2723"/>
                          </a:solidFill>
                          <a:latin typeface="Arial"/>
                        </a:rPr>
                        <a:t>13.6</a:t>
                      </a:r>
                      <a:endParaRPr sz="1050" b="1" i="0">
                        <a:solidFill>
                          <a:srgbClr val="1F2723"/>
                        </a:solidFill>
                        <a:latin typeface="Arial"/>
                      </a:endParaRPr>
                    </a:p>
                  </a:txBody>
                  <a:tcPr marL="91440" marR="91440" marT="91440" marB="91440" anchor="t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F5A6E"/>
                      </a:solidFill>
                    </a:lnT>
                    <a:lnB w="9525">
                      <a:solidFill>
                        <a:srgbClr val="1F5A6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ource"/>
          <p:cNvSpPr/>
          <p:nvPr/>
        </p:nvSpPr>
        <p:spPr>
          <a:xfrm>
            <a:off x="548640" y="6179820"/>
            <a:ext cx="11094720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58615B"/>
                </a:solidFill>
                <a:latin typeface="Arial"/>
              </a:rPr>
              <a:t>Budgets are from the 2026-27 spending plan approved by the Service's board. Source: Brannoch National Parks Service records, April 2025 to March 2026. Illustrative figures for a fictional service.</a:t>
            </a: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2026-10-27T11:19:04Z</dcterms:created>
  <dcterms:modified xsi:type="dcterms:W3CDTF">2026-10-27T11:19:04Z</dcterms:modified>
  <cp:category/>
</cp:coreProperties>
</file>