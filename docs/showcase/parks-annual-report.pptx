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2025-26</c:v>
                </c:pt>
              </c:strCache>
            </c:strRef>
          </c:tx>
          <c:spPr>
            <a:ln w="31750">
              <a:solidFill>
                <a:srgbClr val="1F5A6E"/>
              </a:solidFill>
            </a:ln>
          </c:spPr>
          <c:marker>
            <c:symbol val="circle"/>
            <c:size val="6"/>
            <c:spPr>
              <a:solidFill>
                <a:srgbClr val="1F5A6E"/>
              </a:solidFill>
              <a:ln>
                <a:solidFill>
                  <a:srgbClr val="1F5A6E"/>
                </a:solidFill>
              </a:ln>
            </c:spPr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Low: 330 in January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#,##0</c:formatCode>
                <c:ptCount val="12"/>
                <c:pt idx="0">
                  <c:v>610</c:v>
                </c:pt>
                <c:pt idx="1">
                  <c:v>750</c:v>
                </c:pt>
                <c:pt idx="2">
                  <c:v>910</c:v>
                </c:pt>
                <c:pt idx="3">
                  <c:v>1060</c:v>
                </c:pt>
                <c:pt idx="4">
                  <c:v>1180</c:v>
                </c:pt>
                <c:pt idx="5">
                  <c:v>980</c:v>
                </c:pt>
                <c:pt idx="6">
                  <c:v>810</c:v>
                </c:pt>
                <c:pt idx="7">
                  <c:v>510</c:v>
                </c:pt>
                <c:pt idx="8">
                  <c:v>380</c:v>
                </c:pt>
                <c:pt idx="9">
                  <c:v>330</c:v>
                </c:pt>
                <c:pt idx="10">
                  <c:v>400</c:v>
                </c:pt>
                <c:pt idx="11">
                  <c:v>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2024-25</c:v>
                </c:pt>
              </c:strCache>
            </c:strRef>
          </c:tx>
          <c:spPr>
            <a:ln w="25400">
              <a:solidFill>
                <a:srgbClr val="A9B3A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#,##0</c:formatCode>
                <c:ptCount val="12"/>
                <c:pt idx="0">
                  <c:v>570</c:v>
                </c:pt>
                <c:pt idx="1">
                  <c:v>700</c:v>
                </c:pt>
                <c:pt idx="2">
                  <c:v>850</c:v>
                </c:pt>
                <c:pt idx="3">
                  <c:v>1010</c:v>
                </c:pt>
                <c:pt idx="4">
                  <c:v>1120</c:v>
                </c:pt>
                <c:pt idx="5">
                  <c:v>920</c:v>
                </c:pt>
                <c:pt idx="6">
                  <c:v>750</c:v>
                </c:pt>
                <c:pt idx="7">
                  <c:v>470</c:v>
                </c:pt>
                <c:pt idx="8">
                  <c:v>360</c:v>
                </c:pt>
                <c:pt idx="9">
                  <c:v>310</c:v>
                </c:pt>
                <c:pt idx="10">
                  <c:v>380</c:v>
                </c:pt>
                <c:pt idx="11">
                  <c:v>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00.0"/>
          <c:min val="0.0"/>
        </c:scaling>
        <c:delete val="0"/>
        <c:axPos val="l"/>
        <c:majorGridlines>
          <c:spPr>
            <a:ln w="6350">
              <a:solidFill>
                <a:srgbClr val="CFCBBF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2118791784"/>
        <c:crosses val="autoZero"/>
        <c:crossBetween val="between"/>
        <c:majorUnit val="200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7"/>
          <c:y val="0.02"/>
          <c:w val="0.71"/>
          <c:h val="0.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since 2021 (%)</c:v>
                </c:pt>
              </c:strCache>
            </c:strRef>
          </c:tx>
          <c:spPr>
            <a:solidFill>
              <a:srgbClr val="3B7A3A"/>
            </a:solidFill>
            <a:ln>
              <a:noFill/>
            </a:ln>
          </c:spPr>
          <c:dPt>
            <c:idx val="6"/>
            <c:spPr>
              <a:solidFill>
                <a:srgbClr val="B03E2C"/>
              </a:solidFill>
            </c:spPr>
          </c:dPt>
          <c:dPt>
            <c:idx val="7"/>
            <c:spPr>
              <a:solidFill>
                <a:srgbClr val="B03E2C"/>
              </a:solidFill>
            </c:spPr>
          </c:dPt>
          <c:dPt>
            <c:idx val="8"/>
            <c:spPr>
              <a:solidFill>
                <a:srgbClr val="B03E2C"/>
              </a:solidFill>
            </c:spPr>
          </c:dPt>
          <c:dLbls>
            <c:numFmt formatCode="+0&quot;%&quot;;-0&quot;%&quot;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Water vole</c:v>
                </c:pt>
                <c:pt idx="1">
                  <c:v>Pine marten</c:v>
                </c:pt>
                <c:pt idx="2">
                  <c:v>Red squirrel</c:v>
                </c:pt>
                <c:pt idx="3">
                  <c:v>Golden eagle (pairs)</c:v>
                </c:pt>
                <c:pt idx="4">
                  <c:v>Natterjack toad</c:v>
                </c:pt>
                <c:pt idx="5">
                  <c:v>Black grouse</c:v>
                </c:pt>
                <c:pt idx="6">
                  <c:v>Atlantic salmon (returning)</c:v>
                </c:pt>
                <c:pt idx="7">
                  <c:v>Freshwater pearl mussel</c:v>
                </c:pt>
                <c:pt idx="8">
                  <c:v>Capercaillie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41</c:v>
                </c:pt>
                <c:pt idx="1">
                  <c:v>34</c:v>
                </c:pt>
                <c:pt idx="2">
                  <c:v>22</c:v>
                </c:pt>
                <c:pt idx="3">
                  <c:v>18</c:v>
                </c:pt>
                <c:pt idx="4">
                  <c:v>12</c:v>
                </c:pt>
                <c:pt idx="5">
                  <c:v>5</c:v>
                </c:pt>
                <c:pt idx="6">
                  <c:v>-6</c:v>
                </c:pt>
                <c:pt idx="7">
                  <c:v>-9</c:v>
                </c:pt>
                <c:pt idx="8">
                  <c:v>-14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-25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7"/>
          <c:y val="0.01"/>
          <c:w val="0.57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 every $100 spent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0"/>
            <c:spPr>
              <a:solidFill>
                <a:srgbClr val="B4561A"/>
              </a:solidFill>
            </c:spPr>
          </c:dPt>
          <c:dLbls>
            <c:dLbl>
              <c:idx val="0"/>
              <c:numFmt formatCode="&quot;$&quot;0" sourceLinked="0"/>
              <c:spPr/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Conservation and habitats ($46.1m)</c:v>
                </c:pt>
                <c:pt idx="1">
                  <c:v>Rangers and visitor services ($35.6m)</c:v>
                </c:pt>
                <c:pt idx="2">
                  <c:v>Trails, roads and buildings ($31.8m)</c:v>
                </c:pt>
                <c:pt idx="3">
                  <c:v>Running the service ($15.2m)</c:v>
                </c:pt>
                <c:pt idx="4">
                  <c:v>Education and community ($12.4m)</c:v>
                </c:pt>
                <c:pt idx="5">
                  <c:v>Volunteer programme ($4.0m)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32</c:v>
                </c:pt>
                <c:pt idx="1">
                  <c:v>24</c:v>
                </c:pt>
                <c:pt idx="2">
                  <c:v>22</c:v>
                </c:pt>
                <c:pt idx="3">
                  <c:v>10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8"/>
          <c:w val="0.86"/>
          <c:h val="0.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(thousands)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4"/>
            <c:spPr>
              <a:solidFill>
                <a:srgbClr val="B456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118,000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139,000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158,000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Arial"/>
                      </a:rPr>
                      <a:t>171,000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B4561A"/>
                        </a:solidFill>
                        <a:latin typeface="Arial"/>
                      </a:rPr>
                      <a:t>192,000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2021-22</c:v>
                </c:pt>
                <c:pt idx="1">
                  <c:v>2022-23</c:v>
                </c:pt>
                <c:pt idx="2">
                  <c:v>2023-24</c:v>
                </c:pt>
                <c:pt idx="3">
                  <c:v>2024-25</c:v>
                </c:pt>
                <c:pt idx="4">
                  <c:v>2025-26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118</c:v>
                </c:pt>
                <c:pt idx="1">
                  <c:v>139</c:v>
                </c:pt>
                <c:pt idx="2">
                  <c:v>158</c:v>
                </c:pt>
                <c:pt idx="3">
                  <c:v>171</c:v>
                </c:pt>
                <c:pt idx="4">
                  <c:v>192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tags" Target="../tags/tag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ags" Target="../tags/tag5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5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6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7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VISITORS AND ACCESS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Visits rose 6.0% to 8.42 million, and more than a third of visitors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now arrive without a car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661160"/>
            <a:ext cx="70293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Visits each month, thousands: </a:t>
            </a:r>
            <a:r>
              <a:rPr sz="1000" b="1" i="0">
                <a:solidFill>
                  <a:srgbClr val="1F5A6E"/>
                </a:solidFill>
                <a:latin typeface="Arial"/>
              </a:rPr>
              <a:t>this year, 2025-26</a:t>
            </a:r>
            <a:r>
              <a:rPr sz="1000" b="0" i="0">
                <a:solidFill>
                  <a:srgbClr val="58615B"/>
                </a:solidFill>
                <a:latin typeface="Arial"/>
              </a:rPr>
              <a:t>, and </a:t>
            </a:r>
            <a:r>
              <a:rPr sz="1000" b="1" i="0">
                <a:solidFill>
                  <a:srgbClr val="58615B"/>
                </a:solidFill>
                <a:latin typeface="Arial"/>
              </a:rPr>
              <a:t>last year, 2024-25</a:t>
            </a:r>
          </a:p>
        </p:txBody>
      </p:sp>
      <p:graphicFrame>
        <p:nvGraphicFramePr>
          <p:cNvPr id="7" name="visits"/>
          <p:cNvGraphicFramePr>
            <a:graphicFrameLocks noGrp="1"/>
          </p:cNvGraphicFramePr>
          <p:nvPr/>
        </p:nvGraphicFramePr>
        <p:xfrm>
          <a:off x="548640" y="1905000"/>
          <a:ext cx="7029319" cy="4000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3719" y="1661160"/>
            <a:ext cx="3699641" cy="424434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6599" y="1844040"/>
            <a:ext cx="3333881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How visitors arrived</a:t>
            </a:r>
          </a:p>
        </p:txBody>
      </p:sp>
      <p:graphicFrame>
        <p:nvGraphicFramePr>
          <p:cNvPr id="10" name="arrive"/>
          <p:cNvGraphicFramePr>
            <a:graphicFrameLocks noGrp="1"/>
          </p:cNvGraphicFramePr>
          <p:nvPr/>
        </p:nvGraphicFramePr>
        <p:xfrm>
          <a:off x="8126599" y="2145030"/>
          <a:ext cx="3333881" cy="168427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33520"/>
                <a:gridCol w="733454"/>
                <a:gridCol w="733454"/>
                <a:gridCol w="733453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Share of visits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Change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Car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71%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64%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-7 pts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Bus, shuttle or train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19%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25%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B4561A"/>
                          </a:solidFill>
                          <a:latin typeface="Arial"/>
                        </a:rPr>
                        <a:t>+6 pts</a:t>
                      </a:r>
                      <a:endParaRPr sz="1050" b="1" i="0">
                        <a:solidFill>
                          <a:srgbClr val="B4561A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On foot or by bike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10%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11%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+1 pt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rail"/>
          <p:cNvSpPr/>
          <p:nvPr/>
        </p:nvSpPr>
        <p:spPr>
          <a:xfrm>
            <a:off x="8126599" y="3920744"/>
            <a:ext cx="3333881" cy="148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Step-free trails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241 km of trail can now be used without steps by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wheelchairs and buggies, 53 km more than last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year.</a:t>
            </a:r>
          </a:p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School visits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41,300 pupils came on free school trips.</a:t>
            </a:r>
          </a:p>
        </p:txBody>
      </p:sp>
      <p:sp>
        <p:nvSpPr>
          <p:cNvPr id="12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Visits are counted at park entrances; how visitors arrived comes from our visitor survey. Source: Brannoch National Parks Service records, April 2025 to March 2026. Illustrative figures for a fictional service.</a:t>
            </a:r>
          </a:p>
        </p:txBody>
      </p:sp>
      <p:sp>
        <p:nvSpPr>
          <p:cNvPr id="13" name="peak-box"/>
          <p:cNvSpPr/>
          <p:nvPr/>
        </p:nvSpPr>
        <p:spPr>
          <a:xfrm>
            <a:off x="3329267" y="2521839"/>
            <a:ext cx="167640" cy="167640"/>
          </a:xfrm>
          <a:prstGeom prst="ellipse">
            <a:avLst/>
          </a:prstGeom>
          <a:noFill/>
          <a:ln w="2222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eak-label"/>
          <p:cNvSpPr/>
          <p:nvPr/>
        </p:nvSpPr>
        <p:spPr>
          <a:xfrm>
            <a:off x="3599460" y="2525649"/>
            <a:ext cx="1413947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Arial"/>
              </a:rPr>
              <a:t>Peak: 1,180 in August</a:t>
            </a: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6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7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8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37667" y="537667"/>
            <a:ext cx="388279" cy="381787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82473" y="627278"/>
            <a:ext cx="298667" cy="2025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kicker"/>
          <p:cNvSpPr/>
          <p:nvPr/>
        </p:nvSpPr>
        <p:spPr>
          <a:xfrm>
            <a:off x="1105168" y="537667"/>
            <a:ext cx="1054916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98">
                <a:solidFill>
                  <a:srgbClr val="1F5A6E"/>
                </a:solidFill>
                <a:latin typeface="Arial"/>
              </a:rPr>
              <a:t>CONSERVATION OUTCOMES</a:t>
            </a:r>
          </a:p>
        </p:txBody>
      </p:sp>
      <p:sp>
        <p:nvSpPr>
          <p:cNvPr id="5" name="title"/>
          <p:cNvSpPr/>
          <p:nvPr/>
        </p:nvSpPr>
        <p:spPr>
          <a:xfrm>
            <a:off x="1105168" y="734873"/>
            <a:ext cx="10549165" cy="6268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50" b="1" i="0">
                <a:solidFill>
                  <a:srgbClr val="1F2723"/>
                </a:solidFill>
                <a:latin typeface="Georgia"/>
              </a:rPr>
              <a:t>Six of nine priority species have grown since 2021; three that need</a:t>
            </a:r>
            <a:br/>
            <a:r>
              <a:rPr sz="2350" b="1" i="0">
                <a:solidFill>
                  <a:srgbClr val="1F2723"/>
                </a:solidFill>
                <a:latin typeface="Georgia"/>
              </a:rPr>
              <a:t>rivers or old pinewood have fallen</a:t>
            </a:r>
          </a:p>
        </p:txBody>
      </p:sp>
      <p:sp>
        <p:nvSpPr>
          <p:cNvPr id="6" name="chart-cap"/>
          <p:cNvSpPr/>
          <p:nvPr/>
        </p:nvSpPr>
        <p:spPr>
          <a:xfrm>
            <a:off x="537667" y="1630579"/>
            <a:ext cx="704849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Change in each species' counted population since the 2021 count, %</a:t>
            </a:r>
          </a:p>
        </p:txBody>
      </p:sp>
      <p:graphicFrame>
        <p:nvGraphicFramePr>
          <p:cNvPr id="7" name="species"/>
          <p:cNvGraphicFramePr>
            <a:graphicFrameLocks noGrp="1"/>
          </p:cNvGraphicFramePr>
          <p:nvPr/>
        </p:nvGraphicFramePr>
        <p:xfrm>
          <a:off x="537667" y="1872590"/>
          <a:ext cx="7048490" cy="40493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4602" y="1630579"/>
            <a:ext cx="3709731" cy="429138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3824" y="1809801"/>
            <a:ext cx="3351287" cy="2025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1F2723"/>
                </a:solidFill>
                <a:latin typeface="Georgia"/>
              </a:rPr>
              <a:t>Habitat restored this year</a:t>
            </a:r>
          </a:p>
        </p:txBody>
      </p:sp>
      <p:sp>
        <p:nvSpPr>
          <p:cNvPr id="10" name="hab"/>
          <p:cNvSpPr/>
          <p:nvPr/>
        </p:nvSpPr>
        <p:spPr>
          <a:xfrm>
            <a:off x="8123824" y="2167942"/>
            <a:ext cx="3351287" cy="4556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588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We restored </a:t>
            </a:r>
            <a:r>
              <a:rPr sz="1200" b="1" i="0">
                <a:solidFill>
                  <a:srgbClr val="1F2723"/>
                </a:solidFill>
                <a:latin typeface="Arial"/>
              </a:rPr>
              <a:t>2,140 hectares</a:t>
            </a:r>
            <a:r>
              <a:rPr sz="1200" b="0" i="0">
                <a:solidFill>
                  <a:srgbClr val="1F2723"/>
                </a:solidFill>
                <a:latin typeface="Arial"/>
              </a:rPr>
              <a:t>, 107% of our 2,000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target.</a:t>
            </a:r>
          </a:p>
        </p:txBody>
      </p:sp>
      <p:graphicFrame>
        <p:nvGraphicFramePr>
          <p:cNvPr id="11" name="habt"/>
          <p:cNvGraphicFramePr>
            <a:graphicFrameLocks noGrp="1"/>
          </p:cNvGraphicFramePr>
          <p:nvPr/>
        </p:nvGraphicFramePr>
        <p:xfrm>
          <a:off x="8123824" y="2779193"/>
          <a:ext cx="3351287" cy="168884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876721"/>
                <a:gridCol w="737283"/>
                <a:gridCol w="737283"/>
              </a:tblGrid>
              <a:tr h="3318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Habitat work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Hectares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Share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Peatland re-wetted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1,260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59%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Native woodland planted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540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25%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Wetland restored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340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16%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3924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2,140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100%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89611" marR="89611" marT="89611" marB="89611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why"/>
          <p:cNvSpPr/>
          <p:nvPr/>
        </p:nvSpPr>
        <p:spPr>
          <a:xfrm>
            <a:off x="8123824" y="4623613"/>
            <a:ext cx="3351287" cy="11191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588"/>
              </a:spcBef>
              <a:spcAft>
                <a:spcPts val="196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Why three species fell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588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Salmon and pearl mussels need cool, clean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rivers; warmer summers and silt from eroding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banks harm both. Capercaillie are disturbed by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walkers leaving the path in old pinewood.</a:t>
            </a:r>
          </a:p>
        </p:txBody>
      </p:sp>
      <p:sp>
        <p:nvSpPr>
          <p:cNvPr id="13" name="source"/>
          <p:cNvSpPr/>
          <p:nvPr/>
        </p:nvSpPr>
        <p:spPr>
          <a:xfrm>
            <a:off x="537667" y="6190793"/>
            <a:ext cx="11116666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Species are counted by rangers and volunteers each spring against the 2021 baseline count. Source: Brannoch National Parks Service records, April 2025 to March 2026. Illustrative figures for a fictional service.</a:t>
            </a:r>
          </a:p>
        </p:txBody>
      </p:sp>
      <p:sp>
        <p:nvSpPr>
          <p:cNvPr id="14" name="fallers-bracket"/>
          <p:cNvSpPr/>
          <p:nvPr/>
        </p:nvSpPr>
        <p:spPr>
          <a:xfrm>
            <a:off x="4288124" y="4612198"/>
            <a:ext cx="44806" cy="1161750"/>
          </a:xfrm>
          <a:prstGeom prst="rightBracket">
            <a:avLst/>
          </a:prstGeom>
          <a:noFill/>
          <a:ln w="1587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allers-label"/>
          <p:cNvSpPr/>
          <p:nvPr/>
        </p:nvSpPr>
        <p:spPr>
          <a:xfrm>
            <a:off x="4512152" y="5033053"/>
            <a:ext cx="2147567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Arial"/>
              </a:rPr>
              <a:t>Fell since 2021: next year's focus</a:t>
            </a:r>
            <a:br/>
            <a:r>
              <a:rPr sz="1050" b="1" i="0">
                <a:solidFill>
                  <a:srgbClr val="B4561A"/>
                </a:solidFill>
                <a:latin typeface="Arial"/>
              </a:rPr>
              <a:t>is their rivers and pinewood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4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5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6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BUDGET AND WHERE IT GOES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Of every $100 we spent, $32 went to conservation and $10 to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running the service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661160"/>
            <a:ext cx="11094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We received $148.3m, 5.3% more than last year, and spent $145.1m. The $3.2m left over is set aside for repairs. The government grant paid 65% of our income;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visitors, shops, donors and trusts gave the other $51.9m.</a:t>
            </a:r>
          </a:p>
        </p:txBody>
      </p:sp>
      <p:sp>
        <p:nvSpPr>
          <p:cNvPr id="7" name="chart-h"/>
          <p:cNvSpPr/>
          <p:nvPr/>
        </p:nvSpPr>
        <p:spPr>
          <a:xfrm>
            <a:off x="548640" y="2392680"/>
            <a:ext cx="63497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Where each $100 went</a:t>
            </a:r>
          </a:p>
        </p:txBody>
      </p:sp>
      <p:sp>
        <p:nvSpPr>
          <p:cNvPr id="8" name="chart-cap"/>
          <p:cNvSpPr/>
          <p:nvPr/>
        </p:nvSpPr>
        <p:spPr>
          <a:xfrm>
            <a:off x="548640" y="2693670"/>
            <a:ext cx="634979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Dollars of every $100 spent in 2025-26; the area's spending in $m after its name</a:t>
            </a:r>
          </a:p>
        </p:txBody>
      </p:sp>
      <p:graphicFrame>
        <p:nvGraphicFramePr>
          <p:cNvPr id="9" name="spend"/>
          <p:cNvGraphicFramePr>
            <a:graphicFrameLocks noGrp="1"/>
          </p:cNvGraphicFramePr>
          <p:nvPr/>
        </p:nvGraphicFramePr>
        <p:xfrm>
          <a:off x="548640" y="2937510"/>
          <a:ext cx="6349793" cy="29679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b-h"/>
          <p:cNvSpPr/>
          <p:nvPr/>
        </p:nvSpPr>
        <p:spPr>
          <a:xfrm>
            <a:off x="7264193" y="2392680"/>
            <a:ext cx="4379167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Where the money came from</a:t>
            </a:r>
          </a:p>
        </p:txBody>
      </p:sp>
      <p:sp>
        <p:nvSpPr>
          <p:cNvPr id="11" name="tab-cap"/>
          <p:cNvSpPr/>
          <p:nvPr/>
        </p:nvSpPr>
        <p:spPr>
          <a:xfrm>
            <a:off x="7264193" y="2693670"/>
            <a:ext cx="43791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Income, $m</a:t>
            </a:r>
          </a:p>
        </p:txBody>
      </p:sp>
      <p:graphicFrame>
        <p:nvGraphicFramePr>
          <p:cNvPr id="12" name="income"/>
          <p:cNvGraphicFramePr>
            <a:graphicFrameLocks noGrp="1"/>
          </p:cNvGraphicFramePr>
          <p:nvPr/>
        </p:nvGraphicFramePr>
        <p:xfrm>
          <a:off x="7264193" y="2937510"/>
          <a:ext cx="4379167" cy="23929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627500"/>
                <a:gridCol w="875833"/>
                <a:gridCol w="875834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Source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Government grant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94.0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96.4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Parking, camping and permits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25.9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28.7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Shops, cafes and leases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10.6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11.2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Donations and legacies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6.8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7.9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Grants from trusts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3.5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4.1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 income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140.8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148.3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Spending shares are rounded so that they add to $100. Source: Brannoch National Parks Service records, April 2025 to March 2026. Illustrative figures for a fictional service.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6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27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28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VOLUNTEER PROGRAMME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Volunteers gave 192,000 hours this year, up 63% in four years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341120"/>
            <a:ext cx="71526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Volunteer hours each year, with the number of volunteers under each year</a:t>
            </a:r>
          </a:p>
        </p:txBody>
      </p:sp>
      <p:graphicFrame>
        <p:nvGraphicFramePr>
          <p:cNvPr id="7" name="hours"/>
          <p:cNvGraphicFramePr>
            <a:graphicFrameLocks noGrp="1"/>
          </p:cNvGraphicFramePr>
          <p:nvPr/>
        </p:nvGraphicFramePr>
        <p:xfrm>
          <a:off x="548640" y="1584960"/>
          <a:ext cx="7152640" cy="320167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worth-h"/>
          <p:cNvSpPr/>
          <p:nvPr/>
        </p:nvSpPr>
        <p:spPr>
          <a:xfrm>
            <a:off x="8067040" y="1341120"/>
            <a:ext cx="357632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What the work is worth</a:t>
            </a:r>
          </a:p>
        </p:txBody>
      </p:sp>
      <p:sp>
        <p:nvSpPr>
          <p:cNvPr id="9" name="worth"/>
          <p:cNvSpPr/>
          <p:nvPr/>
        </p:nvSpPr>
        <p:spPr>
          <a:xfrm>
            <a:off x="8067040" y="1642110"/>
            <a:ext cx="357632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At $24.50 an hour, this year's hours are worth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$4.70m: $1.18 of work for every $1 the programme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cost us ($4.0m).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That is the work of 116 full-time staff, given by 4,760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people.</a:t>
            </a:r>
          </a:p>
        </p:txBody>
      </p:sp>
      <p:sp>
        <p:nvSpPr>
          <p:cNvPr id="10" name="worth-n"/>
          <p:cNvSpPr/>
          <p:nvPr/>
        </p:nvSpPr>
        <p:spPr>
          <a:xfrm>
            <a:off x="8067040" y="2838450"/>
            <a:ext cx="357632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$24.50 is the average hourly cost of a seasonal ranger; a full-time year is</a:t>
            </a:r>
            <a:br/>
            <a:r>
              <a:rPr sz="850" b="0" i="0">
                <a:solidFill>
                  <a:srgbClr val="58615B"/>
                </a:solidFill>
                <a:latin typeface="Arial"/>
              </a:rPr>
              <a:t>1,650 hours.</a:t>
            </a:r>
          </a:p>
        </p:txBody>
      </p:sp>
      <p:sp>
        <p:nvSpPr>
          <p:cNvPr id="11" name="per-h"/>
          <p:cNvSpPr/>
          <p:nvPr/>
        </p:nvSpPr>
        <p:spPr>
          <a:xfrm>
            <a:off x="8067040" y="3188970"/>
            <a:ext cx="357632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More people, not longer hours</a:t>
            </a:r>
          </a:p>
        </p:txBody>
      </p:sp>
      <p:sp>
        <p:nvSpPr>
          <p:cNvPr id="12" name="per"/>
          <p:cNvSpPr/>
          <p:nvPr/>
        </p:nvSpPr>
        <p:spPr>
          <a:xfrm>
            <a:off x="8067040" y="3489960"/>
            <a:ext cx="3576320" cy="647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Each volunteer gave about 40 hours a year in all five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years, between 39.6 and 40.8 hours, so the 63%</a:t>
            </a:r>
            <a:br/>
            <a:r>
              <a:rPr sz="1200" b="0" i="0">
                <a:solidFill>
                  <a:srgbClr val="1F2723"/>
                </a:solidFill>
                <a:latin typeface="Arial"/>
              </a:rPr>
              <a:t>rise in hours came from the 61% rise in volunteers.</a:t>
            </a:r>
          </a:p>
        </p:txBody>
      </p:sp>
      <p:sp>
        <p:nvSpPr>
          <p:cNvPr id="13" name="acts-h"/>
          <p:cNvSpPr/>
          <p:nvPr/>
        </p:nvSpPr>
        <p:spPr>
          <a:xfrm>
            <a:off x="548640" y="5060950"/>
            <a:ext cx="11094720" cy="28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Arial"/>
              </a:rPr>
              <a:t>What volunteers did in 2025-26</a:t>
            </a:r>
          </a:p>
        </p:txBody>
      </p:sp>
      <p:sp>
        <p:nvSpPr>
          <p:cNvPr id="14" name="act0"/>
          <p:cNvSpPr/>
          <p:nvPr/>
        </p:nvSpPr>
        <p:spPr>
          <a:xfrm>
            <a:off x="54864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74,000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habitat work</a:t>
            </a:r>
          </a:p>
        </p:txBody>
      </p:sp>
      <p:sp>
        <p:nvSpPr>
          <p:cNvPr id="15" name="act1"/>
          <p:cNvSpPr/>
          <p:nvPr/>
        </p:nvSpPr>
        <p:spPr>
          <a:xfrm>
            <a:off x="280416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48,000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repairing trails</a:t>
            </a:r>
          </a:p>
        </p:txBody>
      </p:sp>
      <p:sp>
        <p:nvSpPr>
          <p:cNvPr id="16" name="act2"/>
          <p:cNvSpPr/>
          <p:nvPr/>
        </p:nvSpPr>
        <p:spPr>
          <a:xfrm>
            <a:off x="505968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39,000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welcoming and guiding</a:t>
            </a:r>
            <a:br/>
            <a:r>
              <a:rPr sz="1000" b="0" i="0">
                <a:solidFill>
                  <a:srgbClr val="58615B"/>
                </a:solidFill>
                <a:latin typeface="Arial"/>
              </a:rPr>
              <a:t>visitors</a:t>
            </a:r>
          </a:p>
        </p:txBody>
      </p:sp>
      <p:sp>
        <p:nvSpPr>
          <p:cNvPr id="17" name="act3"/>
          <p:cNvSpPr/>
          <p:nvPr/>
        </p:nvSpPr>
        <p:spPr>
          <a:xfrm>
            <a:off x="731520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21,000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wildlife surveys</a:t>
            </a:r>
          </a:p>
        </p:txBody>
      </p:sp>
      <p:sp>
        <p:nvSpPr>
          <p:cNvPr id="18" name="act4"/>
          <p:cNvSpPr/>
          <p:nvPr/>
        </p:nvSpPr>
        <p:spPr>
          <a:xfrm>
            <a:off x="957072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orgia"/>
              </a:rPr>
              <a:t>10,000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hours of litter clean-ups</a:t>
            </a:r>
          </a:p>
        </p:txBody>
      </p:sp>
      <p:sp>
        <p:nvSpPr>
          <p:cNvPr id="19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Hours are logged by volunteers and checked by their team leaders. Source: Brannoch National Parks Service records, April 2025 to March 2026. Illustrative figures for a fictional service.</a:t>
            </a:r>
          </a:p>
        </p:txBody>
      </p:sp>
      <p:sp>
        <p:nvSpPr>
          <p:cNvPr id="20" name="vols-0-text"/>
          <p:cNvSpPr/>
          <p:nvPr/>
        </p:nvSpPr>
        <p:spPr>
          <a:xfrm>
            <a:off x="1906526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2,950</a:t>
            </a:r>
          </a:p>
        </p:txBody>
      </p:sp>
      <p:sp>
        <p:nvSpPr>
          <p:cNvPr id="21" name="vols-1-text"/>
          <p:cNvSpPr/>
          <p:nvPr/>
        </p:nvSpPr>
        <p:spPr>
          <a:xfrm>
            <a:off x="3136780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3,410</a:t>
            </a:r>
          </a:p>
        </p:txBody>
      </p:sp>
      <p:sp>
        <p:nvSpPr>
          <p:cNvPr id="22" name="vols-2-text"/>
          <p:cNvSpPr/>
          <p:nvPr/>
        </p:nvSpPr>
        <p:spPr>
          <a:xfrm>
            <a:off x="4367034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3,880</a:t>
            </a:r>
          </a:p>
        </p:txBody>
      </p:sp>
      <p:sp>
        <p:nvSpPr>
          <p:cNvPr id="23" name="vols-3-text"/>
          <p:cNvSpPr/>
          <p:nvPr/>
        </p:nvSpPr>
        <p:spPr>
          <a:xfrm>
            <a:off x="5597288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4,320</a:t>
            </a:r>
          </a:p>
        </p:txBody>
      </p:sp>
      <p:sp>
        <p:nvSpPr>
          <p:cNvPr id="24" name="vols-4-text"/>
          <p:cNvSpPr/>
          <p:nvPr/>
        </p:nvSpPr>
        <p:spPr>
          <a:xfrm>
            <a:off x="6827542" y="4323029"/>
            <a:ext cx="37416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Arial"/>
              </a:rPr>
              <a:t>4,760</a:t>
            </a:r>
          </a:p>
        </p:txBody>
      </p:sp>
      <p:sp>
        <p:nvSpPr>
          <p:cNvPr id="25" name="vols-label"/>
          <p:cNvSpPr/>
          <p:nvPr/>
        </p:nvSpPr>
        <p:spPr>
          <a:xfrm>
            <a:off x="837866" y="4326839"/>
            <a:ext cx="640617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Arial"/>
              </a:rPr>
              <a:t>Volunteers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9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0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Arial"/>
              </a:rPr>
              <a:t>Brannoch National Parks Service  |  Annual Report 2025-26</a:t>
            </a:r>
          </a:p>
        </p:txBody>
      </p:sp>
      <p:sp>
        <p:nvSpPr>
          <p:cNvPr id="11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Arial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Arial"/>
              </a:rPr>
              <a:t>PRIORITIES FOR NEXT YEAR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orgia"/>
              </a:rPr>
              <a:t>Five commitments for 2026-27, costing $13.6m, each with a</a:t>
            </a:r>
            <a:br/>
            <a:r>
              <a:rPr sz="2400" b="1" i="0">
                <a:solidFill>
                  <a:srgbClr val="1F2723"/>
                </a:solidFill>
                <a:latin typeface="Georgia"/>
              </a:rPr>
              <a:t>measure we will report next year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831255"/>
            <a:ext cx="1109472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Arial"/>
              </a:rPr>
              <a:t>Each commitment answers a finding on the pages before. Hold us to the measures: next year's report will say whether we met each one.</a:t>
            </a:r>
          </a:p>
        </p:txBody>
      </p:sp>
      <p:graphicFrame>
        <p:nvGraphicFramePr>
          <p:cNvPr id="7" name="prio"/>
          <p:cNvGraphicFramePr>
            <a:graphicFrameLocks noGrp="1"/>
          </p:cNvGraphicFramePr>
          <p:nvPr/>
        </p:nvGraphicFramePr>
        <p:xfrm>
          <a:off x="548640" y="2542371"/>
          <a:ext cx="11094720" cy="31930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7997"/>
                <a:gridCol w="4326941"/>
                <a:gridCol w="3328416"/>
                <a:gridCol w="1331366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Commitment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What we will do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How you will know, by March 2027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Arial"/>
                        </a:rPr>
                        <a:t>Budget ($m)</a:t>
                      </a:r>
                      <a:endParaRPr sz="100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  Healthier rivers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Replant 18 km of riverbank with native trees and fence it from grazing, to cool and clean the water for salmon and mussels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18 km planted; silt and summer water temperature measured at 12 river sites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3.4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  Getting here without a car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Run three new shuttle routes from rail stations and towns, with one ticket for the bus and entry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30% of visits by bus, shuttle or train, up from 25%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2.6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3  Step-free trails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Resurface and widen trails so wheelchairs, buggies and walking frames can use them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281 km of step-free trail, up from 241 km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1.9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4  Repairs we have put off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Fix bridges, toilets and paths on our list of 214 priority repairs, worst first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60 of the 214 repairs done (28%)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4.8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5  More and younger volunteers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Start a scheme for 16 to 25 year olds and add weekend and evening sessions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5,300 volunteers, up from 4,760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Arial"/>
                        </a:rPr>
                        <a:t>0.9</a:t>
                      </a:r>
                      <a:endParaRPr sz="1050" b="0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Total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Arial"/>
                        </a:rPr>
                        <a:t>13.6</a:t>
                      </a:r>
                      <a:endParaRPr sz="1050" b="1" i="0">
                        <a:solidFill>
                          <a:srgbClr val="1F2723"/>
                        </a:solidFill>
                        <a:latin typeface="Arial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Arial"/>
              </a:rPr>
              <a:t>Budgets are from the 2026-27 spending plan approved by the Service's board. Source: Brannoch National Parks Service records, April 2025 to March 2026. Illustrative figures for a fictional service.</a:t>
            </a: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2026-10-27T12:37:35Z</dcterms:created>
  <dcterms:modified xsi:type="dcterms:W3CDTF">2026-10-27T12:37:35Z</dcterms:modified>
  <cp:category/>
</cp:coreProperties>
</file>