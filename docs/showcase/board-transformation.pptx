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media/image11.svg" ContentType="image/svg+xml"/>
  <Override PartName="/ppt/media/image13.svg" ContentType="image/svg+xml"/>
  <Override PartName="/ppt/media/image15.svg" ContentType="image/svg+xml"/>
  <Override PartName="/ppt/media/image17.svg" ContentType="image/svg+xml"/>
  <Override PartName="/ppt/media/image19.svg" ContentType="image/svg+xml"/>
  <Override PartName="/ppt/media/image21.svg" ContentType="image/svg+xml"/>
  <Override PartName="/ppt/media/image3.svg" ContentType="image/svg+xml"/>
  <Override PartName="/ppt/media/image5.svg" ContentType="image/svg+xml"/>
  <Override PartName="/ppt/media/image7.svg" ContentType="image/svg+xml"/>
  <Override PartName="/ppt/media/image9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ayout>
        <c:manualLayout>
          <c:layoutTarget val="inner"/>
          <c:xMode val="edge"/>
          <c:yMode val="edge"/>
          <c:x val="0.22"/>
          <c:y val="0.03"/>
          <c:w val="0.76"/>
          <c:h val="0.94"/>
        </c:manualLayout>
      </c:layout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Contract terms</c:v>
                </c:pt>
              </c:strCache>
            </c:strRef>
          </c:tx>
          <c:spPr>
            <a:solidFill>
              <a:srgbClr val="EEF2F4"/>
            </a:solidFill>
            <a:ln w="9525">
              <a:solidFill>
                <a:srgbClr val="C9D2D8"/>
              </a:solidFill>
            </a:ln>
          </c:spPr>
          <c:dLbls>
            <c:numFmt formatCode="0" sourceLinked="0"/>
            <c:txPr>
              <a:bodyPr/>
              <a:lstStyle/>
              <a:p>
                <a:pPr>
                  <a:defRPr sz="750" b="1" i="0">
                    <a:solidFill>
                      <a:srgbClr val="17232D"/>
                    </a:solidFill>
                    <a:latin typeface="Inter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Sheet1!$A$2:$A$3</c:f>
              <c:strCache>
                <c:ptCount val="2"/>
                <c:pt idx="0">
                  <c:v>FY2025</c:v>
                </c:pt>
                <c:pt idx="1">
                  <c:v>FY2028 target</c:v>
                </c:pt>
              </c:strCache>
            </c:strRef>
          </c:cat>
          <c:val>
            <c:numRef>
              <c:f>Sheet1!$B$2:$B$3</c:f>
              <c:numCache>
                <c:formatCode>0</c:formatCode>
                <c:ptCount val="2"/>
                <c:pt idx="0">
                  <c:v>45.0</c:v>
                </c:pt>
                <c:pt idx="1">
                  <c:v>45.0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Avoidable delay</c:v>
                </c:pt>
              </c:strCache>
            </c:strRef>
          </c:tx>
          <c:spPr>
            <a:solidFill>
              <a:srgbClr val="C4541C"/>
            </a:solidFill>
            <a:ln>
              <a:noFill/>
            </a:ln>
          </c:spPr>
          <c:dLbls>
            <c:numFmt formatCode="0" sourceLinked="0"/>
            <c:txPr>
              <a:bodyPr/>
              <a:lstStyle/>
              <a:p>
                <a:pPr>
                  <a:defRPr sz="750" b="1" i="0">
                    <a:solidFill>
                      <a:srgbClr val="FFFFFF"/>
                    </a:solidFill>
                    <a:latin typeface="Inter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Sheet1!$A$2:$A$3</c:f>
              <c:strCache>
                <c:ptCount val="2"/>
                <c:pt idx="0">
                  <c:v>FY2025</c:v>
                </c:pt>
                <c:pt idx="1">
                  <c:v>FY2028 target</c:v>
                </c:pt>
              </c:strCache>
            </c:strRef>
          </c:cat>
          <c:val>
            <c:numRef>
              <c:f>Sheet1!$C$2:$C$3</c:f>
              <c:numCache>
                <c:formatCode>0</c:formatCode>
                <c:ptCount val="2"/>
                <c:pt idx="0">
                  <c:v>25.0</c:v>
                </c:pt>
                <c:pt idx="1">
                  <c:v>6.0</c:v>
                </c:pt>
              </c:numCache>
            </c:numRef>
          </c:val>
        </c:ser>
        <c:gapWidth val="35"/>
        <c:overlap val="10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none"/>
        <c:minorTickMark val="none"/>
        <c:tickLblPos val="nextTo"/>
        <c:spPr>
          <a:ln w="9525">
            <a:solidFill>
              <a:srgbClr val="C9D2D8"/>
            </a:solidFill>
          </a:ln>
        </c:spPr>
        <c:txPr>
          <a:bodyPr/>
          <a:lstStyle/>
          <a:p>
            <a:pPr>
              <a:defRPr sz="750" b="0" i="0">
                <a:solidFill>
                  <a:srgbClr val="17232D"/>
                </a:solidFill>
                <a:latin typeface="Inter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72.0"/>
          <c:min val="0.0"/>
        </c:scaling>
        <c:delete/>
        <c:axPos val="b"/>
        <c:majorTickMark val="out"/>
        <c:minorTickMark val="none"/>
        <c:tickLblPos val="nextTo"/>
        <c:crossAx val="-2068027336"/>
        <c:crosses val="autoZero"/>
        <c:crossBetween val="between"/>
      </c:valAx>
      <c:spPr>
        <a:noFill/>
      </c:spPr>
    </c:plotArea>
    <c:dispBlanksAs val="gap"/>
  </c:chart>
  <c:txPr>
    <a:bodyPr/>
    <a:lstStyle/>
    <a:p>
      <a:pPr>
        <a:defRPr sz="750" b="0" i="0">
          <a:solidFill>
            <a:srgbClr val="56636D"/>
          </a:solidFill>
          <a:latin typeface="Inter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1"/>
    <c:plotArea>
      <c:layout>
        <c:manualLayout>
          <c:layoutTarget val="inner"/>
          <c:xMode val="edge"/>
          <c:yMode val="edge"/>
          <c:x val="0.085"/>
          <c:y val="0.07"/>
          <c:w val="0.83"/>
          <c:h val="0.8"/>
        </c:manualLayout>
      </c:layout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Strategic bets, 7pt</c:v>
                </c:pt>
              </c:strCache>
            </c:strRef>
          </c:tx>
          <c:spPr>
            <a:ln w="47625">
              <a:noFill/>
            </a:ln>
          </c:spPr>
          <c:marker>
            <c:symbol val="circle"/>
            <c:size val="7"/>
            <c:spPr>
              <a:solidFill>
                <a:srgbClr val="C4541C"/>
              </a:solidFill>
              <a:ln>
                <a:solidFill>
                  <a:srgbClr val="C4541C"/>
                </a:solidFill>
              </a:ln>
            </c:spPr>
          </c:marker>
          <c:dLbls>
            <c:dLbl>
              <c:idx val="0"/>
              <c:tx>
                <c:rich>
                  <a:bodyPr/>
                  <a:lstStyle/>
                  <a:p>
                    <a:r>
                      <a:rPr sz="750" b="1" i="0">
                        <a:solidFill>
                          <a:srgbClr val="17232D"/>
                        </a:solidFill>
                        <a:latin typeface="Inter"/>
                      </a:rPr>
                      <a:t>P2</a:t>
                    </a:r>
                  </a:p>
                </c:rich>
              </c:tx>
              <c:txPr>
                <a:bodyPr/>
                <a:lstStyle/>
                <a:p>
                  <a:pPr>
                    <a:defRPr sz="750" b="1" i="0">
                      <a:solidFill>
                        <a:srgbClr val="17232D"/>
                      </a:solidFill>
                      <a:latin typeface="Inter"/>
                    </a:defRPr>
                  </a:pPr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</c:dLbl>
            <c:txPr>
              <a:bodyPr/>
              <a:lstStyle/>
              <a:p>
                <a:pPr>
                  <a:defRPr sz="750" b="1" i="0">
                    <a:solidFill>
                      <a:srgbClr val="17232D"/>
                    </a:solidFill>
                    <a:latin typeface="Inter"/>
                  </a:defRPr>
                </a:pPr>
              </a:p>
            </c:txPr>
            <c:dLblPos val="r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xVal>
            <c:numRef>
              <c:f>Sheet1!$A$2:$A$2</c:f>
              <c:numCache>
                <c:formatCode>0</c:formatCode>
                <c:ptCount val="7"/>
                <c:pt idx="0">
                  <c:v>2.3</c:v>
                </c:pt>
              </c:numCache>
            </c:numRef>
          </c:xVal>
          <c:yVal>
            <c:numRef>
              <c:f>Sheet1!$B$2:$B$2</c:f>
              <c:numCache>
                <c:formatCode>0</c:formatCode>
                <c:ptCount val="7"/>
                <c:pt idx="0">
                  <c:v>11.0</c:v>
                </c:pt>
              </c:numCache>
            </c:numRef>
          </c:yVal>
          <c:smooth val="0"/>
        </c:ser>
        <c:ser>
          <c:idx val="1"/>
          <c:order val="1"/>
          <c:tx>
            <c:strRef>
              <c:f>Sheet1!$B$4</c:f>
              <c:strCache>
                <c:ptCount val="1"/>
                <c:pt idx="0">
                  <c:v>Strategic bets, 11pt</c:v>
                </c:pt>
              </c:strCache>
            </c:strRef>
          </c:tx>
          <c:spPr>
            <a:ln w="47625">
              <a:noFill/>
            </a:ln>
          </c:spPr>
          <c:marker>
            <c:symbol val="circle"/>
            <c:size val="11"/>
            <c:spPr>
              <a:solidFill>
                <a:srgbClr val="C4541C"/>
              </a:solidFill>
              <a:ln>
                <a:solidFill>
                  <a:srgbClr val="C4541C"/>
                </a:solidFill>
              </a:ln>
            </c:spPr>
          </c:marker>
          <c:dLbls>
            <c:dLbl>
              <c:idx val="0"/>
              <c:tx>
                <c:rich>
                  <a:bodyPr/>
                  <a:lstStyle/>
                  <a:p>
                    <a:r>
                      <a:rPr sz="750" b="1" i="0">
                        <a:solidFill>
                          <a:srgbClr val="17232D"/>
                        </a:solidFill>
                        <a:latin typeface="Inter"/>
                      </a:rPr>
                      <a:t>F2</a:t>
                    </a:r>
                  </a:p>
                </c:rich>
              </c:tx>
              <c:txPr>
                <a:bodyPr/>
                <a:lstStyle/>
                <a:p>
                  <a:pPr>
                    <a:defRPr sz="750" b="1" i="0">
                      <a:solidFill>
                        <a:srgbClr val="17232D"/>
                      </a:solidFill>
                      <a:latin typeface="Inter"/>
                    </a:defRPr>
                  </a:pPr>
                </a:p>
              </c:txPr>
              <c:dLblPos val="l"/>
              <c:showLegendKey val="0"/>
              <c:showVal val="1"/>
              <c:showCatName val="0"/>
              <c:showSerName val="0"/>
              <c:showPercent val="0"/>
              <c:showBubbleSize val="0"/>
            </c:dLbl>
            <c:txPr>
              <a:bodyPr/>
              <a:lstStyle/>
              <a:p>
                <a:pPr>
                  <a:defRPr sz="750" b="1" i="0">
                    <a:solidFill>
                      <a:srgbClr val="17232D"/>
                    </a:solidFill>
                    <a:latin typeface="Inter"/>
                  </a:defRPr>
                </a:pPr>
              </a:p>
            </c:txPr>
            <c:dLblPos val="r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xVal>
            <c:numRef>
              <c:f>Sheet1!$A$5:$A$5</c:f>
              <c:numCache>
                <c:formatCode>0</c:formatCode>
                <c:ptCount val="7"/>
                <c:pt idx="0">
                  <c:v>2.2</c:v>
                </c:pt>
              </c:numCache>
            </c:numRef>
          </c:xVal>
          <c:yVal>
            <c:numRef>
              <c:f>Sheet1!$B$5:$B$5</c:f>
              <c:numCache>
                <c:formatCode>0</c:formatCode>
                <c:ptCount val="7"/>
                <c:pt idx="0">
                  <c:v>9.0</c:v>
                </c:pt>
              </c:numCache>
            </c:numRef>
          </c:yVal>
          <c:smooth val="0"/>
        </c:ser>
        <c:ser>
          <c:idx val="2"/>
          <c:order val="2"/>
          <c:tx>
            <c:strRef>
              <c:f>Sheet1!$B$7</c:f>
              <c:strCache>
                <c:ptCount val="1"/>
                <c:pt idx="0">
                  <c:v>Strategic bets, 15pt</c:v>
                </c:pt>
              </c:strCache>
            </c:strRef>
          </c:tx>
          <c:spPr>
            <a:ln w="47625">
              <a:noFill/>
            </a:ln>
          </c:spPr>
          <c:marker>
            <c:symbol val="circle"/>
            <c:size val="15"/>
            <c:spPr>
              <a:solidFill>
                <a:srgbClr val="C4541C"/>
              </a:solidFill>
              <a:ln>
                <a:solidFill>
                  <a:srgbClr val="C4541C"/>
                </a:solidFill>
              </a:ln>
            </c:spPr>
          </c:marker>
          <c:dLbls>
            <c:dLbl>
              <c:idx val="0"/>
              <c:tx>
                <c:rich>
                  <a:bodyPr/>
                  <a:lstStyle/>
                  <a:p>
                    <a:r>
                      <a:rPr sz="750" b="1" i="0">
                        <a:solidFill>
                          <a:srgbClr val="17232D"/>
                        </a:solidFill>
                        <a:latin typeface="Inter"/>
                      </a:rPr>
                      <a:t>F1</a:t>
                    </a:r>
                  </a:p>
                </c:rich>
              </c:tx>
              <c:txPr>
                <a:bodyPr/>
                <a:lstStyle/>
                <a:p>
                  <a:pPr>
                    <a:defRPr sz="750" b="1" i="0">
                      <a:solidFill>
                        <a:srgbClr val="17232D"/>
                      </a:solidFill>
                      <a:latin typeface="Inter"/>
                    </a:defRPr>
                  </a:pPr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/>
                  <a:lstStyle/>
                  <a:p>
                    <a:r>
                      <a:rPr sz="750" b="1" i="0">
                        <a:solidFill>
                          <a:srgbClr val="17232D"/>
                        </a:solidFill>
                        <a:latin typeface="Inter"/>
                      </a:rPr>
                      <a:t>O1</a:t>
                    </a:r>
                  </a:p>
                </c:rich>
              </c:tx>
              <c:txPr>
                <a:bodyPr/>
                <a:lstStyle/>
                <a:p>
                  <a:pPr>
                    <a:defRPr sz="750" b="1" i="0">
                      <a:solidFill>
                        <a:srgbClr val="17232D"/>
                      </a:solidFill>
                      <a:latin typeface="Inter"/>
                    </a:defRPr>
                  </a:pPr>
                </a:p>
              </c:txPr>
              <c:dLblPos val="l"/>
              <c:showLegendKey val="0"/>
              <c:showVal val="1"/>
              <c:showCatName val="0"/>
              <c:showSerName val="0"/>
              <c:showPercent val="0"/>
              <c:showBubbleSize val="0"/>
            </c:dLbl>
            <c:txPr>
              <a:bodyPr/>
              <a:lstStyle/>
              <a:p>
                <a:pPr>
                  <a:defRPr sz="750" b="1" i="0">
                    <a:solidFill>
                      <a:srgbClr val="17232D"/>
                    </a:solidFill>
                    <a:latin typeface="Inter"/>
                  </a:defRPr>
                </a:pPr>
              </a:p>
            </c:txPr>
            <c:dLblPos val="r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xVal>
            <c:numRef>
              <c:f>Sheet1!$A$8:$A$9</c:f>
              <c:numCache>
                <c:formatCode>0</c:formatCode>
                <c:ptCount val="7"/>
                <c:pt idx="0">
                  <c:v>1.8</c:v>
                </c:pt>
                <c:pt idx="1">
                  <c:v>2.7</c:v>
                </c:pt>
              </c:numCache>
            </c:numRef>
          </c:xVal>
          <c:yVal>
            <c:numRef>
              <c:f>Sheet1!$B$8:$B$9</c:f>
              <c:numCache>
                <c:formatCode>0</c:formatCode>
                <c:ptCount val="7"/>
                <c:pt idx="0">
                  <c:v>15.0</c:v>
                </c:pt>
                <c:pt idx="1">
                  <c:v>12.0</c:v>
                </c:pt>
              </c:numCache>
            </c:numRef>
          </c:yVal>
          <c:smooth val="0"/>
        </c:ser>
        <c:ser>
          <c:idx val="3"/>
          <c:order val="3"/>
          <c:tx>
            <c:strRef>
              <c:f>Sheet1!$B$11</c:f>
              <c:strCache>
                <c:ptCount val="1"/>
                <c:pt idx="0">
                  <c:v>Other initiatives, 7pt</c:v>
                </c:pt>
              </c:strCache>
            </c:strRef>
          </c:tx>
          <c:spPr>
            <a:ln w="47625">
              <a:noFill/>
            </a:ln>
          </c:spPr>
          <c:marker>
            <c:symbol val="circle"/>
            <c:size val="7"/>
            <c:spPr>
              <a:solidFill>
                <a:srgbClr val="0E4D5E"/>
              </a:solidFill>
              <a:ln>
                <a:solidFill>
                  <a:srgbClr val="0E4D5E"/>
                </a:solidFill>
              </a:ln>
            </c:spPr>
          </c:marker>
          <c:dLbls>
            <c:dLbl>
              <c:idx val="0"/>
              <c:tx>
                <c:rich>
                  <a:bodyPr/>
                  <a:lstStyle/>
                  <a:p>
                    <a:r>
                      <a:rPr sz="750" b="1" i="0">
                        <a:solidFill>
                          <a:srgbClr val="17232D"/>
                        </a:solidFill>
                        <a:latin typeface="Inter"/>
                      </a:rPr>
                      <a:t>P1</a:t>
                    </a:r>
                  </a:p>
                </c:rich>
              </c:tx>
              <c:txPr>
                <a:bodyPr/>
                <a:lstStyle/>
                <a:p>
                  <a:pPr>
                    <a:defRPr sz="750" b="1" i="0">
                      <a:solidFill>
                        <a:srgbClr val="17232D"/>
                      </a:solidFill>
                      <a:latin typeface="Inter"/>
                    </a:defRPr>
                  </a:pPr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/>
                  <a:lstStyle/>
                  <a:p>
                    <a:r>
                      <a:rPr sz="750" b="1" i="0">
                        <a:solidFill>
                          <a:srgbClr val="17232D"/>
                        </a:solidFill>
                        <a:latin typeface="Inter"/>
                      </a:rPr>
                      <a:t>P3</a:t>
                    </a:r>
                  </a:p>
                </c:rich>
              </c:tx>
              <c:txPr>
                <a:bodyPr/>
                <a:lstStyle/>
                <a:p>
                  <a:pPr>
                    <a:defRPr sz="750" b="1" i="0">
                      <a:solidFill>
                        <a:srgbClr val="17232D"/>
                      </a:solidFill>
                      <a:latin typeface="Inter"/>
                    </a:defRPr>
                  </a:pPr>
                </a:p>
              </c:txPr>
              <c:dLblPos val="b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>
                <c:rich>
                  <a:bodyPr/>
                  <a:lstStyle/>
                  <a:p>
                    <a:r>
                      <a:rPr sz="750" b="1" i="0">
                        <a:solidFill>
                          <a:srgbClr val="17232D"/>
                        </a:solidFill>
                        <a:latin typeface="Inter"/>
                      </a:rPr>
                      <a:t>F3</a:t>
                    </a:r>
                  </a:p>
                </c:rich>
              </c:tx>
              <c:txPr>
                <a:bodyPr/>
                <a:lstStyle/>
                <a:p>
                  <a:pPr>
                    <a:defRPr sz="750" b="1" i="0">
                      <a:solidFill>
                        <a:srgbClr val="17232D"/>
                      </a:solidFill>
                      <a:latin typeface="Inter"/>
                    </a:defRPr>
                  </a:pPr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>
                <c:rich>
                  <a:bodyPr/>
                  <a:lstStyle/>
                  <a:p>
                    <a:r>
                      <a:rPr sz="750" b="1" i="0">
                        <a:solidFill>
                          <a:srgbClr val="17232D"/>
                        </a:solidFill>
                        <a:latin typeface="Inter"/>
                      </a:rPr>
                      <a:t>C1</a:t>
                    </a:r>
                  </a:p>
                </c:rich>
              </c:tx>
              <c:txPr>
                <a:bodyPr/>
                <a:lstStyle/>
                <a:p>
                  <a:pPr>
                    <a:defRPr sz="750" b="1" i="0">
                      <a:solidFill>
                        <a:srgbClr val="17232D"/>
                      </a:solidFill>
                      <a:latin typeface="Inter"/>
                    </a:defRPr>
                  </a:pPr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tx>
                <c:rich>
                  <a:bodyPr/>
                  <a:lstStyle/>
                  <a:p>
                    <a:r>
                      <a:rPr sz="750" b="1" i="0">
                        <a:solidFill>
                          <a:srgbClr val="17232D"/>
                        </a:solidFill>
                        <a:latin typeface="Inter"/>
                      </a:rPr>
                      <a:t>C2</a:t>
                    </a:r>
                  </a:p>
                </c:rich>
              </c:tx>
              <c:txPr>
                <a:bodyPr/>
                <a:lstStyle/>
                <a:p>
                  <a:pPr>
                    <a:defRPr sz="750" b="1" i="0">
                      <a:solidFill>
                        <a:srgbClr val="17232D"/>
                      </a:solidFill>
                      <a:latin typeface="Inter"/>
                    </a:defRPr>
                  </a:pPr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tx>
                <c:rich>
                  <a:bodyPr/>
                  <a:lstStyle/>
                  <a:p>
                    <a:r>
                      <a:rPr sz="750" b="1" i="0">
                        <a:solidFill>
                          <a:srgbClr val="17232D"/>
                        </a:solidFill>
                        <a:latin typeface="Inter"/>
                      </a:rPr>
                      <a:t>C3</a:t>
                    </a:r>
                  </a:p>
                </c:rich>
              </c:tx>
              <c:txPr>
                <a:bodyPr/>
                <a:lstStyle/>
                <a:p>
                  <a:pPr>
                    <a:defRPr sz="750" b="1" i="0">
                      <a:solidFill>
                        <a:srgbClr val="17232D"/>
                      </a:solidFill>
                      <a:latin typeface="Inter"/>
                    </a:defRPr>
                  </a:pPr>
                </a:p>
              </c:txPr>
              <c:dLblPos val="b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6"/>
              <c:tx>
                <c:rich>
                  <a:bodyPr/>
                  <a:lstStyle/>
                  <a:p>
                    <a:r>
                      <a:rPr sz="750" b="1" i="0">
                        <a:solidFill>
                          <a:srgbClr val="17232D"/>
                        </a:solidFill>
                        <a:latin typeface="Inter"/>
                      </a:rPr>
                      <a:t>O2</a:t>
                    </a:r>
                  </a:p>
                </c:rich>
              </c:tx>
              <c:txPr>
                <a:bodyPr/>
                <a:lstStyle/>
                <a:p>
                  <a:pPr>
                    <a:defRPr sz="750" b="1" i="0">
                      <a:solidFill>
                        <a:srgbClr val="17232D"/>
                      </a:solidFill>
                      <a:latin typeface="Inter"/>
                    </a:defRPr>
                  </a:pPr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</c:dLbl>
            <c:txPr>
              <a:bodyPr/>
              <a:lstStyle/>
              <a:p>
                <a:pPr>
                  <a:defRPr sz="750" b="1" i="0">
                    <a:solidFill>
                      <a:srgbClr val="17232D"/>
                    </a:solidFill>
                    <a:latin typeface="Inter"/>
                  </a:defRPr>
                </a:pPr>
              </a:p>
            </c:txPr>
            <c:dLblPos val="r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xVal>
            <c:numRef>
              <c:f>Sheet1!$A$12:$A$18</c:f>
              <c:numCache>
                <c:formatCode>0</c:formatCode>
                <c:ptCount val="7"/>
                <c:pt idx="0">
                  <c:v>3.8</c:v>
                </c:pt>
                <c:pt idx="1">
                  <c:v>4.4</c:v>
                </c:pt>
                <c:pt idx="2">
                  <c:v>4.0</c:v>
                </c:pt>
                <c:pt idx="3">
                  <c:v>4.2</c:v>
                </c:pt>
                <c:pt idx="4">
                  <c:v>3.3</c:v>
                </c:pt>
                <c:pt idx="5">
                  <c:v>3.6</c:v>
                </c:pt>
                <c:pt idx="6">
                  <c:v>3.4</c:v>
                </c:pt>
              </c:numCache>
            </c:numRef>
          </c:xVal>
          <c:yVal>
            <c:numRef>
              <c:f>Sheet1!$B$12:$B$18</c:f>
              <c:numCache>
                <c:formatCode>0</c:formatCode>
                <c:ptCount val="7"/>
                <c:pt idx="0">
                  <c:v>16.0</c:v>
                </c:pt>
                <c:pt idx="1">
                  <c:v>7.0</c:v>
                </c:pt>
                <c:pt idx="2">
                  <c:v>5.0</c:v>
                </c:pt>
                <c:pt idx="3">
                  <c:v>10.0</c:v>
                </c:pt>
                <c:pt idx="4">
                  <c:v>4.0</c:v>
                </c:pt>
                <c:pt idx="5">
                  <c:v>4.0</c:v>
                </c:pt>
                <c:pt idx="6">
                  <c:v>7.0</c:v>
                </c:pt>
              </c:numCache>
            </c:numRef>
          </c:yVal>
          <c:smooth val="0"/>
        </c:ser>
        <c:ser>
          <c:idx val="4"/>
          <c:order val="4"/>
          <c:tx>
            <c:strRef>
              <c:f>Sheet1!$B$20</c:f>
              <c:strCache>
                <c:ptCount val="1"/>
                <c:pt idx="0">
                  <c:v>Other initiatives, 11pt</c:v>
                </c:pt>
              </c:strCache>
            </c:strRef>
          </c:tx>
          <c:spPr>
            <a:ln w="47625">
              <a:noFill/>
            </a:ln>
          </c:spPr>
          <c:marker>
            <c:symbol val="circle"/>
            <c:size val="11"/>
            <c:spPr>
              <a:solidFill>
                <a:srgbClr val="0E4D5E"/>
              </a:solidFill>
              <a:ln>
                <a:solidFill>
                  <a:srgbClr val="0E4D5E"/>
                </a:solidFill>
              </a:ln>
            </c:spPr>
          </c:marker>
          <c:dLbls>
            <c:dLbl>
              <c:idx val="0"/>
              <c:tx>
                <c:rich>
                  <a:bodyPr/>
                  <a:lstStyle/>
                  <a:p>
                    <a:r>
                      <a:rPr sz="750" b="1" i="0">
                        <a:solidFill>
                          <a:srgbClr val="17232D"/>
                        </a:solidFill>
                        <a:latin typeface="Inter"/>
                      </a:rPr>
                      <a:t>O3</a:t>
                    </a:r>
                  </a:p>
                </c:rich>
              </c:tx>
              <c:txPr>
                <a:bodyPr/>
                <a:lstStyle/>
                <a:p>
                  <a:pPr>
                    <a:defRPr sz="750" b="1" i="0">
                      <a:solidFill>
                        <a:srgbClr val="17232D"/>
                      </a:solidFill>
                      <a:latin typeface="Inter"/>
                    </a:defRPr>
                  </a:pPr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</c:dLbl>
            <c:txPr>
              <a:bodyPr/>
              <a:lstStyle/>
              <a:p>
                <a:pPr>
                  <a:defRPr sz="750" b="1" i="0">
                    <a:solidFill>
                      <a:srgbClr val="17232D"/>
                    </a:solidFill>
                    <a:latin typeface="Inter"/>
                  </a:defRPr>
                </a:pPr>
              </a:p>
            </c:txPr>
            <c:dLblPos val="r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xVal>
            <c:numRef>
              <c:f>Sheet1!$A$21:$A$21</c:f>
              <c:numCache>
                <c:formatCode>0</c:formatCode>
                <c:ptCount val="7"/>
                <c:pt idx="0">
                  <c:v>2.4</c:v>
                </c:pt>
              </c:numCache>
            </c:numRef>
          </c:xVal>
          <c:yVal>
            <c:numRef>
              <c:f>Sheet1!$B$21:$B$21</c:f>
              <c:numCache>
                <c:formatCode>0</c:formatCode>
                <c:ptCount val="7"/>
                <c:pt idx="0">
                  <c:v>3.0</c:v>
                </c:pt>
              </c:numCache>
            </c:numRef>
          </c:yVal>
          <c:smooth val="0"/>
        </c:ser>
        <c:ser>
          <c:idx val="5"/>
          <c:order val="5"/>
          <c:tx>
            <c:strRef>
              <c:f>Sheet1!$B$23</c:f>
              <c:strCache>
                <c:ptCount val="1"/>
                <c:pt idx="0">
                  <c:v>Deferred</c:v>
                </c:pt>
              </c:strCache>
            </c:strRef>
          </c:tx>
          <c:spPr>
            <a:ln w="47625">
              <a:noFill/>
            </a:ln>
          </c:spPr>
          <c:marker>
            <c:symbol val="circle"/>
            <c:size val="7"/>
            <c:spPr>
              <a:solidFill>
                <a:srgbClr val="A3AFB7"/>
              </a:solidFill>
              <a:ln>
                <a:solidFill>
                  <a:srgbClr val="A3AFB7"/>
                </a:solidFill>
              </a:ln>
            </c:spPr>
          </c:marker>
          <c:dLbls>
            <c:dLbl>
              <c:idx val="0"/>
              <c:tx>
                <c:rich>
                  <a:bodyPr/>
                  <a:lstStyle/>
                  <a:p>
                    <a:r>
                      <a:rPr sz="750" b="1" i="0">
                        <a:solidFill>
                          <a:srgbClr val="56636D"/>
                        </a:solidFill>
                        <a:latin typeface="Inter"/>
                      </a:rPr>
                      <a:t>X1</a:t>
                    </a:r>
                  </a:p>
                </c:rich>
              </c:tx>
              <c:txPr>
                <a:bodyPr/>
                <a:lstStyle/>
                <a:p>
                  <a:pPr>
                    <a:defRPr sz="750" b="1" i="0">
                      <a:solidFill>
                        <a:srgbClr val="56636D"/>
                      </a:solidFill>
                      <a:latin typeface="Inter"/>
                    </a:defRPr>
                  </a:pPr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/>
                  <a:lstStyle/>
                  <a:p>
                    <a:r>
                      <a:rPr sz="750" b="1" i="0">
                        <a:solidFill>
                          <a:srgbClr val="56636D"/>
                        </a:solidFill>
                        <a:latin typeface="Inter"/>
                      </a:rPr>
                      <a:t>X2</a:t>
                    </a:r>
                  </a:p>
                </c:rich>
              </c:tx>
              <c:txPr>
                <a:bodyPr/>
                <a:lstStyle/>
                <a:p>
                  <a:pPr>
                    <a:defRPr sz="750" b="1" i="0">
                      <a:solidFill>
                        <a:srgbClr val="56636D"/>
                      </a:solidFill>
                      <a:latin typeface="Inter"/>
                    </a:defRPr>
                  </a:pPr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</c:dLbl>
            <c:txPr>
              <a:bodyPr/>
              <a:lstStyle/>
              <a:p>
                <a:pPr>
                  <a:defRPr sz="750" b="1" i="0">
                    <a:solidFill>
                      <a:srgbClr val="56636D"/>
                    </a:solidFill>
                    <a:latin typeface="Inter"/>
                  </a:defRPr>
                </a:pPr>
              </a:p>
            </c:txPr>
            <c:dLblPos val="r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xVal>
            <c:numRef>
              <c:f>Sheet1!$A$24:$A$25</c:f>
              <c:numCache>
                <c:formatCode>0</c:formatCode>
                <c:ptCount val="7"/>
                <c:pt idx="0">
                  <c:v>1.5</c:v>
                </c:pt>
                <c:pt idx="1">
                  <c:v>1.2</c:v>
                </c:pt>
              </c:numCache>
            </c:numRef>
          </c:xVal>
          <c:yVal>
            <c:numRef>
              <c:f>Sheet1!$B$24:$B$25</c:f>
              <c:numCache>
                <c:formatCode>0</c:formatCode>
                <c:ptCount val="7"/>
                <c:pt idx="0">
                  <c:v>2.0</c:v>
                </c:pt>
                <c:pt idx="1">
                  <c:v>3.0</c:v>
                </c:pt>
              </c:numCache>
            </c:numRef>
          </c:yVal>
          <c:smooth val="0"/>
        </c:ser>
        <c:axId val="-2128940872"/>
        <c:axId val="-2129643912"/>
      </c:scatterChart>
      <c:valAx>
        <c:axId val="-2128940872"/>
        <c:scaling>
          <c:max val="5.0"/>
          <c:min val="1.0"/>
        </c:scaling>
        <c:delete val="0"/>
        <c:axPos val="b"/>
        <c:title>
          <c:tx>
            <c:rich>
              <a:bodyPr rot="0" vert="horz"/>
              <a:lstStyle/>
              <a:p>
                <a:r>
                  <a:rPr sz="750" b="0" i="0">
                    <a:solidFill>
                      <a:srgbClr val="56636D"/>
                    </a:solidFill>
                    <a:latin typeface="Inter"/>
                  </a:rPr>
                  <a:t>Ease of delivery, 1 hard to 5 easy</a:t>
                </a:r>
              </a:p>
            </c:rich>
          </c:tx>
          <c:layout/>
          <c:overlay val="0"/>
        </c:title>
        <c:numFmt formatCode="0" sourceLinked="0"/>
        <c:majorTickMark val="none"/>
        <c:minorTickMark val="none"/>
        <c:tickLblPos val="nextTo"/>
        <c:spPr>
          <a:ln w="9525">
            <a:solidFill>
              <a:srgbClr val="C9D2D8"/>
            </a:solidFill>
          </a:ln>
        </c:spPr>
        <c:txPr>
          <a:bodyPr/>
          <a:lstStyle/>
          <a:p>
            <a:pPr>
              <a:defRPr sz="750" b="0" i="0">
                <a:solidFill>
                  <a:srgbClr val="56636D"/>
                </a:solidFill>
                <a:latin typeface="Inter"/>
              </a:defRPr>
            </a:pPr>
          </a:p>
        </c:txPr>
        <c:crossAx val="-2129643912"/>
        <c:crosses val="min"/>
        <c:crossBetween val="midCat"/>
        <c:majorUnit val="1.0"/>
      </c:valAx>
      <c:valAx>
        <c:axId val="-2129643912"/>
        <c:scaling>
          <c:max val="18.0"/>
          <c:min val="0.0"/>
        </c:scaling>
        <c:delete val="0"/>
        <c:axPos val="l"/>
        <c:title>
          <c:tx>
            <c:rich>
              <a:bodyPr rot="-5400000" vert="horz"/>
              <a:lstStyle/>
              <a:p>
                <a:r>
                  <a:rPr sz="750" b="0" i="0">
                    <a:solidFill>
                      <a:srgbClr val="56636D"/>
                    </a:solidFill>
                    <a:latin typeface="Inter"/>
                  </a:rPr>
                  <a:t>Run-rate EBITDA, $m</a:t>
                </a:r>
              </a:p>
            </c:rich>
          </c:tx>
          <c:layout/>
          <c:overlay val="0"/>
        </c:title>
        <c:numFmt formatCode="0" sourceLinked="0"/>
        <c:majorTickMark val="none"/>
        <c:minorTickMark val="none"/>
        <c:tickLblPos val="nextTo"/>
        <c:spPr>
          <a:ln w="9525">
            <a:solidFill>
              <a:srgbClr val="C9D2D8"/>
            </a:solidFill>
          </a:ln>
        </c:spPr>
        <c:txPr>
          <a:bodyPr/>
          <a:lstStyle/>
          <a:p>
            <a:pPr>
              <a:defRPr sz="750" b="0" i="0">
                <a:solidFill>
                  <a:srgbClr val="56636D"/>
                </a:solidFill>
                <a:latin typeface="Inter"/>
              </a:defRPr>
            </a:pPr>
          </a:p>
        </c:txPr>
        <c:crossAx val="-2128940872"/>
        <c:crosses val="min"/>
        <c:crossBetween val="midCat"/>
        <c:majorUnit val="2.0"/>
      </c:valAx>
      <c:spPr>
        <a:noFill/>
      </c:spPr>
    </c:plotArea>
    <c:plotVisOnly val="1"/>
    <c:dispBlanksAs val="gap"/>
    <c:showDLblsOverMax val="0"/>
  </c:chart>
  <c:txPr>
    <a:bodyPr/>
    <a:lstStyle/>
    <a:p>
      <a:pPr>
        <a:defRPr sz="750" b="0" i="0">
          <a:solidFill>
            <a:srgbClr val="56636D"/>
          </a:solidFill>
          <a:latin typeface="Inter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ayout>
        <c:manualLayout>
          <c:layoutTarget val="inner"/>
          <c:xMode val="edge"/>
          <c:yMode val="edge"/>
          <c:x val="0.1"/>
          <c:y val="0.22"/>
          <c:w val="0.89"/>
          <c:h val="0.54"/>
        </c:manualLayout>
      </c:layout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Base</c:v>
                </c:pt>
              </c:strCache>
            </c:strRef>
          </c:tx>
          <c:spPr>
            <a:noFill/>
            <a:ln>
              <a:noFill/>
            </a:ln>
          </c:spPr>
          <c:cat>
            <c:strRef>
              <c:f>Sheet1!$A$2:$A$10</c:f>
              <c:strCache>
                <c:ptCount val="9"/>
                <c:pt idx="0">
                  <c:v>FY2025 EBITDA</c:v>
                </c:pt>
                <c:pt idx="1">
                  <c:v>Volume and mix</c:v>
                </c:pt>
                <c:pt idx="2">
                  <c:v>Inflation</c:v>
                </c:pt>
                <c:pt idx="3">
                  <c:v>Run costs</c:v>
                </c:pt>
                <c:pt idx="4">
                  <c:v>Procurement</c:v>
                </c:pt>
                <c:pt idx="5">
                  <c:v>Footprint</c:v>
                </c:pt>
                <c:pt idx="6">
                  <c:v>Commercial, O2C</c:v>
                </c:pt>
                <c:pt idx="7">
                  <c:v>Operating model</c:v>
                </c:pt>
                <c:pt idx="8">
                  <c:v>FY2028 run-rate</c:v>
                </c:pt>
              </c:strCache>
            </c:strRef>
          </c:cat>
          <c:val>
            <c:numRef>
              <c:f>Sheet1!$B$2:$B$10</c:f>
              <c:numCache>
                <c:formatCode>0</c:formatCode>
                <c:ptCount val="9"/>
                <c:pt idx="0">
                  <c:v>0</c:v>
                </c:pt>
                <c:pt idx="1">
                  <c:v>186</c:v>
                </c:pt>
                <c:pt idx="2">
                  <c:v>193</c:v>
                </c:pt>
                <c:pt idx="3">
                  <c:v>187</c:v>
                </c:pt>
                <c:pt idx="4">
                  <c:v>187</c:v>
                </c:pt>
                <c:pt idx="5">
                  <c:v>221</c:v>
                </c:pt>
                <c:pt idx="6">
                  <c:v>250</c:v>
                </c:pt>
                <c:pt idx="7">
                  <c:v>268</c:v>
                </c:pt>
                <c:pt idx="8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Step</c:v>
                </c:pt>
              </c:strCache>
            </c:strRef>
          </c:tx>
          <c:spPr>
            <a:solidFill>
              <a:srgbClr val="0E4D5E"/>
            </a:solidFill>
            <a:ln>
              <a:noFill/>
            </a:ln>
          </c:spPr>
          <c:dPt>
            <c:idx val="0"/>
            <c:spPr>
              <a:solidFill>
                <a:srgbClr val="0E4D5E"/>
              </a:solidFill>
            </c:spPr>
          </c:dPt>
          <c:dPt>
            <c:idx val="8"/>
            <c:spPr>
              <a:solidFill>
                <a:srgbClr val="0E4D5E"/>
              </a:solidFill>
            </c:spPr>
          </c:dPt>
          <c:dPt>
            <c:idx val="1"/>
            <c:spPr>
              <a:solidFill>
                <a:srgbClr val="3B7A8C"/>
              </a:solidFill>
            </c:spPr>
          </c:dPt>
          <c:dPt>
            <c:idx val="4"/>
            <c:spPr>
              <a:solidFill>
                <a:srgbClr val="3B7A8C"/>
              </a:solidFill>
            </c:spPr>
          </c:dPt>
          <c:dPt>
            <c:idx val="5"/>
            <c:spPr>
              <a:solidFill>
                <a:srgbClr val="3B7A8C"/>
              </a:solidFill>
            </c:spPr>
          </c:dPt>
          <c:dPt>
            <c:idx val="6"/>
            <c:spPr>
              <a:solidFill>
                <a:srgbClr val="3B7A8C"/>
              </a:solidFill>
            </c:spPr>
          </c:dPt>
          <c:dPt>
            <c:idx val="7"/>
            <c:spPr>
              <a:solidFill>
                <a:srgbClr val="3B7A8C"/>
              </a:solidFill>
            </c:spPr>
          </c:dPt>
          <c:dPt>
            <c:idx val="2"/>
            <c:spPr>
              <a:solidFill>
                <a:srgbClr val="8C8178"/>
              </a:solidFill>
            </c:spPr>
          </c:dPt>
          <c:dPt>
            <c:idx val="3"/>
            <c:spPr>
              <a:solidFill>
                <a:srgbClr val="8C8178"/>
              </a:solidFill>
            </c:spPr>
          </c:dPt>
          <c:cat>
            <c:strRef>
              <c:f>Sheet1!$A$2:$A$10</c:f>
              <c:strCache>
                <c:ptCount val="9"/>
                <c:pt idx="0">
                  <c:v>FY2025 EBITDA</c:v>
                </c:pt>
                <c:pt idx="1">
                  <c:v>Volume and mix</c:v>
                </c:pt>
                <c:pt idx="2">
                  <c:v>Inflation</c:v>
                </c:pt>
                <c:pt idx="3">
                  <c:v>Run costs</c:v>
                </c:pt>
                <c:pt idx="4">
                  <c:v>Procurement</c:v>
                </c:pt>
                <c:pt idx="5">
                  <c:v>Footprint</c:v>
                </c:pt>
                <c:pt idx="6">
                  <c:v>Commercial, O2C</c:v>
                </c:pt>
                <c:pt idx="7">
                  <c:v>Operating model</c:v>
                </c:pt>
                <c:pt idx="8">
                  <c:v>FY2028 run-rate</c:v>
                </c:pt>
              </c:strCache>
            </c:strRef>
          </c:cat>
          <c:val>
            <c:numRef>
              <c:f>Sheet1!$C$2:$C$10</c:f>
              <c:numCache>
                <c:formatCode>0</c:formatCode>
                <c:ptCount val="9"/>
                <c:pt idx="0">
                  <c:v>186</c:v>
                </c:pt>
                <c:pt idx="1">
                  <c:v>38</c:v>
                </c:pt>
                <c:pt idx="2">
                  <c:v>31</c:v>
                </c:pt>
                <c:pt idx="3">
                  <c:v>6</c:v>
                </c:pt>
                <c:pt idx="4">
                  <c:v>34</c:v>
                </c:pt>
                <c:pt idx="5">
                  <c:v>29</c:v>
                </c:pt>
                <c:pt idx="6">
                  <c:v>18</c:v>
                </c:pt>
                <c:pt idx="7">
                  <c:v>22</c:v>
                </c:pt>
                <c:pt idx="8">
                  <c:v>290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Label</c:v>
                </c:pt>
              </c:strCache>
            </c:strRef>
          </c:tx>
          <c:spPr>
            <a:noFill/>
            <a:ln>
              <a:noFill/>
            </a:ln>
          </c:spPr>
          <c:dLbls>
            <c:dLbl>
              <c:idx val="0"/>
              <c:tx>
                <c:rich>
                  <a:bodyPr/>
                  <a:lstStyle/>
                  <a:p>
                    <a:r>
                      <a:rPr sz="750" b="1" i="0">
                        <a:solidFill>
                          <a:srgbClr val="17232D"/>
                        </a:solidFill>
                        <a:latin typeface="Inter"/>
                      </a:rPr>
                      <a:t>$186m</a:t>
                    </a:r>
                  </a:p>
                </c:rich>
              </c:tx>
              <c:txPr>
                <a:bodyPr/>
                <a:lstStyle/>
                <a:p>
                  <a:pPr>
                    <a:defRPr sz="750" b="1" i="0">
                      <a:solidFill>
                        <a:srgbClr val="17232D"/>
                      </a:solidFill>
                      <a:latin typeface="Inter"/>
                    </a:defRPr>
                  </a:pPr>
                </a:p>
              </c:txPr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/>
                  <a:lstStyle/>
                  <a:p>
                    <a:r>
                      <a:rPr sz="750" b="1" i="0">
                        <a:solidFill>
                          <a:srgbClr val="17232D"/>
                        </a:solidFill>
                        <a:latin typeface="Inter"/>
                      </a:rPr>
                      <a:t>+38</a:t>
                    </a:r>
                  </a:p>
                </c:rich>
              </c:tx>
              <c:txPr>
                <a:bodyPr/>
                <a:lstStyle/>
                <a:p>
                  <a:pPr>
                    <a:defRPr sz="750" b="1" i="0">
                      <a:solidFill>
                        <a:srgbClr val="17232D"/>
                      </a:solidFill>
                      <a:latin typeface="Inter"/>
                    </a:defRPr>
                  </a:pPr>
                </a:p>
              </c:txPr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>
                <c:rich>
                  <a:bodyPr/>
                  <a:lstStyle/>
                  <a:p>
                    <a:r>
                      <a:rPr sz="750" b="1" i="0">
                        <a:solidFill>
                          <a:srgbClr val="17232D"/>
                        </a:solidFill>
                        <a:latin typeface="Inter"/>
                      </a:rPr>
                      <a:t>(31)</a:t>
                    </a:r>
                  </a:p>
                </c:rich>
              </c:tx>
              <c:txPr>
                <a:bodyPr/>
                <a:lstStyle/>
                <a:p>
                  <a:pPr>
                    <a:defRPr sz="750" b="1" i="0">
                      <a:solidFill>
                        <a:srgbClr val="17232D"/>
                      </a:solidFill>
                      <a:latin typeface="Inter"/>
                    </a:defRPr>
                  </a:pPr>
                </a:p>
              </c:txPr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>
                <c:rich>
                  <a:bodyPr/>
                  <a:lstStyle/>
                  <a:p>
                    <a:r>
                      <a:rPr sz="750" b="1" i="0">
                        <a:solidFill>
                          <a:srgbClr val="17232D"/>
                        </a:solidFill>
                        <a:latin typeface="Inter"/>
                      </a:rPr>
                      <a:t>(6)</a:t>
                    </a:r>
                  </a:p>
                </c:rich>
              </c:tx>
              <c:txPr>
                <a:bodyPr/>
                <a:lstStyle/>
                <a:p>
                  <a:pPr>
                    <a:defRPr sz="750" b="1" i="0">
                      <a:solidFill>
                        <a:srgbClr val="17232D"/>
                      </a:solidFill>
                      <a:latin typeface="Inter"/>
                    </a:defRPr>
                  </a:pPr>
                </a:p>
              </c:txPr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tx>
                <c:rich>
                  <a:bodyPr/>
                  <a:lstStyle/>
                  <a:p>
                    <a:r>
                      <a:rPr sz="750" b="1" i="0">
                        <a:solidFill>
                          <a:srgbClr val="17232D"/>
                        </a:solidFill>
                        <a:latin typeface="Inter"/>
                      </a:rPr>
                      <a:t>+34</a:t>
                    </a:r>
                  </a:p>
                </c:rich>
              </c:tx>
              <c:txPr>
                <a:bodyPr/>
                <a:lstStyle/>
                <a:p>
                  <a:pPr>
                    <a:defRPr sz="750" b="1" i="0">
                      <a:solidFill>
                        <a:srgbClr val="17232D"/>
                      </a:solidFill>
                      <a:latin typeface="Inter"/>
                    </a:defRPr>
                  </a:pPr>
                </a:p>
              </c:txPr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tx>
                <c:rich>
                  <a:bodyPr/>
                  <a:lstStyle/>
                  <a:p>
                    <a:r>
                      <a:rPr sz="750" b="1" i="0">
                        <a:solidFill>
                          <a:srgbClr val="17232D"/>
                        </a:solidFill>
                        <a:latin typeface="Inter"/>
                      </a:rPr>
                      <a:t>+29</a:t>
                    </a:r>
                  </a:p>
                </c:rich>
              </c:tx>
              <c:txPr>
                <a:bodyPr/>
                <a:lstStyle/>
                <a:p>
                  <a:pPr>
                    <a:defRPr sz="750" b="1" i="0">
                      <a:solidFill>
                        <a:srgbClr val="17232D"/>
                      </a:solidFill>
                      <a:latin typeface="Inter"/>
                    </a:defRPr>
                  </a:pPr>
                </a:p>
              </c:txPr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6"/>
              <c:tx>
                <c:rich>
                  <a:bodyPr/>
                  <a:lstStyle/>
                  <a:p>
                    <a:r>
                      <a:rPr sz="750" b="1" i="0">
                        <a:solidFill>
                          <a:srgbClr val="17232D"/>
                        </a:solidFill>
                        <a:latin typeface="Inter"/>
                      </a:rPr>
                      <a:t>+18</a:t>
                    </a:r>
                  </a:p>
                </c:rich>
              </c:tx>
              <c:txPr>
                <a:bodyPr/>
                <a:lstStyle/>
                <a:p>
                  <a:pPr>
                    <a:defRPr sz="750" b="1" i="0">
                      <a:solidFill>
                        <a:srgbClr val="17232D"/>
                      </a:solidFill>
                      <a:latin typeface="Inter"/>
                    </a:defRPr>
                  </a:pPr>
                </a:p>
              </c:txPr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7"/>
              <c:tx>
                <c:rich>
                  <a:bodyPr/>
                  <a:lstStyle/>
                  <a:p>
                    <a:r>
                      <a:rPr sz="750" b="1" i="0">
                        <a:solidFill>
                          <a:srgbClr val="17232D"/>
                        </a:solidFill>
                        <a:latin typeface="Inter"/>
                      </a:rPr>
                      <a:t>+22</a:t>
                    </a:r>
                  </a:p>
                </c:rich>
              </c:tx>
              <c:txPr>
                <a:bodyPr/>
                <a:lstStyle/>
                <a:p>
                  <a:pPr>
                    <a:defRPr sz="750" b="1" i="0">
                      <a:solidFill>
                        <a:srgbClr val="17232D"/>
                      </a:solidFill>
                      <a:latin typeface="Inter"/>
                    </a:defRPr>
                  </a:pPr>
                </a:p>
              </c:txPr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8"/>
              <c:tx>
                <c:rich>
                  <a:bodyPr/>
                  <a:lstStyle/>
                  <a:p>
                    <a:r>
                      <a:rPr sz="750" b="1" i="0">
                        <a:solidFill>
                          <a:srgbClr val="17232D"/>
                        </a:solidFill>
                        <a:latin typeface="Inter"/>
                      </a:rPr>
                      <a:t>$290m</a:t>
                    </a:r>
                  </a:p>
                </c:rich>
              </c:tx>
              <c:txPr>
                <a:bodyPr/>
                <a:lstStyle/>
                <a:p>
                  <a:pPr>
                    <a:defRPr sz="750" b="1" i="0">
                      <a:solidFill>
                        <a:srgbClr val="17232D"/>
                      </a:solidFill>
                      <a:latin typeface="Inter"/>
                    </a:defRPr>
                  </a:pPr>
                </a:p>
              </c:txPr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</c:dLbl>
            <c:txPr>
              <a:bodyPr/>
              <a:lstStyle/>
              <a:p>
                <a:pPr>
                  <a:defRPr sz="750" b="1" i="0">
                    <a:solidFill>
                      <a:srgbClr val="17232D"/>
                    </a:solidFill>
                    <a:latin typeface="Inter"/>
                  </a:defRPr>
                </a:pPr>
              </a:p>
            </c:txPr>
            <c:dLblPos val="inBase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Sheet1!$A$2:$A$10</c:f>
              <c:strCache>
                <c:ptCount val="9"/>
                <c:pt idx="0">
                  <c:v>FY2025 EBITDA</c:v>
                </c:pt>
                <c:pt idx="1">
                  <c:v>Volume and mix</c:v>
                </c:pt>
                <c:pt idx="2">
                  <c:v>Inflation</c:v>
                </c:pt>
                <c:pt idx="3">
                  <c:v>Run costs</c:v>
                </c:pt>
                <c:pt idx="4">
                  <c:v>Procurement</c:v>
                </c:pt>
                <c:pt idx="5">
                  <c:v>Footprint</c:v>
                </c:pt>
                <c:pt idx="6">
                  <c:v>Commercial, O2C</c:v>
                </c:pt>
                <c:pt idx="7">
                  <c:v>Operating model</c:v>
                </c:pt>
                <c:pt idx="8">
                  <c:v>FY2028 run-rate</c:v>
                </c:pt>
              </c:strCache>
            </c:strRef>
          </c:cat>
          <c:val>
            <c:numRef>
              <c:f>Sheet1!$D$2:$D$10</c:f>
              <c:numCache>
                <c:formatCode>0</c:formatCode>
                <c:ptCount val="9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</c:numCache>
            </c:numRef>
          </c:val>
        </c:ser>
        <c:gapWidth val="30"/>
        <c:overlap val="100"/>
        <c:axId val="-2068027336"/>
        <c:axId val="-2113994440"/>
      </c:barChart>
      <c:catAx>
        <c:axId val="-2068027336"/>
        <c:scaling/>
        <c:delete val="0"/>
        <c:axPos val="b"/>
        <c:majorTickMark val="none"/>
        <c:minorTickMark val="none"/>
        <c:tickLblPos val="low"/>
        <c:spPr>
          <a:ln w="9525">
            <a:solidFill>
              <a:srgbClr val="C9D2D8"/>
            </a:solidFill>
          </a:ln>
        </c:spPr>
        <c:txPr>
          <a:bodyPr rot="0" vert="horz"/>
          <a:lstStyle/>
          <a:p>
            <a:pPr>
              <a:defRPr sz="750" b="0" i="0">
                <a:solidFill>
                  <a:srgbClr val="17232D"/>
                </a:solidFill>
                <a:latin typeface="Inter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300.0"/>
          <c:min val="0.0"/>
        </c:scaling>
        <c:delete/>
        <c:axPos val="l"/>
        <c:majorTickMark val="out"/>
        <c:minorTickMark val="none"/>
        <c:tickLblPos val="nextTo"/>
        <c:crossAx val="-2068027336"/>
        <c:crosses val="autoZero"/>
        <c:crossBetween val="between"/>
      </c:valAx>
      <c:spPr>
        <a:noFill/>
      </c:spPr>
    </c:plotArea>
    <c:dispBlanksAs val="gap"/>
  </c:chart>
  <c:txPr>
    <a:bodyPr/>
    <a:lstStyle/>
    <a:p>
      <a:pPr>
        <a:defRPr sz="750" b="0" i="0">
          <a:solidFill>
            <a:srgbClr val="56636D"/>
          </a:solidFill>
          <a:latin typeface="Inter"/>
        </a:defRPr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ayout>
        <c:manualLayout>
          <c:layoutTarget val="inner"/>
          <c:xMode val="edge"/>
          <c:yMode val="edge"/>
          <c:x val="0.235"/>
          <c:y val="0.0"/>
          <c:w val="0.625"/>
          <c:h val="1.0"/>
        </c:manualLayout>
      </c:layout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Start</c:v>
                </c:pt>
              </c:strCache>
            </c:strRef>
          </c:tx>
          <c:spPr>
            <a:noFill/>
            <a:ln>
              <a:noFill/>
            </a:ln>
          </c:spPr>
          <c:cat>
            <c:strRef>
              <c:f>Sheet1!$A$2:$A$15</c:f>
              <c:strCache>
                <c:ptCount val="14"/>
                <c:pt idx="0">
                  <c:v/>
                </c:pt>
                <c:pt idx="1">
                  <c:v>Milestones</c:v>
                </c:pt>
                <c:pt idx="2">
                  <c:v>P1  Direct-material re-sourcing</c:v>
                </c:pt>
                <c:pt idx="3">
                  <c:v>C1  Contract-price master, GPO compliance</c:v>
                </c:pt>
                <c:pt idx="4">
                  <c:v>P3  Indirect spend and freight tender</c:v>
                </c:pt>
                <c:pt idx="5">
                  <c:v>O2  Spans and layers, commercial and G&amp;A</c:v>
                </c:pt>
                <c:pt idx="6">
                  <c:v>F3  Lean and OEE in retained plants</c:v>
                </c:pt>
                <c:pt idx="7">
                  <c:v>C3  Collections and dispute automation</c:v>
                </c:pt>
                <c:pt idx="8">
                  <c:v>O3  Global quality and regulatory function</c:v>
                </c:pt>
                <c:pt idx="9">
                  <c:v>P2  BOM value engineering, top 20 SKUs</c:v>
                </c:pt>
                <c:pt idx="10">
                  <c:v>F1  Salt Lake City exit</c:v>
                </c:pt>
                <c:pt idx="11">
                  <c:v>O1  Shared-services hub, Brno</c:v>
                </c:pt>
                <c:pt idx="12">
                  <c:v>C2  Bill-only and consignment digitised</c:v>
                </c:pt>
                <c:pt idx="13">
                  <c:v>F2  Tuttlingen exit to Brno</c:v>
                </c:pt>
              </c:strCache>
            </c:strRef>
          </c:cat>
          <c:val>
            <c:numRef>
              <c:f>Sheet1!$B$2:$B$15</c:f>
              <c:numCache>
                <c:formatCode>0</c:formatCode>
                <c:ptCount val="14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1</c:v>
                </c:pt>
                <c:pt idx="5">
                  <c:v>1</c:v>
                </c:pt>
                <c:pt idx="6">
                  <c:v>2</c:v>
                </c:pt>
                <c:pt idx="7">
                  <c:v>3</c:v>
                </c:pt>
                <c:pt idx="8">
                  <c:v>3</c:v>
                </c:pt>
                <c:pt idx="9">
                  <c:v>6</c:v>
                </c:pt>
                <c:pt idx="10">
                  <c:v>6</c:v>
                </c:pt>
                <c:pt idx="11">
                  <c:v>6</c:v>
                </c:pt>
                <c:pt idx="12">
                  <c:v>9</c:v>
                </c:pt>
                <c:pt idx="13">
                  <c:v>13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Design</c:v>
                </c:pt>
              </c:strCache>
            </c:strRef>
          </c:tx>
          <c:spPr>
            <a:solidFill>
              <a:srgbClr val="7FAAB6"/>
            </a:solidFill>
            <a:ln>
              <a:noFill/>
            </a:ln>
          </c:spPr>
          <c:cat>
            <c:strRef>
              <c:f>Sheet1!$A$2:$A$15</c:f>
              <c:strCache>
                <c:ptCount val="14"/>
                <c:pt idx="0">
                  <c:v/>
                </c:pt>
                <c:pt idx="1">
                  <c:v>Milestones</c:v>
                </c:pt>
                <c:pt idx="2">
                  <c:v>P1  Direct-material re-sourcing</c:v>
                </c:pt>
                <c:pt idx="3">
                  <c:v>C1  Contract-price master, GPO compliance</c:v>
                </c:pt>
                <c:pt idx="4">
                  <c:v>P3  Indirect spend and freight tender</c:v>
                </c:pt>
                <c:pt idx="5">
                  <c:v>O2  Spans and layers, commercial and G&amp;A</c:v>
                </c:pt>
                <c:pt idx="6">
                  <c:v>F3  Lean and OEE in retained plants</c:v>
                </c:pt>
                <c:pt idx="7">
                  <c:v>C3  Collections and dispute automation</c:v>
                </c:pt>
                <c:pt idx="8">
                  <c:v>O3  Global quality and regulatory function</c:v>
                </c:pt>
                <c:pt idx="9">
                  <c:v>P2  BOM value engineering, top 20 SKUs</c:v>
                </c:pt>
                <c:pt idx="10">
                  <c:v>F1  Salt Lake City exit</c:v>
                </c:pt>
                <c:pt idx="11">
                  <c:v>O1  Shared-services hub, Brno</c:v>
                </c:pt>
                <c:pt idx="12">
                  <c:v>C2  Bill-only and consignment digitised</c:v>
                </c:pt>
                <c:pt idx="13">
                  <c:v>F2  Tuttlingen exit to Brno</c:v>
                </c:pt>
              </c:strCache>
            </c:strRef>
          </c:cat>
          <c:val>
            <c:numRef>
              <c:f>Sheet1!$C$2:$C$15</c:f>
              <c:numCache>
                <c:formatCode>0</c:formatCode>
                <c:ptCount val="14"/>
                <c:pt idx="0">
                  <c:v>0</c:v>
                </c:pt>
                <c:pt idx="1">
                  <c:v>0</c:v>
                </c:pt>
                <c:pt idx="2">
                  <c:v>4</c:v>
                </c:pt>
                <c:pt idx="3">
                  <c:v>5</c:v>
                </c:pt>
                <c:pt idx="4">
                  <c:v>3</c:v>
                </c:pt>
                <c:pt idx="5">
                  <c:v>4</c:v>
                </c:pt>
                <c:pt idx="6">
                  <c:v>3</c:v>
                </c:pt>
                <c:pt idx="7">
                  <c:v>4</c:v>
                </c:pt>
                <c:pt idx="8">
                  <c:v>4</c:v>
                </c:pt>
                <c:pt idx="9">
                  <c:v>6</c:v>
                </c:pt>
                <c:pt idx="10">
                  <c:v>6</c:v>
                </c:pt>
                <c:pt idx="11">
                  <c:v>6</c:v>
                </c:pt>
                <c:pt idx="12">
                  <c:v>5</c:v>
                </c:pt>
                <c:pt idx="13">
                  <c:v>8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Deliver</c:v>
                </c:pt>
              </c:strCache>
            </c:strRef>
          </c:tx>
          <c:spPr>
            <a:solidFill>
              <a:srgbClr val="0E4D5E"/>
            </a:solidFill>
            <a:ln>
              <a:noFill/>
            </a:ln>
          </c:spPr>
          <c:cat>
            <c:strRef>
              <c:f>Sheet1!$A$2:$A$15</c:f>
              <c:strCache>
                <c:ptCount val="14"/>
                <c:pt idx="0">
                  <c:v/>
                </c:pt>
                <c:pt idx="1">
                  <c:v>Milestones</c:v>
                </c:pt>
                <c:pt idx="2">
                  <c:v>P1  Direct-material re-sourcing</c:v>
                </c:pt>
                <c:pt idx="3">
                  <c:v>C1  Contract-price master, GPO compliance</c:v>
                </c:pt>
                <c:pt idx="4">
                  <c:v>P3  Indirect spend and freight tender</c:v>
                </c:pt>
                <c:pt idx="5">
                  <c:v>O2  Spans and layers, commercial and G&amp;A</c:v>
                </c:pt>
                <c:pt idx="6">
                  <c:v>F3  Lean and OEE in retained plants</c:v>
                </c:pt>
                <c:pt idx="7">
                  <c:v>C3  Collections and dispute automation</c:v>
                </c:pt>
                <c:pt idx="8">
                  <c:v>O3  Global quality and regulatory function</c:v>
                </c:pt>
                <c:pt idx="9">
                  <c:v>P2  BOM value engineering, top 20 SKUs</c:v>
                </c:pt>
                <c:pt idx="10">
                  <c:v>F1  Salt Lake City exit</c:v>
                </c:pt>
                <c:pt idx="11">
                  <c:v>O1  Shared-services hub, Brno</c:v>
                </c:pt>
                <c:pt idx="12">
                  <c:v>C2  Bill-only and consignment digitised</c:v>
                </c:pt>
                <c:pt idx="13">
                  <c:v>F2  Tuttlingen exit to Brno</c:v>
                </c:pt>
              </c:strCache>
            </c:strRef>
          </c:cat>
          <c:val>
            <c:numRef>
              <c:f>Sheet1!$D$2:$D$15</c:f>
              <c:numCache>
                <c:formatCode>0</c:formatCode>
                <c:ptCount val="14"/>
                <c:pt idx="0">
                  <c:v>0</c:v>
                </c:pt>
                <c:pt idx="1">
                  <c:v>0</c:v>
                </c:pt>
                <c:pt idx="2">
                  <c:v>14</c:v>
                </c:pt>
                <c:pt idx="3">
                  <c:v>7</c:v>
                </c:pt>
                <c:pt idx="4">
                  <c:v>6</c:v>
                </c:pt>
                <c:pt idx="5">
                  <c:v>5</c:v>
                </c:pt>
                <c:pt idx="6">
                  <c:v>22</c:v>
                </c:pt>
                <c:pt idx="7">
                  <c:v>8</c:v>
                </c:pt>
                <c:pt idx="8">
                  <c:v>9</c:v>
                </c:pt>
                <c:pt idx="9">
                  <c:v>18</c:v>
                </c:pt>
                <c:pt idx="10">
                  <c:v>9</c:v>
                </c:pt>
                <c:pt idx="11">
                  <c:v>18</c:v>
                </c:pt>
                <c:pt idx="12">
                  <c:v>10</c:v>
                </c:pt>
                <c:pt idx="13">
                  <c:v>9</c:v>
                </c:pt>
              </c:numCache>
            </c:numRef>
          </c:val>
        </c:ser>
        <c:gapWidth val="55"/>
        <c:overlap val="10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750" b="0" i="0">
                <a:solidFill>
                  <a:srgbClr val="17232D"/>
                </a:solidFill>
                <a:latin typeface="Inter"/>
              </a:defRPr>
            </a:pPr>
          </a:p>
        </c:txPr>
        <c:crossAx val="-2113994440"/>
        <c:crosses val="min"/>
        <c:auto val="1"/>
        <c:lblAlgn val="ctr"/>
        <c:lblOffset val="100"/>
        <c:noMultiLvlLbl val="0"/>
      </c:catAx>
      <c:valAx>
        <c:axId val="-2113994440"/>
        <c:scaling>
          <c:max val="37.6"/>
          <c:min val="-1.0"/>
        </c:scaling>
        <c:delete/>
        <c:axPos val="b"/>
        <c:majorTickMark val="out"/>
        <c:minorTickMark val="none"/>
        <c:tickLblPos val="nextTo"/>
        <c:crossAx val="-2068027336"/>
        <c:crosses val="autoZero"/>
        <c:crossBetween val="between"/>
      </c:valAx>
      <c:spPr>
        <a:noFill/>
      </c:spPr>
    </c:plotArea>
    <c:dispBlanksAs val="gap"/>
  </c:chart>
  <c:txPr>
    <a:bodyPr/>
    <a:lstStyle/>
    <a:p>
      <a:pPr>
        <a:defRPr sz="750" b="0" i="0">
          <a:solidFill>
            <a:srgbClr val="56636D"/>
          </a:solidFill>
          <a:latin typeface="Inter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All figures on this page are illustrative: Corrin Medical is a fictional company and every number was invented and computed for this example. The ask is three approvals: the programme and its $165m, the two plant exits, and the operating model. Walk the eight commitments left to right; each names the page that proves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All figures on this page are illustrative: Corrin Medical is a fictional company and every number was invented and computed for this example. Collect includes the 45 contractual days; only the 13.8 days past terms are avoidable there. Pricing errors at step 2 are the largest leak at $14.6m a year.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All figures on this page are illustrative: Corrin Medical is a fictional company and every number was invented and computed for this example. The pairing is geographic: each closing plant's lines go to the nearest plant that already makes or services the product. Payback is the one-off cost over the run-rate saving. Map outlines and lakes are Natural Earth, public domain.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All figures on this page are illustrative: Corrin Medical is a fictional company and every number was invented and computed for this example. Ease combines technical, regulatory and people complexity on a 1 to 5 scale scored by the Transformation Office. Quick wins are P1 and C1; marker size groups the cost to achieve.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All figures on this page are illustrative: Corrin Medical is a fictional company and every number was invented and computed for this example. Volume alone covers inflation and run costs: $38m against $37m. The levers are the case: $103m of run-rate EBITDA for $165m of cost to achieve, a 20% margin on $1,450m of revenue. Cash turns positive in 2027 because working capital is released early.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All figures on this page are illustrative: Corrin Medical is a fictional company and every number was invented and computed for this example. Dependencies: Salt Lake City line transfers cannot begin until the global quality function has issued the validation master plan at M3; the Brno hub takes over order to cash only on the live price master; Tuttlingen moves after Salt Lake City frees the validation team at M4.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All figures on this page are illustrative: Corrin Medical is a fictional company and every number was invented and computed for this example. New units: Global Business Services in Brno, supply chain and planning, global procurement, pricing and contracts, and the quality and regulatory function reporting to the CEO.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All figures on this page are illustrative: Corrin Medical is a fictional company and every number was invented and computed for this example. Zones follow the ISO 14971 convention the board knows from product risk: acceptable, as low as reasonably practicable, and unacceptable. Owners: COO, CFO, CCO, CPO and the Chief Quality and Regulatory Officer.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Relationship Id="rId3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Relationship Id="rId3" Type="http://schemas.openxmlformats.org/officeDocument/2006/relationships/image" Target="../media/image3.svg"/><Relationship Id="rId4" Type="http://schemas.openxmlformats.org/officeDocument/2006/relationships/image" Target="../media/image4.png"/><Relationship Id="rId5" Type="http://schemas.openxmlformats.org/officeDocument/2006/relationships/image" Target="../media/image5.svg"/><Relationship Id="rId6" Type="http://schemas.openxmlformats.org/officeDocument/2006/relationships/image" Target="../media/image6.png"/><Relationship Id="rId7" Type="http://schemas.openxmlformats.org/officeDocument/2006/relationships/image" Target="../media/image7.svg"/><Relationship Id="rId8" Type="http://schemas.openxmlformats.org/officeDocument/2006/relationships/image" Target="../media/image8.png"/><Relationship Id="rId9" Type="http://schemas.openxmlformats.org/officeDocument/2006/relationships/image" Target="../media/image9.svg"/><Relationship Id="rId10" Type="http://schemas.openxmlformats.org/officeDocument/2006/relationships/image" Target="../media/image10.png"/><Relationship Id="rId11" Type="http://schemas.openxmlformats.org/officeDocument/2006/relationships/image" Target="../media/image11.svg"/><Relationship Id="rId12" Type="http://schemas.openxmlformats.org/officeDocument/2006/relationships/image" Target="../media/image12.png"/><Relationship Id="rId13" Type="http://schemas.openxmlformats.org/officeDocument/2006/relationships/image" Target="../media/image13.svg"/><Relationship Id="rId14" Type="http://schemas.openxmlformats.org/officeDocument/2006/relationships/image" Target="../media/image14.png"/><Relationship Id="rId15" Type="http://schemas.openxmlformats.org/officeDocument/2006/relationships/image" Target="../media/image15.svg"/><Relationship Id="rId16" Type="http://schemas.openxmlformats.org/officeDocument/2006/relationships/chart" Target="../charts/chart1.xml"/><Relationship Id="rId17" Type="http://schemas.openxmlformats.org/officeDocument/2006/relationships/image" Target="../media/image1.png"/><Relationship Id="rId18" Type="http://schemas.openxmlformats.org/officeDocument/2006/relationships/tags" Target="../tags/tag2.xml"/><Relationship Id="rId19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6.png"/><Relationship Id="rId3" Type="http://schemas.openxmlformats.org/officeDocument/2006/relationships/image" Target="../media/image17.svg"/><Relationship Id="rId4" Type="http://schemas.openxmlformats.org/officeDocument/2006/relationships/image" Target="../media/image18.png"/><Relationship Id="rId5" Type="http://schemas.openxmlformats.org/officeDocument/2006/relationships/image" Target="../media/image19.svg"/><Relationship Id="rId6" Type="http://schemas.openxmlformats.org/officeDocument/2006/relationships/image" Target="../media/image20.png"/><Relationship Id="rId7" Type="http://schemas.openxmlformats.org/officeDocument/2006/relationships/image" Target="../media/image21.svg"/><Relationship Id="rId8" Type="http://schemas.openxmlformats.org/officeDocument/2006/relationships/image" Target="../media/image1.png"/><Relationship Id="rId9" Type="http://schemas.openxmlformats.org/officeDocument/2006/relationships/tags" Target="../tags/tag3.xml"/><Relationship Id="rId10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2.xml"/><Relationship Id="rId3" Type="http://schemas.openxmlformats.org/officeDocument/2006/relationships/image" Target="../media/image1.png"/><Relationship Id="rId4" Type="http://schemas.openxmlformats.org/officeDocument/2006/relationships/tags" Target="../tags/tag4.xml"/><Relationship Id="rId5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3.xml"/><Relationship Id="rId3" Type="http://schemas.openxmlformats.org/officeDocument/2006/relationships/image" Target="../media/image1.png"/><Relationship Id="rId4" Type="http://schemas.openxmlformats.org/officeDocument/2006/relationships/tags" Target="../tags/tag5.xml"/><Relationship Id="rId5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4.xml"/><Relationship Id="rId3" Type="http://schemas.openxmlformats.org/officeDocument/2006/relationships/image" Target="../media/image1.png"/><Relationship Id="rId4" Type="http://schemas.openxmlformats.org/officeDocument/2006/relationships/tags" Target="../tags/tag6.xml"/><Relationship Id="rId5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Relationship Id="rId3" Type="http://schemas.openxmlformats.org/officeDocument/2006/relationships/tags" Target="../tags/tag7.xml"/><Relationship Id="rId4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Relationship Id="rId3" Type="http://schemas.openxmlformats.org/officeDocument/2006/relationships/tags" Target="../tags/tag8.xml"/><Relationship Id="rId4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cxnSp>
        <p:nvCxnSpPr>
          <p:cNvPr id="184" name="chrome-1"/>
          <p:cNvCxnSpPr/>
          <p:nvPr/>
        </p:nvCxnSpPr>
        <p:spPr>
          <a:xfrm>
            <a:off x="411480" y="1037843"/>
            <a:ext cx="11368735" cy="0"/>
          </a:xfrm>
          <a:prstGeom prst="line">
            <a:avLst/>
          </a:prstGeom>
          <a:ln w="12700">
            <a:solidFill>
              <a:srgbClr val="0E4D5E"/>
            </a:solidFill>
          </a:ln>
        </p:spPr>
      </p:cxnSp>
      <p:cxnSp>
        <p:nvCxnSpPr>
          <p:cNvPr id="185" name="chrome-2"/>
          <p:cNvCxnSpPr/>
          <p:nvPr/>
        </p:nvCxnSpPr>
        <p:spPr>
          <a:xfrm>
            <a:off x="411480" y="6405372"/>
            <a:ext cx="11368735" cy="0"/>
          </a:xfrm>
          <a:prstGeom prst="line">
            <a:avLst/>
          </a:prstGeom>
          <a:ln w="6350">
            <a:solidFill>
              <a:srgbClr val="C9D2D8"/>
            </a:solidFill>
          </a:ln>
        </p:spPr>
      </p:cxnSp>
      <p:pic>
        <p:nvPicPr>
          <p:cNvPr id="186" name="chrome-3" descr="corrin-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6473952"/>
            <a:ext cx="201168" cy="201168"/>
          </a:xfrm>
          <a:prstGeom prst="rect">
            <a:avLst/>
          </a:prstGeom>
        </p:spPr>
      </p:pic>
      <p:sp>
        <p:nvSpPr>
          <p:cNvPr id="187" name="chrome-4"/>
          <p:cNvSpPr txBox="1"/>
          <p:nvPr/>
        </p:nvSpPr>
        <p:spPr>
          <a:xfrm>
            <a:off x="658368" y="6492240"/>
            <a:ext cx="1188720" cy="164592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r>
              <a:rPr sz="900" b="1">
                <a:solidFill>
                  <a:srgbClr val="0E4D5E"/>
                </a:solidFill>
                <a:latin typeface="Inter"/>
              </a:rPr>
              <a:t>Corrin Medical</a:t>
            </a:r>
          </a:p>
        </p:txBody>
      </p:sp>
      <p:sp>
        <p:nvSpPr>
          <p:cNvPr id="188" name="chrome-5"/>
          <p:cNvSpPr txBox="1"/>
          <p:nvPr/>
        </p:nvSpPr>
        <p:spPr>
          <a:xfrm>
            <a:off x="1920240" y="6510528"/>
            <a:ext cx="8229600" cy="1524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r"/>
            <a:r>
              <a:rPr sz="700" b="0">
                <a:solidFill>
                  <a:srgbClr val="56636D"/>
                </a:solidFill>
                <a:latin typeface="Inter"/>
              </a:rPr>
              <a:t>Board of Directors  |  Corrin 2028 operating transformation  |  18 December 2025  |  Illustrative figures for a fictional company</a:t>
            </a:r>
          </a:p>
        </p:txBody>
      </p:sp>
      <p:sp>
        <p:nvSpPr>
          <p:cNvPr id="189" name="chrome-6"/>
          <p:cNvSpPr txBox="1"/>
          <p:nvPr/>
        </p:nvSpPr>
        <p:spPr>
          <a:xfrm>
            <a:off x="11323015" y="6510528"/>
            <a:ext cx="457200" cy="1524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r"/>
            <a:fld id="{B6F15528-21DE-4FAA-801E-634DDDAF5B2F}" type="slidenum">
              <a:rPr sz="700">
                <a:solidFill>
                  <a:srgbClr val="56636D"/>
                </a:solidFill>
                <a:latin typeface="Inter"/>
              </a:rPr>
              <a:t>1</a:t>
            </a:fld>
          </a:p>
        </p:txBody>
      </p:sp>
      <p:sp>
        <p:nvSpPr>
          <p:cNvPr id="3" name="kicker"/>
          <p:cNvSpPr/>
          <p:nvPr/>
        </p:nvSpPr>
        <p:spPr>
          <a:xfrm>
            <a:off x="411480" y="303275"/>
            <a:ext cx="11369040" cy="1219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ts val="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00" b="1" i="0" spc="50">
                <a:solidFill>
                  <a:srgbClr val="0E4D5E"/>
                </a:solidFill>
                <a:latin typeface="Inter"/>
              </a:rPr>
              <a:t>BOARD DECISION  |  CORRIN 2028</a:t>
            </a:r>
          </a:p>
        </p:txBody>
      </p:sp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411480" y="452627"/>
            <a:ext cx="11369040" cy="480060"/>
          </a:xfrm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1" i="0">
                <a:solidFill>
                  <a:srgbClr val="17232D"/>
                </a:solidFill>
                <a:latin typeface="Inter"/>
              </a:rPr>
              <a:t>Corrin 2028 adds $104m of EBITDA and releases $146m of working capital by FY2028; the board is</a:t>
            </a:r>
            <a:br/>
            <a:r>
              <a:rPr sz="1800" b="1" i="0">
                <a:solidFill>
                  <a:srgbClr val="17232D"/>
                </a:solidFill>
                <a:latin typeface="Inter"/>
              </a:rPr>
              <a:t>asked to approve the programme, two plant exits and the $165m it costs</a:t>
            </a:r>
          </a:p>
        </p:txBody>
      </p:sp>
      <p:sp>
        <p:nvSpPr>
          <p:cNvPr id="4" name="ask-h"/>
          <p:cNvSpPr/>
          <p:nvPr/>
        </p:nvSpPr>
        <p:spPr>
          <a:xfrm>
            <a:off x="411480" y="1133855"/>
            <a:ext cx="4011706" cy="1600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ts val="12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 b="1" i="0">
                <a:solidFill>
                  <a:srgbClr val="0E4D5E"/>
                </a:solidFill>
                <a:latin typeface="Inter"/>
              </a:rPr>
              <a:t>Three approvals asked of the board</a:t>
            </a:r>
          </a:p>
        </p:txBody>
      </p:sp>
      <p:sp>
        <p:nvSpPr>
          <p:cNvPr id="5" name="ask-fill"/>
          <p:cNvSpPr/>
          <p:nvPr/>
        </p:nvSpPr>
        <p:spPr>
          <a:xfrm>
            <a:off x="411480" y="1321307"/>
            <a:ext cx="4011706" cy="1217676"/>
          </a:xfrm>
          <a:prstGeom prst="rect">
            <a:avLst/>
          </a:prstGeom>
          <a:solidFill>
            <a:srgbClr val="EEF2F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ask0-n-fill"/>
          <p:cNvSpPr/>
          <p:nvPr/>
        </p:nvSpPr>
        <p:spPr>
          <a:xfrm>
            <a:off x="512064" y="1421891"/>
            <a:ext cx="201168" cy="201168"/>
          </a:xfrm>
          <a:prstGeom prst="ellipse">
            <a:avLst/>
          </a:prstGeom>
          <a:solidFill>
            <a:srgbClr val="0E4D5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ask0-nt"/>
          <p:cNvSpPr/>
          <p:nvPr/>
        </p:nvSpPr>
        <p:spPr>
          <a:xfrm>
            <a:off x="512064" y="1421891"/>
            <a:ext cx="201168" cy="20116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 marL="0" indent="0">
              <a:lnSpc>
                <a:spcPts val="8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00" b="1" i="0">
                <a:solidFill>
                  <a:srgbClr val="FFFFFF"/>
                </a:solidFill>
                <a:latin typeface="Inter"/>
              </a:rPr>
              <a:t>1</a:t>
            </a:r>
          </a:p>
        </p:txBody>
      </p:sp>
      <p:sp>
        <p:nvSpPr>
          <p:cNvPr id="8" name="ask0-t"/>
          <p:cNvSpPr/>
          <p:nvPr/>
        </p:nvSpPr>
        <p:spPr>
          <a:xfrm>
            <a:off x="768096" y="1421891"/>
            <a:ext cx="3554506" cy="2717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ts val="92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sz="800" b="1" i="0">
                <a:solidFill>
                  <a:srgbClr val="17232D"/>
                </a:solidFill>
                <a:latin typeface="Inter"/>
              </a:rPr>
              <a:t>Programme.</a:t>
            </a:r>
            <a:r>
              <a:rPr sz="800" b="0" i="0">
                <a:solidFill>
                  <a:srgbClr val="17232D"/>
                </a:solidFill>
                <a:latin typeface="Inter"/>
              </a:rPr>
              <a:t> Approve Corrin 2028 and the $165m to deliver it: $98m of</a:t>
            </a:r>
            <a:br/>
            <a:r>
              <a:rPr sz="800" b="0" i="0">
                <a:solidFill>
                  <a:srgbClr val="17232D"/>
                </a:solidFill>
                <a:latin typeface="Inter"/>
              </a:rPr>
              <a:t>one-off cost and $67m of capital, $72m of it in 2026.</a:t>
            </a:r>
          </a:p>
        </p:txBody>
      </p:sp>
      <p:sp>
        <p:nvSpPr>
          <p:cNvPr id="9" name="ask1-n-fill"/>
          <p:cNvSpPr/>
          <p:nvPr/>
        </p:nvSpPr>
        <p:spPr>
          <a:xfrm>
            <a:off x="512064" y="1794255"/>
            <a:ext cx="201168" cy="201168"/>
          </a:xfrm>
          <a:prstGeom prst="ellipse">
            <a:avLst/>
          </a:prstGeom>
          <a:solidFill>
            <a:srgbClr val="0E4D5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ask1-nt"/>
          <p:cNvSpPr/>
          <p:nvPr/>
        </p:nvSpPr>
        <p:spPr>
          <a:xfrm>
            <a:off x="512064" y="1794255"/>
            <a:ext cx="201168" cy="20116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 marL="0" indent="0">
              <a:lnSpc>
                <a:spcPts val="8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00" b="1" i="0">
                <a:solidFill>
                  <a:srgbClr val="FFFFFF"/>
                </a:solidFill>
                <a:latin typeface="Inter"/>
              </a:rPr>
              <a:t>2</a:t>
            </a:r>
          </a:p>
        </p:txBody>
      </p:sp>
      <p:sp>
        <p:nvSpPr>
          <p:cNvPr id="11" name="ask1-t"/>
          <p:cNvSpPr/>
          <p:nvPr/>
        </p:nvSpPr>
        <p:spPr>
          <a:xfrm>
            <a:off x="768096" y="1794255"/>
            <a:ext cx="3554506" cy="2717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ts val="92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sz="800" b="1" i="0">
                <a:solidFill>
                  <a:srgbClr val="17232D"/>
                </a:solidFill>
                <a:latin typeface="Inter"/>
              </a:rPr>
              <a:t>Footprint.</a:t>
            </a:r>
            <a:r>
              <a:rPr sz="800" b="0" i="0">
                <a:solidFill>
                  <a:srgbClr val="17232D"/>
                </a:solidFill>
                <a:latin typeface="Inter"/>
              </a:rPr>
              <a:t> Approve the exits of Salt Lake City by September 2027 and</a:t>
            </a:r>
            <a:br/>
            <a:r>
              <a:rPr sz="800" b="0" i="0">
                <a:solidFill>
                  <a:srgbClr val="17232D"/>
                </a:solidFill>
                <a:latin typeface="Inter"/>
              </a:rPr>
              <a:t>Tuttlingen by June 2028, subject to consultation.</a:t>
            </a:r>
          </a:p>
        </p:txBody>
      </p:sp>
      <p:sp>
        <p:nvSpPr>
          <p:cNvPr id="12" name="ask2-n-fill"/>
          <p:cNvSpPr/>
          <p:nvPr/>
        </p:nvSpPr>
        <p:spPr>
          <a:xfrm>
            <a:off x="512064" y="2166619"/>
            <a:ext cx="201168" cy="201168"/>
          </a:xfrm>
          <a:prstGeom prst="ellipse">
            <a:avLst/>
          </a:prstGeom>
          <a:solidFill>
            <a:srgbClr val="0E4D5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ask2-nt"/>
          <p:cNvSpPr/>
          <p:nvPr/>
        </p:nvSpPr>
        <p:spPr>
          <a:xfrm>
            <a:off x="512064" y="2166619"/>
            <a:ext cx="201168" cy="20116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 marL="0" indent="0">
              <a:lnSpc>
                <a:spcPts val="8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00" b="1" i="0">
                <a:solidFill>
                  <a:srgbClr val="FFFFFF"/>
                </a:solidFill>
                <a:latin typeface="Inter"/>
              </a:rPr>
              <a:t>3</a:t>
            </a:r>
          </a:p>
        </p:txBody>
      </p:sp>
      <p:sp>
        <p:nvSpPr>
          <p:cNvPr id="14" name="ask2-t"/>
          <p:cNvSpPr/>
          <p:nvPr/>
        </p:nvSpPr>
        <p:spPr>
          <a:xfrm>
            <a:off x="768096" y="2166619"/>
            <a:ext cx="3554506" cy="2717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ts val="92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sz="800" b="1" i="0">
                <a:solidFill>
                  <a:srgbClr val="17232D"/>
                </a:solidFill>
                <a:latin typeface="Inter"/>
              </a:rPr>
              <a:t>Operating model.</a:t>
            </a:r>
            <a:r>
              <a:rPr sz="800" b="0" i="0">
                <a:solidFill>
                  <a:srgbClr val="17232D"/>
                </a:solidFill>
                <a:latin typeface="Inter"/>
              </a:rPr>
              <a:t> Approve a shared-services hub in Brno, global</a:t>
            </a:r>
            <a:br/>
            <a:r>
              <a:rPr sz="800" b="0" i="0">
                <a:solidFill>
                  <a:srgbClr val="17232D"/>
                </a:solidFill>
                <a:latin typeface="Inter"/>
              </a:rPr>
              <a:t>procurement, and quality and regulatory reporting to the CEO.</a:t>
            </a:r>
          </a:p>
        </p:txBody>
      </p:sp>
      <p:sp>
        <p:nvSpPr>
          <p:cNvPr id="15" name="ask-n"/>
          <p:cNvSpPr/>
          <p:nvPr/>
        </p:nvSpPr>
        <p:spPr>
          <a:xfrm>
            <a:off x="411480" y="2566415"/>
            <a:ext cx="4011706" cy="2717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ts val="92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sz="800" b="0" i="0">
                <a:solidFill>
                  <a:srgbClr val="17232D"/>
                </a:solidFill>
                <a:latin typeface="Inter"/>
              </a:rPr>
              <a:t>If approved, the programme launches in January 2026 at M1, and the board</a:t>
            </a:r>
            <a:br/>
            <a:r>
              <a:rPr sz="800" b="0" i="0">
                <a:solidFill>
                  <a:srgbClr val="17232D"/>
                </a:solidFill>
                <a:latin typeface="Inter"/>
              </a:rPr>
              <a:t>reviews it at each of five further milestones to December 2028.</a:t>
            </a:r>
          </a:p>
        </p:txBody>
      </p:sp>
      <p:sp>
        <p:nvSpPr>
          <p:cNvPr id="16" name="cost-h"/>
          <p:cNvSpPr/>
          <p:nvPr/>
        </p:nvSpPr>
        <p:spPr>
          <a:xfrm>
            <a:off x="4651786" y="1133855"/>
            <a:ext cx="3209365" cy="1600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ts val="12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 b="1" i="0">
                <a:solidFill>
                  <a:srgbClr val="0E4D5E"/>
                </a:solidFill>
                <a:latin typeface="Inter"/>
              </a:rPr>
              <a:t>What it costs and when it pays back</a:t>
            </a:r>
          </a:p>
        </p:txBody>
      </p:sp>
      <p:graphicFrame>
        <p:nvGraphicFramePr>
          <p:cNvPr id="17" name="cost"/>
          <p:cNvGraphicFramePr>
            <a:graphicFrameLocks noGrp="1"/>
          </p:cNvGraphicFramePr>
          <p:nvPr/>
        </p:nvGraphicFramePr>
        <p:xfrm>
          <a:off x="4651786" y="1321307"/>
          <a:ext cx="3209365" cy="1016508"/>
        </p:xfrm>
        <a:graphic>
          <a:graphicData uri="http://schemas.openxmlformats.org/drawingml/2006/table">
            <a:tbl>
              <a:tblPr firstRow="0" bandRow="0" lastRow="0" firstCol="0" lastCol="0" bandCol="0"/>
              <a:tblGrid>
                <a:gridCol w="1283746"/>
                <a:gridCol w="489557"/>
                <a:gridCol w="479703"/>
                <a:gridCol w="489769"/>
                <a:gridCol w="466590"/>
              </a:tblGrid>
              <a:tr h="169418">
                <a:tc>
                  <a:txBody>
                    <a:bodyPr wrap="square"/>
                    <a:lstStyle/>
                    <a:p>
                      <a:pPr algn="l"/>
                      <a:r>
                        <a:rPr sz="750" b="1" i="0">
                          <a:solidFill>
                            <a:srgbClr val="0E4D5E"/>
                          </a:solidFill>
                          <a:latin typeface="Inter"/>
                        </a:rPr>
                        <a:t>$m</a:t>
                      </a:r>
                      <a:endParaRPr sz="750" b="1" i="0">
                        <a:solidFill>
                          <a:srgbClr val="0E4D5E"/>
                        </a:solidFill>
                        <a:latin typeface="Inter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0E4D5E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1" i="0">
                          <a:solidFill>
                            <a:srgbClr val="0E4D5E"/>
                          </a:solidFill>
                          <a:latin typeface="Inter"/>
                        </a:rPr>
                        <a:t>2026</a:t>
                      </a:r>
                      <a:endParaRPr sz="750" b="1" i="0">
                        <a:solidFill>
                          <a:srgbClr val="0E4D5E"/>
                        </a:solidFill>
                        <a:latin typeface="Inter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0E4D5E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1" i="0">
                          <a:solidFill>
                            <a:srgbClr val="0E4D5E"/>
                          </a:solidFill>
                          <a:latin typeface="Inter"/>
                        </a:rPr>
                        <a:t>2027</a:t>
                      </a:r>
                      <a:endParaRPr sz="750" b="1" i="0">
                        <a:solidFill>
                          <a:srgbClr val="0E4D5E"/>
                        </a:solidFill>
                        <a:latin typeface="Inter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0E4D5E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1" i="0">
                          <a:solidFill>
                            <a:srgbClr val="0E4D5E"/>
                          </a:solidFill>
                          <a:latin typeface="Inter"/>
                        </a:rPr>
                        <a:t>2028</a:t>
                      </a:r>
                      <a:endParaRPr sz="750" b="1" i="0">
                        <a:solidFill>
                          <a:srgbClr val="0E4D5E"/>
                        </a:solidFill>
                        <a:latin typeface="Inter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0E4D5E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1" i="0">
                          <a:solidFill>
                            <a:srgbClr val="0E4D5E"/>
                          </a:solidFill>
                          <a:latin typeface="Inter"/>
                        </a:rPr>
                        <a:t>Total</a:t>
                      </a:r>
                      <a:endParaRPr sz="750" b="1" i="0">
                        <a:solidFill>
                          <a:srgbClr val="0E4D5E"/>
                        </a:solidFill>
                        <a:latin typeface="Inter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0E4D5E"/>
                      </a:solidFill>
                    </a:lnB>
                    <a:noFill/>
                  </a:tcPr>
                </a:tc>
              </a:tr>
              <a:tr h="169418">
                <a:tc>
                  <a:txBody>
                    <a:bodyPr wrap="square"/>
                    <a:lstStyle/>
                    <a:p>
                      <a:pPr algn="l"/>
                      <a:r>
                        <a:rPr sz="750" b="0" i="0">
                          <a:solidFill>
                            <a:srgbClr val="17232D"/>
                          </a:solidFill>
                          <a:latin typeface="Inter"/>
                        </a:rPr>
                        <a:t>One-off operating cost</a:t>
                      </a:r>
                      <a:endParaRPr sz="750" b="0" i="0">
                        <a:solidFill>
                          <a:srgbClr val="17232D"/>
                        </a:solidFill>
                        <a:latin typeface="Inter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rgbClr val="0E4D5E"/>
                      </a:solidFill>
                    </a:lnT>
                    <a:lnB w="6350">
                      <a:solidFill>
                        <a:srgbClr val="C9D2D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 i="0">
                          <a:solidFill>
                            <a:srgbClr val="17232D"/>
                          </a:solidFill>
                          <a:latin typeface="Inter"/>
                        </a:rPr>
                        <a:t>44</a:t>
                      </a:r>
                      <a:endParaRPr sz="750" b="0" i="0">
                        <a:solidFill>
                          <a:srgbClr val="17232D"/>
                        </a:solidFill>
                        <a:latin typeface="Inter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rgbClr val="0E4D5E"/>
                      </a:solidFill>
                    </a:lnT>
                    <a:lnB w="6350">
                      <a:solidFill>
                        <a:srgbClr val="C9D2D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 i="0">
                          <a:solidFill>
                            <a:srgbClr val="17232D"/>
                          </a:solidFill>
                          <a:latin typeface="Inter"/>
                        </a:rPr>
                        <a:t>36</a:t>
                      </a:r>
                      <a:endParaRPr sz="750" b="0" i="0">
                        <a:solidFill>
                          <a:srgbClr val="17232D"/>
                        </a:solidFill>
                        <a:latin typeface="Inter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rgbClr val="0E4D5E"/>
                      </a:solidFill>
                    </a:lnT>
                    <a:lnB w="6350">
                      <a:solidFill>
                        <a:srgbClr val="C9D2D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 i="0">
                          <a:solidFill>
                            <a:srgbClr val="17232D"/>
                          </a:solidFill>
                          <a:latin typeface="Inter"/>
                        </a:rPr>
                        <a:t>18</a:t>
                      </a:r>
                      <a:endParaRPr sz="750" b="0" i="0">
                        <a:solidFill>
                          <a:srgbClr val="17232D"/>
                        </a:solidFill>
                        <a:latin typeface="Inter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rgbClr val="0E4D5E"/>
                      </a:solidFill>
                    </a:lnT>
                    <a:lnB w="6350">
                      <a:solidFill>
                        <a:srgbClr val="C9D2D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 i="0">
                          <a:solidFill>
                            <a:srgbClr val="17232D"/>
                          </a:solidFill>
                          <a:latin typeface="Inter"/>
                        </a:rPr>
                        <a:t>98</a:t>
                      </a:r>
                      <a:endParaRPr sz="750" b="0" i="0">
                        <a:solidFill>
                          <a:srgbClr val="17232D"/>
                        </a:solidFill>
                        <a:latin typeface="Inter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rgbClr val="0E4D5E"/>
                      </a:solidFill>
                    </a:lnT>
                    <a:lnB w="6350">
                      <a:solidFill>
                        <a:srgbClr val="C9D2D8"/>
                      </a:solidFill>
                    </a:lnB>
                    <a:noFill/>
                  </a:tcPr>
                </a:tc>
              </a:tr>
              <a:tr h="169418">
                <a:tc>
                  <a:txBody>
                    <a:bodyPr wrap="square"/>
                    <a:lstStyle/>
                    <a:p>
                      <a:pPr algn="l"/>
                      <a:r>
                        <a:rPr sz="750" b="0" i="0">
                          <a:solidFill>
                            <a:srgbClr val="17232D"/>
                          </a:solidFill>
                          <a:latin typeface="Inter"/>
                        </a:rPr>
                        <a:t>Capital expenditure</a:t>
                      </a:r>
                      <a:endParaRPr sz="750" b="0" i="0">
                        <a:solidFill>
                          <a:srgbClr val="17232D"/>
                        </a:solidFill>
                        <a:latin typeface="Inter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D2D8"/>
                      </a:solidFill>
                    </a:lnT>
                    <a:lnB w="6350">
                      <a:solidFill>
                        <a:srgbClr val="C9D2D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 i="0">
                          <a:solidFill>
                            <a:srgbClr val="17232D"/>
                          </a:solidFill>
                          <a:latin typeface="Inter"/>
                        </a:rPr>
                        <a:t>28</a:t>
                      </a:r>
                      <a:endParaRPr sz="750" b="0" i="0">
                        <a:solidFill>
                          <a:srgbClr val="17232D"/>
                        </a:solidFill>
                        <a:latin typeface="Inter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D2D8"/>
                      </a:solidFill>
                    </a:lnT>
                    <a:lnB w="6350">
                      <a:solidFill>
                        <a:srgbClr val="C9D2D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 i="0">
                          <a:solidFill>
                            <a:srgbClr val="17232D"/>
                          </a:solidFill>
                          <a:latin typeface="Inter"/>
                        </a:rPr>
                        <a:t>25</a:t>
                      </a:r>
                      <a:endParaRPr sz="750" b="0" i="0">
                        <a:solidFill>
                          <a:srgbClr val="17232D"/>
                        </a:solidFill>
                        <a:latin typeface="Inter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D2D8"/>
                      </a:solidFill>
                    </a:lnT>
                    <a:lnB w="6350">
                      <a:solidFill>
                        <a:srgbClr val="C9D2D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 i="0">
                          <a:solidFill>
                            <a:srgbClr val="17232D"/>
                          </a:solidFill>
                          <a:latin typeface="Inter"/>
                        </a:rPr>
                        <a:t>14</a:t>
                      </a:r>
                      <a:endParaRPr sz="750" b="0" i="0">
                        <a:solidFill>
                          <a:srgbClr val="17232D"/>
                        </a:solidFill>
                        <a:latin typeface="Inter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D2D8"/>
                      </a:solidFill>
                    </a:lnT>
                    <a:lnB w="6350">
                      <a:solidFill>
                        <a:srgbClr val="C9D2D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 i="0">
                          <a:solidFill>
                            <a:srgbClr val="17232D"/>
                          </a:solidFill>
                          <a:latin typeface="Inter"/>
                        </a:rPr>
                        <a:t>67</a:t>
                      </a:r>
                      <a:endParaRPr sz="750" b="0" i="0">
                        <a:solidFill>
                          <a:srgbClr val="17232D"/>
                        </a:solidFill>
                        <a:latin typeface="Inter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D2D8"/>
                      </a:solidFill>
                    </a:lnT>
                    <a:lnB w="6350">
                      <a:solidFill>
                        <a:srgbClr val="C9D2D8"/>
                      </a:solidFill>
                    </a:lnB>
                    <a:noFill/>
                  </a:tcPr>
                </a:tc>
              </a:tr>
              <a:tr h="169418">
                <a:tc>
                  <a:txBody>
                    <a:bodyPr wrap="square"/>
                    <a:lstStyle/>
                    <a:p>
                      <a:pPr algn="l"/>
                      <a:r>
                        <a:rPr sz="750" b="1" i="0">
                          <a:solidFill>
                            <a:srgbClr val="17232D"/>
                          </a:solidFill>
                          <a:latin typeface="Inter"/>
                        </a:rPr>
                        <a:t>Cost to achieve</a:t>
                      </a:r>
                      <a:endParaRPr sz="750" b="1" i="0">
                        <a:solidFill>
                          <a:srgbClr val="17232D"/>
                        </a:solidFill>
                        <a:latin typeface="Inter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D2D8"/>
                      </a:solidFill>
                    </a:lnT>
                    <a:lnB w="6350">
                      <a:solidFill>
                        <a:srgbClr val="C9D2D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1" i="0">
                          <a:solidFill>
                            <a:srgbClr val="17232D"/>
                          </a:solidFill>
                          <a:latin typeface="Inter"/>
                        </a:rPr>
                        <a:t>72</a:t>
                      </a:r>
                      <a:endParaRPr sz="750" b="1" i="0">
                        <a:solidFill>
                          <a:srgbClr val="17232D"/>
                        </a:solidFill>
                        <a:latin typeface="Inter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D2D8"/>
                      </a:solidFill>
                    </a:lnT>
                    <a:lnB w="6350">
                      <a:solidFill>
                        <a:srgbClr val="C9D2D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1" i="0">
                          <a:solidFill>
                            <a:srgbClr val="17232D"/>
                          </a:solidFill>
                          <a:latin typeface="Inter"/>
                        </a:rPr>
                        <a:t>61</a:t>
                      </a:r>
                      <a:endParaRPr sz="750" b="1" i="0">
                        <a:solidFill>
                          <a:srgbClr val="17232D"/>
                        </a:solidFill>
                        <a:latin typeface="Inter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D2D8"/>
                      </a:solidFill>
                    </a:lnT>
                    <a:lnB w="6350">
                      <a:solidFill>
                        <a:srgbClr val="C9D2D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1" i="0">
                          <a:solidFill>
                            <a:srgbClr val="17232D"/>
                          </a:solidFill>
                          <a:latin typeface="Inter"/>
                        </a:rPr>
                        <a:t>32</a:t>
                      </a:r>
                      <a:endParaRPr sz="750" b="1" i="0">
                        <a:solidFill>
                          <a:srgbClr val="17232D"/>
                        </a:solidFill>
                        <a:latin typeface="Inter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D2D8"/>
                      </a:solidFill>
                    </a:lnT>
                    <a:lnB w="6350">
                      <a:solidFill>
                        <a:srgbClr val="C9D2D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1" i="0">
                          <a:solidFill>
                            <a:srgbClr val="17232D"/>
                          </a:solidFill>
                          <a:latin typeface="Inter"/>
                        </a:rPr>
                        <a:t>165</a:t>
                      </a:r>
                      <a:endParaRPr sz="750" b="1" i="0">
                        <a:solidFill>
                          <a:srgbClr val="17232D"/>
                        </a:solidFill>
                        <a:latin typeface="Inter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D2D8"/>
                      </a:solidFill>
                    </a:lnT>
                    <a:lnB w="6350">
                      <a:solidFill>
                        <a:srgbClr val="C9D2D8"/>
                      </a:solidFill>
                    </a:lnB>
                    <a:noFill/>
                  </a:tcPr>
                </a:tc>
              </a:tr>
              <a:tr h="169418">
                <a:tc>
                  <a:txBody>
                    <a:bodyPr wrap="square"/>
                    <a:lstStyle/>
                    <a:p>
                      <a:pPr algn="l"/>
                      <a:r>
                        <a:rPr sz="750" b="0" i="0">
                          <a:solidFill>
                            <a:srgbClr val="17232D"/>
                          </a:solidFill>
                          <a:latin typeface="Inter"/>
                        </a:rPr>
                        <a:t>Net cash after cost</a:t>
                      </a:r>
                      <a:endParaRPr sz="750" b="0" i="0">
                        <a:solidFill>
                          <a:srgbClr val="17232D"/>
                        </a:solidFill>
                        <a:latin typeface="Inter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D2D8"/>
                      </a:solidFill>
                    </a:lnT>
                    <a:lnB w="6350">
                      <a:solidFill>
                        <a:srgbClr val="C9D2D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 i="0">
                          <a:solidFill>
                            <a:srgbClr val="17232D"/>
                          </a:solidFill>
                          <a:latin typeface="Inter"/>
                        </a:rPr>
                        <a:t>(16)</a:t>
                      </a:r>
                      <a:endParaRPr sz="750" b="0" i="0">
                        <a:solidFill>
                          <a:srgbClr val="17232D"/>
                        </a:solidFill>
                        <a:latin typeface="Inter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D2D8"/>
                      </a:solidFill>
                    </a:lnT>
                    <a:lnB w="6350">
                      <a:solidFill>
                        <a:srgbClr val="C9D2D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 i="0">
                          <a:solidFill>
                            <a:srgbClr val="17232D"/>
                          </a:solidFill>
                          <a:latin typeface="Inter"/>
                        </a:rPr>
                        <a:t>52</a:t>
                      </a:r>
                      <a:endParaRPr sz="750" b="0" i="0">
                        <a:solidFill>
                          <a:srgbClr val="17232D"/>
                        </a:solidFill>
                        <a:latin typeface="Inter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D2D8"/>
                      </a:solidFill>
                    </a:lnT>
                    <a:lnB w="6350">
                      <a:solidFill>
                        <a:srgbClr val="C9D2D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 i="0">
                          <a:solidFill>
                            <a:srgbClr val="17232D"/>
                          </a:solidFill>
                          <a:latin typeface="Inter"/>
                        </a:rPr>
                        <a:t>99</a:t>
                      </a:r>
                      <a:endParaRPr sz="750" b="0" i="0">
                        <a:solidFill>
                          <a:srgbClr val="17232D"/>
                        </a:solidFill>
                        <a:latin typeface="Inter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D2D8"/>
                      </a:solidFill>
                    </a:lnT>
                    <a:lnB w="6350">
                      <a:solidFill>
                        <a:srgbClr val="C9D2D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 i="0">
                          <a:solidFill>
                            <a:srgbClr val="17232D"/>
                          </a:solidFill>
                          <a:latin typeface="Inter"/>
                        </a:rPr>
                        <a:t>135</a:t>
                      </a:r>
                      <a:endParaRPr sz="750" b="0" i="0">
                        <a:solidFill>
                          <a:srgbClr val="17232D"/>
                        </a:solidFill>
                        <a:latin typeface="Inter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D2D8"/>
                      </a:solidFill>
                    </a:lnT>
                    <a:lnB w="6350">
                      <a:solidFill>
                        <a:srgbClr val="C9D2D8"/>
                      </a:solidFill>
                    </a:lnB>
                    <a:noFill/>
                  </a:tcPr>
                </a:tc>
              </a:tr>
              <a:tr h="169418">
                <a:tc>
                  <a:txBody>
                    <a:bodyPr wrap="square"/>
                    <a:lstStyle/>
                    <a:p>
                      <a:pPr algn="l"/>
                      <a:r>
                        <a:rPr sz="750" b="1" i="0">
                          <a:solidFill>
                            <a:srgbClr val="0E4D5E"/>
                          </a:solidFill>
                          <a:latin typeface="Inter"/>
                        </a:rPr>
                        <a:t>Cumulative net cash</a:t>
                      </a:r>
                      <a:endParaRPr sz="750" b="1" i="0">
                        <a:solidFill>
                          <a:srgbClr val="0E4D5E"/>
                        </a:solidFill>
                        <a:latin typeface="Inter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D2D8"/>
                      </a:solidFill>
                    </a:lnT>
                    <a:lnB w="9525">
                      <a:solidFill>
                        <a:srgbClr val="0E4D5E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1" i="0">
                          <a:solidFill>
                            <a:srgbClr val="0E4D5E"/>
                          </a:solidFill>
                          <a:latin typeface="Inter"/>
                        </a:rPr>
                        <a:t>(16)</a:t>
                      </a:r>
                      <a:endParaRPr sz="750" b="1" i="0">
                        <a:solidFill>
                          <a:srgbClr val="0E4D5E"/>
                        </a:solidFill>
                        <a:latin typeface="Inter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D2D8"/>
                      </a:solidFill>
                    </a:lnT>
                    <a:lnB w="9525">
                      <a:solidFill>
                        <a:srgbClr val="0E4D5E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1" i="0">
                          <a:solidFill>
                            <a:srgbClr val="0E4D5E"/>
                          </a:solidFill>
                          <a:latin typeface="Inter"/>
                        </a:rPr>
                        <a:t>36</a:t>
                      </a:r>
                      <a:endParaRPr sz="750" b="1" i="0">
                        <a:solidFill>
                          <a:srgbClr val="0E4D5E"/>
                        </a:solidFill>
                        <a:latin typeface="Inter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D2D8"/>
                      </a:solidFill>
                    </a:lnT>
                    <a:lnB w="9525">
                      <a:solidFill>
                        <a:srgbClr val="0E4D5E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1" i="0">
                          <a:solidFill>
                            <a:srgbClr val="0E4D5E"/>
                          </a:solidFill>
                          <a:latin typeface="Inter"/>
                        </a:rPr>
                        <a:t>135</a:t>
                      </a:r>
                      <a:endParaRPr sz="750" b="1" i="0">
                        <a:solidFill>
                          <a:srgbClr val="0E4D5E"/>
                        </a:solidFill>
                        <a:latin typeface="Inter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D2D8"/>
                      </a:solidFill>
                    </a:lnT>
                    <a:lnB w="9525">
                      <a:solidFill>
                        <a:srgbClr val="0E4D5E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endParaRPr sz="750" b="1" i="0">
                        <a:solidFill>
                          <a:srgbClr val="0E4D5E"/>
                        </a:solidFill>
                        <a:latin typeface="Inter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D2D8"/>
                      </a:solidFill>
                    </a:lnT>
                    <a:lnB w="9525">
                      <a:solidFill>
                        <a:srgbClr val="0E4D5E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8" name="cost-n"/>
          <p:cNvSpPr/>
          <p:nvPr/>
        </p:nvSpPr>
        <p:spPr>
          <a:xfrm>
            <a:off x="4651786" y="2365247"/>
            <a:ext cx="3209365" cy="2717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ts val="92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sz="800" b="0" i="0">
                <a:solidFill>
                  <a:srgbClr val="17232D"/>
                </a:solidFill>
                <a:latin typeface="Inter"/>
              </a:rPr>
              <a:t>Cash turns positive in 2027 because working capital is released</a:t>
            </a:r>
            <a:br/>
            <a:r>
              <a:rPr sz="800" b="0" i="0">
                <a:solidFill>
                  <a:srgbClr val="17232D"/>
                </a:solidFill>
                <a:latin typeface="Inter"/>
              </a:rPr>
              <a:t>ahead of the full run-rate.</a:t>
            </a:r>
          </a:p>
        </p:txBody>
      </p:sp>
      <p:sp>
        <p:nvSpPr>
          <p:cNvPr id="19" name="pack-h"/>
          <p:cNvSpPr/>
          <p:nvPr/>
        </p:nvSpPr>
        <p:spPr>
          <a:xfrm>
            <a:off x="8089751" y="1133855"/>
            <a:ext cx="3690769" cy="1600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ts val="12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 b="1" i="0">
                <a:solidFill>
                  <a:srgbClr val="0E4D5E"/>
                </a:solidFill>
                <a:latin typeface="Inter"/>
              </a:rPr>
              <a:t>In this pack</a:t>
            </a:r>
          </a:p>
        </p:txBody>
      </p:sp>
      <p:graphicFrame>
        <p:nvGraphicFramePr>
          <p:cNvPr id="20" name="contents"/>
          <p:cNvGraphicFramePr>
            <a:graphicFrameLocks noGrp="1"/>
          </p:cNvGraphicFramePr>
          <p:nvPr/>
        </p:nvGraphicFramePr>
        <p:xfrm>
          <a:off x="8089751" y="1321307"/>
          <a:ext cx="3690769" cy="1355344"/>
        </p:xfrm>
        <a:graphic>
          <a:graphicData uri="http://schemas.openxmlformats.org/drawingml/2006/table">
            <a:tbl>
              <a:tblPr firstRow="0" bandRow="0" lastRow="0" firstCol="0" lastCol="0" bandCol="0"/>
              <a:tblGrid>
                <a:gridCol w="369077"/>
                <a:gridCol w="3321692"/>
              </a:tblGrid>
              <a:tr h="169418">
                <a:tc>
                  <a:txBody>
                    <a:bodyPr wrap="square"/>
                    <a:lstStyle/>
                    <a:p>
                      <a:pPr algn="r"/>
                      <a:r>
                        <a:rPr sz="750" b="1" i="0">
                          <a:solidFill>
                            <a:srgbClr val="0E4D5E"/>
                          </a:solidFill>
                          <a:latin typeface="Inter"/>
                        </a:rPr>
                        <a:t>Page</a:t>
                      </a:r>
                      <a:endParaRPr sz="750" b="1" i="0">
                        <a:solidFill>
                          <a:srgbClr val="0E4D5E"/>
                        </a:solidFill>
                        <a:latin typeface="Inter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0E4D5E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 b="1" i="0">
                          <a:solidFill>
                            <a:srgbClr val="0E4D5E"/>
                          </a:solidFill>
                          <a:latin typeface="Inter"/>
                        </a:rPr>
                        <a:t>What it proves</a:t>
                      </a:r>
                      <a:endParaRPr sz="750" b="1" i="0">
                        <a:solidFill>
                          <a:srgbClr val="0E4D5E"/>
                        </a:solidFill>
                        <a:latin typeface="Inter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0E4D5E"/>
                      </a:solidFill>
                    </a:lnB>
                    <a:noFill/>
                  </a:tcPr>
                </a:tc>
              </a:tr>
              <a:tr h="169418">
                <a:tc>
                  <a:txBody>
                    <a:bodyPr wrap="square"/>
                    <a:lstStyle/>
                    <a:p>
                      <a:pPr algn="r"/>
                      <a:r>
                        <a:rPr sz="750" b="1" i="0">
                          <a:solidFill>
                            <a:srgbClr val="0E4D5E"/>
                          </a:solidFill>
                          <a:latin typeface="Inter"/>
                        </a:rPr>
                        <a:t>2</a:t>
                      </a:r>
                      <a:endParaRPr sz="750" b="1" i="0">
                        <a:solidFill>
                          <a:srgbClr val="0E4D5E"/>
                        </a:solidFill>
                        <a:latin typeface="Inter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rgbClr val="0E4D5E"/>
                      </a:solidFill>
                    </a:lnT>
                    <a:lnB w="6350">
                      <a:solidFill>
                        <a:srgbClr val="C9D2D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 b="0" i="0">
                          <a:solidFill>
                            <a:srgbClr val="17232D"/>
                          </a:solidFill>
                          <a:latin typeface="Inter"/>
                        </a:rPr>
                        <a:t>Order to cash: 70 days today, six pain points costing $28m a year</a:t>
                      </a:r>
                      <a:endParaRPr sz="750" b="0" i="0">
                        <a:solidFill>
                          <a:srgbClr val="17232D"/>
                        </a:solidFill>
                        <a:latin typeface="Inter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rgbClr val="0E4D5E"/>
                      </a:solidFill>
                    </a:lnT>
                    <a:lnB w="6350">
                      <a:solidFill>
                        <a:srgbClr val="C9D2D8"/>
                      </a:solidFill>
                    </a:lnB>
                    <a:noFill/>
                  </a:tcPr>
                </a:tc>
              </a:tr>
              <a:tr h="169418">
                <a:tc>
                  <a:txBody>
                    <a:bodyPr wrap="square"/>
                    <a:lstStyle/>
                    <a:p>
                      <a:pPr algn="r"/>
                      <a:r>
                        <a:rPr sz="750" b="1" i="0">
                          <a:solidFill>
                            <a:srgbClr val="0E4D5E"/>
                          </a:solidFill>
                          <a:latin typeface="Inter"/>
                        </a:rPr>
                        <a:t>3</a:t>
                      </a:r>
                      <a:endParaRPr sz="750" b="1" i="0">
                        <a:solidFill>
                          <a:srgbClr val="0E4D5E"/>
                        </a:solidFill>
                        <a:latin typeface="Inter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D2D8"/>
                      </a:solidFill>
                    </a:lnT>
                    <a:lnB w="6350">
                      <a:solidFill>
                        <a:srgbClr val="C9D2D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 b="0" i="0">
                          <a:solidFill>
                            <a:srgbClr val="17232D"/>
                          </a:solidFill>
                          <a:latin typeface="Inter"/>
                        </a:rPr>
                        <a:t>Footprint: seven plants become five; utilisation from 64% to 84%</a:t>
                      </a:r>
                      <a:endParaRPr sz="750" b="0" i="0">
                        <a:solidFill>
                          <a:srgbClr val="17232D"/>
                        </a:solidFill>
                        <a:latin typeface="Inter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D2D8"/>
                      </a:solidFill>
                    </a:lnT>
                    <a:lnB w="6350">
                      <a:solidFill>
                        <a:srgbClr val="C9D2D8"/>
                      </a:solidFill>
                    </a:lnB>
                    <a:noFill/>
                  </a:tcPr>
                </a:tc>
              </a:tr>
              <a:tr h="169418">
                <a:tc>
                  <a:txBody>
                    <a:bodyPr wrap="square"/>
                    <a:lstStyle/>
                    <a:p>
                      <a:pPr algn="r"/>
                      <a:r>
                        <a:rPr sz="750" b="1" i="0">
                          <a:solidFill>
                            <a:srgbClr val="0E4D5E"/>
                          </a:solidFill>
                          <a:latin typeface="Inter"/>
                        </a:rPr>
                        <a:t>4</a:t>
                      </a:r>
                      <a:endParaRPr sz="750" b="1" i="0">
                        <a:solidFill>
                          <a:srgbClr val="0E4D5E"/>
                        </a:solidFill>
                        <a:latin typeface="Inter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D2D8"/>
                      </a:solidFill>
                    </a:lnT>
                    <a:lnB w="6350">
                      <a:solidFill>
                        <a:srgbClr val="C9D2D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 b="0" i="0">
                          <a:solidFill>
                            <a:srgbClr val="17232D"/>
                          </a:solidFill>
                          <a:latin typeface="Inter"/>
                        </a:rPr>
                        <a:t>Prioritisation: fourteen initiatives on value, ease and cost</a:t>
                      </a:r>
                      <a:endParaRPr sz="750" b="0" i="0">
                        <a:solidFill>
                          <a:srgbClr val="17232D"/>
                        </a:solidFill>
                        <a:latin typeface="Inter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D2D8"/>
                      </a:solidFill>
                    </a:lnT>
                    <a:lnB w="6350">
                      <a:solidFill>
                        <a:srgbClr val="C9D2D8"/>
                      </a:solidFill>
                    </a:lnB>
                    <a:noFill/>
                  </a:tcPr>
                </a:tc>
              </a:tr>
              <a:tr h="169418">
                <a:tc>
                  <a:txBody>
                    <a:bodyPr wrap="square"/>
                    <a:lstStyle/>
                    <a:p>
                      <a:pPr algn="r"/>
                      <a:r>
                        <a:rPr sz="750" b="1" i="0">
                          <a:solidFill>
                            <a:srgbClr val="0E4D5E"/>
                          </a:solidFill>
                          <a:latin typeface="Inter"/>
                        </a:rPr>
                        <a:t>5</a:t>
                      </a:r>
                      <a:endParaRPr sz="750" b="1" i="0">
                        <a:solidFill>
                          <a:srgbClr val="0E4D5E"/>
                        </a:solidFill>
                        <a:latin typeface="Inter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D2D8"/>
                      </a:solidFill>
                    </a:lnT>
                    <a:lnB w="6350">
                      <a:solidFill>
                        <a:srgbClr val="C9D2D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 b="0" i="0">
                          <a:solidFill>
                            <a:srgbClr val="17232D"/>
                          </a:solidFill>
                          <a:latin typeface="Inter"/>
                        </a:rPr>
                        <a:t>Value bridge: $186m to $290m of EBITDA, and the cash case</a:t>
                      </a:r>
                      <a:endParaRPr sz="750" b="0" i="0">
                        <a:solidFill>
                          <a:srgbClr val="17232D"/>
                        </a:solidFill>
                        <a:latin typeface="Inter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D2D8"/>
                      </a:solidFill>
                    </a:lnT>
                    <a:lnB w="6350">
                      <a:solidFill>
                        <a:srgbClr val="C9D2D8"/>
                      </a:solidFill>
                    </a:lnB>
                    <a:noFill/>
                  </a:tcPr>
                </a:tc>
              </a:tr>
              <a:tr h="169418">
                <a:tc>
                  <a:txBody>
                    <a:bodyPr wrap="square"/>
                    <a:lstStyle/>
                    <a:p>
                      <a:pPr algn="r"/>
                      <a:r>
                        <a:rPr sz="750" b="1" i="0">
                          <a:solidFill>
                            <a:srgbClr val="0E4D5E"/>
                          </a:solidFill>
                          <a:latin typeface="Inter"/>
                        </a:rPr>
                        <a:t>6</a:t>
                      </a:r>
                      <a:endParaRPr sz="750" b="1" i="0">
                        <a:solidFill>
                          <a:srgbClr val="0E4D5E"/>
                        </a:solidFill>
                        <a:latin typeface="Inter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D2D8"/>
                      </a:solidFill>
                    </a:lnT>
                    <a:lnB w="6350">
                      <a:solidFill>
                        <a:srgbClr val="C9D2D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 b="0" i="0">
                          <a:solidFill>
                            <a:srgbClr val="17232D"/>
                          </a:solidFill>
                          <a:latin typeface="Inter"/>
                        </a:rPr>
                        <a:t>Roadmap: 2026 to 2028, six milestones, three dependencies</a:t>
                      </a:r>
                      <a:endParaRPr sz="750" b="0" i="0">
                        <a:solidFill>
                          <a:srgbClr val="17232D"/>
                        </a:solidFill>
                        <a:latin typeface="Inter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D2D8"/>
                      </a:solidFill>
                    </a:lnT>
                    <a:lnB w="6350">
                      <a:solidFill>
                        <a:srgbClr val="C9D2D8"/>
                      </a:solidFill>
                    </a:lnB>
                    <a:noFill/>
                  </a:tcPr>
                </a:tc>
              </a:tr>
              <a:tr h="169418">
                <a:tc>
                  <a:txBody>
                    <a:bodyPr wrap="square"/>
                    <a:lstStyle/>
                    <a:p>
                      <a:pPr algn="r"/>
                      <a:r>
                        <a:rPr sz="750" b="1" i="0">
                          <a:solidFill>
                            <a:srgbClr val="0E4D5E"/>
                          </a:solidFill>
                          <a:latin typeface="Inter"/>
                        </a:rPr>
                        <a:t>7</a:t>
                      </a:r>
                      <a:endParaRPr sz="750" b="1" i="0">
                        <a:solidFill>
                          <a:srgbClr val="0E4D5E"/>
                        </a:solidFill>
                        <a:latin typeface="Inter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D2D8"/>
                      </a:solidFill>
                    </a:lnT>
                    <a:lnB w="6350">
                      <a:solidFill>
                        <a:srgbClr val="C9D2D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 b="0" i="0">
                          <a:solidFill>
                            <a:srgbClr val="17232D"/>
                          </a:solidFill>
                          <a:latin typeface="Inter"/>
                        </a:rPr>
                        <a:t>Operating model: five new units, two fewer layers</a:t>
                      </a:r>
                      <a:endParaRPr sz="750" b="0" i="0">
                        <a:solidFill>
                          <a:srgbClr val="17232D"/>
                        </a:solidFill>
                        <a:latin typeface="Inter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D2D8"/>
                      </a:solidFill>
                    </a:lnT>
                    <a:lnB w="6350">
                      <a:solidFill>
                        <a:srgbClr val="C9D2D8"/>
                      </a:solidFill>
                    </a:lnB>
                    <a:noFill/>
                  </a:tcPr>
                </a:tc>
              </a:tr>
              <a:tr h="169418">
                <a:tc>
                  <a:txBody>
                    <a:bodyPr wrap="square"/>
                    <a:lstStyle/>
                    <a:p>
                      <a:pPr algn="r"/>
                      <a:r>
                        <a:rPr sz="750" b="1" i="0">
                          <a:solidFill>
                            <a:srgbClr val="0E4D5E"/>
                          </a:solidFill>
                          <a:latin typeface="Inter"/>
                        </a:rPr>
                        <a:t>8</a:t>
                      </a:r>
                      <a:endParaRPr sz="750" b="1" i="0">
                        <a:solidFill>
                          <a:srgbClr val="0E4D5E"/>
                        </a:solidFill>
                        <a:latin typeface="Inter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D2D8"/>
                      </a:solidFill>
                    </a:lnT>
                    <a:lnB w="9525">
                      <a:solidFill>
                        <a:srgbClr val="0E4D5E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 b="0" i="0">
                          <a:solidFill>
                            <a:srgbClr val="17232D"/>
                          </a:solidFill>
                          <a:latin typeface="Inter"/>
                        </a:rPr>
                        <a:t>Risks: nine scored before and after mitigation</a:t>
                      </a:r>
                      <a:endParaRPr sz="750" b="0" i="0">
                        <a:solidFill>
                          <a:srgbClr val="17232D"/>
                        </a:solidFill>
                        <a:latin typeface="Inter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D2D8"/>
                      </a:solidFill>
                    </a:lnT>
                    <a:lnB w="9525">
                      <a:solidFill>
                        <a:srgbClr val="0E4D5E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21" name="tiles-h"/>
          <p:cNvSpPr/>
          <p:nvPr/>
        </p:nvSpPr>
        <p:spPr>
          <a:xfrm>
            <a:off x="411480" y="3002787"/>
            <a:ext cx="11369040" cy="1600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ts val="12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 b="1" i="0">
                <a:solidFill>
                  <a:srgbClr val="0E4D5E"/>
                </a:solidFill>
                <a:latin typeface="Inter"/>
              </a:rPr>
              <a:t>Eight commitments for FY2028</a:t>
            </a:r>
          </a:p>
        </p:txBody>
      </p:sp>
      <p:sp>
        <p:nvSpPr>
          <p:cNvPr id="22" name="tiles-u"/>
          <p:cNvSpPr/>
          <p:nvPr/>
        </p:nvSpPr>
        <p:spPr>
          <a:xfrm>
            <a:off x="411480" y="3190239"/>
            <a:ext cx="1136904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50" b="0" i="0">
                <a:solidFill>
                  <a:srgbClr val="56636D"/>
                </a:solidFill>
                <a:latin typeface="Inter"/>
              </a:rPr>
              <a:t>FY2028 target in petrol and its change from the FY2025 baseline; bars show FY2025, the FY2026 and FY2027 interim targets and FY2028 on one scale; the page that proves each, top right</a:t>
            </a:r>
          </a:p>
        </p:txBody>
      </p:sp>
      <p:sp>
        <p:nvSpPr>
          <p:cNvPr id="23" name="k0-fill"/>
          <p:cNvSpPr/>
          <p:nvPr/>
        </p:nvSpPr>
        <p:spPr>
          <a:xfrm>
            <a:off x="411480" y="3331971"/>
            <a:ext cx="1373124" cy="2834133"/>
          </a:xfrm>
          <a:prstGeom prst="rect">
            <a:avLst/>
          </a:prstGeom>
          <a:solidFill>
            <a:srgbClr val="EEF2F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k0-l"/>
          <p:cNvSpPr/>
          <p:nvPr/>
        </p:nvSpPr>
        <p:spPr>
          <a:xfrm>
            <a:off x="512064" y="3432555"/>
            <a:ext cx="880403" cy="2870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ts val="108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sz="900" b="1" i="0">
                <a:solidFill>
                  <a:srgbClr val="17232D"/>
                </a:solidFill>
                <a:latin typeface="Inter"/>
              </a:rPr>
              <a:t>Run-rate</a:t>
            </a:r>
            <a:br/>
            <a:r>
              <a:rPr sz="900" b="1" i="0">
                <a:solidFill>
                  <a:srgbClr val="17232D"/>
                </a:solidFill>
                <a:latin typeface="Inter"/>
              </a:rPr>
              <a:t>EBITDA</a:t>
            </a:r>
          </a:p>
        </p:txBody>
      </p:sp>
      <p:sp>
        <p:nvSpPr>
          <p:cNvPr id="25" name="k0-pg"/>
          <p:cNvSpPr/>
          <p:nvPr/>
        </p:nvSpPr>
        <p:spPr>
          <a:xfrm>
            <a:off x="1419899" y="3432555"/>
            <a:ext cx="264121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 marL="0" indent="0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50" b="0" i="0">
                <a:solidFill>
                  <a:srgbClr val="56636D"/>
                </a:solidFill>
                <a:latin typeface="Inter"/>
              </a:rPr>
              <a:t>p. 5</a:t>
            </a:r>
          </a:p>
        </p:txBody>
      </p:sp>
      <p:sp>
        <p:nvSpPr>
          <p:cNvPr id="26" name="k0-v"/>
          <p:cNvSpPr/>
          <p:nvPr/>
        </p:nvSpPr>
        <p:spPr>
          <a:xfrm>
            <a:off x="512064" y="3770883"/>
            <a:ext cx="1171956" cy="254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000" b="1" i="0">
                <a:solidFill>
                  <a:srgbClr val="0E4D5E"/>
                </a:solidFill>
                <a:latin typeface="Inter"/>
              </a:rPr>
              <a:t>$290m</a:t>
            </a:r>
          </a:p>
        </p:txBody>
      </p:sp>
      <p:sp>
        <p:nvSpPr>
          <p:cNvPr id="27" name="k0-d"/>
          <p:cNvSpPr/>
          <p:nvPr/>
        </p:nvSpPr>
        <p:spPr>
          <a:xfrm>
            <a:off x="512064" y="4052315"/>
            <a:ext cx="1171956" cy="1549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ts val="92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sz="800" b="1" i="0">
                <a:solidFill>
                  <a:srgbClr val="0E4D5E"/>
                </a:solidFill>
                <a:latin typeface="Inter"/>
              </a:rPr>
              <a:t>+$104m</a:t>
            </a:r>
            <a:r>
              <a:rPr sz="800" b="0" i="0">
                <a:solidFill>
                  <a:srgbClr val="56636D"/>
                </a:solidFill>
                <a:latin typeface="Inter"/>
              </a:rPr>
              <a:t> from $186m</a:t>
            </a:r>
          </a:p>
        </p:txBody>
      </p:sp>
      <p:sp>
        <p:nvSpPr>
          <p:cNvPr id="28" name="k0-y2025"/>
          <p:cNvSpPr/>
          <p:nvPr/>
        </p:nvSpPr>
        <p:spPr>
          <a:xfrm>
            <a:off x="512064" y="4234687"/>
            <a:ext cx="265176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50" b="0" i="0">
                <a:solidFill>
                  <a:srgbClr val="56636D"/>
                </a:solidFill>
                <a:latin typeface="Inter"/>
              </a:rPr>
              <a:t>FY25</a:t>
            </a:r>
          </a:p>
        </p:txBody>
      </p:sp>
      <p:sp>
        <p:nvSpPr>
          <p:cNvPr id="29" name="k0-b2025"/>
          <p:cNvSpPr/>
          <p:nvPr/>
        </p:nvSpPr>
        <p:spPr>
          <a:xfrm>
            <a:off x="804672" y="4255261"/>
            <a:ext cx="317675" cy="73152"/>
          </a:xfrm>
          <a:prstGeom prst="rect">
            <a:avLst/>
          </a:prstGeom>
          <a:solidFill>
            <a:srgbClr val="A3AFB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k0-x2025"/>
          <p:cNvSpPr/>
          <p:nvPr/>
        </p:nvSpPr>
        <p:spPr>
          <a:xfrm>
            <a:off x="1327404" y="4234687"/>
            <a:ext cx="356616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 marL="0" indent="0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50" b="0" i="0">
                <a:solidFill>
                  <a:srgbClr val="56636D"/>
                </a:solidFill>
                <a:latin typeface="Inter"/>
              </a:rPr>
              <a:t>$186m</a:t>
            </a:r>
          </a:p>
        </p:txBody>
      </p:sp>
      <p:sp>
        <p:nvSpPr>
          <p:cNvPr id="31" name="k0-y2026"/>
          <p:cNvSpPr/>
          <p:nvPr/>
        </p:nvSpPr>
        <p:spPr>
          <a:xfrm>
            <a:off x="512064" y="4376419"/>
            <a:ext cx="265176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50" b="0" i="0">
                <a:solidFill>
                  <a:srgbClr val="56636D"/>
                </a:solidFill>
                <a:latin typeface="Inter"/>
              </a:rPr>
              <a:t>FY26</a:t>
            </a:r>
          </a:p>
        </p:txBody>
      </p:sp>
      <p:sp>
        <p:nvSpPr>
          <p:cNvPr id="32" name="k0-b2026"/>
          <p:cNvSpPr/>
          <p:nvPr/>
        </p:nvSpPr>
        <p:spPr>
          <a:xfrm>
            <a:off x="804672" y="4396993"/>
            <a:ext cx="370621" cy="73152"/>
          </a:xfrm>
          <a:prstGeom prst="rect">
            <a:avLst/>
          </a:prstGeom>
          <a:solidFill>
            <a:srgbClr val="7FAAB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k0-x2026"/>
          <p:cNvSpPr/>
          <p:nvPr/>
        </p:nvSpPr>
        <p:spPr>
          <a:xfrm>
            <a:off x="1327404" y="4376419"/>
            <a:ext cx="356616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 marL="0" indent="0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50" b="0" i="0">
                <a:solidFill>
                  <a:srgbClr val="56636D"/>
                </a:solidFill>
                <a:latin typeface="Inter"/>
              </a:rPr>
              <a:t>$217m</a:t>
            </a:r>
          </a:p>
        </p:txBody>
      </p:sp>
      <p:sp>
        <p:nvSpPr>
          <p:cNvPr id="34" name="k0-y2027"/>
          <p:cNvSpPr/>
          <p:nvPr/>
        </p:nvSpPr>
        <p:spPr>
          <a:xfrm>
            <a:off x="512064" y="4518151"/>
            <a:ext cx="265176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50" b="0" i="0">
                <a:solidFill>
                  <a:srgbClr val="56636D"/>
                </a:solidFill>
                <a:latin typeface="Inter"/>
              </a:rPr>
              <a:t>FY27</a:t>
            </a:r>
          </a:p>
        </p:txBody>
      </p:sp>
      <p:sp>
        <p:nvSpPr>
          <p:cNvPr id="35" name="k0-b2027"/>
          <p:cNvSpPr/>
          <p:nvPr/>
        </p:nvSpPr>
        <p:spPr>
          <a:xfrm>
            <a:off x="804672" y="4538725"/>
            <a:ext cx="437230" cy="73152"/>
          </a:xfrm>
          <a:prstGeom prst="rect">
            <a:avLst/>
          </a:prstGeom>
          <a:solidFill>
            <a:srgbClr val="7FAAB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k0-x2027"/>
          <p:cNvSpPr/>
          <p:nvPr/>
        </p:nvSpPr>
        <p:spPr>
          <a:xfrm>
            <a:off x="1327404" y="4518151"/>
            <a:ext cx="356616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 marL="0" indent="0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50" b="0" i="0">
                <a:solidFill>
                  <a:srgbClr val="56636D"/>
                </a:solidFill>
                <a:latin typeface="Inter"/>
              </a:rPr>
              <a:t>$256m</a:t>
            </a:r>
          </a:p>
        </p:txBody>
      </p:sp>
      <p:sp>
        <p:nvSpPr>
          <p:cNvPr id="37" name="k0-y2028"/>
          <p:cNvSpPr/>
          <p:nvPr/>
        </p:nvSpPr>
        <p:spPr>
          <a:xfrm>
            <a:off x="512064" y="4659883"/>
            <a:ext cx="265176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50" b="0" i="0">
                <a:solidFill>
                  <a:srgbClr val="56636D"/>
                </a:solidFill>
                <a:latin typeface="Inter"/>
              </a:rPr>
              <a:t>FY28</a:t>
            </a:r>
          </a:p>
        </p:txBody>
      </p:sp>
      <p:sp>
        <p:nvSpPr>
          <p:cNvPr id="38" name="k0-b2028"/>
          <p:cNvSpPr/>
          <p:nvPr/>
        </p:nvSpPr>
        <p:spPr>
          <a:xfrm>
            <a:off x="804672" y="4680457"/>
            <a:ext cx="495300" cy="73152"/>
          </a:xfrm>
          <a:prstGeom prst="rect">
            <a:avLst/>
          </a:prstGeom>
          <a:solidFill>
            <a:srgbClr val="0E4D5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" name="k0-x2028"/>
          <p:cNvSpPr/>
          <p:nvPr/>
        </p:nvSpPr>
        <p:spPr>
          <a:xfrm>
            <a:off x="1327404" y="4659883"/>
            <a:ext cx="356616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 marL="0" indent="0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50" b="0" i="0">
                <a:solidFill>
                  <a:srgbClr val="0E4D5E"/>
                </a:solidFill>
                <a:latin typeface="Inter"/>
              </a:rPr>
              <a:t>$290m</a:t>
            </a:r>
          </a:p>
        </p:txBody>
      </p:sp>
      <p:sp>
        <p:nvSpPr>
          <p:cNvPr id="40" name="k0-how"/>
          <p:cNvSpPr/>
          <p:nvPr/>
        </p:nvSpPr>
        <p:spPr>
          <a:xfrm>
            <a:off x="512064" y="4801615"/>
            <a:ext cx="1171956" cy="967741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ts val="92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sz="800" b="0" i="0">
                <a:solidFill>
                  <a:srgbClr val="17232D"/>
                </a:solidFill>
                <a:latin typeface="Inter"/>
              </a:rPr>
              <a:t>$103m from four levers</a:t>
            </a:r>
            <a:br/>
            <a:r>
              <a:rPr sz="800" b="0" i="0">
                <a:solidFill>
                  <a:srgbClr val="17232D"/>
                </a:solidFill>
                <a:latin typeface="Inter"/>
              </a:rPr>
              <a:t>and $38m from volume,</a:t>
            </a:r>
            <a:br/>
            <a:r>
              <a:rPr sz="800" b="0" i="0">
                <a:solidFill>
                  <a:srgbClr val="17232D"/>
                </a:solidFill>
                <a:latin typeface="Inter"/>
              </a:rPr>
              <a:t>less $37m of inflation</a:t>
            </a:r>
            <a:br/>
            <a:r>
              <a:rPr sz="800" b="0" i="0">
                <a:solidFill>
                  <a:srgbClr val="17232D"/>
                </a:solidFill>
                <a:latin typeface="Inter"/>
              </a:rPr>
              <a:t>and run costs</a:t>
            </a:r>
          </a:p>
        </p:txBody>
      </p:sp>
      <p:cxnSp>
        <p:nvCxnSpPr>
          <p:cNvPr id="41" name="k0-fr"/>
          <p:cNvCxnSpPr/>
          <p:nvPr/>
        </p:nvCxnSpPr>
        <p:spPr>
          <a:xfrm>
            <a:off x="512064" y="5803138"/>
            <a:ext cx="1171956" cy="0"/>
          </a:xfrm>
          <a:prstGeom prst="line">
            <a:avLst/>
          </a:prstGeom>
          <a:ln w="12700">
            <a:solidFill>
              <a:srgbClr val="C9D2D8"/>
            </a:solidFill>
          </a:ln>
        </p:spPr>
      </p:cxnSp>
      <p:sp>
        <p:nvSpPr>
          <p:cNvPr id="42" name="k0-own"/>
          <p:cNvSpPr/>
          <p:nvPr/>
        </p:nvSpPr>
        <p:spPr>
          <a:xfrm>
            <a:off x="512064" y="5836920"/>
            <a:ext cx="1171956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50" b="1" i="0">
                <a:solidFill>
                  <a:srgbClr val="17232D"/>
                </a:solidFill>
                <a:latin typeface="Inter"/>
              </a:rPr>
              <a:t>Owner:</a:t>
            </a:r>
            <a:r>
              <a:rPr sz="750" b="0" i="0">
                <a:solidFill>
                  <a:srgbClr val="56636D"/>
                </a:solidFill>
                <a:latin typeface="Inter"/>
              </a:rPr>
              <a:t> CFO</a:t>
            </a:r>
          </a:p>
          <a:p>
            <a:pPr algn="l" marL="0" indent="0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50" b="1" i="0">
                <a:solidFill>
                  <a:srgbClr val="17232D"/>
                </a:solidFill>
                <a:latin typeface="Inter"/>
              </a:rPr>
              <a:t>Initiatives:</a:t>
            </a:r>
            <a:r>
              <a:rPr sz="750" b="0" i="0">
                <a:solidFill>
                  <a:srgbClr val="56636D"/>
                </a:solidFill>
                <a:latin typeface="Inter"/>
              </a:rPr>
              <a:t> all twelve</a:t>
            </a:r>
          </a:p>
        </p:txBody>
      </p:sp>
      <p:sp>
        <p:nvSpPr>
          <p:cNvPr id="43" name="k1-fill"/>
          <p:cNvSpPr/>
          <p:nvPr/>
        </p:nvSpPr>
        <p:spPr>
          <a:xfrm>
            <a:off x="1839468" y="3331971"/>
            <a:ext cx="1373124" cy="2834133"/>
          </a:xfrm>
          <a:prstGeom prst="rect">
            <a:avLst/>
          </a:prstGeom>
          <a:solidFill>
            <a:srgbClr val="EEF2F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4" name="k1-l"/>
          <p:cNvSpPr/>
          <p:nvPr/>
        </p:nvSpPr>
        <p:spPr>
          <a:xfrm>
            <a:off x="1940052" y="3432555"/>
            <a:ext cx="880403" cy="1498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ts val="108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sz="900" b="1" i="0">
                <a:solidFill>
                  <a:srgbClr val="17232D"/>
                </a:solidFill>
                <a:latin typeface="Inter"/>
              </a:rPr>
              <a:t>EBITDA margin</a:t>
            </a:r>
          </a:p>
        </p:txBody>
      </p:sp>
      <p:sp>
        <p:nvSpPr>
          <p:cNvPr id="45" name="k1-pg"/>
          <p:cNvSpPr/>
          <p:nvPr/>
        </p:nvSpPr>
        <p:spPr>
          <a:xfrm>
            <a:off x="2847887" y="3432555"/>
            <a:ext cx="264121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 marL="0" indent="0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50" b="0" i="0">
                <a:solidFill>
                  <a:srgbClr val="56636D"/>
                </a:solidFill>
                <a:latin typeface="Inter"/>
              </a:rPr>
              <a:t>p. 5</a:t>
            </a:r>
          </a:p>
        </p:txBody>
      </p:sp>
      <p:sp>
        <p:nvSpPr>
          <p:cNvPr id="46" name="k1-v"/>
          <p:cNvSpPr/>
          <p:nvPr/>
        </p:nvSpPr>
        <p:spPr>
          <a:xfrm>
            <a:off x="1940052" y="3770883"/>
            <a:ext cx="1171956" cy="254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000" b="1" i="0">
                <a:solidFill>
                  <a:srgbClr val="0E4D5E"/>
                </a:solidFill>
                <a:latin typeface="Inter"/>
              </a:rPr>
              <a:t>20%</a:t>
            </a:r>
          </a:p>
        </p:txBody>
      </p:sp>
      <p:sp>
        <p:nvSpPr>
          <p:cNvPr id="47" name="k1-d"/>
          <p:cNvSpPr/>
          <p:nvPr/>
        </p:nvSpPr>
        <p:spPr>
          <a:xfrm>
            <a:off x="1940052" y="4052315"/>
            <a:ext cx="1171956" cy="1549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ts val="92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sz="800" b="1" i="0">
                <a:solidFill>
                  <a:srgbClr val="0E4D5E"/>
                </a:solidFill>
                <a:latin typeface="Inter"/>
              </a:rPr>
              <a:t>+5 pts</a:t>
            </a:r>
            <a:r>
              <a:rPr sz="800" b="0" i="0">
                <a:solidFill>
                  <a:srgbClr val="56636D"/>
                </a:solidFill>
                <a:latin typeface="Inter"/>
              </a:rPr>
              <a:t> from 15%</a:t>
            </a:r>
          </a:p>
        </p:txBody>
      </p:sp>
      <p:sp>
        <p:nvSpPr>
          <p:cNvPr id="48" name="k1-y2025"/>
          <p:cNvSpPr/>
          <p:nvPr/>
        </p:nvSpPr>
        <p:spPr>
          <a:xfrm>
            <a:off x="1940052" y="4234687"/>
            <a:ext cx="265176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50" b="0" i="0">
                <a:solidFill>
                  <a:srgbClr val="56636D"/>
                </a:solidFill>
                <a:latin typeface="Inter"/>
              </a:rPr>
              <a:t>FY25</a:t>
            </a:r>
          </a:p>
        </p:txBody>
      </p:sp>
      <p:sp>
        <p:nvSpPr>
          <p:cNvPr id="49" name="k1-b2025"/>
          <p:cNvSpPr/>
          <p:nvPr/>
        </p:nvSpPr>
        <p:spPr>
          <a:xfrm>
            <a:off x="2232660" y="4255261"/>
            <a:ext cx="371475" cy="73152"/>
          </a:xfrm>
          <a:prstGeom prst="rect">
            <a:avLst/>
          </a:prstGeom>
          <a:solidFill>
            <a:srgbClr val="A3AFB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0" name="k1-x2025"/>
          <p:cNvSpPr/>
          <p:nvPr/>
        </p:nvSpPr>
        <p:spPr>
          <a:xfrm>
            <a:off x="2755392" y="4234687"/>
            <a:ext cx="356616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 marL="0" indent="0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50" b="0" i="0">
                <a:solidFill>
                  <a:srgbClr val="56636D"/>
                </a:solidFill>
                <a:latin typeface="Inter"/>
              </a:rPr>
              <a:t>15%</a:t>
            </a:r>
          </a:p>
        </p:txBody>
      </p:sp>
      <p:sp>
        <p:nvSpPr>
          <p:cNvPr id="51" name="k1-y2026"/>
          <p:cNvSpPr/>
          <p:nvPr/>
        </p:nvSpPr>
        <p:spPr>
          <a:xfrm>
            <a:off x="1940052" y="4376419"/>
            <a:ext cx="265176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50" b="0" i="0">
                <a:solidFill>
                  <a:srgbClr val="56636D"/>
                </a:solidFill>
                <a:latin typeface="Inter"/>
              </a:rPr>
              <a:t>FY26</a:t>
            </a:r>
          </a:p>
        </p:txBody>
      </p:sp>
      <p:sp>
        <p:nvSpPr>
          <p:cNvPr id="52" name="k1-b2026"/>
          <p:cNvSpPr/>
          <p:nvPr/>
        </p:nvSpPr>
        <p:spPr>
          <a:xfrm>
            <a:off x="2232660" y="4396993"/>
            <a:ext cx="411099" cy="73152"/>
          </a:xfrm>
          <a:prstGeom prst="rect">
            <a:avLst/>
          </a:prstGeom>
          <a:solidFill>
            <a:srgbClr val="7FAAB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3" name="k1-x2026"/>
          <p:cNvSpPr/>
          <p:nvPr/>
        </p:nvSpPr>
        <p:spPr>
          <a:xfrm>
            <a:off x="2755392" y="4376419"/>
            <a:ext cx="356616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 marL="0" indent="0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50" b="0" i="0">
                <a:solidFill>
                  <a:srgbClr val="56636D"/>
                </a:solidFill>
                <a:latin typeface="Inter"/>
              </a:rPr>
              <a:t>17%</a:t>
            </a:r>
          </a:p>
        </p:txBody>
      </p:sp>
      <p:sp>
        <p:nvSpPr>
          <p:cNvPr id="54" name="k1-y2027"/>
          <p:cNvSpPr/>
          <p:nvPr/>
        </p:nvSpPr>
        <p:spPr>
          <a:xfrm>
            <a:off x="1940052" y="4518151"/>
            <a:ext cx="265176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50" b="0" i="0">
                <a:solidFill>
                  <a:srgbClr val="56636D"/>
                </a:solidFill>
                <a:latin typeface="Inter"/>
              </a:rPr>
              <a:t>FY27</a:t>
            </a:r>
          </a:p>
        </p:txBody>
      </p:sp>
      <p:sp>
        <p:nvSpPr>
          <p:cNvPr id="55" name="k1-b2027"/>
          <p:cNvSpPr/>
          <p:nvPr/>
        </p:nvSpPr>
        <p:spPr>
          <a:xfrm>
            <a:off x="2232660" y="4538725"/>
            <a:ext cx="460629" cy="73152"/>
          </a:xfrm>
          <a:prstGeom prst="rect">
            <a:avLst/>
          </a:prstGeom>
          <a:solidFill>
            <a:srgbClr val="7FAAB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6" name="k1-x2027"/>
          <p:cNvSpPr/>
          <p:nvPr/>
        </p:nvSpPr>
        <p:spPr>
          <a:xfrm>
            <a:off x="2755392" y="4518151"/>
            <a:ext cx="356616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 marL="0" indent="0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50" b="0" i="0">
                <a:solidFill>
                  <a:srgbClr val="56636D"/>
                </a:solidFill>
                <a:latin typeface="Inter"/>
              </a:rPr>
              <a:t>19%</a:t>
            </a:r>
          </a:p>
        </p:txBody>
      </p:sp>
      <p:sp>
        <p:nvSpPr>
          <p:cNvPr id="57" name="k1-y2028"/>
          <p:cNvSpPr/>
          <p:nvPr/>
        </p:nvSpPr>
        <p:spPr>
          <a:xfrm>
            <a:off x="1940052" y="4659883"/>
            <a:ext cx="265176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50" b="0" i="0">
                <a:solidFill>
                  <a:srgbClr val="56636D"/>
                </a:solidFill>
                <a:latin typeface="Inter"/>
              </a:rPr>
              <a:t>FY28</a:t>
            </a:r>
          </a:p>
        </p:txBody>
      </p:sp>
      <p:sp>
        <p:nvSpPr>
          <p:cNvPr id="58" name="k1-b2028"/>
          <p:cNvSpPr/>
          <p:nvPr/>
        </p:nvSpPr>
        <p:spPr>
          <a:xfrm>
            <a:off x="2232660" y="4680457"/>
            <a:ext cx="495300" cy="73152"/>
          </a:xfrm>
          <a:prstGeom prst="rect">
            <a:avLst/>
          </a:prstGeom>
          <a:solidFill>
            <a:srgbClr val="0E4D5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9" name="k1-x2028"/>
          <p:cNvSpPr/>
          <p:nvPr/>
        </p:nvSpPr>
        <p:spPr>
          <a:xfrm>
            <a:off x="2755392" y="4659883"/>
            <a:ext cx="356616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 marL="0" indent="0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50" b="0" i="0">
                <a:solidFill>
                  <a:srgbClr val="0E4D5E"/>
                </a:solidFill>
                <a:latin typeface="Inter"/>
              </a:rPr>
              <a:t>20%</a:t>
            </a:r>
          </a:p>
        </p:txBody>
      </p:sp>
      <p:sp>
        <p:nvSpPr>
          <p:cNvPr id="60" name="k1-how"/>
          <p:cNvSpPr/>
          <p:nvPr/>
        </p:nvSpPr>
        <p:spPr>
          <a:xfrm>
            <a:off x="1940052" y="4801615"/>
            <a:ext cx="1171956" cy="967741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ts val="92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sz="800" b="0" i="0">
                <a:solidFill>
                  <a:srgbClr val="17232D"/>
                </a:solidFill>
                <a:latin typeface="Inter"/>
              </a:rPr>
              <a:t>EBITDA grows faster</a:t>
            </a:r>
            <a:br/>
            <a:r>
              <a:rPr sz="800" b="0" i="0">
                <a:solidFill>
                  <a:srgbClr val="17232D"/>
                </a:solidFill>
                <a:latin typeface="Inter"/>
              </a:rPr>
              <a:t>than revenue, which</a:t>
            </a:r>
            <a:br/>
            <a:r>
              <a:rPr sz="800" b="0" i="0">
                <a:solidFill>
                  <a:srgbClr val="17232D"/>
                </a:solidFill>
                <a:latin typeface="Inter"/>
              </a:rPr>
              <a:t>rises 5.4% a year to</a:t>
            </a:r>
            <a:br/>
            <a:r>
              <a:rPr sz="800" b="0" i="0">
                <a:solidFill>
                  <a:srgbClr val="17232D"/>
                </a:solidFill>
                <a:latin typeface="Inter"/>
              </a:rPr>
              <a:t>$1,450m</a:t>
            </a:r>
          </a:p>
        </p:txBody>
      </p:sp>
      <p:cxnSp>
        <p:nvCxnSpPr>
          <p:cNvPr id="61" name="k1-fr"/>
          <p:cNvCxnSpPr/>
          <p:nvPr/>
        </p:nvCxnSpPr>
        <p:spPr>
          <a:xfrm>
            <a:off x="1940052" y="5803138"/>
            <a:ext cx="1171956" cy="0"/>
          </a:xfrm>
          <a:prstGeom prst="line">
            <a:avLst/>
          </a:prstGeom>
          <a:ln w="12700">
            <a:solidFill>
              <a:srgbClr val="C9D2D8"/>
            </a:solidFill>
          </a:ln>
        </p:spPr>
      </p:cxnSp>
      <p:sp>
        <p:nvSpPr>
          <p:cNvPr id="62" name="k1-own"/>
          <p:cNvSpPr/>
          <p:nvPr/>
        </p:nvSpPr>
        <p:spPr>
          <a:xfrm>
            <a:off x="1940052" y="5836920"/>
            <a:ext cx="1171956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50" b="1" i="0">
                <a:solidFill>
                  <a:srgbClr val="17232D"/>
                </a:solidFill>
                <a:latin typeface="Inter"/>
              </a:rPr>
              <a:t>Owner:</a:t>
            </a:r>
            <a:r>
              <a:rPr sz="750" b="0" i="0">
                <a:solidFill>
                  <a:srgbClr val="56636D"/>
                </a:solidFill>
                <a:latin typeface="Inter"/>
              </a:rPr>
              <a:t> CFO</a:t>
            </a:r>
          </a:p>
          <a:p>
            <a:pPr algn="l" marL="0" indent="0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50" b="1" i="0">
                <a:solidFill>
                  <a:srgbClr val="17232D"/>
                </a:solidFill>
                <a:latin typeface="Inter"/>
              </a:rPr>
              <a:t>Initiatives:</a:t>
            </a:r>
            <a:r>
              <a:rPr sz="750" b="0" i="0">
                <a:solidFill>
                  <a:srgbClr val="56636D"/>
                </a:solidFill>
                <a:latin typeface="Inter"/>
              </a:rPr>
              <a:t> all twelve</a:t>
            </a:r>
          </a:p>
        </p:txBody>
      </p:sp>
      <p:sp>
        <p:nvSpPr>
          <p:cNvPr id="63" name="k2-fill"/>
          <p:cNvSpPr/>
          <p:nvPr/>
        </p:nvSpPr>
        <p:spPr>
          <a:xfrm>
            <a:off x="3267456" y="3331971"/>
            <a:ext cx="1373124" cy="2834133"/>
          </a:xfrm>
          <a:prstGeom prst="rect">
            <a:avLst/>
          </a:prstGeom>
          <a:solidFill>
            <a:srgbClr val="EEF2F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4" name="k2-l"/>
          <p:cNvSpPr/>
          <p:nvPr/>
        </p:nvSpPr>
        <p:spPr>
          <a:xfrm>
            <a:off x="3368040" y="3432555"/>
            <a:ext cx="880403" cy="2870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ts val="108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sz="900" b="1" i="0">
                <a:solidFill>
                  <a:srgbClr val="17232D"/>
                </a:solidFill>
                <a:latin typeface="Inter"/>
              </a:rPr>
              <a:t>Order-to-cash</a:t>
            </a:r>
            <a:br/>
            <a:r>
              <a:rPr sz="900" b="1" i="0">
                <a:solidFill>
                  <a:srgbClr val="17232D"/>
                </a:solidFill>
                <a:latin typeface="Inter"/>
              </a:rPr>
              <a:t>days</a:t>
            </a:r>
          </a:p>
        </p:txBody>
      </p:sp>
      <p:sp>
        <p:nvSpPr>
          <p:cNvPr id="65" name="k2-pg"/>
          <p:cNvSpPr/>
          <p:nvPr/>
        </p:nvSpPr>
        <p:spPr>
          <a:xfrm>
            <a:off x="4275875" y="3432555"/>
            <a:ext cx="264121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 marL="0" indent="0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50" b="0" i="0">
                <a:solidFill>
                  <a:srgbClr val="56636D"/>
                </a:solidFill>
                <a:latin typeface="Inter"/>
              </a:rPr>
              <a:t>p. 2</a:t>
            </a:r>
          </a:p>
        </p:txBody>
      </p:sp>
      <p:sp>
        <p:nvSpPr>
          <p:cNvPr id="66" name="k2-v"/>
          <p:cNvSpPr/>
          <p:nvPr/>
        </p:nvSpPr>
        <p:spPr>
          <a:xfrm>
            <a:off x="3368040" y="3770883"/>
            <a:ext cx="1171956" cy="254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000" b="1" i="0">
                <a:solidFill>
                  <a:srgbClr val="0E4D5E"/>
                </a:solidFill>
                <a:latin typeface="Inter"/>
              </a:rPr>
              <a:t>51</a:t>
            </a:r>
          </a:p>
        </p:txBody>
      </p:sp>
      <p:sp>
        <p:nvSpPr>
          <p:cNvPr id="67" name="k2-d"/>
          <p:cNvSpPr/>
          <p:nvPr/>
        </p:nvSpPr>
        <p:spPr>
          <a:xfrm>
            <a:off x="3368040" y="4052315"/>
            <a:ext cx="1171956" cy="1549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ts val="92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sz="800" b="1" i="0">
                <a:solidFill>
                  <a:srgbClr val="0E4D5E"/>
                </a:solidFill>
                <a:latin typeface="Inter"/>
              </a:rPr>
              <a:t>-19 days</a:t>
            </a:r>
            <a:r>
              <a:rPr sz="800" b="0" i="0">
                <a:solidFill>
                  <a:srgbClr val="56636D"/>
                </a:solidFill>
                <a:latin typeface="Inter"/>
              </a:rPr>
              <a:t> from 70</a:t>
            </a:r>
          </a:p>
        </p:txBody>
      </p:sp>
      <p:sp>
        <p:nvSpPr>
          <p:cNvPr id="68" name="k2-y2025"/>
          <p:cNvSpPr/>
          <p:nvPr/>
        </p:nvSpPr>
        <p:spPr>
          <a:xfrm>
            <a:off x="3368040" y="4234687"/>
            <a:ext cx="265176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50" b="0" i="0">
                <a:solidFill>
                  <a:srgbClr val="56636D"/>
                </a:solidFill>
                <a:latin typeface="Inter"/>
              </a:rPr>
              <a:t>FY25</a:t>
            </a:r>
          </a:p>
        </p:txBody>
      </p:sp>
      <p:sp>
        <p:nvSpPr>
          <p:cNvPr id="69" name="k2-b2025"/>
          <p:cNvSpPr/>
          <p:nvPr/>
        </p:nvSpPr>
        <p:spPr>
          <a:xfrm>
            <a:off x="3660648" y="4255261"/>
            <a:ext cx="495300" cy="73152"/>
          </a:xfrm>
          <a:prstGeom prst="rect">
            <a:avLst/>
          </a:prstGeom>
          <a:solidFill>
            <a:srgbClr val="A3AFB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0" name="k2-x2025"/>
          <p:cNvSpPr/>
          <p:nvPr/>
        </p:nvSpPr>
        <p:spPr>
          <a:xfrm>
            <a:off x="4183380" y="4234687"/>
            <a:ext cx="356616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 marL="0" indent="0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50" b="0" i="0">
                <a:solidFill>
                  <a:srgbClr val="56636D"/>
                </a:solidFill>
                <a:latin typeface="Inter"/>
              </a:rPr>
              <a:t>70</a:t>
            </a:r>
          </a:p>
        </p:txBody>
      </p:sp>
      <p:sp>
        <p:nvSpPr>
          <p:cNvPr id="71" name="k2-y2026"/>
          <p:cNvSpPr/>
          <p:nvPr/>
        </p:nvSpPr>
        <p:spPr>
          <a:xfrm>
            <a:off x="3368040" y="4376419"/>
            <a:ext cx="265176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50" b="0" i="0">
                <a:solidFill>
                  <a:srgbClr val="56636D"/>
                </a:solidFill>
                <a:latin typeface="Inter"/>
              </a:rPr>
              <a:t>FY26</a:t>
            </a:r>
          </a:p>
        </p:txBody>
      </p:sp>
      <p:sp>
        <p:nvSpPr>
          <p:cNvPr id="72" name="k2-b2026"/>
          <p:cNvSpPr/>
          <p:nvPr/>
        </p:nvSpPr>
        <p:spPr>
          <a:xfrm>
            <a:off x="3660648" y="4396993"/>
            <a:ext cx="452846" cy="73152"/>
          </a:xfrm>
          <a:prstGeom prst="rect">
            <a:avLst/>
          </a:prstGeom>
          <a:solidFill>
            <a:srgbClr val="7FAAB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3" name="k2-x2026"/>
          <p:cNvSpPr/>
          <p:nvPr/>
        </p:nvSpPr>
        <p:spPr>
          <a:xfrm>
            <a:off x="4183380" y="4376419"/>
            <a:ext cx="356616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 marL="0" indent="0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50" b="0" i="0">
                <a:solidFill>
                  <a:srgbClr val="56636D"/>
                </a:solidFill>
                <a:latin typeface="Inter"/>
              </a:rPr>
              <a:t>64</a:t>
            </a:r>
          </a:p>
        </p:txBody>
      </p:sp>
      <p:sp>
        <p:nvSpPr>
          <p:cNvPr id="74" name="k2-y2027"/>
          <p:cNvSpPr/>
          <p:nvPr/>
        </p:nvSpPr>
        <p:spPr>
          <a:xfrm>
            <a:off x="3368040" y="4518151"/>
            <a:ext cx="265176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50" b="0" i="0">
                <a:solidFill>
                  <a:srgbClr val="56636D"/>
                </a:solidFill>
                <a:latin typeface="Inter"/>
              </a:rPr>
              <a:t>FY27</a:t>
            </a:r>
          </a:p>
        </p:txBody>
      </p:sp>
      <p:sp>
        <p:nvSpPr>
          <p:cNvPr id="75" name="k2-b2027"/>
          <p:cNvSpPr/>
          <p:nvPr/>
        </p:nvSpPr>
        <p:spPr>
          <a:xfrm>
            <a:off x="3660648" y="4538725"/>
            <a:ext cx="403316" cy="73152"/>
          </a:xfrm>
          <a:prstGeom prst="rect">
            <a:avLst/>
          </a:prstGeom>
          <a:solidFill>
            <a:srgbClr val="7FAAB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6" name="k2-x2027"/>
          <p:cNvSpPr/>
          <p:nvPr/>
        </p:nvSpPr>
        <p:spPr>
          <a:xfrm>
            <a:off x="4183380" y="4518151"/>
            <a:ext cx="356616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 marL="0" indent="0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50" b="0" i="0">
                <a:solidFill>
                  <a:srgbClr val="56636D"/>
                </a:solidFill>
                <a:latin typeface="Inter"/>
              </a:rPr>
              <a:t>57</a:t>
            </a:r>
          </a:p>
        </p:txBody>
      </p:sp>
      <p:sp>
        <p:nvSpPr>
          <p:cNvPr id="77" name="k2-y2028"/>
          <p:cNvSpPr/>
          <p:nvPr/>
        </p:nvSpPr>
        <p:spPr>
          <a:xfrm>
            <a:off x="3368040" y="4659883"/>
            <a:ext cx="265176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50" b="0" i="0">
                <a:solidFill>
                  <a:srgbClr val="56636D"/>
                </a:solidFill>
                <a:latin typeface="Inter"/>
              </a:rPr>
              <a:t>FY28</a:t>
            </a:r>
          </a:p>
        </p:txBody>
      </p:sp>
      <p:sp>
        <p:nvSpPr>
          <p:cNvPr id="78" name="k2-b2028"/>
          <p:cNvSpPr/>
          <p:nvPr/>
        </p:nvSpPr>
        <p:spPr>
          <a:xfrm>
            <a:off x="3660648" y="4680457"/>
            <a:ext cx="360861" cy="73152"/>
          </a:xfrm>
          <a:prstGeom prst="rect">
            <a:avLst/>
          </a:prstGeom>
          <a:solidFill>
            <a:srgbClr val="0E4D5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9" name="k2-x2028"/>
          <p:cNvSpPr/>
          <p:nvPr/>
        </p:nvSpPr>
        <p:spPr>
          <a:xfrm>
            <a:off x="4183380" y="4659883"/>
            <a:ext cx="356616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 marL="0" indent="0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50" b="0" i="0">
                <a:solidFill>
                  <a:srgbClr val="0E4D5E"/>
                </a:solidFill>
                <a:latin typeface="Inter"/>
              </a:rPr>
              <a:t>51</a:t>
            </a:r>
          </a:p>
        </p:txBody>
      </p:sp>
      <p:sp>
        <p:nvSpPr>
          <p:cNvPr id="80" name="k2-how"/>
          <p:cNvSpPr/>
          <p:nvPr/>
        </p:nvSpPr>
        <p:spPr>
          <a:xfrm>
            <a:off x="3368040" y="4801615"/>
            <a:ext cx="1171956" cy="967741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ts val="92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sz="800" b="0" i="0">
                <a:solidFill>
                  <a:srgbClr val="17232D"/>
                </a:solidFill>
                <a:latin typeface="Inter"/>
              </a:rPr>
              <a:t>Avoidable delay falls</a:t>
            </a:r>
            <a:br/>
            <a:r>
              <a:rPr sz="800" b="0" i="0">
                <a:solidFill>
                  <a:srgbClr val="17232D"/>
                </a:solidFill>
                <a:latin typeface="Inter"/>
              </a:rPr>
              <a:t>from 25 to 6 days,</a:t>
            </a:r>
            <a:br/>
            <a:r>
              <a:rPr sz="800" b="0" i="0">
                <a:solidFill>
                  <a:srgbClr val="17232D"/>
                </a:solidFill>
                <a:latin typeface="Inter"/>
              </a:rPr>
              <a:t>releasing $75m of</a:t>
            </a:r>
            <a:br/>
            <a:r>
              <a:rPr sz="800" b="0" i="0">
                <a:solidFill>
                  <a:srgbClr val="17232D"/>
                </a:solidFill>
                <a:latin typeface="Inter"/>
              </a:rPr>
              <a:t>receivables</a:t>
            </a:r>
          </a:p>
        </p:txBody>
      </p:sp>
      <p:cxnSp>
        <p:nvCxnSpPr>
          <p:cNvPr id="81" name="k2-fr"/>
          <p:cNvCxnSpPr/>
          <p:nvPr/>
        </p:nvCxnSpPr>
        <p:spPr>
          <a:xfrm>
            <a:off x="3368040" y="5803138"/>
            <a:ext cx="1171956" cy="0"/>
          </a:xfrm>
          <a:prstGeom prst="line">
            <a:avLst/>
          </a:prstGeom>
          <a:ln w="12700">
            <a:solidFill>
              <a:srgbClr val="C9D2D8"/>
            </a:solidFill>
          </a:ln>
        </p:spPr>
      </p:cxnSp>
      <p:sp>
        <p:nvSpPr>
          <p:cNvPr id="82" name="k2-own"/>
          <p:cNvSpPr/>
          <p:nvPr/>
        </p:nvSpPr>
        <p:spPr>
          <a:xfrm>
            <a:off x="3368040" y="5836920"/>
            <a:ext cx="1171956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50" b="1" i="0">
                <a:solidFill>
                  <a:srgbClr val="17232D"/>
                </a:solidFill>
                <a:latin typeface="Inter"/>
              </a:rPr>
              <a:t>Owner:</a:t>
            </a:r>
            <a:r>
              <a:rPr sz="750" b="0" i="0">
                <a:solidFill>
                  <a:srgbClr val="56636D"/>
                </a:solidFill>
                <a:latin typeface="Inter"/>
              </a:rPr>
              <a:t> CFO</a:t>
            </a:r>
          </a:p>
          <a:p>
            <a:pPr algn="l" marL="0" indent="0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50" b="1" i="0">
                <a:solidFill>
                  <a:srgbClr val="17232D"/>
                </a:solidFill>
                <a:latin typeface="Inter"/>
              </a:rPr>
              <a:t>Initiatives:</a:t>
            </a:r>
            <a:r>
              <a:rPr sz="750" b="0" i="0">
                <a:solidFill>
                  <a:srgbClr val="56636D"/>
                </a:solidFill>
                <a:latin typeface="Inter"/>
              </a:rPr>
              <a:t> C1 to C3, O1</a:t>
            </a:r>
          </a:p>
        </p:txBody>
      </p:sp>
      <p:sp>
        <p:nvSpPr>
          <p:cNvPr id="83" name="k3-fill"/>
          <p:cNvSpPr/>
          <p:nvPr/>
        </p:nvSpPr>
        <p:spPr>
          <a:xfrm>
            <a:off x="4695444" y="3331971"/>
            <a:ext cx="1373124" cy="2834133"/>
          </a:xfrm>
          <a:prstGeom prst="rect">
            <a:avLst/>
          </a:prstGeom>
          <a:solidFill>
            <a:srgbClr val="EEF2F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4" name="k3-l"/>
          <p:cNvSpPr/>
          <p:nvPr/>
        </p:nvSpPr>
        <p:spPr>
          <a:xfrm>
            <a:off x="4796028" y="3432555"/>
            <a:ext cx="880403" cy="1498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ts val="108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sz="900" b="1" i="0">
                <a:solidFill>
                  <a:srgbClr val="17232D"/>
                </a:solidFill>
                <a:latin typeface="Inter"/>
              </a:rPr>
              <a:t>Inventory days</a:t>
            </a:r>
          </a:p>
        </p:txBody>
      </p:sp>
      <p:sp>
        <p:nvSpPr>
          <p:cNvPr id="85" name="k3-pg"/>
          <p:cNvSpPr/>
          <p:nvPr/>
        </p:nvSpPr>
        <p:spPr>
          <a:xfrm>
            <a:off x="5703863" y="3432555"/>
            <a:ext cx="264121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 marL="0" indent="0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50" b="0" i="0">
                <a:solidFill>
                  <a:srgbClr val="56636D"/>
                </a:solidFill>
                <a:latin typeface="Inter"/>
              </a:rPr>
              <a:t>p. 5</a:t>
            </a:r>
          </a:p>
        </p:txBody>
      </p:sp>
      <p:sp>
        <p:nvSpPr>
          <p:cNvPr id="86" name="k3-v"/>
          <p:cNvSpPr/>
          <p:nvPr/>
        </p:nvSpPr>
        <p:spPr>
          <a:xfrm>
            <a:off x="4796028" y="3770883"/>
            <a:ext cx="1171956" cy="254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000" b="1" i="0">
                <a:solidFill>
                  <a:srgbClr val="0E4D5E"/>
                </a:solidFill>
                <a:latin typeface="Inter"/>
              </a:rPr>
              <a:t>105</a:t>
            </a:r>
          </a:p>
        </p:txBody>
      </p:sp>
      <p:sp>
        <p:nvSpPr>
          <p:cNvPr id="87" name="k3-d"/>
          <p:cNvSpPr/>
          <p:nvPr/>
        </p:nvSpPr>
        <p:spPr>
          <a:xfrm>
            <a:off x="4796028" y="4052315"/>
            <a:ext cx="1171956" cy="1549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ts val="92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sz="800" b="1" i="0">
                <a:solidFill>
                  <a:srgbClr val="0E4D5E"/>
                </a:solidFill>
                <a:latin typeface="Inter"/>
              </a:rPr>
              <a:t>-37 days</a:t>
            </a:r>
            <a:r>
              <a:rPr sz="800" b="0" i="0">
                <a:solidFill>
                  <a:srgbClr val="56636D"/>
                </a:solidFill>
                <a:latin typeface="Inter"/>
              </a:rPr>
              <a:t> from 142</a:t>
            </a:r>
          </a:p>
        </p:txBody>
      </p:sp>
      <p:sp>
        <p:nvSpPr>
          <p:cNvPr id="88" name="k3-y2025"/>
          <p:cNvSpPr/>
          <p:nvPr/>
        </p:nvSpPr>
        <p:spPr>
          <a:xfrm>
            <a:off x="4796028" y="4234687"/>
            <a:ext cx="265176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50" b="0" i="0">
                <a:solidFill>
                  <a:srgbClr val="56636D"/>
                </a:solidFill>
                <a:latin typeface="Inter"/>
              </a:rPr>
              <a:t>FY25</a:t>
            </a:r>
          </a:p>
        </p:txBody>
      </p:sp>
      <p:sp>
        <p:nvSpPr>
          <p:cNvPr id="89" name="k3-b2025"/>
          <p:cNvSpPr/>
          <p:nvPr/>
        </p:nvSpPr>
        <p:spPr>
          <a:xfrm>
            <a:off x="5088636" y="4255261"/>
            <a:ext cx="495300" cy="73152"/>
          </a:xfrm>
          <a:prstGeom prst="rect">
            <a:avLst/>
          </a:prstGeom>
          <a:solidFill>
            <a:srgbClr val="A3AFB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0" name="k3-x2025"/>
          <p:cNvSpPr/>
          <p:nvPr/>
        </p:nvSpPr>
        <p:spPr>
          <a:xfrm>
            <a:off x="5611368" y="4234687"/>
            <a:ext cx="356616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 marL="0" indent="0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50" b="0" i="0">
                <a:solidFill>
                  <a:srgbClr val="56636D"/>
                </a:solidFill>
                <a:latin typeface="Inter"/>
              </a:rPr>
              <a:t>142</a:t>
            </a:r>
          </a:p>
        </p:txBody>
      </p:sp>
      <p:sp>
        <p:nvSpPr>
          <p:cNvPr id="91" name="k3-y2026"/>
          <p:cNvSpPr/>
          <p:nvPr/>
        </p:nvSpPr>
        <p:spPr>
          <a:xfrm>
            <a:off x="4796028" y="4376419"/>
            <a:ext cx="265176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50" b="0" i="0">
                <a:solidFill>
                  <a:srgbClr val="56636D"/>
                </a:solidFill>
                <a:latin typeface="Inter"/>
              </a:rPr>
              <a:t>FY26</a:t>
            </a:r>
          </a:p>
        </p:txBody>
      </p:sp>
      <p:sp>
        <p:nvSpPr>
          <p:cNvPr id="92" name="k3-b2026"/>
          <p:cNvSpPr/>
          <p:nvPr/>
        </p:nvSpPr>
        <p:spPr>
          <a:xfrm>
            <a:off x="5088636" y="4396993"/>
            <a:ext cx="456932" cy="73152"/>
          </a:xfrm>
          <a:prstGeom prst="rect">
            <a:avLst/>
          </a:prstGeom>
          <a:solidFill>
            <a:srgbClr val="7FAAB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3" name="k3-x2026"/>
          <p:cNvSpPr/>
          <p:nvPr/>
        </p:nvSpPr>
        <p:spPr>
          <a:xfrm>
            <a:off x="5611368" y="4376419"/>
            <a:ext cx="356616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 marL="0" indent="0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50" b="0" i="0">
                <a:solidFill>
                  <a:srgbClr val="56636D"/>
                </a:solidFill>
                <a:latin typeface="Inter"/>
              </a:rPr>
              <a:t>131</a:t>
            </a:r>
          </a:p>
        </p:txBody>
      </p:sp>
      <p:sp>
        <p:nvSpPr>
          <p:cNvPr id="94" name="k3-y2027"/>
          <p:cNvSpPr/>
          <p:nvPr/>
        </p:nvSpPr>
        <p:spPr>
          <a:xfrm>
            <a:off x="4796028" y="4518151"/>
            <a:ext cx="265176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50" b="0" i="0">
                <a:solidFill>
                  <a:srgbClr val="56636D"/>
                </a:solidFill>
                <a:latin typeface="Inter"/>
              </a:rPr>
              <a:t>FY27</a:t>
            </a:r>
          </a:p>
        </p:txBody>
      </p:sp>
      <p:sp>
        <p:nvSpPr>
          <p:cNvPr id="95" name="k3-b2027"/>
          <p:cNvSpPr/>
          <p:nvPr/>
        </p:nvSpPr>
        <p:spPr>
          <a:xfrm>
            <a:off x="5088636" y="4538725"/>
            <a:ext cx="408099" cy="73152"/>
          </a:xfrm>
          <a:prstGeom prst="rect">
            <a:avLst/>
          </a:prstGeom>
          <a:solidFill>
            <a:srgbClr val="7FAAB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6" name="k3-x2027"/>
          <p:cNvSpPr/>
          <p:nvPr/>
        </p:nvSpPr>
        <p:spPr>
          <a:xfrm>
            <a:off x="5611368" y="4518151"/>
            <a:ext cx="356616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 marL="0" indent="0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50" b="0" i="0">
                <a:solidFill>
                  <a:srgbClr val="56636D"/>
                </a:solidFill>
                <a:latin typeface="Inter"/>
              </a:rPr>
              <a:t>117</a:t>
            </a:r>
          </a:p>
        </p:txBody>
      </p:sp>
      <p:sp>
        <p:nvSpPr>
          <p:cNvPr id="97" name="k3-y2028"/>
          <p:cNvSpPr/>
          <p:nvPr/>
        </p:nvSpPr>
        <p:spPr>
          <a:xfrm>
            <a:off x="4796028" y="4659883"/>
            <a:ext cx="265176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50" b="0" i="0">
                <a:solidFill>
                  <a:srgbClr val="56636D"/>
                </a:solidFill>
                <a:latin typeface="Inter"/>
              </a:rPr>
              <a:t>FY28</a:t>
            </a:r>
          </a:p>
        </p:txBody>
      </p:sp>
      <p:sp>
        <p:nvSpPr>
          <p:cNvPr id="98" name="k3-b2028"/>
          <p:cNvSpPr/>
          <p:nvPr/>
        </p:nvSpPr>
        <p:spPr>
          <a:xfrm>
            <a:off x="5088636" y="4680457"/>
            <a:ext cx="366243" cy="73152"/>
          </a:xfrm>
          <a:prstGeom prst="rect">
            <a:avLst/>
          </a:prstGeom>
          <a:solidFill>
            <a:srgbClr val="0E4D5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9" name="k3-x2028"/>
          <p:cNvSpPr/>
          <p:nvPr/>
        </p:nvSpPr>
        <p:spPr>
          <a:xfrm>
            <a:off x="5611368" y="4659883"/>
            <a:ext cx="356616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 marL="0" indent="0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50" b="0" i="0">
                <a:solidFill>
                  <a:srgbClr val="0E4D5E"/>
                </a:solidFill>
                <a:latin typeface="Inter"/>
              </a:rPr>
              <a:t>105</a:t>
            </a:r>
          </a:p>
        </p:txBody>
      </p:sp>
      <p:sp>
        <p:nvSpPr>
          <p:cNvPr id="100" name="k3-how"/>
          <p:cNvSpPr/>
          <p:nvPr/>
        </p:nvSpPr>
        <p:spPr>
          <a:xfrm>
            <a:off x="4796028" y="4801615"/>
            <a:ext cx="1171956" cy="967741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ts val="92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sz="800" b="0" i="0">
                <a:solidFill>
                  <a:srgbClr val="17232D"/>
                </a:solidFill>
                <a:latin typeface="Inter"/>
              </a:rPr>
              <a:t>One global plan across</a:t>
            </a:r>
            <a:br/>
            <a:r>
              <a:rPr sz="800" b="0" i="0">
                <a:solidFill>
                  <a:srgbClr val="17232D"/>
                </a:solidFill>
                <a:latin typeface="Inter"/>
              </a:rPr>
              <a:t>five plants releases</a:t>
            </a:r>
            <a:br/>
            <a:r>
              <a:rPr sz="800" b="0" i="0">
                <a:solidFill>
                  <a:srgbClr val="17232D"/>
                </a:solidFill>
                <a:latin typeface="Inter"/>
              </a:rPr>
              <a:t>$71m of stock</a:t>
            </a:r>
          </a:p>
        </p:txBody>
      </p:sp>
      <p:cxnSp>
        <p:nvCxnSpPr>
          <p:cNvPr id="101" name="k3-fr"/>
          <p:cNvCxnSpPr/>
          <p:nvPr/>
        </p:nvCxnSpPr>
        <p:spPr>
          <a:xfrm>
            <a:off x="4796028" y="5803138"/>
            <a:ext cx="1171956" cy="0"/>
          </a:xfrm>
          <a:prstGeom prst="line">
            <a:avLst/>
          </a:prstGeom>
          <a:ln w="12700">
            <a:solidFill>
              <a:srgbClr val="C9D2D8"/>
            </a:solidFill>
          </a:ln>
        </p:spPr>
      </p:cxnSp>
      <p:sp>
        <p:nvSpPr>
          <p:cNvPr id="102" name="k3-own"/>
          <p:cNvSpPr/>
          <p:nvPr/>
        </p:nvSpPr>
        <p:spPr>
          <a:xfrm>
            <a:off x="4796028" y="5836920"/>
            <a:ext cx="1171956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50" b="1" i="0">
                <a:solidFill>
                  <a:srgbClr val="17232D"/>
                </a:solidFill>
                <a:latin typeface="Inter"/>
              </a:rPr>
              <a:t>Owner:</a:t>
            </a:r>
            <a:r>
              <a:rPr sz="750" b="0" i="0">
                <a:solidFill>
                  <a:srgbClr val="56636D"/>
                </a:solidFill>
                <a:latin typeface="Inter"/>
              </a:rPr>
              <a:t> COO</a:t>
            </a:r>
          </a:p>
          <a:p>
            <a:pPr algn="l" marL="0" indent="0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50" b="1" i="0">
                <a:solidFill>
                  <a:srgbClr val="17232D"/>
                </a:solidFill>
                <a:latin typeface="Inter"/>
              </a:rPr>
              <a:t>Initiatives:</a:t>
            </a:r>
            <a:r>
              <a:rPr sz="750" b="0" i="0">
                <a:solidFill>
                  <a:srgbClr val="56636D"/>
                </a:solidFill>
                <a:latin typeface="Inter"/>
              </a:rPr>
              <a:t> F3, planning</a:t>
            </a:r>
          </a:p>
        </p:txBody>
      </p:sp>
      <p:sp>
        <p:nvSpPr>
          <p:cNvPr id="103" name="k4-fill"/>
          <p:cNvSpPr/>
          <p:nvPr/>
        </p:nvSpPr>
        <p:spPr>
          <a:xfrm>
            <a:off x="6123432" y="3331971"/>
            <a:ext cx="1373124" cy="2834133"/>
          </a:xfrm>
          <a:prstGeom prst="rect">
            <a:avLst/>
          </a:prstGeom>
          <a:solidFill>
            <a:srgbClr val="EEF2F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4" name="k4-l"/>
          <p:cNvSpPr/>
          <p:nvPr/>
        </p:nvSpPr>
        <p:spPr>
          <a:xfrm>
            <a:off x="6224016" y="3432555"/>
            <a:ext cx="880403" cy="1498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ts val="108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sz="900" b="1" i="0">
                <a:solidFill>
                  <a:srgbClr val="17232D"/>
                </a:solidFill>
                <a:latin typeface="Inter"/>
              </a:rPr>
              <a:t>On time, in full</a:t>
            </a:r>
          </a:p>
        </p:txBody>
      </p:sp>
      <p:sp>
        <p:nvSpPr>
          <p:cNvPr id="105" name="k4-pg"/>
          <p:cNvSpPr/>
          <p:nvPr/>
        </p:nvSpPr>
        <p:spPr>
          <a:xfrm>
            <a:off x="7131851" y="3432555"/>
            <a:ext cx="264121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 marL="0" indent="0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50" b="0" i="0">
                <a:solidFill>
                  <a:srgbClr val="56636D"/>
                </a:solidFill>
                <a:latin typeface="Inter"/>
              </a:rPr>
              <a:t>p. 6</a:t>
            </a:r>
          </a:p>
        </p:txBody>
      </p:sp>
      <p:sp>
        <p:nvSpPr>
          <p:cNvPr id="106" name="k4-v"/>
          <p:cNvSpPr/>
          <p:nvPr/>
        </p:nvSpPr>
        <p:spPr>
          <a:xfrm>
            <a:off x="6224016" y="3770883"/>
            <a:ext cx="1171956" cy="254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000" b="1" i="0">
                <a:solidFill>
                  <a:srgbClr val="0E4D5E"/>
                </a:solidFill>
                <a:latin typeface="Inter"/>
              </a:rPr>
              <a:t>96%</a:t>
            </a:r>
          </a:p>
        </p:txBody>
      </p:sp>
      <p:sp>
        <p:nvSpPr>
          <p:cNvPr id="107" name="k4-d"/>
          <p:cNvSpPr/>
          <p:nvPr/>
        </p:nvSpPr>
        <p:spPr>
          <a:xfrm>
            <a:off x="6224016" y="4052315"/>
            <a:ext cx="1171956" cy="1549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ts val="92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sz="800" b="1" i="0">
                <a:solidFill>
                  <a:srgbClr val="0E4D5E"/>
                </a:solidFill>
                <a:latin typeface="Inter"/>
              </a:rPr>
              <a:t>+9 pts</a:t>
            </a:r>
            <a:r>
              <a:rPr sz="800" b="0" i="0">
                <a:solidFill>
                  <a:srgbClr val="56636D"/>
                </a:solidFill>
                <a:latin typeface="Inter"/>
              </a:rPr>
              <a:t> from 87%</a:t>
            </a:r>
          </a:p>
        </p:txBody>
      </p:sp>
      <p:sp>
        <p:nvSpPr>
          <p:cNvPr id="108" name="k4-y2025"/>
          <p:cNvSpPr/>
          <p:nvPr/>
        </p:nvSpPr>
        <p:spPr>
          <a:xfrm>
            <a:off x="6224016" y="4234687"/>
            <a:ext cx="265176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50" b="0" i="0">
                <a:solidFill>
                  <a:srgbClr val="56636D"/>
                </a:solidFill>
                <a:latin typeface="Inter"/>
              </a:rPr>
              <a:t>FY25</a:t>
            </a:r>
          </a:p>
        </p:txBody>
      </p:sp>
      <p:sp>
        <p:nvSpPr>
          <p:cNvPr id="109" name="k4-b2025"/>
          <p:cNvSpPr/>
          <p:nvPr/>
        </p:nvSpPr>
        <p:spPr>
          <a:xfrm>
            <a:off x="6516624" y="4255261"/>
            <a:ext cx="448866" cy="73152"/>
          </a:xfrm>
          <a:prstGeom prst="rect">
            <a:avLst/>
          </a:prstGeom>
          <a:solidFill>
            <a:srgbClr val="A3AFB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0" name="k4-x2025"/>
          <p:cNvSpPr/>
          <p:nvPr/>
        </p:nvSpPr>
        <p:spPr>
          <a:xfrm>
            <a:off x="7039356" y="4234687"/>
            <a:ext cx="356616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 marL="0" indent="0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50" b="0" i="0">
                <a:solidFill>
                  <a:srgbClr val="56636D"/>
                </a:solidFill>
                <a:latin typeface="Inter"/>
              </a:rPr>
              <a:t>87%</a:t>
            </a:r>
          </a:p>
        </p:txBody>
      </p:sp>
      <p:sp>
        <p:nvSpPr>
          <p:cNvPr id="111" name="k4-y2026"/>
          <p:cNvSpPr/>
          <p:nvPr/>
        </p:nvSpPr>
        <p:spPr>
          <a:xfrm>
            <a:off x="6224016" y="4376419"/>
            <a:ext cx="265176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50" b="0" i="0">
                <a:solidFill>
                  <a:srgbClr val="56636D"/>
                </a:solidFill>
                <a:latin typeface="Inter"/>
              </a:rPr>
              <a:t>FY26</a:t>
            </a:r>
          </a:p>
        </p:txBody>
      </p:sp>
      <p:sp>
        <p:nvSpPr>
          <p:cNvPr id="112" name="k4-b2026"/>
          <p:cNvSpPr/>
          <p:nvPr/>
        </p:nvSpPr>
        <p:spPr>
          <a:xfrm>
            <a:off x="6516624" y="4396993"/>
            <a:ext cx="464344" cy="73152"/>
          </a:xfrm>
          <a:prstGeom prst="rect">
            <a:avLst/>
          </a:prstGeom>
          <a:solidFill>
            <a:srgbClr val="7FAAB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3" name="k4-x2026"/>
          <p:cNvSpPr/>
          <p:nvPr/>
        </p:nvSpPr>
        <p:spPr>
          <a:xfrm>
            <a:off x="7039356" y="4376419"/>
            <a:ext cx="356616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 marL="0" indent="0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50" b="0" i="0">
                <a:solidFill>
                  <a:srgbClr val="56636D"/>
                </a:solidFill>
                <a:latin typeface="Inter"/>
              </a:rPr>
              <a:t>90%</a:t>
            </a:r>
          </a:p>
        </p:txBody>
      </p:sp>
      <p:sp>
        <p:nvSpPr>
          <p:cNvPr id="114" name="k4-y2027"/>
          <p:cNvSpPr/>
          <p:nvPr/>
        </p:nvSpPr>
        <p:spPr>
          <a:xfrm>
            <a:off x="6224016" y="4518151"/>
            <a:ext cx="265176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50" b="0" i="0">
                <a:solidFill>
                  <a:srgbClr val="56636D"/>
                </a:solidFill>
                <a:latin typeface="Inter"/>
              </a:rPr>
              <a:t>FY27</a:t>
            </a:r>
          </a:p>
        </p:txBody>
      </p:sp>
      <p:sp>
        <p:nvSpPr>
          <p:cNvPr id="115" name="k4-b2027"/>
          <p:cNvSpPr/>
          <p:nvPr/>
        </p:nvSpPr>
        <p:spPr>
          <a:xfrm>
            <a:off x="6516624" y="4538725"/>
            <a:ext cx="479822" cy="73152"/>
          </a:xfrm>
          <a:prstGeom prst="rect">
            <a:avLst/>
          </a:prstGeom>
          <a:solidFill>
            <a:srgbClr val="7FAAB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6" name="k4-x2027"/>
          <p:cNvSpPr/>
          <p:nvPr/>
        </p:nvSpPr>
        <p:spPr>
          <a:xfrm>
            <a:off x="7039356" y="4518151"/>
            <a:ext cx="356616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 marL="0" indent="0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50" b="0" i="0">
                <a:solidFill>
                  <a:srgbClr val="56636D"/>
                </a:solidFill>
                <a:latin typeface="Inter"/>
              </a:rPr>
              <a:t>93%</a:t>
            </a:r>
          </a:p>
        </p:txBody>
      </p:sp>
      <p:sp>
        <p:nvSpPr>
          <p:cNvPr id="117" name="k4-y2028"/>
          <p:cNvSpPr/>
          <p:nvPr/>
        </p:nvSpPr>
        <p:spPr>
          <a:xfrm>
            <a:off x="6224016" y="4659883"/>
            <a:ext cx="265176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50" b="0" i="0">
                <a:solidFill>
                  <a:srgbClr val="56636D"/>
                </a:solidFill>
                <a:latin typeface="Inter"/>
              </a:rPr>
              <a:t>FY28</a:t>
            </a:r>
          </a:p>
        </p:txBody>
      </p:sp>
      <p:sp>
        <p:nvSpPr>
          <p:cNvPr id="118" name="k4-b2028"/>
          <p:cNvSpPr/>
          <p:nvPr/>
        </p:nvSpPr>
        <p:spPr>
          <a:xfrm>
            <a:off x="6516624" y="4680457"/>
            <a:ext cx="495300" cy="73152"/>
          </a:xfrm>
          <a:prstGeom prst="rect">
            <a:avLst/>
          </a:prstGeom>
          <a:solidFill>
            <a:srgbClr val="0E4D5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9" name="k4-x2028"/>
          <p:cNvSpPr/>
          <p:nvPr/>
        </p:nvSpPr>
        <p:spPr>
          <a:xfrm>
            <a:off x="7039356" y="4659883"/>
            <a:ext cx="356616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 marL="0" indent="0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50" b="0" i="0">
                <a:solidFill>
                  <a:srgbClr val="0E4D5E"/>
                </a:solidFill>
                <a:latin typeface="Inter"/>
              </a:rPr>
              <a:t>96%</a:t>
            </a:r>
          </a:p>
        </p:txBody>
      </p:sp>
      <p:sp>
        <p:nvSpPr>
          <p:cNvPr id="120" name="k4-how"/>
          <p:cNvSpPr/>
          <p:nvPr/>
        </p:nvSpPr>
        <p:spPr>
          <a:xfrm>
            <a:off x="6224016" y="4801615"/>
            <a:ext cx="1171956" cy="967741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ts val="92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sz="800" b="0" i="0">
                <a:solidFill>
                  <a:srgbClr val="17232D"/>
                </a:solidFill>
                <a:latin typeface="Inter"/>
              </a:rPr>
              <a:t>One global supply</a:t>
            </a:r>
            <a:br/>
            <a:r>
              <a:rPr sz="800" b="0" i="0">
                <a:solidFill>
                  <a:srgbClr val="17232D"/>
                </a:solidFill>
                <a:latin typeface="Inter"/>
              </a:rPr>
              <a:t>chain; lines dual-</a:t>
            </a:r>
            <a:br/>
            <a:r>
              <a:rPr sz="800" b="0" i="0">
                <a:solidFill>
                  <a:srgbClr val="17232D"/>
                </a:solidFill>
                <a:latin typeface="Inter"/>
              </a:rPr>
              <a:t>qualified before each</a:t>
            </a:r>
            <a:br/>
            <a:r>
              <a:rPr sz="800" b="0" i="0">
                <a:solidFill>
                  <a:srgbClr val="17232D"/>
                </a:solidFill>
                <a:latin typeface="Inter"/>
              </a:rPr>
              <a:t>move</a:t>
            </a:r>
          </a:p>
        </p:txBody>
      </p:sp>
      <p:cxnSp>
        <p:nvCxnSpPr>
          <p:cNvPr id="121" name="k4-fr"/>
          <p:cNvCxnSpPr/>
          <p:nvPr/>
        </p:nvCxnSpPr>
        <p:spPr>
          <a:xfrm>
            <a:off x="6224016" y="5803138"/>
            <a:ext cx="1171956" cy="0"/>
          </a:xfrm>
          <a:prstGeom prst="line">
            <a:avLst/>
          </a:prstGeom>
          <a:ln w="12700">
            <a:solidFill>
              <a:srgbClr val="C9D2D8"/>
            </a:solidFill>
          </a:ln>
        </p:spPr>
      </p:cxnSp>
      <p:sp>
        <p:nvSpPr>
          <p:cNvPr id="122" name="k4-own"/>
          <p:cNvSpPr/>
          <p:nvPr/>
        </p:nvSpPr>
        <p:spPr>
          <a:xfrm>
            <a:off x="6224016" y="5836920"/>
            <a:ext cx="1171956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50" b="1" i="0">
                <a:solidFill>
                  <a:srgbClr val="17232D"/>
                </a:solidFill>
                <a:latin typeface="Inter"/>
              </a:rPr>
              <a:t>Owner:</a:t>
            </a:r>
            <a:r>
              <a:rPr sz="750" b="0" i="0">
                <a:solidFill>
                  <a:srgbClr val="56636D"/>
                </a:solidFill>
                <a:latin typeface="Inter"/>
              </a:rPr>
              <a:t> COO</a:t>
            </a:r>
          </a:p>
          <a:p>
            <a:pPr algn="l" marL="0" indent="0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50" b="1" i="0">
                <a:solidFill>
                  <a:srgbClr val="17232D"/>
                </a:solidFill>
                <a:latin typeface="Inter"/>
              </a:rPr>
              <a:t>Initiatives:</a:t>
            </a:r>
            <a:r>
              <a:rPr sz="750" b="0" i="0">
                <a:solidFill>
                  <a:srgbClr val="56636D"/>
                </a:solidFill>
                <a:latin typeface="Inter"/>
              </a:rPr>
              <a:t> F1 to F3</a:t>
            </a:r>
          </a:p>
        </p:txBody>
      </p:sp>
      <p:sp>
        <p:nvSpPr>
          <p:cNvPr id="123" name="k5-fill"/>
          <p:cNvSpPr/>
          <p:nvPr/>
        </p:nvSpPr>
        <p:spPr>
          <a:xfrm>
            <a:off x="7551420" y="3331971"/>
            <a:ext cx="1373124" cy="2834133"/>
          </a:xfrm>
          <a:prstGeom prst="rect">
            <a:avLst/>
          </a:prstGeom>
          <a:solidFill>
            <a:srgbClr val="EEF2F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4" name="k5-l"/>
          <p:cNvSpPr/>
          <p:nvPr/>
        </p:nvSpPr>
        <p:spPr>
          <a:xfrm>
            <a:off x="7652004" y="3432555"/>
            <a:ext cx="880403" cy="2870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ts val="108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sz="900" b="1" i="0">
                <a:solidFill>
                  <a:srgbClr val="17232D"/>
                </a:solidFill>
                <a:latin typeface="Inter"/>
              </a:rPr>
              <a:t>Network</a:t>
            </a:r>
            <a:br/>
            <a:r>
              <a:rPr sz="900" b="1" i="0">
                <a:solidFill>
                  <a:srgbClr val="17232D"/>
                </a:solidFill>
                <a:latin typeface="Inter"/>
              </a:rPr>
              <a:t>utilisation</a:t>
            </a:r>
          </a:p>
        </p:txBody>
      </p:sp>
      <p:sp>
        <p:nvSpPr>
          <p:cNvPr id="125" name="k5-pg"/>
          <p:cNvSpPr/>
          <p:nvPr/>
        </p:nvSpPr>
        <p:spPr>
          <a:xfrm>
            <a:off x="8559839" y="3432555"/>
            <a:ext cx="264121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 marL="0" indent="0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50" b="0" i="0">
                <a:solidFill>
                  <a:srgbClr val="56636D"/>
                </a:solidFill>
                <a:latin typeface="Inter"/>
              </a:rPr>
              <a:t>p. 3</a:t>
            </a:r>
          </a:p>
        </p:txBody>
      </p:sp>
      <p:sp>
        <p:nvSpPr>
          <p:cNvPr id="126" name="k5-v"/>
          <p:cNvSpPr/>
          <p:nvPr/>
        </p:nvSpPr>
        <p:spPr>
          <a:xfrm>
            <a:off x="7652004" y="3770883"/>
            <a:ext cx="1171956" cy="254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000" b="1" i="0">
                <a:solidFill>
                  <a:srgbClr val="0E4D5E"/>
                </a:solidFill>
                <a:latin typeface="Inter"/>
              </a:rPr>
              <a:t>84%</a:t>
            </a:r>
          </a:p>
        </p:txBody>
      </p:sp>
      <p:sp>
        <p:nvSpPr>
          <p:cNvPr id="127" name="k5-d"/>
          <p:cNvSpPr/>
          <p:nvPr/>
        </p:nvSpPr>
        <p:spPr>
          <a:xfrm>
            <a:off x="7652004" y="4052315"/>
            <a:ext cx="1171956" cy="1549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ts val="92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sz="800" b="1" i="0">
                <a:solidFill>
                  <a:srgbClr val="0E4D5E"/>
                </a:solidFill>
                <a:latin typeface="Inter"/>
              </a:rPr>
              <a:t>+20 pts</a:t>
            </a:r>
            <a:r>
              <a:rPr sz="800" b="0" i="0">
                <a:solidFill>
                  <a:srgbClr val="56636D"/>
                </a:solidFill>
                <a:latin typeface="Inter"/>
              </a:rPr>
              <a:t> from 64%</a:t>
            </a:r>
          </a:p>
        </p:txBody>
      </p:sp>
      <p:sp>
        <p:nvSpPr>
          <p:cNvPr id="128" name="k5-y2025"/>
          <p:cNvSpPr/>
          <p:nvPr/>
        </p:nvSpPr>
        <p:spPr>
          <a:xfrm>
            <a:off x="7652004" y="4234687"/>
            <a:ext cx="265176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50" b="0" i="0">
                <a:solidFill>
                  <a:srgbClr val="56636D"/>
                </a:solidFill>
                <a:latin typeface="Inter"/>
              </a:rPr>
              <a:t>FY25</a:t>
            </a:r>
          </a:p>
        </p:txBody>
      </p:sp>
      <p:sp>
        <p:nvSpPr>
          <p:cNvPr id="129" name="k5-b2025"/>
          <p:cNvSpPr/>
          <p:nvPr/>
        </p:nvSpPr>
        <p:spPr>
          <a:xfrm>
            <a:off x="7944612" y="4255261"/>
            <a:ext cx="378585" cy="73152"/>
          </a:xfrm>
          <a:prstGeom prst="rect">
            <a:avLst/>
          </a:prstGeom>
          <a:solidFill>
            <a:srgbClr val="A3AFB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0" name="k5-x2025"/>
          <p:cNvSpPr/>
          <p:nvPr/>
        </p:nvSpPr>
        <p:spPr>
          <a:xfrm>
            <a:off x="8467344" y="4234687"/>
            <a:ext cx="356616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 marL="0" indent="0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50" b="0" i="0">
                <a:solidFill>
                  <a:srgbClr val="56636D"/>
                </a:solidFill>
                <a:latin typeface="Inter"/>
              </a:rPr>
              <a:t>64%</a:t>
            </a:r>
          </a:p>
        </p:txBody>
      </p:sp>
      <p:sp>
        <p:nvSpPr>
          <p:cNvPr id="131" name="k5-y2026"/>
          <p:cNvSpPr/>
          <p:nvPr/>
        </p:nvSpPr>
        <p:spPr>
          <a:xfrm>
            <a:off x="7652004" y="4376419"/>
            <a:ext cx="265176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50" b="0" i="0">
                <a:solidFill>
                  <a:srgbClr val="56636D"/>
                </a:solidFill>
                <a:latin typeface="Inter"/>
              </a:rPr>
              <a:t>FY26</a:t>
            </a:r>
          </a:p>
        </p:txBody>
      </p:sp>
      <p:sp>
        <p:nvSpPr>
          <p:cNvPr id="132" name="k5-b2026"/>
          <p:cNvSpPr/>
          <p:nvPr/>
        </p:nvSpPr>
        <p:spPr>
          <a:xfrm>
            <a:off x="7944612" y="4396993"/>
            <a:ext cx="396951" cy="73152"/>
          </a:xfrm>
          <a:prstGeom prst="rect">
            <a:avLst/>
          </a:prstGeom>
          <a:solidFill>
            <a:srgbClr val="7FAAB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3" name="k5-x2026"/>
          <p:cNvSpPr/>
          <p:nvPr/>
        </p:nvSpPr>
        <p:spPr>
          <a:xfrm>
            <a:off x="8467344" y="4376419"/>
            <a:ext cx="356616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 marL="0" indent="0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50" b="0" i="0">
                <a:solidFill>
                  <a:srgbClr val="56636D"/>
                </a:solidFill>
                <a:latin typeface="Inter"/>
              </a:rPr>
              <a:t>67%</a:t>
            </a:r>
          </a:p>
        </p:txBody>
      </p:sp>
      <p:sp>
        <p:nvSpPr>
          <p:cNvPr id="134" name="k5-y2027"/>
          <p:cNvSpPr/>
          <p:nvPr/>
        </p:nvSpPr>
        <p:spPr>
          <a:xfrm>
            <a:off x="7652004" y="4518151"/>
            <a:ext cx="265176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50" b="0" i="0">
                <a:solidFill>
                  <a:srgbClr val="56636D"/>
                </a:solidFill>
                <a:latin typeface="Inter"/>
              </a:rPr>
              <a:t>FY27</a:t>
            </a:r>
          </a:p>
        </p:txBody>
      </p:sp>
      <p:sp>
        <p:nvSpPr>
          <p:cNvPr id="135" name="k5-b2027"/>
          <p:cNvSpPr/>
          <p:nvPr/>
        </p:nvSpPr>
        <p:spPr>
          <a:xfrm>
            <a:off x="7944612" y="4538725"/>
            <a:ext cx="450273" cy="73152"/>
          </a:xfrm>
          <a:prstGeom prst="rect">
            <a:avLst/>
          </a:prstGeom>
          <a:solidFill>
            <a:srgbClr val="7FAAB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6" name="k5-x2027"/>
          <p:cNvSpPr/>
          <p:nvPr/>
        </p:nvSpPr>
        <p:spPr>
          <a:xfrm>
            <a:off x="8467344" y="4518151"/>
            <a:ext cx="356616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 marL="0" indent="0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50" b="0" i="0">
                <a:solidFill>
                  <a:srgbClr val="56636D"/>
                </a:solidFill>
                <a:latin typeface="Inter"/>
              </a:rPr>
              <a:t>76%</a:t>
            </a:r>
          </a:p>
        </p:txBody>
      </p:sp>
      <p:sp>
        <p:nvSpPr>
          <p:cNvPr id="137" name="k5-y2028"/>
          <p:cNvSpPr/>
          <p:nvPr/>
        </p:nvSpPr>
        <p:spPr>
          <a:xfrm>
            <a:off x="7652004" y="4659883"/>
            <a:ext cx="265176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50" b="0" i="0">
                <a:solidFill>
                  <a:srgbClr val="56636D"/>
                </a:solidFill>
                <a:latin typeface="Inter"/>
              </a:rPr>
              <a:t>FY28</a:t>
            </a:r>
          </a:p>
        </p:txBody>
      </p:sp>
      <p:sp>
        <p:nvSpPr>
          <p:cNvPr id="138" name="k5-b2028"/>
          <p:cNvSpPr/>
          <p:nvPr/>
        </p:nvSpPr>
        <p:spPr>
          <a:xfrm>
            <a:off x="7944612" y="4680457"/>
            <a:ext cx="495300" cy="73152"/>
          </a:xfrm>
          <a:prstGeom prst="rect">
            <a:avLst/>
          </a:prstGeom>
          <a:solidFill>
            <a:srgbClr val="0E4D5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9" name="k5-x2028"/>
          <p:cNvSpPr/>
          <p:nvPr/>
        </p:nvSpPr>
        <p:spPr>
          <a:xfrm>
            <a:off x="8467344" y="4659883"/>
            <a:ext cx="356616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 marL="0" indent="0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50" b="0" i="0">
                <a:solidFill>
                  <a:srgbClr val="0E4D5E"/>
                </a:solidFill>
                <a:latin typeface="Inter"/>
              </a:rPr>
              <a:t>84%</a:t>
            </a:r>
          </a:p>
        </p:txBody>
      </p:sp>
      <p:sp>
        <p:nvSpPr>
          <p:cNvPr id="140" name="k5-how"/>
          <p:cNvSpPr/>
          <p:nvPr/>
        </p:nvSpPr>
        <p:spPr>
          <a:xfrm>
            <a:off x="7652004" y="4801615"/>
            <a:ext cx="1171956" cy="967741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ts val="92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sz="800" b="0" i="0">
                <a:solidFill>
                  <a:srgbClr val="17232D"/>
                </a:solidFill>
                <a:latin typeface="Inter"/>
              </a:rPr>
              <a:t>Steps up in 2027 as</a:t>
            </a:r>
            <a:br/>
            <a:r>
              <a:rPr sz="800" b="0" i="0">
                <a:solidFill>
                  <a:srgbClr val="17232D"/>
                </a:solidFill>
                <a:latin typeface="Inter"/>
              </a:rPr>
              <a:t>Salt Lake City closes,</a:t>
            </a:r>
            <a:br/>
            <a:r>
              <a:rPr sz="800" b="0" i="0">
                <a:solidFill>
                  <a:srgbClr val="17232D"/>
                </a:solidFill>
                <a:latin typeface="Inter"/>
              </a:rPr>
              <a:t>and again with</a:t>
            </a:r>
            <a:br/>
            <a:r>
              <a:rPr sz="800" b="0" i="0">
                <a:solidFill>
                  <a:srgbClr val="17232D"/>
                </a:solidFill>
                <a:latin typeface="Inter"/>
              </a:rPr>
              <a:t>Tuttlingen</a:t>
            </a:r>
          </a:p>
        </p:txBody>
      </p:sp>
      <p:cxnSp>
        <p:nvCxnSpPr>
          <p:cNvPr id="141" name="k5-fr"/>
          <p:cNvCxnSpPr/>
          <p:nvPr/>
        </p:nvCxnSpPr>
        <p:spPr>
          <a:xfrm>
            <a:off x="7652004" y="5803138"/>
            <a:ext cx="1171956" cy="0"/>
          </a:xfrm>
          <a:prstGeom prst="line">
            <a:avLst/>
          </a:prstGeom>
          <a:ln w="12700">
            <a:solidFill>
              <a:srgbClr val="C9D2D8"/>
            </a:solidFill>
          </a:ln>
        </p:spPr>
      </p:cxnSp>
      <p:sp>
        <p:nvSpPr>
          <p:cNvPr id="142" name="k5-own"/>
          <p:cNvSpPr/>
          <p:nvPr/>
        </p:nvSpPr>
        <p:spPr>
          <a:xfrm>
            <a:off x="7652004" y="5836920"/>
            <a:ext cx="1171956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50" b="1" i="0">
                <a:solidFill>
                  <a:srgbClr val="17232D"/>
                </a:solidFill>
                <a:latin typeface="Inter"/>
              </a:rPr>
              <a:t>Owner:</a:t>
            </a:r>
            <a:r>
              <a:rPr sz="750" b="0" i="0">
                <a:solidFill>
                  <a:srgbClr val="56636D"/>
                </a:solidFill>
                <a:latin typeface="Inter"/>
              </a:rPr>
              <a:t> COO</a:t>
            </a:r>
          </a:p>
          <a:p>
            <a:pPr algn="l" marL="0" indent="0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50" b="1" i="0">
                <a:solidFill>
                  <a:srgbClr val="17232D"/>
                </a:solidFill>
                <a:latin typeface="Inter"/>
              </a:rPr>
              <a:t>Initiatives:</a:t>
            </a:r>
            <a:r>
              <a:rPr sz="750" b="0" i="0">
                <a:solidFill>
                  <a:srgbClr val="56636D"/>
                </a:solidFill>
                <a:latin typeface="Inter"/>
              </a:rPr>
              <a:t> F1, F2</a:t>
            </a:r>
          </a:p>
        </p:txBody>
      </p:sp>
      <p:sp>
        <p:nvSpPr>
          <p:cNvPr id="143" name="k6-fill"/>
          <p:cNvSpPr/>
          <p:nvPr/>
        </p:nvSpPr>
        <p:spPr>
          <a:xfrm>
            <a:off x="8979408" y="3331971"/>
            <a:ext cx="1373124" cy="2834133"/>
          </a:xfrm>
          <a:prstGeom prst="rect">
            <a:avLst/>
          </a:prstGeom>
          <a:solidFill>
            <a:srgbClr val="EEF2F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4" name="k6-l"/>
          <p:cNvSpPr/>
          <p:nvPr/>
        </p:nvSpPr>
        <p:spPr>
          <a:xfrm>
            <a:off x="9079992" y="3432555"/>
            <a:ext cx="880403" cy="2870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ts val="108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sz="900" b="1" i="0">
                <a:solidFill>
                  <a:srgbClr val="17232D"/>
                </a:solidFill>
                <a:latin typeface="Inter"/>
              </a:rPr>
              <a:t>Invoice lines</a:t>
            </a:r>
            <a:br/>
            <a:r>
              <a:rPr sz="900" b="1" i="0">
                <a:solidFill>
                  <a:srgbClr val="17232D"/>
                </a:solidFill>
                <a:latin typeface="Inter"/>
              </a:rPr>
              <a:t>priced right</a:t>
            </a:r>
          </a:p>
        </p:txBody>
      </p:sp>
      <p:sp>
        <p:nvSpPr>
          <p:cNvPr id="145" name="k6-pg"/>
          <p:cNvSpPr/>
          <p:nvPr/>
        </p:nvSpPr>
        <p:spPr>
          <a:xfrm>
            <a:off x="9987827" y="3432555"/>
            <a:ext cx="264121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 marL="0" indent="0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50" b="0" i="0">
                <a:solidFill>
                  <a:srgbClr val="56636D"/>
                </a:solidFill>
                <a:latin typeface="Inter"/>
              </a:rPr>
              <a:t>p. 2</a:t>
            </a:r>
          </a:p>
        </p:txBody>
      </p:sp>
      <p:sp>
        <p:nvSpPr>
          <p:cNvPr id="146" name="k6-v"/>
          <p:cNvSpPr/>
          <p:nvPr/>
        </p:nvSpPr>
        <p:spPr>
          <a:xfrm>
            <a:off x="9079992" y="3770883"/>
            <a:ext cx="1171956" cy="254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000" b="1" i="0">
                <a:solidFill>
                  <a:srgbClr val="0E4D5E"/>
                </a:solidFill>
                <a:latin typeface="Inter"/>
              </a:rPr>
              <a:t>99.5%</a:t>
            </a:r>
          </a:p>
        </p:txBody>
      </p:sp>
      <p:sp>
        <p:nvSpPr>
          <p:cNvPr id="147" name="k6-d"/>
          <p:cNvSpPr/>
          <p:nvPr/>
        </p:nvSpPr>
        <p:spPr>
          <a:xfrm>
            <a:off x="9079992" y="4052315"/>
            <a:ext cx="1171956" cy="1549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ts val="92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sz="800" b="1" i="0">
                <a:solidFill>
                  <a:srgbClr val="0E4D5E"/>
                </a:solidFill>
                <a:latin typeface="Inter"/>
              </a:rPr>
              <a:t>+6.7 pts</a:t>
            </a:r>
            <a:r>
              <a:rPr sz="800" b="0" i="0">
                <a:solidFill>
                  <a:srgbClr val="56636D"/>
                </a:solidFill>
                <a:latin typeface="Inter"/>
              </a:rPr>
              <a:t> from 92.8%</a:t>
            </a:r>
          </a:p>
        </p:txBody>
      </p:sp>
      <p:sp>
        <p:nvSpPr>
          <p:cNvPr id="148" name="k6-y2025"/>
          <p:cNvSpPr/>
          <p:nvPr/>
        </p:nvSpPr>
        <p:spPr>
          <a:xfrm>
            <a:off x="9079992" y="4234687"/>
            <a:ext cx="265176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50" b="0" i="0">
                <a:solidFill>
                  <a:srgbClr val="56636D"/>
                </a:solidFill>
                <a:latin typeface="Inter"/>
              </a:rPr>
              <a:t>FY25</a:t>
            </a:r>
          </a:p>
        </p:txBody>
      </p:sp>
      <p:sp>
        <p:nvSpPr>
          <p:cNvPr id="149" name="k6-b2025"/>
          <p:cNvSpPr/>
          <p:nvPr/>
        </p:nvSpPr>
        <p:spPr>
          <a:xfrm>
            <a:off x="9372600" y="4255261"/>
            <a:ext cx="461948" cy="73152"/>
          </a:xfrm>
          <a:prstGeom prst="rect">
            <a:avLst/>
          </a:prstGeom>
          <a:solidFill>
            <a:srgbClr val="A3AFB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0" name="k6-x2025"/>
          <p:cNvSpPr/>
          <p:nvPr/>
        </p:nvSpPr>
        <p:spPr>
          <a:xfrm>
            <a:off x="9895332" y="4234687"/>
            <a:ext cx="356616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 marL="0" indent="0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50" b="0" i="0">
                <a:solidFill>
                  <a:srgbClr val="56636D"/>
                </a:solidFill>
                <a:latin typeface="Inter"/>
              </a:rPr>
              <a:t>92.8%</a:t>
            </a:r>
          </a:p>
        </p:txBody>
      </p:sp>
      <p:sp>
        <p:nvSpPr>
          <p:cNvPr id="151" name="k6-y2026"/>
          <p:cNvSpPr/>
          <p:nvPr/>
        </p:nvSpPr>
        <p:spPr>
          <a:xfrm>
            <a:off x="9079992" y="4376419"/>
            <a:ext cx="265176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50" b="0" i="0">
                <a:solidFill>
                  <a:srgbClr val="56636D"/>
                </a:solidFill>
                <a:latin typeface="Inter"/>
              </a:rPr>
              <a:t>FY26</a:t>
            </a:r>
          </a:p>
        </p:txBody>
      </p:sp>
      <p:sp>
        <p:nvSpPr>
          <p:cNvPr id="152" name="k6-b2026"/>
          <p:cNvSpPr/>
          <p:nvPr/>
        </p:nvSpPr>
        <p:spPr>
          <a:xfrm>
            <a:off x="9372600" y="4396993"/>
            <a:ext cx="480366" cy="73152"/>
          </a:xfrm>
          <a:prstGeom prst="rect">
            <a:avLst/>
          </a:prstGeom>
          <a:solidFill>
            <a:srgbClr val="7FAAB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3" name="k6-x2026"/>
          <p:cNvSpPr/>
          <p:nvPr/>
        </p:nvSpPr>
        <p:spPr>
          <a:xfrm>
            <a:off x="9895332" y="4376419"/>
            <a:ext cx="356616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 marL="0" indent="0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50" b="0" i="0">
                <a:solidFill>
                  <a:srgbClr val="56636D"/>
                </a:solidFill>
                <a:latin typeface="Inter"/>
              </a:rPr>
              <a:t>96.5%</a:t>
            </a:r>
          </a:p>
        </p:txBody>
      </p:sp>
      <p:sp>
        <p:nvSpPr>
          <p:cNvPr id="154" name="k6-y2027"/>
          <p:cNvSpPr/>
          <p:nvPr/>
        </p:nvSpPr>
        <p:spPr>
          <a:xfrm>
            <a:off x="9079992" y="4518151"/>
            <a:ext cx="265176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50" b="0" i="0">
                <a:solidFill>
                  <a:srgbClr val="56636D"/>
                </a:solidFill>
                <a:latin typeface="Inter"/>
              </a:rPr>
              <a:t>FY27</a:t>
            </a:r>
          </a:p>
        </p:txBody>
      </p:sp>
      <p:sp>
        <p:nvSpPr>
          <p:cNvPr id="155" name="k6-b2027"/>
          <p:cNvSpPr/>
          <p:nvPr/>
        </p:nvSpPr>
        <p:spPr>
          <a:xfrm>
            <a:off x="9372600" y="4538725"/>
            <a:ext cx="491815" cy="73152"/>
          </a:xfrm>
          <a:prstGeom prst="rect">
            <a:avLst/>
          </a:prstGeom>
          <a:solidFill>
            <a:srgbClr val="7FAAB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6" name="k6-x2027"/>
          <p:cNvSpPr/>
          <p:nvPr/>
        </p:nvSpPr>
        <p:spPr>
          <a:xfrm>
            <a:off x="9895332" y="4518151"/>
            <a:ext cx="356616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 marL="0" indent="0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50" b="0" i="0">
                <a:solidFill>
                  <a:srgbClr val="56636D"/>
                </a:solidFill>
                <a:latin typeface="Inter"/>
              </a:rPr>
              <a:t>98.8%</a:t>
            </a:r>
          </a:p>
        </p:txBody>
      </p:sp>
      <p:sp>
        <p:nvSpPr>
          <p:cNvPr id="157" name="k6-y2028"/>
          <p:cNvSpPr/>
          <p:nvPr/>
        </p:nvSpPr>
        <p:spPr>
          <a:xfrm>
            <a:off x="9079992" y="4659883"/>
            <a:ext cx="265176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50" b="0" i="0">
                <a:solidFill>
                  <a:srgbClr val="56636D"/>
                </a:solidFill>
                <a:latin typeface="Inter"/>
              </a:rPr>
              <a:t>FY28</a:t>
            </a:r>
          </a:p>
        </p:txBody>
      </p:sp>
      <p:sp>
        <p:nvSpPr>
          <p:cNvPr id="158" name="k6-b2028"/>
          <p:cNvSpPr/>
          <p:nvPr/>
        </p:nvSpPr>
        <p:spPr>
          <a:xfrm>
            <a:off x="9372600" y="4680457"/>
            <a:ext cx="495300" cy="73152"/>
          </a:xfrm>
          <a:prstGeom prst="rect">
            <a:avLst/>
          </a:prstGeom>
          <a:solidFill>
            <a:srgbClr val="0E4D5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9" name="k6-x2028"/>
          <p:cNvSpPr/>
          <p:nvPr/>
        </p:nvSpPr>
        <p:spPr>
          <a:xfrm>
            <a:off x="9895332" y="4659883"/>
            <a:ext cx="356616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 marL="0" indent="0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50" b="0" i="0">
                <a:solidFill>
                  <a:srgbClr val="0E4D5E"/>
                </a:solidFill>
                <a:latin typeface="Inter"/>
              </a:rPr>
              <a:t>99.5%</a:t>
            </a:r>
          </a:p>
        </p:txBody>
      </p:sp>
      <p:sp>
        <p:nvSpPr>
          <p:cNvPr id="160" name="k6-how"/>
          <p:cNvSpPr/>
          <p:nvPr/>
        </p:nvSpPr>
        <p:spPr>
          <a:xfrm>
            <a:off x="9079992" y="4801615"/>
            <a:ext cx="1171956" cy="967741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ts val="92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sz="800" b="0" i="0">
                <a:solidFill>
                  <a:srgbClr val="17232D"/>
                </a:solidFill>
                <a:latin typeface="Inter"/>
              </a:rPr>
              <a:t>One contract-price</a:t>
            </a:r>
            <a:br/>
            <a:r>
              <a:rPr sz="800" b="0" i="0">
                <a:solidFill>
                  <a:srgbClr val="17232D"/>
                </a:solidFill>
                <a:latin typeface="Inter"/>
              </a:rPr>
              <a:t>master replaces 12</a:t>
            </a:r>
            <a:br/>
            <a:r>
              <a:rPr sz="800" b="0" i="0">
                <a:solidFill>
                  <a:srgbClr val="17232D"/>
                </a:solidFill>
                <a:latin typeface="Inter"/>
              </a:rPr>
              <a:t>hand-kept GPO price</a:t>
            </a:r>
            <a:br/>
            <a:r>
              <a:rPr sz="800" b="0" i="0">
                <a:solidFill>
                  <a:srgbClr val="17232D"/>
                </a:solidFill>
                <a:latin typeface="Inter"/>
              </a:rPr>
              <a:t>lists</a:t>
            </a:r>
          </a:p>
        </p:txBody>
      </p:sp>
      <p:cxnSp>
        <p:nvCxnSpPr>
          <p:cNvPr id="161" name="k6-fr"/>
          <p:cNvCxnSpPr/>
          <p:nvPr/>
        </p:nvCxnSpPr>
        <p:spPr>
          <a:xfrm>
            <a:off x="9079992" y="5803138"/>
            <a:ext cx="1171956" cy="0"/>
          </a:xfrm>
          <a:prstGeom prst="line">
            <a:avLst/>
          </a:prstGeom>
          <a:ln w="12700">
            <a:solidFill>
              <a:srgbClr val="C9D2D8"/>
            </a:solidFill>
          </a:ln>
        </p:spPr>
      </p:cxnSp>
      <p:sp>
        <p:nvSpPr>
          <p:cNvPr id="162" name="k6-own"/>
          <p:cNvSpPr/>
          <p:nvPr/>
        </p:nvSpPr>
        <p:spPr>
          <a:xfrm>
            <a:off x="9079992" y="5836920"/>
            <a:ext cx="1171956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50" b="1" i="0">
                <a:solidFill>
                  <a:srgbClr val="17232D"/>
                </a:solidFill>
                <a:latin typeface="Inter"/>
              </a:rPr>
              <a:t>Owner:</a:t>
            </a:r>
            <a:r>
              <a:rPr sz="750" b="0" i="0">
                <a:solidFill>
                  <a:srgbClr val="56636D"/>
                </a:solidFill>
                <a:latin typeface="Inter"/>
              </a:rPr>
              <a:t> CCO</a:t>
            </a:r>
          </a:p>
          <a:p>
            <a:pPr algn="l" marL="0" indent="0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50" b="1" i="0">
                <a:solidFill>
                  <a:srgbClr val="17232D"/>
                </a:solidFill>
                <a:latin typeface="Inter"/>
              </a:rPr>
              <a:t>Initiatives:</a:t>
            </a:r>
            <a:r>
              <a:rPr sz="750" b="0" i="0">
                <a:solidFill>
                  <a:srgbClr val="56636D"/>
                </a:solidFill>
                <a:latin typeface="Inter"/>
              </a:rPr>
              <a:t> C1</a:t>
            </a:r>
          </a:p>
        </p:txBody>
      </p:sp>
      <p:sp>
        <p:nvSpPr>
          <p:cNvPr id="163" name="k7-fill"/>
          <p:cNvSpPr/>
          <p:nvPr/>
        </p:nvSpPr>
        <p:spPr>
          <a:xfrm>
            <a:off x="10407396" y="3331971"/>
            <a:ext cx="1373124" cy="2834133"/>
          </a:xfrm>
          <a:prstGeom prst="rect">
            <a:avLst/>
          </a:prstGeom>
          <a:solidFill>
            <a:srgbClr val="EEF2F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4" name="k7-l"/>
          <p:cNvSpPr/>
          <p:nvPr/>
        </p:nvSpPr>
        <p:spPr>
          <a:xfrm>
            <a:off x="10507980" y="3432555"/>
            <a:ext cx="880403" cy="2870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ts val="108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sz="900" b="1" i="0">
                <a:solidFill>
                  <a:srgbClr val="17232D"/>
                </a:solidFill>
                <a:latin typeface="Inter"/>
              </a:rPr>
              <a:t>G&amp;A cost, % of</a:t>
            </a:r>
            <a:br/>
            <a:r>
              <a:rPr sz="900" b="1" i="0">
                <a:solidFill>
                  <a:srgbClr val="17232D"/>
                </a:solidFill>
                <a:latin typeface="Inter"/>
              </a:rPr>
              <a:t>revenue</a:t>
            </a:r>
          </a:p>
        </p:txBody>
      </p:sp>
      <p:sp>
        <p:nvSpPr>
          <p:cNvPr id="165" name="k7-pg"/>
          <p:cNvSpPr/>
          <p:nvPr/>
        </p:nvSpPr>
        <p:spPr>
          <a:xfrm>
            <a:off x="11415815" y="3432555"/>
            <a:ext cx="264121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 marL="0" indent="0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50" b="0" i="0">
                <a:solidFill>
                  <a:srgbClr val="56636D"/>
                </a:solidFill>
                <a:latin typeface="Inter"/>
              </a:rPr>
              <a:t>p. 7</a:t>
            </a:r>
          </a:p>
        </p:txBody>
      </p:sp>
      <p:sp>
        <p:nvSpPr>
          <p:cNvPr id="166" name="k7-v"/>
          <p:cNvSpPr/>
          <p:nvPr/>
        </p:nvSpPr>
        <p:spPr>
          <a:xfrm>
            <a:off x="10507980" y="3770883"/>
            <a:ext cx="1171956" cy="254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000" b="1" i="0">
                <a:solidFill>
                  <a:srgbClr val="0E4D5E"/>
                </a:solidFill>
                <a:latin typeface="Inter"/>
              </a:rPr>
              <a:t>9.4%</a:t>
            </a:r>
          </a:p>
        </p:txBody>
      </p:sp>
      <p:sp>
        <p:nvSpPr>
          <p:cNvPr id="167" name="k7-d"/>
          <p:cNvSpPr/>
          <p:nvPr/>
        </p:nvSpPr>
        <p:spPr>
          <a:xfrm>
            <a:off x="10507980" y="4052315"/>
            <a:ext cx="1171956" cy="1549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ts val="92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sz="800" b="1" i="0">
                <a:solidFill>
                  <a:srgbClr val="0E4D5E"/>
                </a:solidFill>
                <a:latin typeface="Inter"/>
              </a:rPr>
              <a:t>-2.2 pts</a:t>
            </a:r>
            <a:r>
              <a:rPr sz="800" b="0" i="0">
                <a:solidFill>
                  <a:srgbClr val="56636D"/>
                </a:solidFill>
                <a:latin typeface="Inter"/>
              </a:rPr>
              <a:t> from 11.6%</a:t>
            </a:r>
          </a:p>
        </p:txBody>
      </p:sp>
      <p:sp>
        <p:nvSpPr>
          <p:cNvPr id="168" name="k7-y2025"/>
          <p:cNvSpPr/>
          <p:nvPr/>
        </p:nvSpPr>
        <p:spPr>
          <a:xfrm>
            <a:off x="10507980" y="4234687"/>
            <a:ext cx="265176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50" b="0" i="0">
                <a:solidFill>
                  <a:srgbClr val="56636D"/>
                </a:solidFill>
                <a:latin typeface="Inter"/>
              </a:rPr>
              <a:t>FY25</a:t>
            </a:r>
          </a:p>
        </p:txBody>
      </p:sp>
      <p:sp>
        <p:nvSpPr>
          <p:cNvPr id="169" name="k7-b2025"/>
          <p:cNvSpPr/>
          <p:nvPr/>
        </p:nvSpPr>
        <p:spPr>
          <a:xfrm>
            <a:off x="10800588" y="4255261"/>
            <a:ext cx="495300" cy="73152"/>
          </a:xfrm>
          <a:prstGeom prst="rect">
            <a:avLst/>
          </a:prstGeom>
          <a:solidFill>
            <a:srgbClr val="A3AFB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0" name="k7-x2025"/>
          <p:cNvSpPr/>
          <p:nvPr/>
        </p:nvSpPr>
        <p:spPr>
          <a:xfrm>
            <a:off x="11323320" y="4234687"/>
            <a:ext cx="356616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 marL="0" indent="0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50" b="0" i="0">
                <a:solidFill>
                  <a:srgbClr val="56636D"/>
                </a:solidFill>
                <a:latin typeface="Inter"/>
              </a:rPr>
              <a:t>11.6%</a:t>
            </a:r>
          </a:p>
        </p:txBody>
      </p:sp>
      <p:sp>
        <p:nvSpPr>
          <p:cNvPr id="171" name="k7-y2026"/>
          <p:cNvSpPr/>
          <p:nvPr/>
        </p:nvSpPr>
        <p:spPr>
          <a:xfrm>
            <a:off x="10507980" y="4376419"/>
            <a:ext cx="265176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50" b="0" i="0">
                <a:solidFill>
                  <a:srgbClr val="56636D"/>
                </a:solidFill>
                <a:latin typeface="Inter"/>
              </a:rPr>
              <a:t>FY26</a:t>
            </a:r>
          </a:p>
        </p:txBody>
      </p:sp>
      <p:sp>
        <p:nvSpPr>
          <p:cNvPr id="172" name="k7-b2026"/>
          <p:cNvSpPr/>
          <p:nvPr/>
        </p:nvSpPr>
        <p:spPr>
          <a:xfrm>
            <a:off x="10800588" y="4396993"/>
            <a:ext cx="473951" cy="73152"/>
          </a:xfrm>
          <a:prstGeom prst="rect">
            <a:avLst/>
          </a:prstGeom>
          <a:solidFill>
            <a:srgbClr val="7FAAB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3" name="k7-x2026"/>
          <p:cNvSpPr/>
          <p:nvPr/>
        </p:nvSpPr>
        <p:spPr>
          <a:xfrm>
            <a:off x="11323320" y="4376419"/>
            <a:ext cx="356616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 marL="0" indent="0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50" b="0" i="0">
                <a:solidFill>
                  <a:srgbClr val="56636D"/>
                </a:solidFill>
                <a:latin typeface="Inter"/>
              </a:rPr>
              <a:t>11.1%</a:t>
            </a:r>
          </a:p>
        </p:txBody>
      </p:sp>
      <p:sp>
        <p:nvSpPr>
          <p:cNvPr id="174" name="k7-y2027"/>
          <p:cNvSpPr/>
          <p:nvPr/>
        </p:nvSpPr>
        <p:spPr>
          <a:xfrm>
            <a:off x="10507980" y="4518151"/>
            <a:ext cx="265176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50" b="0" i="0">
                <a:solidFill>
                  <a:srgbClr val="56636D"/>
                </a:solidFill>
                <a:latin typeface="Inter"/>
              </a:rPr>
              <a:t>FY27</a:t>
            </a:r>
          </a:p>
        </p:txBody>
      </p:sp>
      <p:sp>
        <p:nvSpPr>
          <p:cNvPr id="175" name="k7-b2027"/>
          <p:cNvSpPr/>
          <p:nvPr/>
        </p:nvSpPr>
        <p:spPr>
          <a:xfrm>
            <a:off x="10800588" y="4538725"/>
            <a:ext cx="435522" cy="73152"/>
          </a:xfrm>
          <a:prstGeom prst="rect">
            <a:avLst/>
          </a:prstGeom>
          <a:solidFill>
            <a:srgbClr val="7FAAB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6" name="k7-x2027"/>
          <p:cNvSpPr/>
          <p:nvPr/>
        </p:nvSpPr>
        <p:spPr>
          <a:xfrm>
            <a:off x="11323320" y="4518151"/>
            <a:ext cx="356616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 marL="0" indent="0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50" b="0" i="0">
                <a:solidFill>
                  <a:srgbClr val="56636D"/>
                </a:solidFill>
                <a:latin typeface="Inter"/>
              </a:rPr>
              <a:t>10.2%</a:t>
            </a:r>
          </a:p>
        </p:txBody>
      </p:sp>
      <p:sp>
        <p:nvSpPr>
          <p:cNvPr id="177" name="k7-y2028"/>
          <p:cNvSpPr/>
          <p:nvPr/>
        </p:nvSpPr>
        <p:spPr>
          <a:xfrm>
            <a:off x="10507980" y="4659883"/>
            <a:ext cx="265176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50" b="0" i="0">
                <a:solidFill>
                  <a:srgbClr val="56636D"/>
                </a:solidFill>
                <a:latin typeface="Inter"/>
              </a:rPr>
              <a:t>FY28</a:t>
            </a:r>
          </a:p>
        </p:txBody>
      </p:sp>
      <p:sp>
        <p:nvSpPr>
          <p:cNvPr id="178" name="k7-b2028"/>
          <p:cNvSpPr/>
          <p:nvPr/>
        </p:nvSpPr>
        <p:spPr>
          <a:xfrm>
            <a:off x="10800588" y="4680457"/>
            <a:ext cx="401364" cy="73152"/>
          </a:xfrm>
          <a:prstGeom prst="rect">
            <a:avLst/>
          </a:prstGeom>
          <a:solidFill>
            <a:srgbClr val="0E4D5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9" name="k7-x2028"/>
          <p:cNvSpPr/>
          <p:nvPr/>
        </p:nvSpPr>
        <p:spPr>
          <a:xfrm>
            <a:off x="11323320" y="4659883"/>
            <a:ext cx="356616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 marL="0" indent="0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50" b="0" i="0">
                <a:solidFill>
                  <a:srgbClr val="0E4D5E"/>
                </a:solidFill>
                <a:latin typeface="Inter"/>
              </a:rPr>
              <a:t>9.4%</a:t>
            </a:r>
          </a:p>
        </p:txBody>
      </p:sp>
      <p:sp>
        <p:nvSpPr>
          <p:cNvPr id="180" name="k7-how"/>
          <p:cNvSpPr/>
          <p:nvPr/>
        </p:nvSpPr>
        <p:spPr>
          <a:xfrm>
            <a:off x="10507980" y="4801615"/>
            <a:ext cx="1171956" cy="967741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ts val="92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sz="800" b="0" i="0">
                <a:solidFill>
                  <a:srgbClr val="17232D"/>
                </a:solidFill>
                <a:latin typeface="Inter"/>
              </a:rPr>
              <a:t>Brno hub, 190 fewer</a:t>
            </a:r>
            <a:br/>
            <a:r>
              <a:rPr sz="800" b="0" i="0">
                <a:solidFill>
                  <a:srgbClr val="17232D"/>
                </a:solidFill>
                <a:latin typeface="Inter"/>
              </a:rPr>
              <a:t>G&amp;A roles and two</a:t>
            </a:r>
            <a:br/>
            <a:r>
              <a:rPr sz="800" b="0" i="0">
                <a:solidFill>
                  <a:srgbClr val="17232D"/>
                </a:solidFill>
                <a:latin typeface="Inter"/>
              </a:rPr>
              <a:t>fewer management</a:t>
            </a:r>
            <a:br/>
            <a:r>
              <a:rPr sz="800" b="0" i="0">
                <a:solidFill>
                  <a:srgbClr val="17232D"/>
                </a:solidFill>
                <a:latin typeface="Inter"/>
              </a:rPr>
              <a:t>layers</a:t>
            </a:r>
          </a:p>
        </p:txBody>
      </p:sp>
      <p:cxnSp>
        <p:nvCxnSpPr>
          <p:cNvPr id="181" name="k7-fr"/>
          <p:cNvCxnSpPr/>
          <p:nvPr/>
        </p:nvCxnSpPr>
        <p:spPr>
          <a:xfrm>
            <a:off x="10507980" y="5803138"/>
            <a:ext cx="1171956" cy="0"/>
          </a:xfrm>
          <a:prstGeom prst="line">
            <a:avLst/>
          </a:prstGeom>
          <a:ln w="12700">
            <a:solidFill>
              <a:srgbClr val="C9D2D8"/>
            </a:solidFill>
          </a:ln>
        </p:spPr>
      </p:cxnSp>
      <p:sp>
        <p:nvSpPr>
          <p:cNvPr id="182" name="k7-own"/>
          <p:cNvSpPr/>
          <p:nvPr/>
        </p:nvSpPr>
        <p:spPr>
          <a:xfrm>
            <a:off x="10507980" y="5836920"/>
            <a:ext cx="1171956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50" b="1" i="0">
                <a:solidFill>
                  <a:srgbClr val="17232D"/>
                </a:solidFill>
                <a:latin typeface="Inter"/>
              </a:rPr>
              <a:t>Owner:</a:t>
            </a:r>
            <a:r>
              <a:rPr sz="750" b="0" i="0">
                <a:solidFill>
                  <a:srgbClr val="56636D"/>
                </a:solidFill>
                <a:latin typeface="Inter"/>
              </a:rPr>
              <a:t> CFO</a:t>
            </a:r>
          </a:p>
          <a:p>
            <a:pPr algn="l" marL="0" indent="0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50" b="1" i="0">
                <a:solidFill>
                  <a:srgbClr val="17232D"/>
                </a:solidFill>
                <a:latin typeface="Inter"/>
              </a:rPr>
              <a:t>Initiatives:</a:t>
            </a:r>
            <a:r>
              <a:rPr sz="750" b="0" i="0">
                <a:solidFill>
                  <a:srgbClr val="56636D"/>
                </a:solidFill>
                <a:latin typeface="Inter"/>
              </a:rPr>
              <a:t> O1, O2</a:t>
            </a:r>
          </a:p>
        </p:txBody>
      </p:sp>
      <p:sp>
        <p:nvSpPr>
          <p:cNvPr id="183" name="source"/>
          <p:cNvSpPr/>
          <p:nvPr/>
        </p:nvSpPr>
        <p:spPr>
          <a:xfrm>
            <a:off x="411480" y="6266688"/>
            <a:ext cx="11369040" cy="1066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ts val="8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00" b="0" i="0">
                <a:solidFill>
                  <a:srgbClr val="56636D"/>
                </a:solidFill>
                <a:latin typeface="Inter"/>
              </a:rPr>
              <a:t>Source: Corrin Medical management accounts and transformation plan; FY2025 is eleven months actual and a December forecast. All figures are illustrative, invented for a fictional company.</a:t>
            </a:r>
          </a:p>
        </p:txBody>
      </p:sp>
    </p:spTree>
    <p:custDataLst>
      <p:tags r:id="rId3"/>
    </p:custDataLst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cxnSp>
        <p:nvCxnSpPr>
          <p:cNvPr id="62" name="chrome-1"/>
          <p:cNvCxnSpPr/>
          <p:nvPr/>
        </p:nvCxnSpPr>
        <p:spPr>
          <a:xfrm>
            <a:off x="411480" y="1037843"/>
            <a:ext cx="11368735" cy="0"/>
          </a:xfrm>
          <a:prstGeom prst="line">
            <a:avLst/>
          </a:prstGeom>
          <a:ln w="12700">
            <a:solidFill>
              <a:srgbClr val="0E4D5E"/>
            </a:solidFill>
          </a:ln>
        </p:spPr>
      </p:cxnSp>
      <p:cxnSp>
        <p:nvCxnSpPr>
          <p:cNvPr id="63" name="chrome-2"/>
          <p:cNvCxnSpPr/>
          <p:nvPr/>
        </p:nvCxnSpPr>
        <p:spPr>
          <a:xfrm>
            <a:off x="411480" y="6405372"/>
            <a:ext cx="11368735" cy="0"/>
          </a:xfrm>
          <a:prstGeom prst="line">
            <a:avLst/>
          </a:prstGeom>
          <a:ln w="6350">
            <a:solidFill>
              <a:srgbClr val="C9D2D8"/>
            </a:solidFill>
          </a:ln>
        </p:spPr>
      </p:cxnSp>
      <p:pic>
        <p:nvPicPr>
          <p:cNvPr id="64" name="chrome-3" descr="corrin-mark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411480" y="6473952"/>
            <a:ext cx="201168" cy="201168"/>
          </a:xfrm>
          <a:prstGeom prst="rect">
            <a:avLst/>
          </a:prstGeom>
        </p:spPr>
      </p:pic>
      <p:sp>
        <p:nvSpPr>
          <p:cNvPr id="65" name="chrome-4"/>
          <p:cNvSpPr txBox="1"/>
          <p:nvPr/>
        </p:nvSpPr>
        <p:spPr>
          <a:xfrm>
            <a:off x="658368" y="6492240"/>
            <a:ext cx="1188720" cy="164592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r>
              <a:rPr sz="900" b="1">
                <a:solidFill>
                  <a:srgbClr val="0E4D5E"/>
                </a:solidFill>
                <a:latin typeface="Inter"/>
              </a:rPr>
              <a:t>Corrin Medical</a:t>
            </a:r>
          </a:p>
        </p:txBody>
      </p:sp>
      <p:sp>
        <p:nvSpPr>
          <p:cNvPr id="66" name="chrome-5"/>
          <p:cNvSpPr txBox="1"/>
          <p:nvPr/>
        </p:nvSpPr>
        <p:spPr>
          <a:xfrm>
            <a:off x="1920240" y="6510528"/>
            <a:ext cx="8229600" cy="1524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r"/>
            <a:r>
              <a:rPr sz="700" b="0">
                <a:solidFill>
                  <a:srgbClr val="56636D"/>
                </a:solidFill>
                <a:latin typeface="Inter"/>
              </a:rPr>
              <a:t>Board of Directors  |  Corrin 2028 operating transformation  |  18 December 2025  |  Illustrative figures for a fictional company</a:t>
            </a:r>
          </a:p>
        </p:txBody>
      </p:sp>
      <p:sp>
        <p:nvSpPr>
          <p:cNvPr id="67" name="chrome-6"/>
          <p:cNvSpPr txBox="1"/>
          <p:nvPr/>
        </p:nvSpPr>
        <p:spPr>
          <a:xfrm>
            <a:off x="11323015" y="6510528"/>
            <a:ext cx="457200" cy="1524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r"/>
            <a:fld id="{B6F15528-21DE-4FAA-801E-634DDDAF5B2F}" type="slidenum">
              <a:rPr sz="700">
                <a:solidFill>
                  <a:srgbClr val="56636D"/>
                </a:solidFill>
                <a:latin typeface="Inter"/>
              </a:rPr>
              <a:t>1</a:t>
            </a:fld>
          </a:p>
        </p:txBody>
      </p:sp>
      <p:sp>
        <p:nvSpPr>
          <p:cNvPr id="3" name="kicker"/>
          <p:cNvSpPr/>
          <p:nvPr/>
        </p:nvSpPr>
        <p:spPr>
          <a:xfrm>
            <a:off x="411480" y="543305"/>
            <a:ext cx="11369040" cy="1219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ts val="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00" b="1" i="0" spc="50">
                <a:solidFill>
                  <a:srgbClr val="0E4D5E"/>
                </a:solidFill>
                <a:latin typeface="Inter"/>
              </a:rPr>
              <a:t>DIAGNOSIS  |  ORDER TO CASH</a:t>
            </a:r>
          </a:p>
        </p:txBody>
      </p:sp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411480" y="692657"/>
            <a:ext cx="11369040" cy="240030"/>
          </a:xfrm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1" i="0">
                <a:solidFill>
                  <a:srgbClr val="17232D"/>
                </a:solidFill>
                <a:latin typeface="Inter"/>
              </a:rPr>
              <a:t>Order-to-cash takes 70 days, 25 beyond contract terms; six pain points cost $28m a year</a:t>
            </a:r>
          </a:p>
        </p:txBody>
      </p:sp>
      <p:sp>
        <p:nvSpPr>
          <p:cNvPr id="4" name="flow-h"/>
          <p:cNvSpPr/>
          <p:nvPr/>
        </p:nvSpPr>
        <p:spPr>
          <a:xfrm>
            <a:off x="411480" y="1133855"/>
            <a:ext cx="11369040" cy="1600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ts val="12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 b="1" i="0">
                <a:solidFill>
                  <a:srgbClr val="0E4D5E"/>
                </a:solidFill>
                <a:latin typeface="Inter"/>
              </a:rPr>
              <a:t>The cycle today: seven steps, 70 days from order to cash, 58.8 of them in Collect</a:t>
            </a:r>
          </a:p>
        </p:txBody>
      </p:sp>
      <p:sp>
        <p:nvSpPr>
          <p:cNvPr id="5" name="flow-u"/>
          <p:cNvSpPr/>
          <p:nvPr/>
        </p:nvSpPr>
        <p:spPr>
          <a:xfrm>
            <a:off x="411480" y="1321307"/>
            <a:ext cx="1136904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50" b="0" i="0">
                <a:solidFill>
                  <a:srgbClr val="56636D"/>
                </a:solidFill>
                <a:latin typeface="Inter"/>
              </a:rPr>
              <a:t>Average days per order and the share of orders handled by hand at each step; FY2028 target in petrol; the dominant step in orange</a:t>
            </a:r>
          </a:p>
        </p:txBody>
      </p:sp>
      <p:sp>
        <p:nvSpPr>
          <p:cNvPr id="6" name="st1-fill"/>
          <p:cNvSpPr/>
          <p:nvPr/>
        </p:nvSpPr>
        <p:spPr>
          <a:xfrm>
            <a:off x="2075242" y="1463039"/>
            <a:ext cx="1386469" cy="283464"/>
          </a:xfrm>
          <a:prstGeom prst="homePlate">
            <a:avLst/>
          </a:prstGeom>
          <a:solidFill>
            <a:srgbClr val="0E4D5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1-t"/>
          <p:cNvSpPr/>
          <p:nvPr/>
        </p:nvSpPr>
        <p:spPr>
          <a:xfrm>
            <a:off x="2175826" y="1490471"/>
            <a:ext cx="1121293" cy="2286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 marL="0" indent="0">
              <a:lnSpc>
                <a:spcPts val="8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00" b="1" i="0">
                <a:solidFill>
                  <a:srgbClr val="FFFFFF"/>
                </a:solidFill>
                <a:latin typeface="Inter"/>
              </a:rPr>
              <a:t>1  Capture order</a:t>
            </a:r>
          </a:p>
        </p:txBody>
      </p:sp>
      <p:sp>
        <p:nvSpPr>
          <p:cNvPr id="8" name="st2-fill"/>
          <p:cNvSpPr/>
          <p:nvPr/>
        </p:nvSpPr>
        <p:spPr>
          <a:xfrm>
            <a:off x="3461711" y="1463039"/>
            <a:ext cx="1386469" cy="283464"/>
          </a:xfrm>
          <a:prstGeom prst="chevron">
            <a:avLst/>
          </a:prstGeom>
          <a:solidFill>
            <a:srgbClr val="0E4D5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2-t"/>
          <p:cNvSpPr/>
          <p:nvPr/>
        </p:nvSpPr>
        <p:spPr>
          <a:xfrm>
            <a:off x="3626303" y="1490471"/>
            <a:ext cx="1057285" cy="2286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 marL="0" indent="0">
              <a:lnSpc>
                <a:spcPts val="8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00" b="1" i="0">
                <a:solidFill>
                  <a:srgbClr val="FFFFFF"/>
                </a:solidFill>
                <a:latin typeface="Inter"/>
              </a:rPr>
              <a:t>2  Price and credit</a:t>
            </a:r>
          </a:p>
        </p:txBody>
      </p:sp>
      <p:sp>
        <p:nvSpPr>
          <p:cNvPr id="10" name="st3-fill"/>
          <p:cNvSpPr/>
          <p:nvPr/>
        </p:nvSpPr>
        <p:spPr>
          <a:xfrm>
            <a:off x="4848180" y="1463039"/>
            <a:ext cx="1386468" cy="283464"/>
          </a:xfrm>
          <a:prstGeom prst="chevron">
            <a:avLst/>
          </a:prstGeom>
          <a:solidFill>
            <a:srgbClr val="0E4D5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st3-t"/>
          <p:cNvSpPr/>
          <p:nvPr/>
        </p:nvSpPr>
        <p:spPr>
          <a:xfrm>
            <a:off x="5012772" y="1490471"/>
            <a:ext cx="1057284" cy="2286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 marL="0" indent="0">
              <a:lnSpc>
                <a:spcPts val="8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00" b="1" i="0">
                <a:solidFill>
                  <a:srgbClr val="FFFFFF"/>
                </a:solidFill>
                <a:latin typeface="Inter"/>
              </a:rPr>
              <a:t>3  Allocate and pick</a:t>
            </a:r>
          </a:p>
        </p:txBody>
      </p:sp>
      <p:sp>
        <p:nvSpPr>
          <p:cNvPr id="12" name="st4-fill"/>
          <p:cNvSpPr/>
          <p:nvPr/>
        </p:nvSpPr>
        <p:spPr>
          <a:xfrm>
            <a:off x="6234648" y="1463039"/>
            <a:ext cx="1386468" cy="283464"/>
          </a:xfrm>
          <a:prstGeom prst="chevron">
            <a:avLst/>
          </a:prstGeom>
          <a:solidFill>
            <a:srgbClr val="0E4D5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st4-t"/>
          <p:cNvSpPr/>
          <p:nvPr/>
        </p:nvSpPr>
        <p:spPr>
          <a:xfrm>
            <a:off x="6399240" y="1490471"/>
            <a:ext cx="1057284" cy="2286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 marL="0" indent="0">
              <a:lnSpc>
                <a:spcPts val="8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00" b="1" i="0">
                <a:solidFill>
                  <a:srgbClr val="FFFFFF"/>
                </a:solidFill>
                <a:latin typeface="Inter"/>
              </a:rPr>
              <a:t>4  Ship, confirm use</a:t>
            </a:r>
          </a:p>
        </p:txBody>
      </p:sp>
      <p:sp>
        <p:nvSpPr>
          <p:cNvPr id="14" name="st5-fill"/>
          <p:cNvSpPr/>
          <p:nvPr/>
        </p:nvSpPr>
        <p:spPr>
          <a:xfrm>
            <a:off x="7621116" y="1463039"/>
            <a:ext cx="1386468" cy="283464"/>
          </a:xfrm>
          <a:prstGeom prst="chevron">
            <a:avLst/>
          </a:prstGeom>
          <a:solidFill>
            <a:srgbClr val="0E4D5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st5-t"/>
          <p:cNvSpPr/>
          <p:nvPr/>
        </p:nvSpPr>
        <p:spPr>
          <a:xfrm>
            <a:off x="7785708" y="1490471"/>
            <a:ext cx="1057284" cy="2286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 marL="0" indent="0">
              <a:lnSpc>
                <a:spcPts val="8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00" b="1" i="0">
                <a:solidFill>
                  <a:srgbClr val="FFFFFF"/>
                </a:solidFill>
                <a:latin typeface="Inter"/>
              </a:rPr>
              <a:t>5  Invoice</a:t>
            </a:r>
          </a:p>
        </p:txBody>
      </p:sp>
      <p:sp>
        <p:nvSpPr>
          <p:cNvPr id="16" name="st6-fill"/>
          <p:cNvSpPr/>
          <p:nvPr/>
        </p:nvSpPr>
        <p:spPr>
          <a:xfrm>
            <a:off x="9007584" y="1463039"/>
            <a:ext cx="1386468" cy="283464"/>
          </a:xfrm>
          <a:prstGeom prst="chevron">
            <a:avLst/>
          </a:prstGeom>
          <a:solidFill>
            <a:srgbClr val="C4541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st6-t"/>
          <p:cNvSpPr/>
          <p:nvPr/>
        </p:nvSpPr>
        <p:spPr>
          <a:xfrm>
            <a:off x="9172176" y="1490471"/>
            <a:ext cx="1057284" cy="2286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 marL="0" indent="0">
              <a:lnSpc>
                <a:spcPts val="8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00" b="1" i="0">
                <a:solidFill>
                  <a:srgbClr val="FFFFFF"/>
                </a:solidFill>
                <a:latin typeface="Inter"/>
              </a:rPr>
              <a:t>6  Collect</a:t>
            </a:r>
          </a:p>
        </p:txBody>
      </p:sp>
      <p:sp>
        <p:nvSpPr>
          <p:cNvPr id="18" name="st7-fill"/>
          <p:cNvSpPr/>
          <p:nvPr/>
        </p:nvSpPr>
        <p:spPr>
          <a:xfrm>
            <a:off x="10394052" y="1463039"/>
            <a:ext cx="1386468" cy="283464"/>
          </a:xfrm>
          <a:prstGeom prst="chevron">
            <a:avLst/>
          </a:prstGeom>
          <a:solidFill>
            <a:srgbClr val="0E4D5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st7-t"/>
          <p:cNvSpPr/>
          <p:nvPr/>
        </p:nvSpPr>
        <p:spPr>
          <a:xfrm>
            <a:off x="10558644" y="1490471"/>
            <a:ext cx="1057284" cy="2286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 marL="0" indent="0">
              <a:lnSpc>
                <a:spcPts val="8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00" b="1" i="0">
                <a:solidFill>
                  <a:srgbClr val="FFFFFF"/>
                </a:solidFill>
                <a:latin typeface="Inter"/>
              </a:rPr>
              <a:t>7  Apply cash</a:t>
            </a:r>
          </a:p>
        </p:txBody>
      </p:sp>
      <p:pic>
        <p:nvPicPr>
          <p:cNvPr id="20" name="ic1" descr="image.pn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31316" y="1773935"/>
            <a:ext cx="274320" cy="274320"/>
          </a:xfrm>
          <a:prstGeom prst="rect">
            <a:avLst/>
          </a:prstGeom>
        </p:spPr>
      </p:pic>
      <p:pic>
        <p:nvPicPr>
          <p:cNvPr id="21" name="ic2" descr="image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017785" y="1773935"/>
            <a:ext cx="274320" cy="274320"/>
          </a:xfrm>
          <a:prstGeom prst="rect">
            <a:avLst/>
          </a:prstGeom>
        </p:spPr>
      </p:pic>
      <p:pic>
        <p:nvPicPr>
          <p:cNvPr id="22" name="ic3" descr="image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404254" y="1773935"/>
            <a:ext cx="274320" cy="274320"/>
          </a:xfrm>
          <a:prstGeom prst="rect">
            <a:avLst/>
          </a:prstGeom>
        </p:spPr>
      </p:pic>
      <p:pic>
        <p:nvPicPr>
          <p:cNvPr id="23" name="ic4" descr="image.png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790722" y="1773935"/>
            <a:ext cx="274320" cy="274320"/>
          </a:xfrm>
          <a:prstGeom prst="rect">
            <a:avLst/>
          </a:prstGeom>
        </p:spPr>
      </p:pic>
      <p:pic>
        <p:nvPicPr>
          <p:cNvPr id="24" name="ic5" descr="image.png"/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8177190" y="1773935"/>
            <a:ext cx="274320" cy="274320"/>
          </a:xfrm>
          <a:prstGeom prst="rect">
            <a:avLst/>
          </a:prstGeom>
        </p:spPr>
      </p:pic>
      <p:pic>
        <p:nvPicPr>
          <p:cNvPr id="25" name="ic6" descr="image.png"/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9563658" y="1773935"/>
            <a:ext cx="274320" cy="274320"/>
          </a:xfrm>
          <a:prstGeom prst="rect">
            <a:avLst/>
          </a:prstGeom>
        </p:spPr>
      </p:pic>
      <p:pic>
        <p:nvPicPr>
          <p:cNvPr id="26" name="ic7" descr="image.png"/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10950126" y="1773935"/>
            <a:ext cx="274320" cy="274320"/>
          </a:xfrm>
          <a:prstGeom prst="rect">
            <a:avLst/>
          </a:prstGeom>
        </p:spPr>
      </p:pic>
      <p:graphicFrame>
        <p:nvGraphicFramePr>
          <p:cNvPr id="27" name="metrics"/>
          <p:cNvGraphicFramePr>
            <a:graphicFrameLocks noGrp="1"/>
          </p:cNvGraphicFramePr>
          <p:nvPr/>
        </p:nvGraphicFramePr>
        <p:xfrm>
          <a:off x="411480" y="2075687"/>
          <a:ext cx="11369040" cy="847090"/>
        </p:xfrm>
        <a:graphic>
          <a:graphicData uri="http://schemas.openxmlformats.org/drawingml/2006/table">
            <a:tbl>
              <a:tblPr firstRow="0" bandRow="0" lastRow="0" firstCol="0" lastCol="0" bandCol="0"/>
              <a:tblGrid>
                <a:gridCol w="1663764"/>
                <a:gridCol w="1386468"/>
                <a:gridCol w="1386468"/>
                <a:gridCol w="1386468"/>
                <a:gridCol w="1386468"/>
                <a:gridCol w="1386468"/>
                <a:gridCol w="1386468"/>
                <a:gridCol w="1386468"/>
              </a:tblGrid>
              <a:tr h="169418">
                <a:tc>
                  <a:txBody>
                    <a:bodyPr wrap="square"/>
                    <a:lstStyle/>
                    <a:p>
                      <a:pPr algn="ctr"/>
                      <a:r>
                        <a:rPr sz="750" b="1" i="0">
                          <a:solidFill>
                            <a:srgbClr val="0E4D5E"/>
                          </a:solidFill>
                          <a:latin typeface="Inter"/>
                        </a:rPr>
                        <a:t>Per order</a:t>
                      </a:r>
                      <a:endParaRPr sz="750" b="1" i="0">
                        <a:solidFill>
                          <a:srgbClr val="0E4D5E"/>
                        </a:solidFill>
                        <a:latin typeface="Inter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0E4D5E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endParaRPr sz="750" b="1" i="0">
                        <a:solidFill>
                          <a:srgbClr val="0E4D5E"/>
                        </a:solidFill>
                        <a:latin typeface="Inter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0E4D5E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endParaRPr sz="750" b="1" i="0">
                        <a:solidFill>
                          <a:srgbClr val="0E4D5E"/>
                        </a:solidFill>
                        <a:latin typeface="Inter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0E4D5E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endParaRPr sz="750" b="1" i="0">
                        <a:solidFill>
                          <a:srgbClr val="0E4D5E"/>
                        </a:solidFill>
                        <a:latin typeface="Inter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0E4D5E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endParaRPr sz="750" b="1" i="0">
                        <a:solidFill>
                          <a:srgbClr val="0E4D5E"/>
                        </a:solidFill>
                        <a:latin typeface="Inter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0E4D5E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endParaRPr sz="750" b="1" i="0">
                        <a:solidFill>
                          <a:srgbClr val="0E4D5E"/>
                        </a:solidFill>
                        <a:latin typeface="Inter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0E4D5E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endParaRPr sz="750" b="1" i="0">
                        <a:solidFill>
                          <a:srgbClr val="0E4D5E"/>
                        </a:solidFill>
                        <a:latin typeface="Inter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0E4D5E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endParaRPr sz="750" b="1" i="0">
                        <a:solidFill>
                          <a:srgbClr val="0E4D5E"/>
                        </a:solidFill>
                        <a:latin typeface="Inter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0E4D5E"/>
                      </a:solidFill>
                    </a:lnB>
                    <a:noFill/>
                  </a:tcPr>
                </a:tc>
              </a:tr>
              <a:tr h="169418">
                <a:tc>
                  <a:txBody>
                    <a:bodyPr wrap="square"/>
                    <a:lstStyle/>
                    <a:p>
                      <a:pPr algn="l"/>
                      <a:r>
                        <a:rPr sz="750" b="0" i="0">
                          <a:solidFill>
                            <a:srgbClr val="17232D"/>
                          </a:solidFill>
                          <a:latin typeface="Inter"/>
                        </a:rPr>
                        <a:t>Days, FY2025</a:t>
                      </a:r>
                      <a:endParaRPr sz="750" b="0" i="0">
                        <a:solidFill>
                          <a:srgbClr val="17232D"/>
                        </a:solidFill>
                        <a:latin typeface="Inter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rgbClr val="0E4D5E"/>
                      </a:solidFill>
                    </a:lnT>
                    <a:lnB w="6350">
                      <a:solidFill>
                        <a:srgbClr val="C9D2D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 i="0">
                          <a:solidFill>
                            <a:srgbClr val="17232D"/>
                          </a:solidFill>
                          <a:latin typeface="Inter"/>
                        </a:rPr>
                        <a:t>0.9</a:t>
                      </a:r>
                      <a:endParaRPr sz="750" b="0" i="0">
                        <a:solidFill>
                          <a:srgbClr val="17232D"/>
                        </a:solidFill>
                        <a:latin typeface="Inter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rgbClr val="0E4D5E"/>
                      </a:solidFill>
                    </a:lnT>
                    <a:lnB w="6350">
                      <a:solidFill>
                        <a:srgbClr val="C9D2D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 i="0">
                          <a:solidFill>
                            <a:srgbClr val="17232D"/>
                          </a:solidFill>
                          <a:latin typeface="Inter"/>
                        </a:rPr>
                        <a:t>1.6</a:t>
                      </a:r>
                      <a:endParaRPr sz="750" b="0" i="0">
                        <a:solidFill>
                          <a:srgbClr val="17232D"/>
                        </a:solidFill>
                        <a:latin typeface="Inter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rgbClr val="0E4D5E"/>
                      </a:solidFill>
                    </a:lnT>
                    <a:lnB w="6350">
                      <a:solidFill>
                        <a:srgbClr val="C9D2D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 i="0">
                          <a:solidFill>
                            <a:srgbClr val="17232D"/>
                          </a:solidFill>
                          <a:latin typeface="Inter"/>
                        </a:rPr>
                        <a:t>1.2</a:t>
                      </a:r>
                      <a:endParaRPr sz="750" b="0" i="0">
                        <a:solidFill>
                          <a:srgbClr val="17232D"/>
                        </a:solidFill>
                        <a:latin typeface="Inter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rgbClr val="0E4D5E"/>
                      </a:solidFill>
                    </a:lnT>
                    <a:lnB w="6350">
                      <a:solidFill>
                        <a:srgbClr val="C9D2D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 i="0">
                          <a:solidFill>
                            <a:srgbClr val="17232D"/>
                          </a:solidFill>
                          <a:latin typeface="Inter"/>
                        </a:rPr>
                        <a:t>3.1</a:t>
                      </a:r>
                      <a:endParaRPr sz="750" b="0" i="0">
                        <a:solidFill>
                          <a:srgbClr val="17232D"/>
                        </a:solidFill>
                        <a:latin typeface="Inter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rgbClr val="0E4D5E"/>
                      </a:solidFill>
                    </a:lnT>
                    <a:lnB w="6350">
                      <a:solidFill>
                        <a:srgbClr val="C9D2D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 i="0">
                          <a:solidFill>
                            <a:srgbClr val="17232D"/>
                          </a:solidFill>
                          <a:latin typeface="Inter"/>
                        </a:rPr>
                        <a:t>2.4</a:t>
                      </a:r>
                      <a:endParaRPr sz="750" b="0" i="0">
                        <a:solidFill>
                          <a:srgbClr val="17232D"/>
                        </a:solidFill>
                        <a:latin typeface="Inter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rgbClr val="0E4D5E"/>
                      </a:solidFill>
                    </a:lnT>
                    <a:lnB w="6350">
                      <a:solidFill>
                        <a:srgbClr val="C9D2D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 i="0">
                          <a:solidFill>
                            <a:srgbClr val="C4541C"/>
                          </a:solidFill>
                          <a:latin typeface="Inter"/>
                        </a:rPr>
                        <a:t>58.8</a:t>
                      </a:r>
                      <a:endParaRPr sz="750" b="1" i="0">
                        <a:solidFill>
                          <a:srgbClr val="C4541C"/>
                        </a:solidFill>
                        <a:latin typeface="Inter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rgbClr val="0E4D5E"/>
                      </a:solidFill>
                    </a:lnT>
                    <a:lnB w="6350">
                      <a:solidFill>
                        <a:srgbClr val="C9D2D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 i="0">
                          <a:solidFill>
                            <a:srgbClr val="17232D"/>
                          </a:solidFill>
                          <a:latin typeface="Inter"/>
                        </a:rPr>
                        <a:t>2.0</a:t>
                      </a:r>
                      <a:endParaRPr sz="750" b="0" i="0">
                        <a:solidFill>
                          <a:srgbClr val="17232D"/>
                        </a:solidFill>
                        <a:latin typeface="Inter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rgbClr val="0E4D5E"/>
                      </a:solidFill>
                    </a:lnT>
                    <a:lnB w="6350">
                      <a:solidFill>
                        <a:srgbClr val="C9D2D8"/>
                      </a:solidFill>
                    </a:lnB>
                    <a:noFill/>
                  </a:tcPr>
                </a:tc>
              </a:tr>
              <a:tr h="169418">
                <a:tc>
                  <a:txBody>
                    <a:bodyPr wrap="square"/>
                    <a:lstStyle/>
                    <a:p>
                      <a:pPr algn="l"/>
                      <a:r>
                        <a:rPr sz="750" b="1" i="0">
                          <a:solidFill>
                            <a:srgbClr val="0E4D5E"/>
                          </a:solidFill>
                          <a:latin typeface="Inter"/>
                        </a:rPr>
                        <a:t>Days, FY2028 target</a:t>
                      </a:r>
                      <a:endParaRPr sz="750" b="1" i="0">
                        <a:solidFill>
                          <a:srgbClr val="0E4D5E"/>
                        </a:solidFill>
                        <a:latin typeface="Inter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D2D8"/>
                      </a:solidFill>
                    </a:lnT>
                    <a:lnB w="6350">
                      <a:solidFill>
                        <a:srgbClr val="C9D2D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 i="0">
                          <a:solidFill>
                            <a:srgbClr val="0E4D5E"/>
                          </a:solidFill>
                          <a:latin typeface="Inter"/>
                        </a:rPr>
                        <a:t>0.2</a:t>
                      </a:r>
                      <a:endParaRPr sz="750" b="1" i="0">
                        <a:solidFill>
                          <a:srgbClr val="0E4D5E"/>
                        </a:solidFill>
                        <a:latin typeface="Inter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D2D8"/>
                      </a:solidFill>
                    </a:lnT>
                    <a:lnB w="6350">
                      <a:solidFill>
                        <a:srgbClr val="C9D2D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 i="0">
                          <a:solidFill>
                            <a:srgbClr val="0E4D5E"/>
                          </a:solidFill>
                          <a:latin typeface="Inter"/>
                        </a:rPr>
                        <a:t>0.3</a:t>
                      </a:r>
                      <a:endParaRPr sz="750" b="1" i="0">
                        <a:solidFill>
                          <a:srgbClr val="0E4D5E"/>
                        </a:solidFill>
                        <a:latin typeface="Inter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D2D8"/>
                      </a:solidFill>
                    </a:lnT>
                    <a:lnB w="6350">
                      <a:solidFill>
                        <a:srgbClr val="C9D2D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 i="0">
                          <a:solidFill>
                            <a:srgbClr val="0E4D5E"/>
                          </a:solidFill>
                          <a:latin typeface="Inter"/>
                        </a:rPr>
                        <a:t>0.8</a:t>
                      </a:r>
                      <a:endParaRPr sz="750" b="1" i="0">
                        <a:solidFill>
                          <a:srgbClr val="0E4D5E"/>
                        </a:solidFill>
                        <a:latin typeface="Inter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D2D8"/>
                      </a:solidFill>
                    </a:lnT>
                    <a:lnB w="6350">
                      <a:solidFill>
                        <a:srgbClr val="C9D2D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 i="0">
                          <a:solidFill>
                            <a:srgbClr val="0E4D5E"/>
                          </a:solidFill>
                          <a:latin typeface="Inter"/>
                        </a:rPr>
                        <a:t>1.6</a:t>
                      </a:r>
                      <a:endParaRPr sz="750" b="1" i="0">
                        <a:solidFill>
                          <a:srgbClr val="0E4D5E"/>
                        </a:solidFill>
                        <a:latin typeface="Inter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D2D8"/>
                      </a:solidFill>
                    </a:lnT>
                    <a:lnB w="6350">
                      <a:solidFill>
                        <a:srgbClr val="C9D2D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 i="0">
                          <a:solidFill>
                            <a:srgbClr val="0E4D5E"/>
                          </a:solidFill>
                          <a:latin typeface="Inter"/>
                        </a:rPr>
                        <a:t>0.2</a:t>
                      </a:r>
                      <a:endParaRPr sz="750" b="1" i="0">
                        <a:solidFill>
                          <a:srgbClr val="0E4D5E"/>
                        </a:solidFill>
                        <a:latin typeface="Inter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D2D8"/>
                      </a:solidFill>
                    </a:lnT>
                    <a:lnB w="6350">
                      <a:solidFill>
                        <a:srgbClr val="C9D2D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 i="0">
                          <a:solidFill>
                            <a:srgbClr val="0E4D5E"/>
                          </a:solidFill>
                          <a:latin typeface="Inter"/>
                        </a:rPr>
                        <a:t>47.5</a:t>
                      </a:r>
                      <a:endParaRPr sz="750" b="1" i="0">
                        <a:solidFill>
                          <a:srgbClr val="0E4D5E"/>
                        </a:solidFill>
                        <a:latin typeface="Inter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D2D8"/>
                      </a:solidFill>
                    </a:lnT>
                    <a:lnB w="6350">
                      <a:solidFill>
                        <a:srgbClr val="C9D2D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 i="0">
                          <a:solidFill>
                            <a:srgbClr val="0E4D5E"/>
                          </a:solidFill>
                          <a:latin typeface="Inter"/>
                        </a:rPr>
                        <a:t>0.4</a:t>
                      </a:r>
                      <a:endParaRPr sz="750" b="1" i="0">
                        <a:solidFill>
                          <a:srgbClr val="0E4D5E"/>
                        </a:solidFill>
                        <a:latin typeface="Inter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D2D8"/>
                      </a:solidFill>
                    </a:lnT>
                    <a:lnB w="6350">
                      <a:solidFill>
                        <a:srgbClr val="C9D2D8"/>
                      </a:solidFill>
                    </a:lnB>
                    <a:noFill/>
                  </a:tcPr>
                </a:tc>
              </a:tr>
              <a:tr h="169418">
                <a:tc>
                  <a:txBody>
                    <a:bodyPr wrap="square"/>
                    <a:lstStyle/>
                    <a:p>
                      <a:pPr algn="l"/>
                      <a:r>
                        <a:rPr sz="750" b="0" i="0">
                          <a:solidFill>
                            <a:srgbClr val="17232D"/>
                          </a:solidFill>
                          <a:latin typeface="Inter"/>
                        </a:rPr>
                        <a:t>Handled by hand, FY2025</a:t>
                      </a:r>
                      <a:endParaRPr sz="750" b="0" i="0">
                        <a:solidFill>
                          <a:srgbClr val="17232D"/>
                        </a:solidFill>
                        <a:latin typeface="Inter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D2D8"/>
                      </a:solidFill>
                    </a:lnT>
                    <a:lnB w="6350">
                      <a:solidFill>
                        <a:srgbClr val="C9D2D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 i="0">
                          <a:solidFill>
                            <a:srgbClr val="17232D"/>
                          </a:solidFill>
                          <a:latin typeface="Inter"/>
                        </a:rPr>
                        <a:t>41%</a:t>
                      </a:r>
                      <a:endParaRPr sz="750" b="0" i="0">
                        <a:solidFill>
                          <a:srgbClr val="17232D"/>
                        </a:solidFill>
                        <a:latin typeface="Inter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D2D8"/>
                      </a:solidFill>
                    </a:lnT>
                    <a:lnB w="6350">
                      <a:solidFill>
                        <a:srgbClr val="C9D2D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 i="0">
                          <a:solidFill>
                            <a:srgbClr val="17232D"/>
                          </a:solidFill>
                          <a:latin typeface="Inter"/>
                        </a:rPr>
                        <a:t>36%</a:t>
                      </a:r>
                      <a:endParaRPr sz="750" b="0" i="0">
                        <a:solidFill>
                          <a:srgbClr val="17232D"/>
                        </a:solidFill>
                        <a:latin typeface="Inter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D2D8"/>
                      </a:solidFill>
                    </a:lnT>
                    <a:lnB w="6350">
                      <a:solidFill>
                        <a:srgbClr val="C9D2D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 i="0">
                          <a:solidFill>
                            <a:srgbClr val="17232D"/>
                          </a:solidFill>
                          <a:latin typeface="Inter"/>
                        </a:rPr>
                        <a:t>22%</a:t>
                      </a:r>
                      <a:endParaRPr sz="750" b="0" i="0">
                        <a:solidFill>
                          <a:srgbClr val="17232D"/>
                        </a:solidFill>
                        <a:latin typeface="Inter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D2D8"/>
                      </a:solidFill>
                    </a:lnT>
                    <a:lnB w="6350">
                      <a:solidFill>
                        <a:srgbClr val="C9D2D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 i="0">
                          <a:solidFill>
                            <a:srgbClr val="17232D"/>
                          </a:solidFill>
                          <a:latin typeface="Inter"/>
                        </a:rPr>
                        <a:t>30%</a:t>
                      </a:r>
                      <a:endParaRPr sz="750" b="0" i="0">
                        <a:solidFill>
                          <a:srgbClr val="17232D"/>
                        </a:solidFill>
                        <a:latin typeface="Inter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D2D8"/>
                      </a:solidFill>
                    </a:lnT>
                    <a:lnB w="6350">
                      <a:solidFill>
                        <a:srgbClr val="C9D2D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 i="0">
                          <a:solidFill>
                            <a:srgbClr val="17232D"/>
                          </a:solidFill>
                          <a:latin typeface="Inter"/>
                        </a:rPr>
                        <a:t>18%</a:t>
                      </a:r>
                      <a:endParaRPr sz="750" b="0" i="0">
                        <a:solidFill>
                          <a:srgbClr val="17232D"/>
                        </a:solidFill>
                        <a:latin typeface="Inter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D2D8"/>
                      </a:solidFill>
                    </a:lnT>
                    <a:lnB w="6350">
                      <a:solidFill>
                        <a:srgbClr val="C9D2D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 i="0">
                          <a:solidFill>
                            <a:srgbClr val="17232D"/>
                          </a:solidFill>
                          <a:latin typeface="Inter"/>
                        </a:rPr>
                        <a:t>25%</a:t>
                      </a:r>
                      <a:endParaRPr sz="750" b="0" i="0">
                        <a:solidFill>
                          <a:srgbClr val="17232D"/>
                        </a:solidFill>
                        <a:latin typeface="Inter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D2D8"/>
                      </a:solidFill>
                    </a:lnT>
                    <a:lnB w="6350">
                      <a:solidFill>
                        <a:srgbClr val="C9D2D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 i="0">
                          <a:solidFill>
                            <a:srgbClr val="17232D"/>
                          </a:solidFill>
                          <a:latin typeface="Inter"/>
                        </a:rPr>
                        <a:t>28%</a:t>
                      </a:r>
                      <a:endParaRPr sz="750" b="0" i="0">
                        <a:solidFill>
                          <a:srgbClr val="17232D"/>
                        </a:solidFill>
                        <a:latin typeface="Inter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D2D8"/>
                      </a:solidFill>
                    </a:lnT>
                    <a:lnB w="6350">
                      <a:solidFill>
                        <a:srgbClr val="C9D2D8"/>
                      </a:solidFill>
                    </a:lnB>
                    <a:noFill/>
                  </a:tcPr>
                </a:tc>
              </a:tr>
              <a:tr h="169418">
                <a:tc>
                  <a:txBody>
                    <a:bodyPr wrap="square"/>
                    <a:lstStyle/>
                    <a:p>
                      <a:pPr algn="l"/>
                      <a:r>
                        <a:rPr sz="750" b="1" i="0">
                          <a:solidFill>
                            <a:srgbClr val="0E4D5E"/>
                          </a:solidFill>
                          <a:latin typeface="Inter"/>
                        </a:rPr>
                        <a:t>Handled by hand, FY2028</a:t>
                      </a:r>
                      <a:endParaRPr sz="750" b="1" i="0">
                        <a:solidFill>
                          <a:srgbClr val="0E4D5E"/>
                        </a:solidFill>
                        <a:latin typeface="Inter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D2D8"/>
                      </a:solidFill>
                    </a:lnT>
                    <a:lnB w="9525">
                      <a:solidFill>
                        <a:srgbClr val="0E4D5E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 i="0">
                          <a:solidFill>
                            <a:srgbClr val="0E4D5E"/>
                          </a:solidFill>
                          <a:latin typeface="Inter"/>
                        </a:rPr>
                        <a:t>10%</a:t>
                      </a:r>
                      <a:endParaRPr sz="750" b="1" i="0">
                        <a:solidFill>
                          <a:srgbClr val="0E4D5E"/>
                        </a:solidFill>
                        <a:latin typeface="Inter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D2D8"/>
                      </a:solidFill>
                    </a:lnT>
                    <a:lnB w="9525">
                      <a:solidFill>
                        <a:srgbClr val="0E4D5E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 i="0">
                          <a:solidFill>
                            <a:srgbClr val="0E4D5E"/>
                          </a:solidFill>
                          <a:latin typeface="Inter"/>
                        </a:rPr>
                        <a:t>8%</a:t>
                      </a:r>
                      <a:endParaRPr sz="750" b="1" i="0">
                        <a:solidFill>
                          <a:srgbClr val="0E4D5E"/>
                        </a:solidFill>
                        <a:latin typeface="Inter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D2D8"/>
                      </a:solidFill>
                    </a:lnT>
                    <a:lnB w="9525">
                      <a:solidFill>
                        <a:srgbClr val="0E4D5E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 i="0">
                          <a:solidFill>
                            <a:srgbClr val="0E4D5E"/>
                          </a:solidFill>
                          <a:latin typeface="Inter"/>
                        </a:rPr>
                        <a:t>15%</a:t>
                      </a:r>
                      <a:endParaRPr sz="750" b="1" i="0">
                        <a:solidFill>
                          <a:srgbClr val="0E4D5E"/>
                        </a:solidFill>
                        <a:latin typeface="Inter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D2D8"/>
                      </a:solidFill>
                    </a:lnT>
                    <a:lnB w="9525">
                      <a:solidFill>
                        <a:srgbClr val="0E4D5E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 i="0">
                          <a:solidFill>
                            <a:srgbClr val="0E4D5E"/>
                          </a:solidFill>
                          <a:latin typeface="Inter"/>
                        </a:rPr>
                        <a:t>12%</a:t>
                      </a:r>
                      <a:endParaRPr sz="750" b="1" i="0">
                        <a:solidFill>
                          <a:srgbClr val="0E4D5E"/>
                        </a:solidFill>
                        <a:latin typeface="Inter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D2D8"/>
                      </a:solidFill>
                    </a:lnT>
                    <a:lnB w="9525">
                      <a:solidFill>
                        <a:srgbClr val="0E4D5E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 i="0">
                          <a:solidFill>
                            <a:srgbClr val="0E4D5E"/>
                          </a:solidFill>
                          <a:latin typeface="Inter"/>
                        </a:rPr>
                        <a:t>3%</a:t>
                      </a:r>
                      <a:endParaRPr sz="750" b="1" i="0">
                        <a:solidFill>
                          <a:srgbClr val="0E4D5E"/>
                        </a:solidFill>
                        <a:latin typeface="Inter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D2D8"/>
                      </a:solidFill>
                    </a:lnT>
                    <a:lnB w="9525">
                      <a:solidFill>
                        <a:srgbClr val="0E4D5E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 i="0">
                          <a:solidFill>
                            <a:srgbClr val="0E4D5E"/>
                          </a:solidFill>
                          <a:latin typeface="Inter"/>
                        </a:rPr>
                        <a:t>8%</a:t>
                      </a:r>
                      <a:endParaRPr sz="750" b="1" i="0">
                        <a:solidFill>
                          <a:srgbClr val="0E4D5E"/>
                        </a:solidFill>
                        <a:latin typeface="Inter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D2D8"/>
                      </a:solidFill>
                    </a:lnT>
                    <a:lnB w="9525">
                      <a:solidFill>
                        <a:srgbClr val="0E4D5E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 i="0">
                          <a:solidFill>
                            <a:srgbClr val="0E4D5E"/>
                          </a:solidFill>
                          <a:latin typeface="Inter"/>
                        </a:rPr>
                        <a:t>6%</a:t>
                      </a:r>
                      <a:endParaRPr sz="750" b="1" i="0">
                        <a:solidFill>
                          <a:srgbClr val="0E4D5E"/>
                        </a:solidFill>
                        <a:latin typeface="Inter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D2D8"/>
                      </a:solidFill>
                    </a:lnT>
                    <a:lnB w="9525">
                      <a:solidFill>
                        <a:srgbClr val="0E4D5E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28" name="pain-h"/>
          <p:cNvSpPr/>
          <p:nvPr/>
        </p:nvSpPr>
        <p:spPr>
          <a:xfrm>
            <a:off x="411480" y="3087369"/>
            <a:ext cx="7546750" cy="1600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ts val="12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 b="1" i="0">
                <a:solidFill>
                  <a:srgbClr val="0E4D5E"/>
                </a:solidFill>
                <a:latin typeface="Inter"/>
              </a:rPr>
              <a:t>Six pain points cost $28m a year</a:t>
            </a:r>
          </a:p>
        </p:txBody>
      </p:sp>
      <p:sp>
        <p:nvSpPr>
          <p:cNvPr id="29" name="pain-u"/>
          <p:cNvSpPr/>
          <p:nvPr/>
        </p:nvSpPr>
        <p:spPr>
          <a:xfrm>
            <a:off x="411480" y="3274821"/>
            <a:ext cx="754675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50" b="0" i="0">
                <a:solidFill>
                  <a:srgbClr val="56636D"/>
                </a:solidFill>
                <a:latin typeface="Inter"/>
              </a:rPr>
              <a:t>Numbers match the orange marks on the flow; cost is annual leakage, rework and write-off</a:t>
            </a:r>
          </a:p>
        </p:txBody>
      </p:sp>
      <p:graphicFrame>
        <p:nvGraphicFramePr>
          <p:cNvPr id="30" name="pains"/>
          <p:cNvGraphicFramePr>
            <a:graphicFrameLocks noGrp="1"/>
          </p:cNvGraphicFramePr>
          <p:nvPr/>
        </p:nvGraphicFramePr>
        <p:xfrm>
          <a:off x="411480" y="3416553"/>
          <a:ext cx="7546750" cy="1355344"/>
        </p:xfrm>
        <a:graphic>
          <a:graphicData uri="http://schemas.openxmlformats.org/drawingml/2006/table">
            <a:tbl>
              <a:tblPr firstRow="0" bandRow="0" lastRow="0" firstCol="0" lastCol="0" bandCol="0"/>
              <a:tblGrid>
                <a:gridCol w="301870"/>
                <a:gridCol w="1282948"/>
                <a:gridCol w="4150712"/>
                <a:gridCol w="830142"/>
                <a:gridCol w="981078"/>
              </a:tblGrid>
              <a:tr h="169418">
                <a:tc>
                  <a:txBody>
                    <a:bodyPr wrap="square"/>
                    <a:lstStyle/>
                    <a:p>
                      <a:pPr algn="ctr"/>
                      <a:r>
                        <a:rPr sz="750" b="1" i="0">
                          <a:solidFill>
                            <a:srgbClr val="0E4D5E"/>
                          </a:solidFill>
                          <a:latin typeface="Inter"/>
                        </a:rPr>
                        <a:t>#</a:t>
                      </a:r>
                      <a:endParaRPr sz="750" b="1" i="0">
                        <a:solidFill>
                          <a:srgbClr val="0E4D5E"/>
                        </a:solidFill>
                        <a:latin typeface="Inter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0E4D5E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 b="1" i="0">
                          <a:solidFill>
                            <a:srgbClr val="0E4D5E"/>
                          </a:solidFill>
                          <a:latin typeface="Inter"/>
                        </a:rPr>
                        <a:t>Step</a:t>
                      </a:r>
                      <a:endParaRPr sz="750" b="1" i="0">
                        <a:solidFill>
                          <a:srgbClr val="0E4D5E"/>
                        </a:solidFill>
                        <a:latin typeface="Inter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0E4D5E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 b="1" i="0">
                          <a:solidFill>
                            <a:srgbClr val="0E4D5E"/>
                          </a:solidFill>
                          <a:latin typeface="Inter"/>
                        </a:rPr>
                        <a:t>Pain point and evidence</a:t>
                      </a:r>
                      <a:endParaRPr sz="750" b="1" i="0">
                        <a:solidFill>
                          <a:srgbClr val="0E4D5E"/>
                        </a:solidFill>
                        <a:latin typeface="Inter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0E4D5E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1" i="0">
                          <a:solidFill>
                            <a:srgbClr val="0E4D5E"/>
                          </a:solidFill>
                          <a:latin typeface="Inter"/>
                        </a:rPr>
                        <a:t>$m a year</a:t>
                      </a:r>
                      <a:endParaRPr sz="750" b="1" i="0">
                        <a:solidFill>
                          <a:srgbClr val="0E4D5E"/>
                        </a:solidFill>
                        <a:latin typeface="Inter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0E4D5E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 b="1" i="0">
                          <a:solidFill>
                            <a:srgbClr val="0E4D5E"/>
                          </a:solidFill>
                          <a:latin typeface="Inter"/>
                        </a:rPr>
                        <a:t>Fixed by</a:t>
                      </a:r>
                      <a:endParaRPr sz="750" b="1" i="0">
                        <a:solidFill>
                          <a:srgbClr val="0E4D5E"/>
                        </a:solidFill>
                        <a:latin typeface="Inter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0E4D5E"/>
                      </a:solidFill>
                    </a:lnB>
                    <a:noFill/>
                  </a:tcPr>
                </a:tc>
              </a:tr>
              <a:tr h="169418">
                <a:tc>
                  <a:txBody>
                    <a:bodyPr wrap="square"/>
                    <a:lstStyle/>
                    <a:p>
                      <a:pPr algn="ctr"/>
                      <a:r>
                        <a:rPr sz="750" b="1" i="0">
                          <a:solidFill>
                            <a:srgbClr val="C4541C"/>
                          </a:solidFill>
                          <a:latin typeface="Inter"/>
                        </a:rPr>
                        <a:t>1</a:t>
                      </a:r>
                      <a:endParaRPr sz="750" b="1" i="0">
                        <a:solidFill>
                          <a:srgbClr val="C4541C"/>
                        </a:solidFill>
                        <a:latin typeface="Inter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rgbClr val="0E4D5E"/>
                      </a:solidFill>
                    </a:lnT>
                    <a:lnB w="6350">
                      <a:solidFill>
                        <a:srgbClr val="C9D2D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 b="0" i="0">
                          <a:solidFill>
                            <a:srgbClr val="17232D"/>
                          </a:solidFill>
                          <a:latin typeface="Inter"/>
                        </a:rPr>
                        <a:t>1  Capture order</a:t>
                      </a:r>
                      <a:endParaRPr sz="750" b="0" i="0">
                        <a:solidFill>
                          <a:srgbClr val="17232D"/>
                        </a:solidFill>
                        <a:latin typeface="Inter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rgbClr val="0E4D5E"/>
                      </a:solidFill>
                    </a:lnT>
                    <a:lnB w="6350">
                      <a:solidFill>
                        <a:srgbClr val="C9D2D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 b="0" i="0">
                          <a:solidFill>
                            <a:srgbClr val="17232D"/>
                          </a:solidFill>
                          <a:latin typeface="Inter"/>
                        </a:rPr>
                        <a:t>41% of orders arrive by fax or e-mail and are re-keyed; 3.8% carry an entry error</a:t>
                      </a:r>
                      <a:endParaRPr sz="750" b="0" i="0">
                        <a:solidFill>
                          <a:srgbClr val="17232D"/>
                        </a:solidFill>
                        <a:latin typeface="Inter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rgbClr val="0E4D5E"/>
                      </a:solidFill>
                    </a:lnT>
                    <a:lnB w="6350">
                      <a:solidFill>
                        <a:srgbClr val="C9D2D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 i="0">
                          <a:solidFill>
                            <a:srgbClr val="17232D"/>
                          </a:solidFill>
                          <a:latin typeface="Inter"/>
                        </a:rPr>
                        <a:t>3.1</a:t>
                      </a:r>
                      <a:endParaRPr sz="750" b="0" i="0">
                        <a:solidFill>
                          <a:srgbClr val="17232D"/>
                        </a:solidFill>
                        <a:latin typeface="Inter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rgbClr val="0E4D5E"/>
                      </a:solidFill>
                    </a:lnT>
                    <a:lnB w="6350">
                      <a:solidFill>
                        <a:srgbClr val="C9D2D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 b="0" i="0">
                          <a:solidFill>
                            <a:srgbClr val="17232D"/>
                          </a:solidFill>
                          <a:latin typeface="Inter"/>
                        </a:rPr>
                        <a:t>O1, C1</a:t>
                      </a:r>
                      <a:endParaRPr sz="750" b="0" i="0">
                        <a:solidFill>
                          <a:srgbClr val="17232D"/>
                        </a:solidFill>
                        <a:latin typeface="Inter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rgbClr val="0E4D5E"/>
                      </a:solidFill>
                    </a:lnT>
                    <a:lnB w="6350">
                      <a:solidFill>
                        <a:srgbClr val="C9D2D8"/>
                      </a:solidFill>
                    </a:lnB>
                    <a:noFill/>
                  </a:tcPr>
                </a:tc>
              </a:tr>
              <a:tr h="169418">
                <a:tc>
                  <a:txBody>
                    <a:bodyPr wrap="square"/>
                    <a:lstStyle/>
                    <a:p>
                      <a:pPr algn="ctr"/>
                      <a:r>
                        <a:rPr sz="750" b="1" i="0">
                          <a:solidFill>
                            <a:srgbClr val="C4541C"/>
                          </a:solidFill>
                          <a:latin typeface="Inter"/>
                        </a:rPr>
                        <a:t>2</a:t>
                      </a:r>
                      <a:endParaRPr sz="750" b="1" i="0">
                        <a:solidFill>
                          <a:srgbClr val="C4541C"/>
                        </a:solidFill>
                        <a:latin typeface="Inter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D2D8"/>
                      </a:solidFill>
                    </a:lnT>
                    <a:lnB w="6350">
                      <a:solidFill>
                        <a:srgbClr val="C9D2D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 b="0" i="0">
                          <a:solidFill>
                            <a:srgbClr val="17232D"/>
                          </a:solidFill>
                          <a:latin typeface="Inter"/>
                        </a:rPr>
                        <a:t>2  Price and credit</a:t>
                      </a:r>
                      <a:endParaRPr sz="750" b="0" i="0">
                        <a:solidFill>
                          <a:srgbClr val="17232D"/>
                        </a:solidFill>
                        <a:latin typeface="Inter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D2D8"/>
                      </a:solidFill>
                    </a:lnT>
                    <a:lnB w="6350">
                      <a:solidFill>
                        <a:srgbClr val="C9D2D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 b="0" i="0">
                          <a:solidFill>
                            <a:srgbClr val="17232D"/>
                          </a:solidFill>
                          <a:latin typeface="Inter"/>
                        </a:rPr>
                        <a:t>12 GPO price lists kept by hand; 7.2% of invoice lines priced wrong</a:t>
                      </a:r>
                      <a:endParaRPr sz="750" b="0" i="0">
                        <a:solidFill>
                          <a:srgbClr val="17232D"/>
                        </a:solidFill>
                        <a:latin typeface="Inter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D2D8"/>
                      </a:solidFill>
                    </a:lnT>
                    <a:lnB w="6350">
                      <a:solidFill>
                        <a:srgbClr val="C9D2D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1" i="0">
                          <a:solidFill>
                            <a:srgbClr val="17232D"/>
                          </a:solidFill>
                          <a:latin typeface="Inter"/>
                        </a:rPr>
                        <a:t>14.6</a:t>
                      </a:r>
                      <a:endParaRPr sz="750" b="1" i="0">
                        <a:solidFill>
                          <a:srgbClr val="17232D"/>
                        </a:solidFill>
                        <a:latin typeface="Inter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D2D8"/>
                      </a:solidFill>
                    </a:lnT>
                    <a:lnB w="6350">
                      <a:solidFill>
                        <a:srgbClr val="C9D2D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 b="0" i="0">
                          <a:solidFill>
                            <a:srgbClr val="17232D"/>
                          </a:solidFill>
                          <a:latin typeface="Inter"/>
                        </a:rPr>
                        <a:t>C1</a:t>
                      </a:r>
                      <a:endParaRPr sz="750" b="0" i="0">
                        <a:solidFill>
                          <a:srgbClr val="17232D"/>
                        </a:solidFill>
                        <a:latin typeface="Inter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D2D8"/>
                      </a:solidFill>
                    </a:lnT>
                    <a:lnB w="6350">
                      <a:solidFill>
                        <a:srgbClr val="C9D2D8"/>
                      </a:solidFill>
                    </a:lnB>
                    <a:noFill/>
                  </a:tcPr>
                </a:tc>
              </a:tr>
              <a:tr h="169418">
                <a:tc>
                  <a:txBody>
                    <a:bodyPr wrap="square"/>
                    <a:lstStyle/>
                    <a:p>
                      <a:pPr algn="ctr"/>
                      <a:r>
                        <a:rPr sz="750" b="1" i="0">
                          <a:solidFill>
                            <a:srgbClr val="C4541C"/>
                          </a:solidFill>
                          <a:latin typeface="Inter"/>
                        </a:rPr>
                        <a:t>3</a:t>
                      </a:r>
                      <a:endParaRPr sz="750" b="1" i="0">
                        <a:solidFill>
                          <a:srgbClr val="C4541C"/>
                        </a:solidFill>
                        <a:latin typeface="Inter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D2D8"/>
                      </a:solidFill>
                    </a:lnT>
                    <a:lnB w="6350">
                      <a:solidFill>
                        <a:srgbClr val="C9D2D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 b="0" i="0">
                          <a:solidFill>
                            <a:srgbClr val="17232D"/>
                          </a:solidFill>
                          <a:latin typeface="Inter"/>
                        </a:rPr>
                        <a:t>4  Ship, confirm use</a:t>
                      </a:r>
                      <a:endParaRPr sz="750" b="0" i="0">
                        <a:solidFill>
                          <a:srgbClr val="17232D"/>
                        </a:solidFill>
                        <a:latin typeface="Inter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D2D8"/>
                      </a:solidFill>
                    </a:lnT>
                    <a:lnB w="6350">
                      <a:solidFill>
                        <a:srgbClr val="C9D2D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 b="0" i="0">
                          <a:solidFill>
                            <a:srgbClr val="17232D"/>
                          </a:solidFill>
                          <a:latin typeface="Inter"/>
                        </a:rPr>
                        <a:t>Bill-only implant use reported 9.0 days after surgery; consignment counted by hand</a:t>
                      </a:r>
                      <a:endParaRPr sz="750" b="0" i="0">
                        <a:solidFill>
                          <a:srgbClr val="17232D"/>
                        </a:solidFill>
                        <a:latin typeface="Inter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D2D8"/>
                      </a:solidFill>
                    </a:lnT>
                    <a:lnB w="6350">
                      <a:solidFill>
                        <a:srgbClr val="C9D2D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 i="0">
                          <a:solidFill>
                            <a:srgbClr val="17232D"/>
                          </a:solidFill>
                          <a:latin typeface="Inter"/>
                        </a:rPr>
                        <a:t>2.8</a:t>
                      </a:r>
                      <a:endParaRPr sz="750" b="0" i="0">
                        <a:solidFill>
                          <a:srgbClr val="17232D"/>
                        </a:solidFill>
                        <a:latin typeface="Inter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D2D8"/>
                      </a:solidFill>
                    </a:lnT>
                    <a:lnB w="6350">
                      <a:solidFill>
                        <a:srgbClr val="C9D2D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 b="0" i="0">
                          <a:solidFill>
                            <a:srgbClr val="17232D"/>
                          </a:solidFill>
                          <a:latin typeface="Inter"/>
                        </a:rPr>
                        <a:t>C2</a:t>
                      </a:r>
                      <a:endParaRPr sz="750" b="0" i="0">
                        <a:solidFill>
                          <a:srgbClr val="17232D"/>
                        </a:solidFill>
                        <a:latin typeface="Inter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D2D8"/>
                      </a:solidFill>
                    </a:lnT>
                    <a:lnB w="6350">
                      <a:solidFill>
                        <a:srgbClr val="C9D2D8"/>
                      </a:solidFill>
                    </a:lnB>
                    <a:noFill/>
                  </a:tcPr>
                </a:tc>
              </a:tr>
              <a:tr h="169418">
                <a:tc>
                  <a:txBody>
                    <a:bodyPr wrap="square"/>
                    <a:lstStyle/>
                    <a:p>
                      <a:pPr algn="ctr"/>
                      <a:r>
                        <a:rPr sz="750" b="1" i="0">
                          <a:solidFill>
                            <a:srgbClr val="C4541C"/>
                          </a:solidFill>
                          <a:latin typeface="Inter"/>
                        </a:rPr>
                        <a:t>4</a:t>
                      </a:r>
                      <a:endParaRPr sz="750" b="1" i="0">
                        <a:solidFill>
                          <a:srgbClr val="C4541C"/>
                        </a:solidFill>
                        <a:latin typeface="Inter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D2D8"/>
                      </a:solidFill>
                    </a:lnT>
                    <a:lnB w="6350">
                      <a:solidFill>
                        <a:srgbClr val="C9D2D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 b="0" i="0">
                          <a:solidFill>
                            <a:srgbClr val="17232D"/>
                          </a:solidFill>
                          <a:latin typeface="Inter"/>
                        </a:rPr>
                        <a:t>5  Invoice</a:t>
                      </a:r>
                      <a:endParaRPr sz="750" b="0" i="0">
                        <a:solidFill>
                          <a:srgbClr val="17232D"/>
                        </a:solidFill>
                        <a:latin typeface="Inter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D2D8"/>
                      </a:solidFill>
                    </a:lnT>
                    <a:lnB w="6350">
                      <a:solidFill>
                        <a:srgbClr val="C9D2D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 b="0" i="0">
                          <a:solidFill>
                            <a:srgbClr val="17232D"/>
                          </a:solidFill>
                          <a:latin typeface="Inter"/>
                        </a:rPr>
                        <a:t>Invoices issued 2.4 days after shipment; 18% need a manual release</a:t>
                      </a:r>
                      <a:endParaRPr sz="750" b="0" i="0">
                        <a:solidFill>
                          <a:srgbClr val="17232D"/>
                        </a:solidFill>
                        <a:latin typeface="Inter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D2D8"/>
                      </a:solidFill>
                    </a:lnT>
                    <a:lnB w="6350">
                      <a:solidFill>
                        <a:srgbClr val="C9D2D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 i="0">
                          <a:solidFill>
                            <a:srgbClr val="17232D"/>
                          </a:solidFill>
                          <a:latin typeface="Inter"/>
                        </a:rPr>
                        <a:t>1.2</a:t>
                      </a:r>
                      <a:endParaRPr sz="750" b="0" i="0">
                        <a:solidFill>
                          <a:srgbClr val="17232D"/>
                        </a:solidFill>
                        <a:latin typeface="Inter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D2D8"/>
                      </a:solidFill>
                    </a:lnT>
                    <a:lnB w="6350">
                      <a:solidFill>
                        <a:srgbClr val="C9D2D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 b="0" i="0">
                          <a:solidFill>
                            <a:srgbClr val="17232D"/>
                          </a:solidFill>
                          <a:latin typeface="Inter"/>
                        </a:rPr>
                        <a:t>O1</a:t>
                      </a:r>
                      <a:endParaRPr sz="750" b="0" i="0">
                        <a:solidFill>
                          <a:srgbClr val="17232D"/>
                        </a:solidFill>
                        <a:latin typeface="Inter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D2D8"/>
                      </a:solidFill>
                    </a:lnT>
                    <a:lnB w="6350">
                      <a:solidFill>
                        <a:srgbClr val="C9D2D8"/>
                      </a:solidFill>
                    </a:lnB>
                    <a:noFill/>
                  </a:tcPr>
                </a:tc>
              </a:tr>
              <a:tr h="169418">
                <a:tc>
                  <a:txBody>
                    <a:bodyPr wrap="square"/>
                    <a:lstStyle/>
                    <a:p>
                      <a:pPr algn="ctr"/>
                      <a:r>
                        <a:rPr sz="750" b="1" i="0">
                          <a:solidFill>
                            <a:srgbClr val="C4541C"/>
                          </a:solidFill>
                          <a:latin typeface="Inter"/>
                        </a:rPr>
                        <a:t>5</a:t>
                      </a:r>
                      <a:endParaRPr sz="750" b="1" i="0">
                        <a:solidFill>
                          <a:srgbClr val="C4541C"/>
                        </a:solidFill>
                        <a:latin typeface="Inter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D2D8"/>
                      </a:solidFill>
                    </a:lnT>
                    <a:lnB w="6350">
                      <a:solidFill>
                        <a:srgbClr val="C9D2D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 b="0" i="0">
                          <a:solidFill>
                            <a:srgbClr val="17232D"/>
                          </a:solidFill>
                          <a:latin typeface="Inter"/>
                        </a:rPr>
                        <a:t>6  Collect</a:t>
                      </a:r>
                      <a:endParaRPr sz="750" b="0" i="0">
                        <a:solidFill>
                          <a:srgbClr val="17232D"/>
                        </a:solidFill>
                        <a:latin typeface="Inter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D2D8"/>
                      </a:solidFill>
                    </a:lnT>
                    <a:lnB w="6350">
                      <a:solidFill>
                        <a:srgbClr val="C9D2D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 b="0" i="0">
                          <a:solidFill>
                            <a:srgbClr val="17232D"/>
                          </a:solidFill>
                          <a:latin typeface="Inter"/>
                        </a:rPr>
                        <a:t>9.4% of invoices disputed, 34 days to resolve: 13.8 days past terms</a:t>
                      </a:r>
                      <a:endParaRPr sz="750" b="0" i="0">
                        <a:solidFill>
                          <a:srgbClr val="17232D"/>
                        </a:solidFill>
                        <a:latin typeface="Inter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D2D8"/>
                      </a:solidFill>
                    </a:lnT>
                    <a:lnB w="6350">
                      <a:solidFill>
                        <a:srgbClr val="C9D2D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 i="0">
                          <a:solidFill>
                            <a:srgbClr val="17232D"/>
                          </a:solidFill>
                          <a:latin typeface="Inter"/>
                        </a:rPr>
                        <a:t>4.9</a:t>
                      </a:r>
                      <a:endParaRPr sz="750" b="0" i="0">
                        <a:solidFill>
                          <a:srgbClr val="17232D"/>
                        </a:solidFill>
                        <a:latin typeface="Inter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D2D8"/>
                      </a:solidFill>
                    </a:lnT>
                    <a:lnB w="6350">
                      <a:solidFill>
                        <a:srgbClr val="C9D2D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 b="0" i="0">
                          <a:solidFill>
                            <a:srgbClr val="17232D"/>
                          </a:solidFill>
                          <a:latin typeface="Inter"/>
                        </a:rPr>
                        <a:t>C3</a:t>
                      </a:r>
                      <a:endParaRPr sz="750" b="0" i="0">
                        <a:solidFill>
                          <a:srgbClr val="17232D"/>
                        </a:solidFill>
                        <a:latin typeface="Inter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D2D8"/>
                      </a:solidFill>
                    </a:lnT>
                    <a:lnB w="6350">
                      <a:solidFill>
                        <a:srgbClr val="C9D2D8"/>
                      </a:solidFill>
                    </a:lnB>
                    <a:noFill/>
                  </a:tcPr>
                </a:tc>
              </a:tr>
              <a:tr h="169418">
                <a:tc>
                  <a:txBody>
                    <a:bodyPr wrap="square"/>
                    <a:lstStyle/>
                    <a:p>
                      <a:pPr algn="ctr"/>
                      <a:r>
                        <a:rPr sz="750" b="1" i="0">
                          <a:solidFill>
                            <a:srgbClr val="C4541C"/>
                          </a:solidFill>
                          <a:latin typeface="Inter"/>
                        </a:rPr>
                        <a:t>6</a:t>
                      </a:r>
                      <a:endParaRPr sz="750" b="1" i="0">
                        <a:solidFill>
                          <a:srgbClr val="C4541C"/>
                        </a:solidFill>
                        <a:latin typeface="Inter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D2D8"/>
                      </a:solidFill>
                    </a:lnT>
                    <a:lnB w="9525">
                      <a:solidFill>
                        <a:srgbClr val="0E4D5E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 b="0" i="0">
                          <a:solidFill>
                            <a:srgbClr val="17232D"/>
                          </a:solidFill>
                          <a:latin typeface="Inter"/>
                        </a:rPr>
                        <a:t>7  Apply cash</a:t>
                      </a:r>
                      <a:endParaRPr sz="750" b="0" i="0">
                        <a:solidFill>
                          <a:srgbClr val="17232D"/>
                        </a:solidFill>
                        <a:latin typeface="Inter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D2D8"/>
                      </a:solidFill>
                    </a:lnT>
                    <a:lnB w="9525">
                      <a:solidFill>
                        <a:srgbClr val="0E4D5E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 b="0" i="0">
                          <a:solidFill>
                            <a:srgbClr val="17232D"/>
                          </a:solidFill>
                          <a:latin typeface="Inter"/>
                        </a:rPr>
                        <a:t>28% of remittances matched to invoices by hand</a:t>
                      </a:r>
                      <a:endParaRPr sz="750" b="0" i="0">
                        <a:solidFill>
                          <a:srgbClr val="17232D"/>
                        </a:solidFill>
                        <a:latin typeface="Inter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D2D8"/>
                      </a:solidFill>
                    </a:lnT>
                    <a:lnB w="9525">
                      <a:solidFill>
                        <a:srgbClr val="0E4D5E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 i="0">
                          <a:solidFill>
                            <a:srgbClr val="17232D"/>
                          </a:solidFill>
                          <a:latin typeface="Inter"/>
                        </a:rPr>
                        <a:t>1.4</a:t>
                      </a:r>
                      <a:endParaRPr sz="750" b="0" i="0">
                        <a:solidFill>
                          <a:srgbClr val="17232D"/>
                        </a:solidFill>
                        <a:latin typeface="Inter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D2D8"/>
                      </a:solidFill>
                    </a:lnT>
                    <a:lnB w="9525">
                      <a:solidFill>
                        <a:srgbClr val="0E4D5E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 b="0" i="0">
                          <a:solidFill>
                            <a:srgbClr val="17232D"/>
                          </a:solidFill>
                          <a:latin typeface="Inter"/>
                        </a:rPr>
                        <a:t>C3</a:t>
                      </a:r>
                      <a:endParaRPr sz="750" b="0" i="0">
                        <a:solidFill>
                          <a:srgbClr val="17232D"/>
                        </a:solidFill>
                        <a:latin typeface="Inter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D2D8"/>
                      </a:solidFill>
                    </a:lnT>
                    <a:lnB w="9525">
                      <a:solidFill>
                        <a:srgbClr val="0E4D5E"/>
                      </a:solidFill>
                    </a:lnB>
                    <a:noFill/>
                  </a:tcPr>
                </a:tc>
              </a:tr>
              <a:tr h="169418">
                <a:tc>
                  <a:txBody>
                    <a:bodyPr wrap="square"/>
                    <a:lstStyle/>
                    <a:p>
                      <a:pPr algn="ctr"/>
                      <a:endParaRPr sz="750" b="1" i="0">
                        <a:solidFill>
                          <a:srgbClr val="C4541C"/>
                        </a:solidFill>
                        <a:latin typeface="Inter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rgbClr val="0E4D5E"/>
                      </a:solidFill>
                    </a:lnT>
                    <a:lnB w="9525">
                      <a:solidFill>
                        <a:srgbClr val="0E4D5E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 b="1" i="0">
                          <a:solidFill>
                            <a:srgbClr val="17232D"/>
                          </a:solidFill>
                          <a:latin typeface="Inter"/>
                        </a:rPr>
                        <a:t>Total</a:t>
                      </a:r>
                      <a:endParaRPr sz="750" b="1" i="0">
                        <a:solidFill>
                          <a:srgbClr val="17232D"/>
                        </a:solidFill>
                        <a:latin typeface="Inter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rgbClr val="0E4D5E"/>
                      </a:solidFill>
                    </a:lnT>
                    <a:lnB w="9525">
                      <a:solidFill>
                        <a:srgbClr val="0E4D5E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endParaRPr sz="750" b="1" i="0">
                        <a:solidFill>
                          <a:srgbClr val="17232D"/>
                        </a:solidFill>
                        <a:latin typeface="Inter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rgbClr val="0E4D5E"/>
                      </a:solidFill>
                    </a:lnT>
                    <a:lnB w="9525">
                      <a:solidFill>
                        <a:srgbClr val="0E4D5E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1" i="0">
                          <a:solidFill>
                            <a:srgbClr val="17232D"/>
                          </a:solidFill>
                          <a:latin typeface="Inter"/>
                        </a:rPr>
                        <a:t>28.0</a:t>
                      </a:r>
                      <a:endParaRPr sz="750" b="1" i="0">
                        <a:solidFill>
                          <a:srgbClr val="17232D"/>
                        </a:solidFill>
                        <a:latin typeface="Inter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rgbClr val="0E4D5E"/>
                      </a:solidFill>
                    </a:lnT>
                    <a:lnB w="9525">
                      <a:solidFill>
                        <a:srgbClr val="0E4D5E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endParaRPr sz="750" b="1" i="0">
                        <a:solidFill>
                          <a:srgbClr val="17232D"/>
                        </a:solidFill>
                        <a:latin typeface="Inter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rgbClr val="0E4D5E"/>
                      </a:solidFill>
                    </a:lnT>
                    <a:lnB w="9525">
                      <a:solidFill>
                        <a:srgbClr val="0E4D5E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31" name="fix-h"/>
          <p:cNvSpPr/>
          <p:nvPr/>
        </p:nvSpPr>
        <p:spPr>
          <a:xfrm>
            <a:off x="411480" y="5186172"/>
            <a:ext cx="7546750" cy="1600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ts val="12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 b="1" i="0">
                <a:solidFill>
                  <a:srgbClr val="0E4D5E"/>
                </a:solidFill>
                <a:latin typeface="Inter"/>
              </a:rPr>
              <a:t>Four initiatives remove them</a:t>
            </a:r>
          </a:p>
        </p:txBody>
      </p:sp>
      <p:sp>
        <p:nvSpPr>
          <p:cNvPr id="32" name="fx0-fill"/>
          <p:cNvSpPr/>
          <p:nvPr/>
        </p:nvSpPr>
        <p:spPr>
          <a:xfrm>
            <a:off x="411480" y="5373624"/>
            <a:ext cx="1845540" cy="792480"/>
          </a:xfrm>
          <a:prstGeom prst="rect">
            <a:avLst/>
          </a:prstGeom>
          <a:solidFill>
            <a:srgbClr val="EEF2F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fx0-h"/>
          <p:cNvSpPr/>
          <p:nvPr/>
        </p:nvSpPr>
        <p:spPr>
          <a:xfrm>
            <a:off x="466344" y="5428488"/>
            <a:ext cx="1735812" cy="1498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ts val="108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sz="900" b="1" i="0">
                <a:solidFill>
                  <a:srgbClr val="17232D"/>
                </a:solidFill>
                <a:latin typeface="Inter"/>
              </a:rPr>
              <a:t>C1  Contract-price master</a:t>
            </a:r>
          </a:p>
        </p:txBody>
      </p:sp>
      <p:sp>
        <p:nvSpPr>
          <p:cNvPr id="34" name="fx0-t"/>
          <p:cNvSpPr/>
          <p:nvPr/>
        </p:nvSpPr>
        <p:spPr>
          <a:xfrm>
            <a:off x="466344" y="5605780"/>
            <a:ext cx="1735812" cy="3886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ts val="92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sz="800" b="0" i="0">
                <a:solidFill>
                  <a:srgbClr val="17232D"/>
                </a:solidFill>
                <a:latin typeface="Inter"/>
              </a:rPr>
              <a:t>$10m run-rate for $7m; live in the</a:t>
            </a:r>
            <a:br/>
            <a:r>
              <a:rPr sz="800" b="0" i="0">
                <a:solidFill>
                  <a:srgbClr val="17232D"/>
                </a:solidFill>
                <a:latin typeface="Inter"/>
              </a:rPr>
              <a:t>US in May 2026; fixes pain point 2</a:t>
            </a:r>
            <a:br/>
            <a:r>
              <a:rPr sz="800" b="0" i="0">
                <a:solidFill>
                  <a:srgbClr val="17232D"/>
                </a:solidFill>
                <a:latin typeface="Inter"/>
              </a:rPr>
              <a:t>and the pricing half of 1</a:t>
            </a:r>
          </a:p>
        </p:txBody>
      </p:sp>
      <p:sp>
        <p:nvSpPr>
          <p:cNvPr id="35" name="fx1-fill"/>
          <p:cNvSpPr/>
          <p:nvPr/>
        </p:nvSpPr>
        <p:spPr>
          <a:xfrm>
            <a:off x="2311884" y="5373624"/>
            <a:ext cx="1845540" cy="792480"/>
          </a:xfrm>
          <a:prstGeom prst="rect">
            <a:avLst/>
          </a:prstGeom>
          <a:solidFill>
            <a:srgbClr val="EEF2F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fx1-h"/>
          <p:cNvSpPr/>
          <p:nvPr/>
        </p:nvSpPr>
        <p:spPr>
          <a:xfrm>
            <a:off x="2366748" y="5428488"/>
            <a:ext cx="1735812" cy="1498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ts val="108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sz="900" b="1" i="0">
                <a:solidFill>
                  <a:srgbClr val="17232D"/>
                </a:solidFill>
                <a:latin typeface="Inter"/>
              </a:rPr>
              <a:t>C2  Bill-only digitised</a:t>
            </a:r>
          </a:p>
        </p:txBody>
      </p:sp>
      <p:sp>
        <p:nvSpPr>
          <p:cNvPr id="37" name="fx1-t"/>
          <p:cNvSpPr/>
          <p:nvPr/>
        </p:nvSpPr>
        <p:spPr>
          <a:xfrm>
            <a:off x="2366748" y="5605780"/>
            <a:ext cx="1735812" cy="3886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ts val="92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sz="800" b="0" i="0">
                <a:solidFill>
                  <a:srgbClr val="17232D"/>
                </a:solidFill>
                <a:latin typeface="Inter"/>
              </a:rPr>
              <a:t>$4m for $8m; surgeons' implant</a:t>
            </a:r>
            <a:br/>
            <a:r>
              <a:rPr sz="800" b="0" i="0">
                <a:solidFill>
                  <a:srgbClr val="17232D"/>
                </a:solidFill>
                <a:latin typeface="Inter"/>
              </a:rPr>
              <a:t>use reported from the theatre on</a:t>
            </a:r>
            <a:br/>
            <a:r>
              <a:rPr sz="800" b="0" i="0">
                <a:solidFill>
                  <a:srgbClr val="17232D"/>
                </a:solidFill>
                <a:latin typeface="Inter"/>
              </a:rPr>
              <a:t>the day of surgery: pain point 3</a:t>
            </a:r>
          </a:p>
        </p:txBody>
      </p:sp>
      <p:sp>
        <p:nvSpPr>
          <p:cNvPr id="38" name="fx2-fill"/>
          <p:cNvSpPr/>
          <p:nvPr/>
        </p:nvSpPr>
        <p:spPr>
          <a:xfrm>
            <a:off x="4212288" y="5373624"/>
            <a:ext cx="1845539" cy="792480"/>
          </a:xfrm>
          <a:prstGeom prst="rect">
            <a:avLst/>
          </a:prstGeom>
          <a:solidFill>
            <a:srgbClr val="EEF2F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" name="fx2-h"/>
          <p:cNvSpPr/>
          <p:nvPr/>
        </p:nvSpPr>
        <p:spPr>
          <a:xfrm>
            <a:off x="4267152" y="5428488"/>
            <a:ext cx="1735811" cy="1498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ts val="108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sz="900" b="1" i="0">
                <a:solidFill>
                  <a:srgbClr val="17232D"/>
                </a:solidFill>
                <a:latin typeface="Inter"/>
              </a:rPr>
              <a:t>C3  Collections automation</a:t>
            </a:r>
          </a:p>
        </p:txBody>
      </p:sp>
      <p:sp>
        <p:nvSpPr>
          <p:cNvPr id="40" name="fx2-t"/>
          <p:cNvSpPr/>
          <p:nvPr/>
        </p:nvSpPr>
        <p:spPr>
          <a:xfrm>
            <a:off x="4267152" y="5605780"/>
            <a:ext cx="1735811" cy="3886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ts val="92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sz="800" b="0" i="0">
                <a:solidFill>
                  <a:srgbClr val="17232D"/>
                </a:solidFill>
                <a:latin typeface="Inter"/>
              </a:rPr>
              <a:t>$4m for $6m; disputes routed by</a:t>
            </a:r>
            <a:br/>
            <a:r>
              <a:rPr sz="800" b="0" i="0">
                <a:solidFill>
                  <a:srgbClr val="17232D"/>
                </a:solidFill>
                <a:latin typeface="Inter"/>
              </a:rPr>
              <a:t>cause and cash matched by rule:</a:t>
            </a:r>
            <a:br/>
            <a:r>
              <a:rPr sz="800" b="0" i="0">
                <a:solidFill>
                  <a:srgbClr val="17232D"/>
                </a:solidFill>
                <a:latin typeface="Inter"/>
              </a:rPr>
              <a:t>pain points 5 and 6</a:t>
            </a:r>
          </a:p>
        </p:txBody>
      </p:sp>
      <p:sp>
        <p:nvSpPr>
          <p:cNvPr id="41" name="fx3-fill"/>
          <p:cNvSpPr/>
          <p:nvPr/>
        </p:nvSpPr>
        <p:spPr>
          <a:xfrm>
            <a:off x="6112691" y="5373624"/>
            <a:ext cx="1845539" cy="792480"/>
          </a:xfrm>
          <a:prstGeom prst="rect">
            <a:avLst/>
          </a:prstGeom>
          <a:solidFill>
            <a:srgbClr val="EEF2F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" name="fx3-h"/>
          <p:cNvSpPr/>
          <p:nvPr/>
        </p:nvSpPr>
        <p:spPr>
          <a:xfrm>
            <a:off x="6167555" y="5428488"/>
            <a:ext cx="1735811" cy="1498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ts val="108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sz="900" b="1" i="0">
                <a:solidFill>
                  <a:srgbClr val="17232D"/>
                </a:solidFill>
                <a:latin typeface="Inter"/>
              </a:rPr>
              <a:t>O1  Brno hub</a:t>
            </a:r>
          </a:p>
        </p:txBody>
      </p:sp>
      <p:sp>
        <p:nvSpPr>
          <p:cNvPr id="43" name="fx3-t"/>
          <p:cNvSpPr/>
          <p:nvPr/>
        </p:nvSpPr>
        <p:spPr>
          <a:xfrm>
            <a:off x="6167555" y="5605780"/>
            <a:ext cx="1735811" cy="5054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ts val="92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sz="800" b="0" i="0">
                <a:solidFill>
                  <a:srgbClr val="17232D"/>
                </a:solidFill>
                <a:latin typeface="Inter"/>
              </a:rPr>
              <a:t>Order entry and invoicing move to</a:t>
            </a:r>
            <a:br/>
            <a:r>
              <a:rPr sz="800" b="0" i="0">
                <a:solidFill>
                  <a:srgbClr val="17232D"/>
                </a:solidFill>
                <a:latin typeface="Inter"/>
              </a:rPr>
              <a:t>one team in January 2027,</a:t>
            </a:r>
            <a:br/>
            <a:r>
              <a:rPr sz="800" b="0" i="0">
                <a:solidFill>
                  <a:srgbClr val="17232D"/>
                </a:solidFill>
                <a:latin typeface="Inter"/>
              </a:rPr>
              <a:t>removing the re-keying in pain</a:t>
            </a:r>
            <a:br/>
            <a:r>
              <a:rPr sz="800" b="0" i="0">
                <a:solidFill>
                  <a:srgbClr val="17232D"/>
                </a:solidFill>
                <a:latin typeface="Inter"/>
              </a:rPr>
              <a:t>points 1 and 4</a:t>
            </a:r>
          </a:p>
        </p:txBody>
      </p:sp>
      <p:sp>
        <p:nvSpPr>
          <p:cNvPr id="44" name="days-h"/>
          <p:cNvSpPr/>
          <p:nvPr/>
        </p:nvSpPr>
        <p:spPr>
          <a:xfrm>
            <a:off x="8186830" y="3087369"/>
            <a:ext cx="3593690" cy="1600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ts val="12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 b="1" i="0">
                <a:solidFill>
                  <a:srgbClr val="0E4D5E"/>
                </a:solidFill>
                <a:latin typeface="Inter"/>
              </a:rPr>
              <a:t>Where the 70 days go</a:t>
            </a:r>
          </a:p>
        </p:txBody>
      </p:sp>
      <p:sp>
        <p:nvSpPr>
          <p:cNvPr id="45" name="days-u"/>
          <p:cNvSpPr/>
          <p:nvPr/>
        </p:nvSpPr>
        <p:spPr>
          <a:xfrm>
            <a:off x="8186830" y="3302253"/>
            <a:ext cx="359369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50" b="0" i="0">
                <a:solidFill>
                  <a:srgbClr val="56636D"/>
                </a:solidFill>
                <a:latin typeface="Inter"/>
              </a:rPr>
              <a:t>Average days from order to cash: pale, contract terms, unchanged; orange,</a:t>
            </a:r>
            <a:br/>
            <a:r>
              <a:rPr sz="750" b="0" i="0">
                <a:solidFill>
                  <a:srgbClr val="56636D"/>
                </a:solidFill>
                <a:latin typeface="Inter"/>
              </a:rPr>
              <a:t>avoidable delay</a:t>
            </a:r>
          </a:p>
        </p:txBody>
      </p:sp>
      <p:graphicFrame>
        <p:nvGraphicFramePr>
          <p:cNvPr id="46" name="days"/>
          <p:cNvGraphicFramePr>
            <a:graphicFrameLocks noGrp="1"/>
          </p:cNvGraphicFramePr>
          <p:nvPr/>
        </p:nvGraphicFramePr>
        <p:xfrm>
          <a:off x="8186830" y="3585717"/>
          <a:ext cx="3593690" cy="1521207"/>
        </p:xfrm>
        <a:graphic>
          <a:graphicData uri="http://schemas.openxmlformats.org/drawingml/2006/chart">
            <c:chart xmlns:c="http://schemas.openxmlformats.org/drawingml/2006/chart" r:id="rId16"/>
          </a:graphicData>
        </a:graphic>
      </p:graphicFrame>
      <p:graphicFrame>
        <p:nvGraphicFramePr>
          <p:cNvPr id="47" name="split"/>
          <p:cNvGraphicFramePr>
            <a:graphicFrameLocks noGrp="1"/>
          </p:cNvGraphicFramePr>
          <p:nvPr/>
        </p:nvGraphicFramePr>
        <p:xfrm>
          <a:off x="8186830" y="5161788"/>
          <a:ext cx="3593690" cy="677672"/>
        </p:xfrm>
        <a:graphic>
          <a:graphicData uri="http://schemas.openxmlformats.org/drawingml/2006/table">
            <a:tbl>
              <a:tblPr firstRow="0" bandRow="0" lastRow="0" firstCol="0" lastCol="0" bandCol="0"/>
              <a:tblGrid>
                <a:gridCol w="2156214"/>
                <a:gridCol w="717839"/>
                <a:gridCol w="719637"/>
              </a:tblGrid>
              <a:tr h="169418">
                <a:tc>
                  <a:txBody>
                    <a:bodyPr wrap="square"/>
                    <a:lstStyle/>
                    <a:p>
                      <a:pPr algn="l"/>
                      <a:r>
                        <a:rPr sz="750" b="1" i="0">
                          <a:solidFill>
                            <a:srgbClr val="0E4D5E"/>
                          </a:solidFill>
                          <a:latin typeface="Inter"/>
                        </a:rPr>
                        <a:t>Avoidable days, by where they arise</a:t>
                      </a:r>
                      <a:endParaRPr sz="750" b="1" i="0">
                        <a:solidFill>
                          <a:srgbClr val="0E4D5E"/>
                        </a:solidFill>
                        <a:latin typeface="Inter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0E4D5E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1" i="0">
                          <a:solidFill>
                            <a:srgbClr val="0E4D5E"/>
                          </a:solidFill>
                          <a:latin typeface="Inter"/>
                        </a:rPr>
                        <a:t>FY2025</a:t>
                      </a:r>
                      <a:endParaRPr sz="750" b="1" i="0">
                        <a:solidFill>
                          <a:srgbClr val="0E4D5E"/>
                        </a:solidFill>
                        <a:latin typeface="Inter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0E4D5E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1" i="0">
                          <a:solidFill>
                            <a:srgbClr val="0E4D5E"/>
                          </a:solidFill>
                          <a:latin typeface="Inter"/>
                        </a:rPr>
                        <a:t>FY2028</a:t>
                      </a:r>
                      <a:endParaRPr sz="750" b="1" i="0">
                        <a:solidFill>
                          <a:srgbClr val="0E4D5E"/>
                        </a:solidFill>
                        <a:latin typeface="Inter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0E4D5E"/>
                      </a:solidFill>
                    </a:lnB>
                    <a:noFill/>
                  </a:tcPr>
                </a:tc>
              </a:tr>
              <a:tr h="169418">
                <a:tc>
                  <a:txBody>
                    <a:bodyPr wrap="square"/>
                    <a:lstStyle/>
                    <a:p>
                      <a:pPr algn="l"/>
                      <a:r>
                        <a:rPr sz="750" b="0" i="0">
                          <a:solidFill>
                            <a:srgbClr val="17232D"/>
                          </a:solidFill>
                          <a:latin typeface="Inter"/>
                        </a:rPr>
                        <a:t>Collect past contract terms, step 6</a:t>
                      </a:r>
                      <a:endParaRPr sz="750" b="0" i="0">
                        <a:solidFill>
                          <a:srgbClr val="17232D"/>
                        </a:solidFill>
                        <a:latin typeface="Inter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rgbClr val="0E4D5E"/>
                      </a:solidFill>
                    </a:lnT>
                    <a:lnB w="6350">
                      <a:solidFill>
                        <a:srgbClr val="C9D2D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 i="0">
                          <a:solidFill>
                            <a:srgbClr val="17232D"/>
                          </a:solidFill>
                          <a:latin typeface="Inter"/>
                        </a:rPr>
                        <a:t>13.8</a:t>
                      </a:r>
                      <a:endParaRPr sz="750" b="0" i="0">
                        <a:solidFill>
                          <a:srgbClr val="17232D"/>
                        </a:solidFill>
                        <a:latin typeface="Inter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rgbClr val="0E4D5E"/>
                      </a:solidFill>
                    </a:lnT>
                    <a:lnB w="6350">
                      <a:solidFill>
                        <a:srgbClr val="C9D2D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1" i="0">
                          <a:solidFill>
                            <a:srgbClr val="0E4D5E"/>
                          </a:solidFill>
                          <a:latin typeface="Inter"/>
                        </a:rPr>
                        <a:t>2.5</a:t>
                      </a:r>
                      <a:endParaRPr sz="750" b="1" i="0">
                        <a:solidFill>
                          <a:srgbClr val="0E4D5E"/>
                        </a:solidFill>
                        <a:latin typeface="Inter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rgbClr val="0E4D5E"/>
                      </a:solidFill>
                    </a:lnT>
                    <a:lnB w="6350">
                      <a:solidFill>
                        <a:srgbClr val="C9D2D8"/>
                      </a:solidFill>
                    </a:lnB>
                    <a:noFill/>
                  </a:tcPr>
                </a:tc>
              </a:tr>
              <a:tr h="169418">
                <a:tc>
                  <a:txBody>
                    <a:bodyPr wrap="square"/>
                    <a:lstStyle/>
                    <a:p>
                      <a:pPr algn="l"/>
                      <a:r>
                        <a:rPr sz="750" b="0" i="0">
                          <a:solidFill>
                            <a:srgbClr val="17232D"/>
                          </a:solidFill>
                          <a:latin typeface="Inter"/>
                        </a:rPr>
                        <a:t>Processing in the other six steps</a:t>
                      </a:r>
                      <a:endParaRPr sz="750" b="0" i="0">
                        <a:solidFill>
                          <a:srgbClr val="17232D"/>
                        </a:solidFill>
                        <a:latin typeface="Inter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D2D8"/>
                      </a:solidFill>
                    </a:lnT>
                    <a:lnB w="9525">
                      <a:solidFill>
                        <a:srgbClr val="0E4D5E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 i="0">
                          <a:solidFill>
                            <a:srgbClr val="17232D"/>
                          </a:solidFill>
                          <a:latin typeface="Inter"/>
                        </a:rPr>
                        <a:t>11.2</a:t>
                      </a:r>
                      <a:endParaRPr sz="750" b="0" i="0">
                        <a:solidFill>
                          <a:srgbClr val="17232D"/>
                        </a:solidFill>
                        <a:latin typeface="Inter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D2D8"/>
                      </a:solidFill>
                    </a:lnT>
                    <a:lnB w="9525">
                      <a:solidFill>
                        <a:srgbClr val="0E4D5E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1" i="0">
                          <a:solidFill>
                            <a:srgbClr val="0E4D5E"/>
                          </a:solidFill>
                          <a:latin typeface="Inter"/>
                        </a:rPr>
                        <a:t>3.5</a:t>
                      </a:r>
                      <a:endParaRPr sz="750" b="1" i="0">
                        <a:solidFill>
                          <a:srgbClr val="0E4D5E"/>
                        </a:solidFill>
                        <a:latin typeface="Inter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D2D8"/>
                      </a:solidFill>
                    </a:lnT>
                    <a:lnB w="9525">
                      <a:solidFill>
                        <a:srgbClr val="0E4D5E"/>
                      </a:solidFill>
                    </a:lnB>
                    <a:noFill/>
                  </a:tcPr>
                </a:tc>
              </a:tr>
              <a:tr h="169418">
                <a:tc>
                  <a:txBody>
                    <a:bodyPr wrap="square"/>
                    <a:lstStyle/>
                    <a:p>
                      <a:pPr algn="l"/>
                      <a:r>
                        <a:rPr sz="750" b="1" i="0">
                          <a:solidFill>
                            <a:srgbClr val="17232D"/>
                          </a:solidFill>
                          <a:latin typeface="Inter"/>
                        </a:rPr>
                        <a:t>Avoidable delay</a:t>
                      </a:r>
                      <a:endParaRPr sz="750" b="1" i="0">
                        <a:solidFill>
                          <a:srgbClr val="17232D"/>
                        </a:solidFill>
                        <a:latin typeface="Inter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rgbClr val="0E4D5E"/>
                      </a:solidFill>
                    </a:lnT>
                    <a:lnB w="9525">
                      <a:solidFill>
                        <a:srgbClr val="0E4D5E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1" i="0">
                          <a:solidFill>
                            <a:srgbClr val="17232D"/>
                          </a:solidFill>
                          <a:latin typeface="Inter"/>
                        </a:rPr>
                        <a:t>25.0</a:t>
                      </a:r>
                      <a:endParaRPr sz="750" b="1" i="0">
                        <a:solidFill>
                          <a:srgbClr val="17232D"/>
                        </a:solidFill>
                        <a:latin typeface="Inter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rgbClr val="0E4D5E"/>
                      </a:solidFill>
                    </a:lnT>
                    <a:lnB w="9525">
                      <a:solidFill>
                        <a:srgbClr val="0E4D5E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1" i="0">
                          <a:solidFill>
                            <a:srgbClr val="0E4D5E"/>
                          </a:solidFill>
                          <a:latin typeface="Inter"/>
                        </a:rPr>
                        <a:t>6.0</a:t>
                      </a:r>
                      <a:endParaRPr sz="750" b="1" i="0">
                        <a:solidFill>
                          <a:srgbClr val="0E4D5E"/>
                        </a:solidFill>
                        <a:latin typeface="Inter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rgbClr val="0E4D5E"/>
                      </a:solidFill>
                    </a:lnT>
                    <a:lnB w="9525">
                      <a:solidFill>
                        <a:srgbClr val="0E4D5E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48" name="days-t"/>
          <p:cNvSpPr/>
          <p:nvPr/>
        </p:nvSpPr>
        <p:spPr>
          <a:xfrm>
            <a:off x="8186830" y="5894324"/>
            <a:ext cx="3593690" cy="2717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ts val="92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sz="800" b="0" i="0">
                <a:solidFill>
                  <a:srgbClr val="17232D"/>
                </a:solidFill>
                <a:latin typeface="Inter"/>
              </a:rPr>
              <a:t>Cutting 19 avoidable days releases $75m of receivables at FY2028</a:t>
            </a:r>
            <a:br/>
            <a:r>
              <a:rPr sz="800" b="0" i="0">
                <a:solidFill>
                  <a:srgbClr val="17232D"/>
                </a:solidFill>
                <a:latin typeface="Inter"/>
              </a:rPr>
              <a:t>revenue. The C initiatives capture $18m of the $28m a year, 64%.</a:t>
            </a:r>
          </a:p>
        </p:txBody>
      </p:sp>
      <p:sp>
        <p:nvSpPr>
          <p:cNvPr id="49" name="source"/>
          <p:cNvSpPr/>
          <p:nvPr/>
        </p:nvSpPr>
        <p:spPr>
          <a:xfrm>
            <a:off x="411480" y="6266688"/>
            <a:ext cx="11369040" cy="1066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ts val="8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00" b="0" i="0">
                <a:solidFill>
                  <a:srgbClr val="56636D"/>
                </a:solidFill>
                <a:latin typeface="Inter"/>
              </a:rPr>
              <a:t>Source: Corrin Medical management accounts and transformation plan; FY2025 is eleven months actual and a December forecast. All figures are illustrative, invented for a fictional company.</a:t>
            </a:r>
          </a:p>
        </p:txBody>
      </p:sp>
      <p:sp>
        <p:nvSpPr>
          <p:cNvPr id="50" name="pp1-badge"/>
          <p:cNvSpPr/>
          <p:nvPr/>
        </p:nvSpPr>
        <p:spPr>
          <a:xfrm>
            <a:off x="2960500" y="1840892"/>
            <a:ext cx="140405" cy="140405"/>
          </a:xfrm>
          <a:prstGeom prst="ellipse">
            <a:avLst/>
          </a:prstGeom>
          <a:solidFill>
            <a:srgbClr val="C4541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1" name="pp1-label"/>
          <p:cNvSpPr/>
          <p:nvPr/>
        </p:nvSpPr>
        <p:spPr>
          <a:xfrm>
            <a:off x="2989935" y="1853945"/>
            <a:ext cx="81535" cy="1143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 marL="0" indent="0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50" b="1" i="0">
                <a:solidFill>
                  <a:srgbClr val="FFFFFF"/>
                </a:solidFill>
                <a:latin typeface="Inter"/>
              </a:rPr>
              <a:t>1</a:t>
            </a:r>
          </a:p>
        </p:txBody>
      </p:sp>
      <p:sp>
        <p:nvSpPr>
          <p:cNvPr id="52" name="pp2-badge"/>
          <p:cNvSpPr/>
          <p:nvPr/>
        </p:nvSpPr>
        <p:spPr>
          <a:xfrm>
            <a:off x="4346969" y="1835005"/>
            <a:ext cx="152180" cy="152180"/>
          </a:xfrm>
          <a:prstGeom prst="ellipse">
            <a:avLst/>
          </a:prstGeom>
          <a:solidFill>
            <a:srgbClr val="C4541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3" name="pp2-label"/>
          <p:cNvSpPr/>
          <p:nvPr/>
        </p:nvSpPr>
        <p:spPr>
          <a:xfrm>
            <a:off x="4372827" y="1853945"/>
            <a:ext cx="100464" cy="1143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 marL="0" indent="0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50" b="1" i="0">
                <a:solidFill>
                  <a:srgbClr val="FFFFFF"/>
                </a:solidFill>
                <a:latin typeface="Inter"/>
              </a:rPr>
              <a:t>2</a:t>
            </a:r>
          </a:p>
        </p:txBody>
      </p:sp>
      <p:sp>
        <p:nvSpPr>
          <p:cNvPr id="54" name="pp3-badge"/>
          <p:cNvSpPr/>
          <p:nvPr/>
        </p:nvSpPr>
        <p:spPr>
          <a:xfrm>
            <a:off x="7119906" y="1834512"/>
            <a:ext cx="153167" cy="153167"/>
          </a:xfrm>
          <a:prstGeom prst="ellipse">
            <a:avLst/>
          </a:prstGeom>
          <a:solidFill>
            <a:srgbClr val="C4541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5" name="pp3-label"/>
          <p:cNvSpPr/>
          <p:nvPr/>
        </p:nvSpPr>
        <p:spPr>
          <a:xfrm>
            <a:off x="7145513" y="1853945"/>
            <a:ext cx="101953" cy="1143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 marL="0" indent="0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50" b="1" i="0">
                <a:solidFill>
                  <a:srgbClr val="FFFFFF"/>
                </a:solidFill>
                <a:latin typeface="Inter"/>
              </a:rPr>
              <a:t>3</a:t>
            </a:r>
          </a:p>
        </p:txBody>
      </p:sp>
      <p:sp>
        <p:nvSpPr>
          <p:cNvPr id="56" name="pp4-badge"/>
          <p:cNvSpPr/>
          <p:nvPr/>
        </p:nvSpPr>
        <p:spPr>
          <a:xfrm>
            <a:off x="8506374" y="1833529"/>
            <a:ext cx="155133" cy="155133"/>
          </a:xfrm>
          <a:prstGeom prst="ellipse">
            <a:avLst/>
          </a:prstGeom>
          <a:solidFill>
            <a:srgbClr val="C4541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7" name="pp4-label"/>
          <p:cNvSpPr/>
          <p:nvPr/>
        </p:nvSpPr>
        <p:spPr>
          <a:xfrm>
            <a:off x="8531499" y="1853945"/>
            <a:ext cx="104883" cy="1143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 marL="0" indent="0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50" b="1" i="0">
                <a:solidFill>
                  <a:srgbClr val="FFFFFF"/>
                </a:solidFill>
                <a:latin typeface="Inter"/>
              </a:rPr>
              <a:t>4</a:t>
            </a:r>
          </a:p>
        </p:txBody>
      </p:sp>
      <p:sp>
        <p:nvSpPr>
          <p:cNvPr id="58" name="pp5-badge"/>
          <p:cNvSpPr/>
          <p:nvPr/>
        </p:nvSpPr>
        <p:spPr>
          <a:xfrm>
            <a:off x="9892842" y="1834713"/>
            <a:ext cx="152765" cy="152765"/>
          </a:xfrm>
          <a:prstGeom prst="ellipse">
            <a:avLst/>
          </a:prstGeom>
          <a:solidFill>
            <a:srgbClr val="C4541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9" name="pp5-label"/>
          <p:cNvSpPr/>
          <p:nvPr/>
        </p:nvSpPr>
        <p:spPr>
          <a:xfrm>
            <a:off x="9918550" y="1853945"/>
            <a:ext cx="101348" cy="1143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 marL="0" indent="0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50" b="1" i="0">
                <a:solidFill>
                  <a:srgbClr val="FFFFFF"/>
                </a:solidFill>
                <a:latin typeface="Inter"/>
              </a:rPr>
              <a:t>5</a:t>
            </a:r>
          </a:p>
        </p:txBody>
      </p:sp>
      <p:sp>
        <p:nvSpPr>
          <p:cNvPr id="60" name="pp6-badge"/>
          <p:cNvSpPr/>
          <p:nvPr/>
        </p:nvSpPr>
        <p:spPr>
          <a:xfrm>
            <a:off x="11279310" y="1834388"/>
            <a:ext cx="153415" cy="153415"/>
          </a:xfrm>
          <a:prstGeom prst="ellipse">
            <a:avLst/>
          </a:prstGeom>
          <a:solidFill>
            <a:srgbClr val="C4541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1" name="pp6-label"/>
          <p:cNvSpPr/>
          <p:nvPr/>
        </p:nvSpPr>
        <p:spPr>
          <a:xfrm>
            <a:off x="11304855" y="1853945"/>
            <a:ext cx="102325" cy="1143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 marL="0" indent="0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50" b="1" i="0">
                <a:solidFill>
                  <a:srgbClr val="FFFFFF"/>
                </a:solidFill>
                <a:latin typeface="Inter"/>
              </a:rPr>
              <a:t>6</a:t>
            </a:r>
          </a:p>
        </p:txBody>
      </p:sp>
    </p:spTree>
    <p:custDataLst>
      <p:tags r:id="rId18"/>
    </p:custDataLst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cxnSp>
        <p:nvCxnSpPr>
          <p:cNvPr id="51" name="chrome-1"/>
          <p:cNvCxnSpPr/>
          <p:nvPr/>
        </p:nvCxnSpPr>
        <p:spPr>
          <a:xfrm>
            <a:off x="411480" y="1037843"/>
            <a:ext cx="11368735" cy="0"/>
          </a:xfrm>
          <a:prstGeom prst="line">
            <a:avLst/>
          </a:prstGeom>
          <a:ln w="12700">
            <a:solidFill>
              <a:srgbClr val="0E4D5E"/>
            </a:solidFill>
          </a:ln>
        </p:spPr>
      </p:cxnSp>
      <p:cxnSp>
        <p:nvCxnSpPr>
          <p:cNvPr id="52" name="chrome-2"/>
          <p:cNvCxnSpPr/>
          <p:nvPr/>
        </p:nvCxnSpPr>
        <p:spPr>
          <a:xfrm>
            <a:off x="411480" y="6405372"/>
            <a:ext cx="11368735" cy="0"/>
          </a:xfrm>
          <a:prstGeom prst="line">
            <a:avLst/>
          </a:prstGeom>
          <a:ln w="6350">
            <a:solidFill>
              <a:srgbClr val="C9D2D8"/>
            </a:solidFill>
          </a:ln>
        </p:spPr>
      </p:cxnSp>
      <p:pic>
        <p:nvPicPr>
          <p:cNvPr id="53" name="chrome-3" descr="corrin-mark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11480" y="6473952"/>
            <a:ext cx="201168" cy="201168"/>
          </a:xfrm>
          <a:prstGeom prst="rect">
            <a:avLst/>
          </a:prstGeom>
        </p:spPr>
      </p:pic>
      <p:sp>
        <p:nvSpPr>
          <p:cNvPr id="54" name="chrome-4"/>
          <p:cNvSpPr txBox="1"/>
          <p:nvPr/>
        </p:nvSpPr>
        <p:spPr>
          <a:xfrm>
            <a:off x="658368" y="6492240"/>
            <a:ext cx="1188720" cy="164592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r>
              <a:rPr sz="900" b="1">
                <a:solidFill>
                  <a:srgbClr val="0E4D5E"/>
                </a:solidFill>
                <a:latin typeface="Inter"/>
              </a:rPr>
              <a:t>Corrin Medical</a:t>
            </a:r>
          </a:p>
        </p:txBody>
      </p:sp>
      <p:sp>
        <p:nvSpPr>
          <p:cNvPr id="55" name="chrome-5"/>
          <p:cNvSpPr txBox="1"/>
          <p:nvPr/>
        </p:nvSpPr>
        <p:spPr>
          <a:xfrm>
            <a:off x="1920240" y="6510528"/>
            <a:ext cx="8229600" cy="1524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r"/>
            <a:r>
              <a:rPr sz="700" b="0">
                <a:solidFill>
                  <a:srgbClr val="56636D"/>
                </a:solidFill>
                <a:latin typeface="Inter"/>
              </a:rPr>
              <a:t>Board of Directors  |  Corrin 2028 operating transformation  |  18 December 2025  |  Illustrative figures for a fictional company</a:t>
            </a:r>
          </a:p>
        </p:txBody>
      </p:sp>
      <p:sp>
        <p:nvSpPr>
          <p:cNvPr id="56" name="chrome-6"/>
          <p:cNvSpPr txBox="1"/>
          <p:nvPr/>
        </p:nvSpPr>
        <p:spPr>
          <a:xfrm>
            <a:off x="11323015" y="6510528"/>
            <a:ext cx="457200" cy="1524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r"/>
            <a:fld id="{B6F15528-21DE-4FAA-801E-634DDDAF5B2F}" type="slidenum">
              <a:rPr sz="700">
                <a:solidFill>
                  <a:srgbClr val="56636D"/>
                </a:solidFill>
                <a:latin typeface="Inter"/>
              </a:rPr>
              <a:t>1</a:t>
            </a:fld>
          </a:p>
        </p:txBody>
      </p:sp>
      <p:sp>
        <p:nvSpPr>
          <p:cNvPr id="3" name="kicker"/>
          <p:cNvSpPr/>
          <p:nvPr/>
        </p:nvSpPr>
        <p:spPr>
          <a:xfrm>
            <a:off x="411480" y="543305"/>
            <a:ext cx="11369040" cy="1219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ts val="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00" b="1" i="0" spc="50">
                <a:solidFill>
                  <a:srgbClr val="0E4D5E"/>
                </a:solidFill>
                <a:latin typeface="Inter"/>
              </a:rPr>
              <a:t>FOOTPRINT  |  SEVEN PLANTS TO FIVE</a:t>
            </a:r>
          </a:p>
        </p:txBody>
      </p:sp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411480" y="692657"/>
            <a:ext cx="11369040" cy="240030"/>
          </a:xfrm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1" i="0">
                <a:solidFill>
                  <a:srgbClr val="17232D"/>
                </a:solidFill>
                <a:latin typeface="Inter"/>
              </a:rPr>
              <a:t>Two plant exits lift network utilisation from 64% to 84% and save $29m a year</a:t>
            </a:r>
          </a:p>
        </p:txBody>
      </p:sp>
      <p:sp>
        <p:nvSpPr>
          <p:cNvPr id="4" name="map-h"/>
          <p:cNvSpPr/>
          <p:nvPr/>
        </p:nvSpPr>
        <p:spPr>
          <a:xfrm>
            <a:off x="411480" y="1133855"/>
            <a:ext cx="5106035" cy="1600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ts val="12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 b="1" i="0">
                <a:solidFill>
                  <a:srgbClr val="0E4D5E"/>
                </a:solidFill>
                <a:latin typeface="Inter"/>
              </a:rPr>
              <a:t>Two regional clusters, two closures, three line transfers</a:t>
            </a:r>
          </a:p>
        </p:txBody>
      </p:sp>
      <p:sp>
        <p:nvSpPr>
          <p:cNvPr id="5" name="map-u"/>
          <p:cNvSpPr/>
          <p:nvPr/>
        </p:nvSpPr>
        <p:spPr>
          <a:xfrm>
            <a:off x="411480" y="1348739"/>
            <a:ext cx="5106035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50" b="0" i="0">
                <a:solidFill>
                  <a:srgbClr val="56636D"/>
                </a:solidFill>
                <a:latin typeface="Inter"/>
              </a:rPr>
              <a:t>Each closing plant's lines go to the nearest plant that already makes or services the product</a:t>
            </a:r>
          </a:p>
        </p:txBody>
      </p:sp>
      <p:sp>
        <p:nvSpPr>
          <p:cNvPr id="6" name="map-na-h"/>
          <p:cNvSpPr/>
          <p:nvPr/>
        </p:nvSpPr>
        <p:spPr>
          <a:xfrm>
            <a:off x="411480" y="1517903"/>
            <a:ext cx="2224645" cy="1498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ts val="108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sz="900" b="1" i="0">
                <a:solidFill>
                  <a:srgbClr val="17232D"/>
                </a:solidFill>
                <a:latin typeface="Inter"/>
              </a:rPr>
              <a:t>North America</a:t>
            </a:r>
          </a:p>
        </p:txBody>
      </p:sp>
      <p:pic>
        <p:nvPicPr>
          <p:cNvPr id="7" name="map-na" descr="image.pn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11480" y="1720581"/>
            <a:ext cx="2224645" cy="2993672"/>
          </a:xfrm>
          <a:prstGeom prst="rect">
            <a:avLst/>
          </a:prstGeom>
        </p:spPr>
      </p:pic>
      <p:sp>
        <p:nvSpPr>
          <p:cNvPr id="8" name="map-eu-h"/>
          <p:cNvSpPr/>
          <p:nvPr/>
        </p:nvSpPr>
        <p:spPr>
          <a:xfrm>
            <a:off x="2736709" y="1517903"/>
            <a:ext cx="2780806" cy="1498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ts val="108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sz="900" b="1" i="0">
                <a:solidFill>
                  <a:srgbClr val="17232D"/>
                </a:solidFill>
                <a:latin typeface="Inter"/>
              </a:rPr>
              <a:t>Europe</a:t>
            </a:r>
          </a:p>
        </p:txBody>
      </p:sp>
      <p:pic>
        <p:nvPicPr>
          <p:cNvPr id="9" name="map-eu" descr="image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736709" y="1721852"/>
            <a:ext cx="2780806" cy="2991131"/>
          </a:xfrm>
          <a:prstGeom prst="rect">
            <a:avLst/>
          </a:prstGeom>
        </p:spPr>
      </p:pic>
      <p:sp>
        <p:nvSpPr>
          <p:cNvPr id="10" name="kd1-fill"/>
          <p:cNvSpPr/>
          <p:nvPr/>
        </p:nvSpPr>
        <p:spPr>
          <a:xfrm>
            <a:off x="411480" y="4794504"/>
            <a:ext cx="118872" cy="118872"/>
          </a:xfrm>
          <a:prstGeom prst="ellipse">
            <a:avLst/>
          </a:prstGeom>
          <a:solidFill>
            <a:srgbClr val="C4541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kt1"/>
          <p:cNvSpPr/>
          <p:nvPr/>
        </p:nvSpPr>
        <p:spPr>
          <a:xfrm>
            <a:off x="585216" y="4796790"/>
            <a:ext cx="1053034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50" b="0" i="0">
                <a:solidFill>
                  <a:srgbClr val="56636D"/>
                </a:solidFill>
                <a:latin typeface="Inter"/>
              </a:rPr>
              <a:t>Plant that closes</a:t>
            </a:r>
          </a:p>
        </p:txBody>
      </p:sp>
      <p:sp>
        <p:nvSpPr>
          <p:cNvPr id="12" name="kd2-fill"/>
          <p:cNvSpPr/>
          <p:nvPr/>
        </p:nvSpPr>
        <p:spPr>
          <a:xfrm>
            <a:off x="1693114" y="4794504"/>
            <a:ext cx="118872" cy="118872"/>
          </a:xfrm>
          <a:prstGeom prst="ellipse">
            <a:avLst/>
          </a:prstGeom>
          <a:solidFill>
            <a:srgbClr val="0E4D5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kt2"/>
          <p:cNvSpPr/>
          <p:nvPr/>
        </p:nvSpPr>
        <p:spPr>
          <a:xfrm>
            <a:off x="1866850" y="4796790"/>
            <a:ext cx="1526899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50" b="0" i="0">
                <a:solidFill>
                  <a:srgbClr val="56636D"/>
                </a:solidFill>
                <a:latin typeface="Inter"/>
              </a:rPr>
              <a:t>Plant retained or expanded</a:t>
            </a:r>
          </a:p>
        </p:txBody>
      </p:sp>
      <p:pic>
        <p:nvPicPr>
          <p:cNvPr id="14" name="key-ar" descr="image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448613" y="4808220"/>
            <a:ext cx="274320" cy="91440"/>
          </a:xfrm>
          <a:prstGeom prst="rect">
            <a:avLst/>
          </a:prstGeom>
        </p:spPr>
      </p:pic>
      <p:sp>
        <p:nvSpPr>
          <p:cNvPr id="15" name="kt3"/>
          <p:cNvSpPr/>
          <p:nvPr/>
        </p:nvSpPr>
        <p:spPr>
          <a:xfrm>
            <a:off x="3777797" y="4796790"/>
            <a:ext cx="1368944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50" b="0" i="0">
                <a:solidFill>
                  <a:srgbClr val="56636D"/>
                </a:solidFill>
                <a:latin typeface="Inter"/>
              </a:rPr>
              <a:t>Production lines move</a:t>
            </a:r>
          </a:p>
        </p:txBody>
      </p:sp>
      <p:sp>
        <p:nvSpPr>
          <p:cNvPr id="16" name="map-n"/>
          <p:cNvSpPr/>
          <p:nvPr/>
        </p:nvSpPr>
        <p:spPr>
          <a:xfrm>
            <a:off x="411480" y="4968240"/>
            <a:ext cx="5106035" cy="2717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ts val="92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sz="800" b="0" i="0">
                <a:solidFill>
                  <a:srgbClr val="17232D"/>
                </a:solidFill>
                <a:latin typeface="Inter"/>
              </a:rPr>
              <a:t>Salt Lake City's pump electronics move to Minneapolis and its infusion sets to Ciudad Juarez; Tuttlingen's</a:t>
            </a:r>
            <a:br/>
            <a:r>
              <a:rPr sz="800" b="0" i="0">
                <a:solidFill>
                  <a:srgbClr val="17232D"/>
                </a:solidFill>
                <a:latin typeface="Inter"/>
              </a:rPr>
              <a:t>instruments move 590 km to Brno, which already reprocesses them.</a:t>
            </a:r>
          </a:p>
        </p:txBody>
      </p:sp>
      <p:sp>
        <p:nvSpPr>
          <p:cNvPr id="17" name="fact1-fill"/>
          <p:cNvSpPr/>
          <p:nvPr/>
        </p:nvSpPr>
        <p:spPr>
          <a:xfrm>
            <a:off x="411480" y="5294884"/>
            <a:ext cx="1634956" cy="871220"/>
          </a:xfrm>
          <a:prstGeom prst="rect">
            <a:avLst/>
          </a:prstGeom>
          <a:solidFill>
            <a:srgbClr val="EEF2F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f1-v"/>
          <p:cNvSpPr/>
          <p:nvPr/>
        </p:nvSpPr>
        <p:spPr>
          <a:xfrm>
            <a:off x="512064" y="5395468"/>
            <a:ext cx="1433788" cy="254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000" b="1" i="0">
                <a:solidFill>
                  <a:srgbClr val="0E4D5E"/>
                </a:solidFill>
                <a:latin typeface="Inter"/>
              </a:rPr>
              <a:t>84%</a:t>
            </a:r>
          </a:p>
        </p:txBody>
      </p:sp>
      <p:sp>
        <p:nvSpPr>
          <p:cNvPr id="19" name="f1-l"/>
          <p:cNvSpPr/>
          <p:nvPr/>
        </p:nvSpPr>
        <p:spPr>
          <a:xfrm>
            <a:off x="512064" y="5676900"/>
            <a:ext cx="1433788" cy="3886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ts val="92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sz="800" b="0" i="0">
                <a:solidFill>
                  <a:srgbClr val="17232D"/>
                </a:solidFill>
                <a:latin typeface="Inter"/>
              </a:rPr>
              <a:t>Network utilisation in</a:t>
            </a:r>
            <a:br/>
            <a:r>
              <a:rPr sz="800" b="0" i="0">
                <a:solidFill>
                  <a:srgbClr val="17232D"/>
                </a:solidFill>
                <a:latin typeface="Inter"/>
              </a:rPr>
              <a:t>FY2028, capacity-weighted,</a:t>
            </a:r>
            <a:br/>
            <a:r>
              <a:rPr sz="800" b="0" i="0">
                <a:solidFill>
                  <a:srgbClr val="17232D"/>
                </a:solidFill>
                <a:latin typeface="Inter"/>
              </a:rPr>
              <a:t>from 64%</a:t>
            </a:r>
          </a:p>
        </p:txBody>
      </p:sp>
      <p:sp>
        <p:nvSpPr>
          <p:cNvPr id="20" name="fact2-fill"/>
          <p:cNvSpPr/>
          <p:nvPr/>
        </p:nvSpPr>
        <p:spPr>
          <a:xfrm>
            <a:off x="2147020" y="5294884"/>
            <a:ext cx="1634956" cy="871220"/>
          </a:xfrm>
          <a:prstGeom prst="rect">
            <a:avLst/>
          </a:prstGeom>
          <a:solidFill>
            <a:srgbClr val="EEF2F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f2-v"/>
          <p:cNvSpPr/>
          <p:nvPr/>
        </p:nvSpPr>
        <p:spPr>
          <a:xfrm>
            <a:off x="2247604" y="5395468"/>
            <a:ext cx="1433788" cy="254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000" b="1" i="0">
                <a:solidFill>
                  <a:srgbClr val="0E4D5E"/>
                </a:solidFill>
                <a:latin typeface="Inter"/>
              </a:rPr>
              <a:t>9 lines</a:t>
            </a:r>
          </a:p>
        </p:txBody>
      </p:sp>
      <p:sp>
        <p:nvSpPr>
          <p:cNvPr id="22" name="f2-l"/>
          <p:cNvSpPr/>
          <p:nvPr/>
        </p:nvSpPr>
        <p:spPr>
          <a:xfrm>
            <a:off x="2247604" y="5676900"/>
            <a:ext cx="1433788" cy="2717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ts val="92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sz="800" b="0" i="0">
                <a:solidFill>
                  <a:srgbClr val="17232D"/>
                </a:solidFill>
                <a:latin typeface="Inter"/>
              </a:rPr>
              <a:t>Moved in three transfers, one</a:t>
            </a:r>
            <a:br/>
            <a:r>
              <a:rPr sz="800" b="0" i="0">
                <a:solidFill>
                  <a:srgbClr val="17232D"/>
                </a:solidFill>
                <a:latin typeface="Inter"/>
              </a:rPr>
              <a:t>at a time, by June 2028</a:t>
            </a:r>
          </a:p>
        </p:txBody>
      </p:sp>
      <p:sp>
        <p:nvSpPr>
          <p:cNvPr id="23" name="fact3-fill"/>
          <p:cNvSpPr/>
          <p:nvPr/>
        </p:nvSpPr>
        <p:spPr>
          <a:xfrm>
            <a:off x="3882560" y="5294884"/>
            <a:ext cx="1634955" cy="871220"/>
          </a:xfrm>
          <a:prstGeom prst="rect">
            <a:avLst/>
          </a:prstGeom>
          <a:solidFill>
            <a:srgbClr val="EEF2F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f3-v"/>
          <p:cNvSpPr/>
          <p:nvPr/>
        </p:nvSpPr>
        <p:spPr>
          <a:xfrm>
            <a:off x="3983144" y="5395468"/>
            <a:ext cx="1433787" cy="254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000" b="1" i="0">
                <a:solidFill>
                  <a:srgbClr val="0E4D5E"/>
                </a:solidFill>
                <a:latin typeface="Inter"/>
              </a:rPr>
              <a:t>-150</a:t>
            </a:r>
          </a:p>
        </p:txBody>
      </p:sp>
      <p:sp>
        <p:nvSpPr>
          <p:cNvPr id="25" name="f3-l"/>
          <p:cNvSpPr/>
          <p:nvPr/>
        </p:nvSpPr>
        <p:spPr>
          <a:xfrm>
            <a:off x="3983144" y="5676900"/>
            <a:ext cx="1433787" cy="3886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ts val="92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sz="800" b="0" i="0">
                <a:solidFill>
                  <a:srgbClr val="17232D"/>
                </a:solidFill>
                <a:latin typeface="Inter"/>
              </a:rPr>
              <a:t>Net headcount: 4,020 to</a:t>
            </a:r>
            <a:br/>
            <a:r>
              <a:rPr sz="800" b="0" i="0">
                <a:solidFill>
                  <a:srgbClr val="17232D"/>
                </a:solidFill>
                <a:latin typeface="Inter"/>
              </a:rPr>
              <a:t>3,870, as receiving plants</a:t>
            </a:r>
            <a:br/>
            <a:r>
              <a:rPr sz="800" b="0" i="0">
                <a:solidFill>
                  <a:srgbClr val="17232D"/>
                </a:solidFill>
                <a:latin typeface="Inter"/>
              </a:rPr>
              <a:t>hire 550</a:t>
            </a:r>
          </a:p>
        </p:txBody>
      </p:sp>
      <p:sp>
        <p:nvSpPr>
          <p:cNvPr id="26" name="tab-h"/>
          <p:cNvSpPr/>
          <p:nvPr/>
        </p:nvSpPr>
        <p:spPr>
          <a:xfrm>
            <a:off x="5746115" y="1133855"/>
            <a:ext cx="6034405" cy="1600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ts val="12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 b="1" i="0">
                <a:solidFill>
                  <a:srgbClr val="0E4D5E"/>
                </a:solidFill>
                <a:latin typeface="Inter"/>
              </a:rPr>
              <a:t>Capacity, utilisation and headcount by plant</a:t>
            </a:r>
          </a:p>
        </p:txBody>
      </p:sp>
      <p:sp>
        <p:nvSpPr>
          <p:cNvPr id="27" name="tab-u"/>
          <p:cNvSpPr/>
          <p:nvPr/>
        </p:nvSpPr>
        <p:spPr>
          <a:xfrm>
            <a:off x="5746115" y="1348739"/>
            <a:ext cx="6034405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50" b="0" i="0">
                <a:solidFill>
                  <a:srgbClr val="56636D"/>
                </a:solidFill>
                <a:latin typeface="Inter"/>
              </a:rPr>
              <a:t>Capacity is annual output at standard cost; utilisation is output over capacity; FY2028 in petrol, closing plants in orange</a:t>
            </a:r>
          </a:p>
        </p:txBody>
      </p:sp>
      <p:graphicFrame>
        <p:nvGraphicFramePr>
          <p:cNvPr id="28" name="plants"/>
          <p:cNvGraphicFramePr>
            <a:graphicFrameLocks noGrp="1"/>
          </p:cNvGraphicFramePr>
          <p:nvPr/>
        </p:nvGraphicFramePr>
        <p:xfrm>
          <a:off x="5746115" y="1517903"/>
          <a:ext cx="6034405" cy="1694180"/>
        </p:xfrm>
        <a:graphic>
          <a:graphicData uri="http://schemas.openxmlformats.org/drawingml/2006/table">
            <a:tbl>
              <a:tblPr firstRow="0" bandRow="0" lastRow="0" firstCol="0" lastCol="0" bandCol="0"/>
              <a:tblGrid>
                <a:gridCol w="905161"/>
                <a:gridCol w="1146537"/>
                <a:gridCol w="422408"/>
                <a:gridCol w="422408"/>
                <a:gridCol w="452580"/>
                <a:gridCol w="452580"/>
                <a:gridCol w="452580"/>
                <a:gridCol w="452580"/>
                <a:gridCol w="1327571"/>
              </a:tblGrid>
              <a:tr h="169418">
                <a:tc>
                  <a:txBody>
                    <a:bodyPr wrap="square"/>
                    <a:lstStyle/>
                    <a:p>
                      <a:pPr algn="l"/>
                      <a:endParaRPr sz="750" b="1" i="0">
                        <a:solidFill>
                          <a:srgbClr val="0E4D5E"/>
                        </a:solidFill>
                        <a:latin typeface="Inter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C9D2D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endParaRPr sz="750" b="1" i="0">
                        <a:solidFill>
                          <a:srgbClr val="0E4D5E"/>
                        </a:solidFill>
                        <a:latin typeface="Inter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C9D2D8"/>
                      </a:solidFill>
                    </a:lnB>
                    <a:noFill/>
                  </a:tcPr>
                </a:tc>
                <a:tc gridSpan="2">
                  <a:txBody>
                    <a:bodyPr wrap="square"/>
                    <a:lstStyle/>
                    <a:p>
                      <a:pPr algn="ctr"/>
                      <a:r>
                        <a:rPr sz="750" b="1" i="0">
                          <a:solidFill>
                            <a:srgbClr val="0E4D5E"/>
                          </a:solidFill>
                          <a:latin typeface="Inter"/>
                        </a:rPr>
                        <a:t>Capacity, $m</a:t>
                      </a:r>
                      <a:endParaRPr sz="750" b="1" i="0">
                        <a:solidFill>
                          <a:srgbClr val="0E4D5E"/>
                        </a:solidFill>
                        <a:latin typeface="Inter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C9D2D8"/>
                      </a:solidFill>
                    </a:lnB>
                    <a:noFill/>
                  </a:tcPr>
                </a:tc>
                <a:tc hMerge="1">
                  <a:txBody>
                    <a:bodyPr wrap="square"/>
                    <a:lstStyle/>
                    <a:p>
                      <a:pPr algn="r"/>
                      <a:endParaRPr sz="750" b="1" i="0">
                        <a:solidFill>
                          <a:srgbClr val="0E4D5E"/>
                        </a:solidFill>
                        <a:latin typeface="Inter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C9D2D8"/>
                      </a:solidFill>
                    </a:lnB>
                    <a:noFill/>
                  </a:tcPr>
                </a:tc>
                <a:tc gridSpan="2">
                  <a:txBody>
                    <a:bodyPr wrap="square"/>
                    <a:lstStyle/>
                    <a:p>
                      <a:pPr algn="ctr"/>
                      <a:r>
                        <a:rPr sz="750" b="1" i="0">
                          <a:solidFill>
                            <a:srgbClr val="0E4D5E"/>
                          </a:solidFill>
                          <a:latin typeface="Inter"/>
                        </a:rPr>
                        <a:t>Utilisation, %</a:t>
                      </a:r>
                      <a:endParaRPr sz="750" b="1" i="0">
                        <a:solidFill>
                          <a:srgbClr val="0E4D5E"/>
                        </a:solidFill>
                        <a:latin typeface="Inter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C9D2D8"/>
                      </a:solidFill>
                    </a:lnB>
                    <a:noFill/>
                  </a:tcPr>
                </a:tc>
                <a:tc hMerge="1">
                  <a:txBody>
                    <a:bodyPr wrap="square"/>
                    <a:lstStyle/>
                    <a:p>
                      <a:pPr algn="r"/>
                      <a:endParaRPr sz="750" b="1" i="0">
                        <a:solidFill>
                          <a:srgbClr val="0E4D5E"/>
                        </a:solidFill>
                        <a:latin typeface="Inter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C9D2D8"/>
                      </a:solidFill>
                    </a:lnB>
                    <a:noFill/>
                  </a:tcPr>
                </a:tc>
                <a:tc gridSpan="2">
                  <a:txBody>
                    <a:bodyPr wrap="square"/>
                    <a:lstStyle/>
                    <a:p>
                      <a:pPr algn="ctr"/>
                      <a:r>
                        <a:rPr sz="750" b="1" i="0">
                          <a:solidFill>
                            <a:srgbClr val="0E4D5E"/>
                          </a:solidFill>
                          <a:latin typeface="Inter"/>
                        </a:rPr>
                        <a:t>Headcount</a:t>
                      </a:r>
                      <a:endParaRPr sz="750" b="1" i="0">
                        <a:solidFill>
                          <a:srgbClr val="0E4D5E"/>
                        </a:solidFill>
                        <a:latin typeface="Inter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C9D2D8"/>
                      </a:solidFill>
                    </a:lnB>
                    <a:noFill/>
                  </a:tcPr>
                </a:tc>
                <a:tc hMerge="1">
                  <a:txBody>
                    <a:bodyPr wrap="square"/>
                    <a:lstStyle/>
                    <a:p>
                      <a:pPr algn="r"/>
                      <a:endParaRPr sz="750" b="1" i="0">
                        <a:solidFill>
                          <a:srgbClr val="0E4D5E"/>
                        </a:solidFill>
                        <a:latin typeface="Inter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C9D2D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endParaRPr sz="750" b="1" i="0">
                        <a:solidFill>
                          <a:srgbClr val="0E4D5E"/>
                        </a:solidFill>
                        <a:latin typeface="Inter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C9D2D8"/>
                      </a:solidFill>
                    </a:lnB>
                    <a:noFill/>
                  </a:tcPr>
                </a:tc>
              </a:tr>
              <a:tr h="169418">
                <a:tc>
                  <a:txBody>
                    <a:bodyPr wrap="square"/>
                    <a:lstStyle/>
                    <a:p>
                      <a:pPr algn="l"/>
                      <a:r>
                        <a:rPr sz="750" b="1" i="0">
                          <a:solidFill>
                            <a:srgbClr val="0E4D5E"/>
                          </a:solidFill>
                          <a:latin typeface="Inter"/>
                        </a:rPr>
                        <a:t>Plant</a:t>
                      </a:r>
                      <a:endParaRPr sz="750" b="1" i="0">
                        <a:solidFill>
                          <a:srgbClr val="0E4D5E"/>
                        </a:solidFill>
                        <a:latin typeface="Inter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D2D8"/>
                      </a:solidFill>
                    </a:lnT>
                    <a:lnB w="9525">
                      <a:solidFill>
                        <a:srgbClr val="0E4D5E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 b="1" i="0">
                          <a:solidFill>
                            <a:srgbClr val="0E4D5E"/>
                          </a:solidFill>
                          <a:latin typeface="Inter"/>
                        </a:rPr>
                        <a:t>Products</a:t>
                      </a:r>
                      <a:endParaRPr sz="750" b="1" i="0">
                        <a:solidFill>
                          <a:srgbClr val="0E4D5E"/>
                        </a:solidFill>
                        <a:latin typeface="Inter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D2D8"/>
                      </a:solidFill>
                    </a:lnT>
                    <a:lnB w="9525">
                      <a:solidFill>
                        <a:srgbClr val="0E4D5E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1" i="0">
                          <a:solidFill>
                            <a:srgbClr val="0E4D5E"/>
                          </a:solidFill>
                          <a:latin typeface="Inter"/>
                        </a:rPr>
                        <a:t>FY25</a:t>
                      </a:r>
                      <a:endParaRPr sz="750" b="1" i="0">
                        <a:solidFill>
                          <a:srgbClr val="0E4D5E"/>
                        </a:solidFill>
                        <a:latin typeface="Inter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D2D8"/>
                      </a:solidFill>
                    </a:lnT>
                    <a:lnB w="9525">
                      <a:solidFill>
                        <a:srgbClr val="0E4D5E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1" i="0">
                          <a:solidFill>
                            <a:srgbClr val="0E4D5E"/>
                          </a:solidFill>
                          <a:latin typeface="Inter"/>
                        </a:rPr>
                        <a:t>FY28</a:t>
                      </a:r>
                      <a:endParaRPr sz="750" b="1" i="0">
                        <a:solidFill>
                          <a:srgbClr val="0E4D5E"/>
                        </a:solidFill>
                        <a:latin typeface="Inter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D2D8"/>
                      </a:solidFill>
                    </a:lnT>
                    <a:lnB w="9525">
                      <a:solidFill>
                        <a:srgbClr val="0E4D5E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1" i="0">
                          <a:solidFill>
                            <a:srgbClr val="0E4D5E"/>
                          </a:solidFill>
                          <a:latin typeface="Inter"/>
                        </a:rPr>
                        <a:t>FY25</a:t>
                      </a:r>
                      <a:endParaRPr sz="750" b="1" i="0">
                        <a:solidFill>
                          <a:srgbClr val="0E4D5E"/>
                        </a:solidFill>
                        <a:latin typeface="Inter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D2D8"/>
                      </a:solidFill>
                    </a:lnT>
                    <a:lnB w="9525">
                      <a:solidFill>
                        <a:srgbClr val="0E4D5E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1" i="0">
                          <a:solidFill>
                            <a:srgbClr val="0E4D5E"/>
                          </a:solidFill>
                          <a:latin typeface="Inter"/>
                        </a:rPr>
                        <a:t>FY28</a:t>
                      </a:r>
                      <a:endParaRPr sz="750" b="1" i="0">
                        <a:solidFill>
                          <a:srgbClr val="0E4D5E"/>
                        </a:solidFill>
                        <a:latin typeface="Inter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D2D8"/>
                      </a:solidFill>
                    </a:lnT>
                    <a:lnB w="9525">
                      <a:solidFill>
                        <a:srgbClr val="0E4D5E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1" i="0">
                          <a:solidFill>
                            <a:srgbClr val="0E4D5E"/>
                          </a:solidFill>
                          <a:latin typeface="Inter"/>
                        </a:rPr>
                        <a:t>FY25</a:t>
                      </a:r>
                      <a:endParaRPr sz="750" b="1" i="0">
                        <a:solidFill>
                          <a:srgbClr val="0E4D5E"/>
                        </a:solidFill>
                        <a:latin typeface="Inter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D2D8"/>
                      </a:solidFill>
                    </a:lnT>
                    <a:lnB w="9525">
                      <a:solidFill>
                        <a:srgbClr val="0E4D5E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1" i="0">
                          <a:solidFill>
                            <a:srgbClr val="0E4D5E"/>
                          </a:solidFill>
                          <a:latin typeface="Inter"/>
                        </a:rPr>
                        <a:t>FY28</a:t>
                      </a:r>
                      <a:endParaRPr sz="750" b="1" i="0">
                        <a:solidFill>
                          <a:srgbClr val="0E4D5E"/>
                        </a:solidFill>
                        <a:latin typeface="Inter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D2D8"/>
                      </a:solidFill>
                    </a:lnT>
                    <a:lnB w="9525">
                      <a:solidFill>
                        <a:srgbClr val="0E4D5E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 b="1" i="0">
                          <a:solidFill>
                            <a:srgbClr val="0E4D5E"/>
                          </a:solidFill>
                          <a:latin typeface="Inter"/>
                        </a:rPr>
                        <a:t>Action</a:t>
                      </a:r>
                      <a:endParaRPr sz="750" b="1" i="0">
                        <a:solidFill>
                          <a:srgbClr val="0E4D5E"/>
                        </a:solidFill>
                        <a:latin typeface="Inter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D2D8"/>
                      </a:solidFill>
                    </a:lnT>
                    <a:lnB w="9525">
                      <a:solidFill>
                        <a:srgbClr val="0E4D5E"/>
                      </a:solidFill>
                    </a:lnB>
                    <a:noFill/>
                  </a:tcPr>
                </a:tc>
              </a:tr>
              <a:tr h="169418">
                <a:tc>
                  <a:txBody>
                    <a:bodyPr wrap="square"/>
                    <a:lstStyle/>
                    <a:p>
                      <a:pPr algn="l"/>
                      <a:r>
                        <a:rPr sz="750" b="0" i="0">
                          <a:solidFill>
                            <a:srgbClr val="17232D"/>
                          </a:solidFill>
                          <a:latin typeface="Inter"/>
                        </a:rPr>
                        <a:t>Minneapolis</a:t>
                      </a:r>
                      <a:endParaRPr sz="750" b="0" i="0">
                        <a:solidFill>
                          <a:srgbClr val="17232D"/>
                        </a:solidFill>
                        <a:latin typeface="Inter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rgbClr val="0E4D5E"/>
                      </a:solidFill>
                    </a:lnT>
                    <a:lnB w="6350">
                      <a:solidFill>
                        <a:srgbClr val="C9D2D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 b="0" i="0">
                          <a:solidFill>
                            <a:srgbClr val="17232D"/>
                          </a:solidFill>
                          <a:latin typeface="Inter"/>
                        </a:rPr>
                        <a:t>Monitoring systems</a:t>
                      </a:r>
                      <a:endParaRPr sz="750" b="0" i="0">
                        <a:solidFill>
                          <a:srgbClr val="17232D"/>
                        </a:solidFill>
                        <a:latin typeface="Inter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rgbClr val="0E4D5E"/>
                      </a:solidFill>
                    </a:lnT>
                    <a:lnB w="6350">
                      <a:solidFill>
                        <a:srgbClr val="C9D2D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 i="0">
                          <a:solidFill>
                            <a:srgbClr val="17232D"/>
                          </a:solidFill>
                          <a:latin typeface="Inter"/>
                        </a:rPr>
                        <a:t>260</a:t>
                      </a:r>
                      <a:endParaRPr sz="750" b="0" i="0">
                        <a:solidFill>
                          <a:srgbClr val="17232D"/>
                        </a:solidFill>
                        <a:latin typeface="Inter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rgbClr val="0E4D5E"/>
                      </a:solidFill>
                    </a:lnT>
                    <a:lnB w="6350">
                      <a:solidFill>
                        <a:srgbClr val="C9D2D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1" i="0">
                          <a:solidFill>
                            <a:srgbClr val="0E4D5E"/>
                          </a:solidFill>
                          <a:latin typeface="Inter"/>
                        </a:rPr>
                        <a:t>290</a:t>
                      </a:r>
                      <a:endParaRPr sz="750" b="1" i="0">
                        <a:solidFill>
                          <a:srgbClr val="0E4D5E"/>
                        </a:solidFill>
                        <a:latin typeface="Inter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rgbClr val="0E4D5E"/>
                      </a:solidFill>
                    </a:lnT>
                    <a:lnB w="6350">
                      <a:solidFill>
                        <a:srgbClr val="C9D2D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 i="0">
                          <a:solidFill>
                            <a:srgbClr val="17232D"/>
                          </a:solidFill>
                          <a:latin typeface="Inter"/>
                        </a:rPr>
                        <a:t>66</a:t>
                      </a:r>
                      <a:endParaRPr sz="750" b="0" i="0">
                        <a:solidFill>
                          <a:srgbClr val="17232D"/>
                        </a:solidFill>
                        <a:latin typeface="Inter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rgbClr val="0E4D5E"/>
                      </a:solidFill>
                    </a:lnT>
                    <a:lnB w="6350">
                      <a:solidFill>
                        <a:srgbClr val="C9D2D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1" i="0">
                          <a:solidFill>
                            <a:srgbClr val="0E4D5E"/>
                          </a:solidFill>
                          <a:latin typeface="Inter"/>
                        </a:rPr>
                        <a:t>86</a:t>
                      </a:r>
                      <a:endParaRPr sz="750" b="1" i="0">
                        <a:solidFill>
                          <a:srgbClr val="0E4D5E"/>
                        </a:solidFill>
                        <a:latin typeface="Inter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rgbClr val="0E4D5E"/>
                      </a:solidFill>
                    </a:lnT>
                    <a:lnB w="6350">
                      <a:solidFill>
                        <a:srgbClr val="C9D2D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 i="0">
                          <a:solidFill>
                            <a:srgbClr val="17232D"/>
                          </a:solidFill>
                          <a:latin typeface="Inter"/>
                        </a:rPr>
                        <a:t>640</a:t>
                      </a:r>
                      <a:endParaRPr sz="750" b="0" i="0">
                        <a:solidFill>
                          <a:srgbClr val="17232D"/>
                        </a:solidFill>
                        <a:latin typeface="Inter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rgbClr val="0E4D5E"/>
                      </a:solidFill>
                    </a:lnT>
                    <a:lnB w="6350">
                      <a:solidFill>
                        <a:srgbClr val="C9D2D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1" i="0">
                          <a:solidFill>
                            <a:srgbClr val="0E4D5E"/>
                          </a:solidFill>
                          <a:latin typeface="Inter"/>
                        </a:rPr>
                        <a:t>760</a:t>
                      </a:r>
                      <a:endParaRPr sz="750" b="1" i="0">
                        <a:solidFill>
                          <a:srgbClr val="0E4D5E"/>
                        </a:solidFill>
                        <a:latin typeface="Inter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rgbClr val="0E4D5E"/>
                      </a:solidFill>
                    </a:lnT>
                    <a:lnB w="6350">
                      <a:solidFill>
                        <a:srgbClr val="C9D2D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 b="0" i="0">
                          <a:solidFill>
                            <a:srgbClr val="17232D"/>
                          </a:solidFill>
                          <a:latin typeface="Inter"/>
                        </a:rPr>
                        <a:t>Expand: pump electronics</a:t>
                      </a:r>
                      <a:endParaRPr sz="750" b="0" i="0">
                        <a:solidFill>
                          <a:srgbClr val="17232D"/>
                        </a:solidFill>
                        <a:latin typeface="Inter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rgbClr val="0E4D5E"/>
                      </a:solidFill>
                    </a:lnT>
                    <a:lnB w="6350">
                      <a:solidFill>
                        <a:srgbClr val="C9D2D8"/>
                      </a:solidFill>
                    </a:lnB>
                    <a:noFill/>
                  </a:tcPr>
                </a:tc>
              </a:tr>
              <a:tr h="169418">
                <a:tc>
                  <a:txBody>
                    <a:bodyPr wrap="square"/>
                    <a:lstStyle/>
                    <a:p>
                      <a:pPr algn="l"/>
                      <a:r>
                        <a:rPr sz="750" b="0" i="0">
                          <a:solidFill>
                            <a:srgbClr val="C4541C"/>
                          </a:solidFill>
                          <a:latin typeface="Inter"/>
                        </a:rPr>
                        <a:t>Salt Lake City</a:t>
                      </a:r>
                      <a:endParaRPr sz="750" b="0" i="0">
                        <a:solidFill>
                          <a:srgbClr val="C4541C"/>
                        </a:solidFill>
                        <a:latin typeface="Inter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D2D8"/>
                      </a:solidFill>
                    </a:lnT>
                    <a:lnB w="6350">
                      <a:solidFill>
                        <a:srgbClr val="C9D2D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 b="0" i="0">
                          <a:solidFill>
                            <a:srgbClr val="C4541C"/>
                          </a:solidFill>
                          <a:latin typeface="Inter"/>
                        </a:rPr>
                        <a:t>Infusion pumps</a:t>
                      </a:r>
                      <a:endParaRPr sz="750" b="0" i="0">
                        <a:solidFill>
                          <a:srgbClr val="C4541C"/>
                        </a:solidFill>
                        <a:latin typeface="Inter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D2D8"/>
                      </a:solidFill>
                    </a:lnT>
                    <a:lnB w="6350">
                      <a:solidFill>
                        <a:srgbClr val="C9D2D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 i="0">
                          <a:solidFill>
                            <a:srgbClr val="C4541C"/>
                          </a:solidFill>
                          <a:latin typeface="Inter"/>
                        </a:rPr>
                        <a:t>150</a:t>
                      </a:r>
                      <a:endParaRPr sz="750" b="0" i="0">
                        <a:solidFill>
                          <a:srgbClr val="C4541C"/>
                        </a:solidFill>
                        <a:latin typeface="Inter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D2D8"/>
                      </a:solidFill>
                    </a:lnT>
                    <a:lnB w="6350">
                      <a:solidFill>
                        <a:srgbClr val="C9D2D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1" i="0">
                          <a:solidFill>
                            <a:srgbClr val="0E4D5E"/>
                          </a:solidFill>
                          <a:latin typeface="Inter"/>
                        </a:rPr>
                        <a:t>-</a:t>
                      </a:r>
                      <a:endParaRPr sz="750" b="1" i="0">
                        <a:solidFill>
                          <a:srgbClr val="0E4D5E"/>
                        </a:solidFill>
                        <a:latin typeface="Inter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D2D8"/>
                      </a:solidFill>
                    </a:lnT>
                    <a:lnB w="6350">
                      <a:solidFill>
                        <a:srgbClr val="C9D2D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 i="0">
                          <a:solidFill>
                            <a:srgbClr val="C4541C"/>
                          </a:solidFill>
                          <a:latin typeface="Inter"/>
                        </a:rPr>
                        <a:t>48</a:t>
                      </a:r>
                      <a:endParaRPr sz="750" b="0" i="0">
                        <a:solidFill>
                          <a:srgbClr val="C4541C"/>
                        </a:solidFill>
                        <a:latin typeface="Inter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D2D8"/>
                      </a:solidFill>
                    </a:lnT>
                    <a:lnB w="6350">
                      <a:solidFill>
                        <a:srgbClr val="C9D2D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1" i="0">
                          <a:solidFill>
                            <a:srgbClr val="0E4D5E"/>
                          </a:solidFill>
                          <a:latin typeface="Inter"/>
                        </a:rPr>
                        <a:t>-</a:t>
                      </a:r>
                      <a:endParaRPr sz="750" b="1" i="0">
                        <a:solidFill>
                          <a:srgbClr val="0E4D5E"/>
                        </a:solidFill>
                        <a:latin typeface="Inter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D2D8"/>
                      </a:solidFill>
                    </a:lnT>
                    <a:lnB w="6350">
                      <a:solidFill>
                        <a:srgbClr val="C9D2D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 i="0">
                          <a:solidFill>
                            <a:srgbClr val="C4541C"/>
                          </a:solidFill>
                          <a:latin typeface="Inter"/>
                        </a:rPr>
                        <a:t>410</a:t>
                      </a:r>
                      <a:endParaRPr sz="750" b="0" i="0">
                        <a:solidFill>
                          <a:srgbClr val="C4541C"/>
                        </a:solidFill>
                        <a:latin typeface="Inter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D2D8"/>
                      </a:solidFill>
                    </a:lnT>
                    <a:lnB w="6350">
                      <a:solidFill>
                        <a:srgbClr val="C9D2D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1" i="0">
                          <a:solidFill>
                            <a:srgbClr val="0E4D5E"/>
                          </a:solidFill>
                          <a:latin typeface="Inter"/>
                        </a:rPr>
                        <a:t>-</a:t>
                      </a:r>
                      <a:endParaRPr sz="750" b="1" i="0">
                        <a:solidFill>
                          <a:srgbClr val="0E4D5E"/>
                        </a:solidFill>
                        <a:latin typeface="Inter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D2D8"/>
                      </a:solidFill>
                    </a:lnT>
                    <a:lnB w="6350">
                      <a:solidFill>
                        <a:srgbClr val="C9D2D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 b="0" i="0">
                          <a:solidFill>
                            <a:srgbClr val="C4541C"/>
                          </a:solidFill>
                          <a:latin typeface="Inter"/>
                        </a:rPr>
                        <a:t>Exit by September 2027</a:t>
                      </a:r>
                      <a:endParaRPr sz="750" b="0" i="0">
                        <a:solidFill>
                          <a:srgbClr val="C4541C"/>
                        </a:solidFill>
                        <a:latin typeface="Inter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D2D8"/>
                      </a:solidFill>
                    </a:lnT>
                    <a:lnB w="6350">
                      <a:solidFill>
                        <a:srgbClr val="C9D2D8"/>
                      </a:solidFill>
                    </a:lnB>
                    <a:noFill/>
                  </a:tcPr>
                </a:tc>
              </a:tr>
              <a:tr h="169418">
                <a:tc>
                  <a:txBody>
                    <a:bodyPr wrap="square"/>
                    <a:lstStyle/>
                    <a:p>
                      <a:pPr algn="l"/>
                      <a:r>
                        <a:rPr sz="750" b="0" i="0">
                          <a:solidFill>
                            <a:srgbClr val="17232D"/>
                          </a:solidFill>
                          <a:latin typeface="Inter"/>
                        </a:rPr>
                        <a:t>Ciudad Juarez</a:t>
                      </a:r>
                      <a:endParaRPr sz="750" b="0" i="0">
                        <a:solidFill>
                          <a:srgbClr val="17232D"/>
                        </a:solidFill>
                        <a:latin typeface="Inter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D2D8"/>
                      </a:solidFill>
                    </a:lnT>
                    <a:lnB w="6350">
                      <a:solidFill>
                        <a:srgbClr val="C9D2D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 b="0" i="0">
                          <a:solidFill>
                            <a:srgbClr val="17232D"/>
                          </a:solidFill>
                          <a:latin typeface="Inter"/>
                        </a:rPr>
                        <a:t>Infusion sets</a:t>
                      </a:r>
                      <a:endParaRPr sz="750" b="0" i="0">
                        <a:solidFill>
                          <a:srgbClr val="17232D"/>
                        </a:solidFill>
                        <a:latin typeface="Inter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D2D8"/>
                      </a:solidFill>
                    </a:lnT>
                    <a:lnB w="6350">
                      <a:solidFill>
                        <a:srgbClr val="C9D2D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 i="0">
                          <a:solidFill>
                            <a:srgbClr val="17232D"/>
                          </a:solidFill>
                          <a:latin typeface="Inter"/>
                        </a:rPr>
                        <a:t>300</a:t>
                      </a:r>
                      <a:endParaRPr sz="750" b="0" i="0">
                        <a:solidFill>
                          <a:srgbClr val="17232D"/>
                        </a:solidFill>
                        <a:latin typeface="Inter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D2D8"/>
                      </a:solidFill>
                    </a:lnT>
                    <a:lnB w="6350">
                      <a:solidFill>
                        <a:srgbClr val="C9D2D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1" i="0">
                          <a:solidFill>
                            <a:srgbClr val="0E4D5E"/>
                          </a:solidFill>
                          <a:latin typeface="Inter"/>
                        </a:rPr>
                        <a:t>360</a:t>
                      </a:r>
                      <a:endParaRPr sz="750" b="1" i="0">
                        <a:solidFill>
                          <a:srgbClr val="0E4D5E"/>
                        </a:solidFill>
                        <a:latin typeface="Inter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D2D8"/>
                      </a:solidFill>
                    </a:lnT>
                    <a:lnB w="6350">
                      <a:solidFill>
                        <a:srgbClr val="C9D2D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 i="0">
                          <a:solidFill>
                            <a:srgbClr val="17232D"/>
                          </a:solidFill>
                          <a:latin typeface="Inter"/>
                        </a:rPr>
                        <a:t>79</a:t>
                      </a:r>
                      <a:endParaRPr sz="750" b="0" i="0">
                        <a:solidFill>
                          <a:srgbClr val="17232D"/>
                        </a:solidFill>
                        <a:latin typeface="Inter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D2D8"/>
                      </a:solidFill>
                    </a:lnT>
                    <a:lnB w="6350">
                      <a:solidFill>
                        <a:srgbClr val="C9D2D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1" i="0">
                          <a:solidFill>
                            <a:srgbClr val="0E4D5E"/>
                          </a:solidFill>
                          <a:latin typeface="Inter"/>
                        </a:rPr>
                        <a:t>88</a:t>
                      </a:r>
                      <a:endParaRPr sz="750" b="1" i="0">
                        <a:solidFill>
                          <a:srgbClr val="0E4D5E"/>
                        </a:solidFill>
                        <a:latin typeface="Inter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D2D8"/>
                      </a:solidFill>
                    </a:lnT>
                    <a:lnB w="6350">
                      <a:solidFill>
                        <a:srgbClr val="C9D2D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 i="0">
                          <a:solidFill>
                            <a:srgbClr val="17232D"/>
                          </a:solidFill>
                          <a:latin typeface="Inter"/>
                        </a:rPr>
                        <a:t>980</a:t>
                      </a:r>
                      <a:endParaRPr sz="750" b="0" i="0">
                        <a:solidFill>
                          <a:srgbClr val="17232D"/>
                        </a:solidFill>
                        <a:latin typeface="Inter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D2D8"/>
                      </a:solidFill>
                    </a:lnT>
                    <a:lnB w="6350">
                      <a:solidFill>
                        <a:srgbClr val="C9D2D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1" i="0">
                          <a:solidFill>
                            <a:srgbClr val="0E4D5E"/>
                          </a:solidFill>
                          <a:latin typeface="Inter"/>
                        </a:rPr>
                        <a:t>1,150</a:t>
                      </a:r>
                      <a:endParaRPr sz="750" b="1" i="0">
                        <a:solidFill>
                          <a:srgbClr val="0E4D5E"/>
                        </a:solidFill>
                        <a:latin typeface="Inter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D2D8"/>
                      </a:solidFill>
                    </a:lnT>
                    <a:lnB w="6350">
                      <a:solidFill>
                        <a:srgbClr val="C9D2D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 b="0" i="0">
                          <a:solidFill>
                            <a:srgbClr val="17232D"/>
                          </a:solidFill>
                          <a:latin typeface="Inter"/>
                        </a:rPr>
                        <a:t>Expand: infusion sets</a:t>
                      </a:r>
                      <a:endParaRPr sz="750" b="0" i="0">
                        <a:solidFill>
                          <a:srgbClr val="17232D"/>
                        </a:solidFill>
                        <a:latin typeface="Inter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D2D8"/>
                      </a:solidFill>
                    </a:lnT>
                    <a:lnB w="6350">
                      <a:solidFill>
                        <a:srgbClr val="C9D2D8"/>
                      </a:solidFill>
                    </a:lnB>
                    <a:noFill/>
                  </a:tcPr>
                </a:tc>
              </a:tr>
              <a:tr h="169418">
                <a:tc>
                  <a:txBody>
                    <a:bodyPr wrap="square"/>
                    <a:lstStyle/>
                    <a:p>
                      <a:pPr algn="l"/>
                      <a:r>
                        <a:rPr sz="750" b="0" i="0">
                          <a:solidFill>
                            <a:srgbClr val="17232D"/>
                          </a:solidFill>
                          <a:latin typeface="Inter"/>
                        </a:rPr>
                        <a:t>Alajuela</a:t>
                      </a:r>
                      <a:endParaRPr sz="750" b="0" i="0">
                        <a:solidFill>
                          <a:srgbClr val="17232D"/>
                        </a:solidFill>
                        <a:latin typeface="Inter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D2D8"/>
                      </a:solidFill>
                    </a:lnT>
                    <a:lnB w="6350">
                      <a:solidFill>
                        <a:srgbClr val="C9D2D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 b="0" i="0">
                          <a:solidFill>
                            <a:srgbClr val="17232D"/>
                          </a:solidFill>
                          <a:latin typeface="Inter"/>
                        </a:rPr>
                        <a:t>Catheters</a:t>
                      </a:r>
                      <a:endParaRPr sz="750" b="0" i="0">
                        <a:solidFill>
                          <a:srgbClr val="17232D"/>
                        </a:solidFill>
                        <a:latin typeface="Inter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D2D8"/>
                      </a:solidFill>
                    </a:lnT>
                    <a:lnB w="6350">
                      <a:solidFill>
                        <a:srgbClr val="C9D2D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 i="0">
                          <a:solidFill>
                            <a:srgbClr val="17232D"/>
                          </a:solidFill>
                          <a:latin typeface="Inter"/>
                        </a:rPr>
                        <a:t>210</a:t>
                      </a:r>
                      <a:endParaRPr sz="750" b="0" i="0">
                        <a:solidFill>
                          <a:srgbClr val="17232D"/>
                        </a:solidFill>
                        <a:latin typeface="Inter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D2D8"/>
                      </a:solidFill>
                    </a:lnT>
                    <a:lnB w="6350">
                      <a:solidFill>
                        <a:srgbClr val="C9D2D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1" i="0">
                          <a:solidFill>
                            <a:srgbClr val="0E4D5E"/>
                          </a:solidFill>
                          <a:latin typeface="Inter"/>
                        </a:rPr>
                        <a:t>210</a:t>
                      </a:r>
                      <a:endParaRPr sz="750" b="1" i="0">
                        <a:solidFill>
                          <a:srgbClr val="0E4D5E"/>
                        </a:solidFill>
                        <a:latin typeface="Inter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D2D8"/>
                      </a:solidFill>
                    </a:lnT>
                    <a:lnB w="6350">
                      <a:solidFill>
                        <a:srgbClr val="C9D2D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 i="0">
                          <a:solidFill>
                            <a:srgbClr val="17232D"/>
                          </a:solidFill>
                          <a:latin typeface="Inter"/>
                        </a:rPr>
                        <a:t>70</a:t>
                      </a:r>
                      <a:endParaRPr sz="750" b="0" i="0">
                        <a:solidFill>
                          <a:srgbClr val="17232D"/>
                        </a:solidFill>
                        <a:latin typeface="Inter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D2D8"/>
                      </a:solidFill>
                    </a:lnT>
                    <a:lnB w="6350">
                      <a:solidFill>
                        <a:srgbClr val="C9D2D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1" i="0">
                          <a:solidFill>
                            <a:srgbClr val="0E4D5E"/>
                          </a:solidFill>
                          <a:latin typeface="Inter"/>
                        </a:rPr>
                        <a:t>81</a:t>
                      </a:r>
                      <a:endParaRPr sz="750" b="1" i="0">
                        <a:solidFill>
                          <a:srgbClr val="0E4D5E"/>
                        </a:solidFill>
                        <a:latin typeface="Inter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D2D8"/>
                      </a:solidFill>
                    </a:lnT>
                    <a:lnB w="6350">
                      <a:solidFill>
                        <a:srgbClr val="C9D2D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 i="0">
                          <a:solidFill>
                            <a:srgbClr val="17232D"/>
                          </a:solidFill>
                          <a:latin typeface="Inter"/>
                        </a:rPr>
                        <a:t>720</a:t>
                      </a:r>
                      <a:endParaRPr sz="750" b="0" i="0">
                        <a:solidFill>
                          <a:srgbClr val="17232D"/>
                        </a:solidFill>
                        <a:latin typeface="Inter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D2D8"/>
                      </a:solidFill>
                    </a:lnT>
                    <a:lnB w="6350">
                      <a:solidFill>
                        <a:srgbClr val="C9D2D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1" i="0">
                          <a:solidFill>
                            <a:srgbClr val="0E4D5E"/>
                          </a:solidFill>
                          <a:latin typeface="Inter"/>
                        </a:rPr>
                        <a:t>760</a:t>
                      </a:r>
                      <a:endParaRPr sz="750" b="1" i="0">
                        <a:solidFill>
                          <a:srgbClr val="0E4D5E"/>
                        </a:solidFill>
                        <a:latin typeface="Inter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D2D8"/>
                      </a:solidFill>
                    </a:lnT>
                    <a:lnB w="6350">
                      <a:solidFill>
                        <a:srgbClr val="C9D2D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 b="0" i="0">
                          <a:solidFill>
                            <a:srgbClr val="17232D"/>
                          </a:solidFill>
                          <a:latin typeface="Inter"/>
                        </a:rPr>
                        <a:t>Retain</a:t>
                      </a:r>
                      <a:endParaRPr sz="750" b="0" i="0">
                        <a:solidFill>
                          <a:srgbClr val="17232D"/>
                        </a:solidFill>
                        <a:latin typeface="Inter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D2D8"/>
                      </a:solidFill>
                    </a:lnT>
                    <a:lnB w="6350">
                      <a:solidFill>
                        <a:srgbClr val="C9D2D8"/>
                      </a:solidFill>
                    </a:lnB>
                    <a:noFill/>
                  </a:tcPr>
                </a:tc>
              </a:tr>
              <a:tr h="169418">
                <a:tc>
                  <a:txBody>
                    <a:bodyPr wrap="square"/>
                    <a:lstStyle/>
                    <a:p>
                      <a:pPr algn="l"/>
                      <a:r>
                        <a:rPr sz="750" b="0" i="0">
                          <a:solidFill>
                            <a:srgbClr val="17232D"/>
                          </a:solidFill>
                          <a:latin typeface="Inter"/>
                        </a:rPr>
                        <a:t>Galway</a:t>
                      </a:r>
                      <a:endParaRPr sz="750" b="0" i="0">
                        <a:solidFill>
                          <a:srgbClr val="17232D"/>
                        </a:solidFill>
                        <a:latin typeface="Inter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D2D8"/>
                      </a:solidFill>
                    </a:lnT>
                    <a:lnB w="6350">
                      <a:solidFill>
                        <a:srgbClr val="C9D2D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 b="0" i="0">
                          <a:solidFill>
                            <a:srgbClr val="17232D"/>
                          </a:solidFill>
                          <a:latin typeface="Inter"/>
                        </a:rPr>
                        <a:t>EU sterile catheters</a:t>
                      </a:r>
                      <a:endParaRPr sz="750" b="0" i="0">
                        <a:solidFill>
                          <a:srgbClr val="17232D"/>
                        </a:solidFill>
                        <a:latin typeface="Inter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D2D8"/>
                      </a:solidFill>
                    </a:lnT>
                    <a:lnB w="6350">
                      <a:solidFill>
                        <a:srgbClr val="C9D2D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 i="0">
                          <a:solidFill>
                            <a:srgbClr val="17232D"/>
                          </a:solidFill>
                          <a:latin typeface="Inter"/>
                        </a:rPr>
                        <a:t>190</a:t>
                      </a:r>
                      <a:endParaRPr sz="750" b="0" i="0">
                        <a:solidFill>
                          <a:srgbClr val="17232D"/>
                        </a:solidFill>
                        <a:latin typeface="Inter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D2D8"/>
                      </a:solidFill>
                    </a:lnT>
                    <a:lnB w="6350">
                      <a:solidFill>
                        <a:srgbClr val="C9D2D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1" i="0">
                          <a:solidFill>
                            <a:srgbClr val="0E4D5E"/>
                          </a:solidFill>
                          <a:latin typeface="Inter"/>
                        </a:rPr>
                        <a:t>190</a:t>
                      </a:r>
                      <a:endParaRPr sz="750" b="1" i="0">
                        <a:solidFill>
                          <a:srgbClr val="0E4D5E"/>
                        </a:solidFill>
                        <a:latin typeface="Inter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D2D8"/>
                      </a:solidFill>
                    </a:lnT>
                    <a:lnB w="6350">
                      <a:solidFill>
                        <a:srgbClr val="C9D2D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 i="0">
                          <a:solidFill>
                            <a:srgbClr val="17232D"/>
                          </a:solidFill>
                          <a:latin typeface="Inter"/>
                        </a:rPr>
                        <a:t>66</a:t>
                      </a:r>
                      <a:endParaRPr sz="750" b="0" i="0">
                        <a:solidFill>
                          <a:srgbClr val="17232D"/>
                        </a:solidFill>
                        <a:latin typeface="Inter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D2D8"/>
                      </a:solidFill>
                    </a:lnT>
                    <a:lnB w="6350">
                      <a:solidFill>
                        <a:srgbClr val="C9D2D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1" i="0">
                          <a:solidFill>
                            <a:srgbClr val="0E4D5E"/>
                          </a:solidFill>
                          <a:latin typeface="Inter"/>
                        </a:rPr>
                        <a:t>78</a:t>
                      </a:r>
                      <a:endParaRPr sz="750" b="1" i="0">
                        <a:solidFill>
                          <a:srgbClr val="0E4D5E"/>
                        </a:solidFill>
                        <a:latin typeface="Inter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D2D8"/>
                      </a:solidFill>
                    </a:lnT>
                    <a:lnB w="6350">
                      <a:solidFill>
                        <a:srgbClr val="C9D2D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 i="0">
                          <a:solidFill>
                            <a:srgbClr val="17232D"/>
                          </a:solidFill>
                          <a:latin typeface="Inter"/>
                        </a:rPr>
                        <a:t>530</a:t>
                      </a:r>
                      <a:endParaRPr sz="750" b="0" i="0">
                        <a:solidFill>
                          <a:srgbClr val="17232D"/>
                        </a:solidFill>
                        <a:latin typeface="Inter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D2D8"/>
                      </a:solidFill>
                    </a:lnT>
                    <a:lnB w="6350">
                      <a:solidFill>
                        <a:srgbClr val="C9D2D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1" i="0">
                          <a:solidFill>
                            <a:srgbClr val="0E4D5E"/>
                          </a:solidFill>
                          <a:latin typeface="Inter"/>
                        </a:rPr>
                        <a:t>560</a:t>
                      </a:r>
                      <a:endParaRPr sz="750" b="1" i="0">
                        <a:solidFill>
                          <a:srgbClr val="0E4D5E"/>
                        </a:solidFill>
                        <a:latin typeface="Inter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D2D8"/>
                      </a:solidFill>
                    </a:lnT>
                    <a:lnB w="6350">
                      <a:solidFill>
                        <a:srgbClr val="C9D2D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 b="0" i="0">
                          <a:solidFill>
                            <a:srgbClr val="17232D"/>
                          </a:solidFill>
                          <a:latin typeface="Inter"/>
                        </a:rPr>
                        <a:t>Retain</a:t>
                      </a:r>
                      <a:endParaRPr sz="750" b="0" i="0">
                        <a:solidFill>
                          <a:srgbClr val="17232D"/>
                        </a:solidFill>
                        <a:latin typeface="Inter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D2D8"/>
                      </a:solidFill>
                    </a:lnT>
                    <a:lnB w="6350">
                      <a:solidFill>
                        <a:srgbClr val="C9D2D8"/>
                      </a:solidFill>
                    </a:lnB>
                    <a:noFill/>
                  </a:tcPr>
                </a:tc>
              </a:tr>
              <a:tr h="169418">
                <a:tc>
                  <a:txBody>
                    <a:bodyPr wrap="square"/>
                    <a:lstStyle/>
                    <a:p>
                      <a:pPr algn="l"/>
                      <a:r>
                        <a:rPr sz="750" b="0" i="0">
                          <a:solidFill>
                            <a:srgbClr val="C4541C"/>
                          </a:solidFill>
                          <a:latin typeface="Inter"/>
                        </a:rPr>
                        <a:t>Tuttlingen</a:t>
                      </a:r>
                      <a:endParaRPr sz="750" b="0" i="0">
                        <a:solidFill>
                          <a:srgbClr val="C4541C"/>
                        </a:solidFill>
                        <a:latin typeface="Inter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D2D8"/>
                      </a:solidFill>
                    </a:lnT>
                    <a:lnB w="6350">
                      <a:solidFill>
                        <a:srgbClr val="C9D2D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 b="0" i="0">
                          <a:solidFill>
                            <a:srgbClr val="C4541C"/>
                          </a:solidFill>
                          <a:latin typeface="Inter"/>
                        </a:rPr>
                        <a:t>Surgical instruments</a:t>
                      </a:r>
                      <a:endParaRPr sz="750" b="0" i="0">
                        <a:solidFill>
                          <a:srgbClr val="C4541C"/>
                        </a:solidFill>
                        <a:latin typeface="Inter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D2D8"/>
                      </a:solidFill>
                    </a:lnT>
                    <a:lnB w="6350">
                      <a:solidFill>
                        <a:srgbClr val="C9D2D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 i="0">
                          <a:solidFill>
                            <a:srgbClr val="C4541C"/>
                          </a:solidFill>
                          <a:latin typeface="Inter"/>
                        </a:rPr>
                        <a:t>110</a:t>
                      </a:r>
                      <a:endParaRPr sz="750" b="0" i="0">
                        <a:solidFill>
                          <a:srgbClr val="C4541C"/>
                        </a:solidFill>
                        <a:latin typeface="Inter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D2D8"/>
                      </a:solidFill>
                    </a:lnT>
                    <a:lnB w="6350">
                      <a:solidFill>
                        <a:srgbClr val="C9D2D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1" i="0">
                          <a:solidFill>
                            <a:srgbClr val="0E4D5E"/>
                          </a:solidFill>
                          <a:latin typeface="Inter"/>
                        </a:rPr>
                        <a:t>-</a:t>
                      </a:r>
                      <a:endParaRPr sz="750" b="1" i="0">
                        <a:solidFill>
                          <a:srgbClr val="0E4D5E"/>
                        </a:solidFill>
                        <a:latin typeface="Inter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D2D8"/>
                      </a:solidFill>
                    </a:lnT>
                    <a:lnB w="6350">
                      <a:solidFill>
                        <a:srgbClr val="C9D2D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 i="0">
                          <a:solidFill>
                            <a:srgbClr val="C4541C"/>
                          </a:solidFill>
                          <a:latin typeface="Inter"/>
                        </a:rPr>
                        <a:t>41</a:t>
                      </a:r>
                      <a:endParaRPr sz="750" b="0" i="0">
                        <a:solidFill>
                          <a:srgbClr val="C4541C"/>
                        </a:solidFill>
                        <a:latin typeface="Inter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D2D8"/>
                      </a:solidFill>
                    </a:lnT>
                    <a:lnB w="6350">
                      <a:solidFill>
                        <a:srgbClr val="C9D2D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1" i="0">
                          <a:solidFill>
                            <a:srgbClr val="0E4D5E"/>
                          </a:solidFill>
                          <a:latin typeface="Inter"/>
                        </a:rPr>
                        <a:t>-</a:t>
                      </a:r>
                      <a:endParaRPr sz="750" b="1" i="0">
                        <a:solidFill>
                          <a:srgbClr val="0E4D5E"/>
                        </a:solidFill>
                        <a:latin typeface="Inter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D2D8"/>
                      </a:solidFill>
                    </a:lnT>
                    <a:lnB w="6350">
                      <a:solidFill>
                        <a:srgbClr val="C9D2D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 i="0">
                          <a:solidFill>
                            <a:srgbClr val="C4541C"/>
                          </a:solidFill>
                          <a:latin typeface="Inter"/>
                        </a:rPr>
                        <a:t>290</a:t>
                      </a:r>
                      <a:endParaRPr sz="750" b="0" i="0">
                        <a:solidFill>
                          <a:srgbClr val="C4541C"/>
                        </a:solidFill>
                        <a:latin typeface="Inter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D2D8"/>
                      </a:solidFill>
                    </a:lnT>
                    <a:lnB w="6350">
                      <a:solidFill>
                        <a:srgbClr val="C9D2D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1" i="0">
                          <a:solidFill>
                            <a:srgbClr val="0E4D5E"/>
                          </a:solidFill>
                          <a:latin typeface="Inter"/>
                        </a:rPr>
                        <a:t>-</a:t>
                      </a:r>
                      <a:endParaRPr sz="750" b="1" i="0">
                        <a:solidFill>
                          <a:srgbClr val="0E4D5E"/>
                        </a:solidFill>
                        <a:latin typeface="Inter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D2D8"/>
                      </a:solidFill>
                    </a:lnT>
                    <a:lnB w="6350">
                      <a:solidFill>
                        <a:srgbClr val="C9D2D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 b="0" i="0">
                          <a:solidFill>
                            <a:srgbClr val="C4541C"/>
                          </a:solidFill>
                          <a:latin typeface="Inter"/>
                        </a:rPr>
                        <a:t>Exit by June 2028</a:t>
                      </a:r>
                      <a:endParaRPr sz="750" b="0" i="0">
                        <a:solidFill>
                          <a:srgbClr val="C4541C"/>
                        </a:solidFill>
                        <a:latin typeface="Inter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D2D8"/>
                      </a:solidFill>
                    </a:lnT>
                    <a:lnB w="6350">
                      <a:solidFill>
                        <a:srgbClr val="C9D2D8"/>
                      </a:solidFill>
                    </a:lnB>
                    <a:noFill/>
                  </a:tcPr>
                </a:tc>
              </a:tr>
              <a:tr h="169418">
                <a:tc>
                  <a:txBody>
                    <a:bodyPr wrap="square"/>
                    <a:lstStyle/>
                    <a:p>
                      <a:pPr algn="l"/>
                      <a:r>
                        <a:rPr sz="750" b="0" i="0">
                          <a:solidFill>
                            <a:srgbClr val="17232D"/>
                          </a:solidFill>
                          <a:latin typeface="Inter"/>
                        </a:rPr>
                        <a:t>Brno</a:t>
                      </a:r>
                      <a:endParaRPr sz="750" b="0" i="0">
                        <a:solidFill>
                          <a:srgbClr val="17232D"/>
                        </a:solidFill>
                        <a:latin typeface="Inter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D2D8"/>
                      </a:solidFill>
                    </a:lnT>
                    <a:lnB w="9525">
                      <a:solidFill>
                        <a:srgbClr val="0E4D5E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 b="0" i="0">
                          <a:solidFill>
                            <a:srgbClr val="17232D"/>
                          </a:solidFill>
                          <a:latin typeface="Inter"/>
                        </a:rPr>
                        <a:t>Reprocessing</a:t>
                      </a:r>
                      <a:endParaRPr sz="750" b="0" i="0">
                        <a:solidFill>
                          <a:srgbClr val="17232D"/>
                        </a:solidFill>
                        <a:latin typeface="Inter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D2D8"/>
                      </a:solidFill>
                    </a:lnT>
                    <a:lnB w="9525">
                      <a:solidFill>
                        <a:srgbClr val="0E4D5E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 i="0">
                          <a:solidFill>
                            <a:srgbClr val="17232D"/>
                          </a:solidFill>
                          <a:latin typeface="Inter"/>
                        </a:rPr>
                        <a:t>160</a:t>
                      </a:r>
                      <a:endParaRPr sz="750" b="0" i="0">
                        <a:solidFill>
                          <a:srgbClr val="17232D"/>
                        </a:solidFill>
                        <a:latin typeface="Inter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D2D8"/>
                      </a:solidFill>
                    </a:lnT>
                    <a:lnB w="9525">
                      <a:solidFill>
                        <a:srgbClr val="0E4D5E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1" i="0">
                          <a:solidFill>
                            <a:srgbClr val="0E4D5E"/>
                          </a:solidFill>
                          <a:latin typeface="Inter"/>
                        </a:rPr>
                        <a:t>200</a:t>
                      </a:r>
                      <a:endParaRPr sz="750" b="1" i="0">
                        <a:solidFill>
                          <a:srgbClr val="0E4D5E"/>
                        </a:solidFill>
                        <a:latin typeface="Inter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D2D8"/>
                      </a:solidFill>
                    </a:lnT>
                    <a:lnB w="9525">
                      <a:solidFill>
                        <a:srgbClr val="0E4D5E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 i="0">
                          <a:solidFill>
                            <a:srgbClr val="17232D"/>
                          </a:solidFill>
                          <a:latin typeface="Inter"/>
                        </a:rPr>
                        <a:t>52</a:t>
                      </a:r>
                      <a:endParaRPr sz="750" b="0" i="0">
                        <a:solidFill>
                          <a:srgbClr val="17232D"/>
                        </a:solidFill>
                        <a:latin typeface="Inter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D2D8"/>
                      </a:solidFill>
                    </a:lnT>
                    <a:lnB w="9525">
                      <a:solidFill>
                        <a:srgbClr val="0E4D5E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1" i="0">
                          <a:solidFill>
                            <a:srgbClr val="0E4D5E"/>
                          </a:solidFill>
                          <a:latin typeface="Inter"/>
                        </a:rPr>
                        <a:t>80</a:t>
                      </a:r>
                      <a:endParaRPr sz="750" b="1" i="0">
                        <a:solidFill>
                          <a:srgbClr val="0E4D5E"/>
                        </a:solidFill>
                        <a:latin typeface="Inter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D2D8"/>
                      </a:solidFill>
                    </a:lnT>
                    <a:lnB w="9525">
                      <a:solidFill>
                        <a:srgbClr val="0E4D5E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 i="0">
                          <a:solidFill>
                            <a:srgbClr val="17232D"/>
                          </a:solidFill>
                          <a:latin typeface="Inter"/>
                        </a:rPr>
                        <a:t>450</a:t>
                      </a:r>
                      <a:endParaRPr sz="750" b="0" i="0">
                        <a:solidFill>
                          <a:srgbClr val="17232D"/>
                        </a:solidFill>
                        <a:latin typeface="Inter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D2D8"/>
                      </a:solidFill>
                    </a:lnT>
                    <a:lnB w="9525">
                      <a:solidFill>
                        <a:srgbClr val="0E4D5E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1" i="0">
                          <a:solidFill>
                            <a:srgbClr val="0E4D5E"/>
                          </a:solidFill>
                          <a:latin typeface="Inter"/>
                        </a:rPr>
                        <a:t>640</a:t>
                      </a:r>
                      <a:endParaRPr sz="750" b="1" i="0">
                        <a:solidFill>
                          <a:srgbClr val="0E4D5E"/>
                        </a:solidFill>
                        <a:latin typeface="Inter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D2D8"/>
                      </a:solidFill>
                    </a:lnT>
                    <a:lnB w="9525">
                      <a:solidFill>
                        <a:srgbClr val="0E4D5E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 b="0" i="0">
                          <a:solidFill>
                            <a:srgbClr val="17232D"/>
                          </a:solidFill>
                          <a:latin typeface="Inter"/>
                        </a:rPr>
                        <a:t>Expand: instruments</a:t>
                      </a:r>
                      <a:endParaRPr sz="750" b="0" i="0">
                        <a:solidFill>
                          <a:srgbClr val="17232D"/>
                        </a:solidFill>
                        <a:latin typeface="Inter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D2D8"/>
                      </a:solidFill>
                    </a:lnT>
                    <a:lnB w="9525">
                      <a:solidFill>
                        <a:srgbClr val="0E4D5E"/>
                      </a:solidFill>
                    </a:lnB>
                    <a:noFill/>
                  </a:tcPr>
                </a:tc>
              </a:tr>
              <a:tr h="169418">
                <a:tc>
                  <a:txBody>
                    <a:bodyPr wrap="square"/>
                    <a:lstStyle/>
                    <a:p>
                      <a:pPr algn="l"/>
                      <a:r>
                        <a:rPr sz="750" b="1" i="0">
                          <a:solidFill>
                            <a:srgbClr val="17232D"/>
                          </a:solidFill>
                          <a:latin typeface="Inter"/>
                        </a:rPr>
                        <a:t>Network</a:t>
                      </a:r>
                      <a:endParaRPr sz="750" b="1" i="0">
                        <a:solidFill>
                          <a:srgbClr val="17232D"/>
                        </a:solidFill>
                        <a:latin typeface="Inter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rgbClr val="0E4D5E"/>
                      </a:solidFill>
                    </a:lnT>
                    <a:lnB w="9525">
                      <a:solidFill>
                        <a:srgbClr val="0E4D5E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 b="1" i="0">
                          <a:solidFill>
                            <a:srgbClr val="17232D"/>
                          </a:solidFill>
                          <a:latin typeface="Inter"/>
                        </a:rPr>
                        <a:t>Seven plants to five</a:t>
                      </a:r>
                      <a:endParaRPr sz="750" b="1" i="0">
                        <a:solidFill>
                          <a:srgbClr val="17232D"/>
                        </a:solidFill>
                        <a:latin typeface="Inter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rgbClr val="0E4D5E"/>
                      </a:solidFill>
                    </a:lnT>
                    <a:lnB w="9525">
                      <a:solidFill>
                        <a:srgbClr val="0E4D5E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1" i="0">
                          <a:solidFill>
                            <a:srgbClr val="17232D"/>
                          </a:solidFill>
                          <a:latin typeface="Inter"/>
                        </a:rPr>
                        <a:t>1,380</a:t>
                      </a:r>
                      <a:endParaRPr sz="750" b="1" i="0">
                        <a:solidFill>
                          <a:srgbClr val="17232D"/>
                        </a:solidFill>
                        <a:latin typeface="Inter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rgbClr val="0E4D5E"/>
                      </a:solidFill>
                    </a:lnT>
                    <a:lnB w="9525">
                      <a:solidFill>
                        <a:srgbClr val="0E4D5E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1" i="0">
                          <a:solidFill>
                            <a:srgbClr val="0E4D5E"/>
                          </a:solidFill>
                          <a:latin typeface="Inter"/>
                        </a:rPr>
                        <a:t>1,250</a:t>
                      </a:r>
                      <a:endParaRPr sz="750" b="1" i="0">
                        <a:solidFill>
                          <a:srgbClr val="0E4D5E"/>
                        </a:solidFill>
                        <a:latin typeface="Inter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rgbClr val="0E4D5E"/>
                      </a:solidFill>
                    </a:lnT>
                    <a:lnB w="9525">
                      <a:solidFill>
                        <a:srgbClr val="0E4D5E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1" i="0">
                          <a:solidFill>
                            <a:srgbClr val="17232D"/>
                          </a:solidFill>
                          <a:latin typeface="Inter"/>
                        </a:rPr>
                        <a:t>64</a:t>
                      </a:r>
                      <a:endParaRPr sz="750" b="1" i="0">
                        <a:solidFill>
                          <a:srgbClr val="17232D"/>
                        </a:solidFill>
                        <a:latin typeface="Inter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rgbClr val="0E4D5E"/>
                      </a:solidFill>
                    </a:lnT>
                    <a:lnB w="9525">
                      <a:solidFill>
                        <a:srgbClr val="0E4D5E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1" i="0">
                          <a:solidFill>
                            <a:srgbClr val="0E4D5E"/>
                          </a:solidFill>
                          <a:latin typeface="Inter"/>
                        </a:rPr>
                        <a:t>84</a:t>
                      </a:r>
                      <a:endParaRPr sz="750" b="1" i="0">
                        <a:solidFill>
                          <a:srgbClr val="0E4D5E"/>
                        </a:solidFill>
                        <a:latin typeface="Inter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rgbClr val="0E4D5E"/>
                      </a:solidFill>
                    </a:lnT>
                    <a:lnB w="9525">
                      <a:solidFill>
                        <a:srgbClr val="0E4D5E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1" i="0">
                          <a:solidFill>
                            <a:srgbClr val="17232D"/>
                          </a:solidFill>
                          <a:latin typeface="Inter"/>
                        </a:rPr>
                        <a:t>4,020</a:t>
                      </a:r>
                      <a:endParaRPr sz="750" b="1" i="0">
                        <a:solidFill>
                          <a:srgbClr val="17232D"/>
                        </a:solidFill>
                        <a:latin typeface="Inter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rgbClr val="0E4D5E"/>
                      </a:solidFill>
                    </a:lnT>
                    <a:lnB w="9525">
                      <a:solidFill>
                        <a:srgbClr val="0E4D5E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1" i="0">
                          <a:solidFill>
                            <a:srgbClr val="0E4D5E"/>
                          </a:solidFill>
                          <a:latin typeface="Inter"/>
                        </a:rPr>
                        <a:t>3,870</a:t>
                      </a:r>
                      <a:endParaRPr sz="750" b="1" i="0">
                        <a:solidFill>
                          <a:srgbClr val="0E4D5E"/>
                        </a:solidFill>
                        <a:latin typeface="Inter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rgbClr val="0E4D5E"/>
                      </a:solidFill>
                    </a:lnT>
                    <a:lnB w="9525">
                      <a:solidFill>
                        <a:srgbClr val="0E4D5E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endParaRPr sz="750" b="1" i="0">
                        <a:solidFill>
                          <a:srgbClr val="17232D"/>
                        </a:solidFill>
                        <a:latin typeface="Inter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rgbClr val="0E4D5E"/>
                      </a:solidFill>
                    </a:lnT>
                    <a:lnB w="9525">
                      <a:solidFill>
                        <a:srgbClr val="0E4D5E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29" name="tab-n"/>
          <p:cNvSpPr/>
          <p:nvPr/>
        </p:nvSpPr>
        <p:spPr>
          <a:xfrm>
            <a:off x="5746115" y="3266947"/>
            <a:ext cx="6034405" cy="1549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ts val="92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sz="800" b="0" i="0">
                <a:solidFill>
                  <a:srgbClr val="17232D"/>
                </a:solidFill>
                <a:latin typeface="Inter"/>
              </a:rPr>
              <a:t>Capacity falls by $130m to $1,250m: the network loses its two least-used plants, at 48% and 41%, and fills the rest.</a:t>
            </a:r>
          </a:p>
        </p:txBody>
      </p:sp>
      <p:sp>
        <p:nvSpPr>
          <p:cNvPr id="30" name="tr-h"/>
          <p:cNvSpPr/>
          <p:nvPr/>
        </p:nvSpPr>
        <p:spPr>
          <a:xfrm>
            <a:off x="5746115" y="3476751"/>
            <a:ext cx="6034405" cy="1600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ts val="12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 b="1" i="0">
                <a:solidFill>
                  <a:srgbClr val="0E4D5E"/>
                </a:solidFill>
                <a:latin typeface="Inter"/>
              </a:rPr>
              <a:t>Three line transfers, one at a time</a:t>
            </a:r>
          </a:p>
        </p:txBody>
      </p:sp>
      <p:graphicFrame>
        <p:nvGraphicFramePr>
          <p:cNvPr id="31" name="transfers"/>
          <p:cNvGraphicFramePr>
            <a:graphicFrameLocks noGrp="1"/>
          </p:cNvGraphicFramePr>
          <p:nvPr/>
        </p:nvGraphicFramePr>
        <p:xfrm>
          <a:off x="5746115" y="3691635"/>
          <a:ext cx="6034405" cy="677672"/>
        </p:xfrm>
        <a:graphic>
          <a:graphicData uri="http://schemas.openxmlformats.org/drawingml/2006/table">
            <a:tbl>
              <a:tblPr firstRow="0" bandRow="0" lastRow="0" firstCol="0" lastCol="0" bandCol="0"/>
              <a:tblGrid>
                <a:gridCol w="1810322"/>
                <a:gridCol w="965505"/>
                <a:gridCol w="965505"/>
                <a:gridCol w="1206881"/>
                <a:gridCol w="1086192"/>
              </a:tblGrid>
              <a:tr h="169418">
                <a:tc>
                  <a:txBody>
                    <a:bodyPr wrap="square"/>
                    <a:lstStyle/>
                    <a:p>
                      <a:pPr algn="l"/>
                      <a:r>
                        <a:rPr sz="750" b="1" i="0">
                          <a:solidFill>
                            <a:srgbClr val="0E4D5E"/>
                          </a:solidFill>
                          <a:latin typeface="Inter"/>
                        </a:rPr>
                        <a:t>Lines moved</a:t>
                      </a:r>
                      <a:endParaRPr sz="750" b="1" i="0">
                        <a:solidFill>
                          <a:srgbClr val="0E4D5E"/>
                        </a:solidFill>
                        <a:latin typeface="Inter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0E4D5E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 b="1" i="0">
                          <a:solidFill>
                            <a:srgbClr val="0E4D5E"/>
                          </a:solidFill>
                          <a:latin typeface="Inter"/>
                        </a:rPr>
                        <a:t>From</a:t>
                      </a:r>
                      <a:endParaRPr sz="750" b="1" i="0">
                        <a:solidFill>
                          <a:srgbClr val="0E4D5E"/>
                        </a:solidFill>
                        <a:latin typeface="Inter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0E4D5E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 b="1" i="0">
                          <a:solidFill>
                            <a:srgbClr val="0E4D5E"/>
                          </a:solidFill>
                          <a:latin typeface="Inter"/>
                        </a:rPr>
                        <a:t>To</a:t>
                      </a:r>
                      <a:endParaRPr sz="750" b="1" i="0">
                        <a:solidFill>
                          <a:srgbClr val="0E4D5E"/>
                        </a:solidFill>
                        <a:latin typeface="Inter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0E4D5E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 b="1" i="0">
                          <a:solidFill>
                            <a:srgbClr val="0E4D5E"/>
                          </a:solidFill>
                          <a:latin typeface="Inter"/>
                        </a:rPr>
                        <a:t>Validation</a:t>
                      </a:r>
                      <a:endParaRPr sz="750" b="1" i="0">
                        <a:solidFill>
                          <a:srgbClr val="0E4D5E"/>
                        </a:solidFill>
                        <a:latin typeface="Inter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0E4D5E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 b="1" i="0">
                          <a:solidFill>
                            <a:srgbClr val="0E4D5E"/>
                          </a:solidFill>
                          <a:latin typeface="Inter"/>
                        </a:rPr>
                        <a:t>Cut-over</a:t>
                      </a:r>
                      <a:endParaRPr sz="750" b="1" i="0">
                        <a:solidFill>
                          <a:srgbClr val="0E4D5E"/>
                        </a:solidFill>
                        <a:latin typeface="Inter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0E4D5E"/>
                      </a:solidFill>
                    </a:lnB>
                    <a:noFill/>
                  </a:tcPr>
                </a:tc>
              </a:tr>
              <a:tr h="169418">
                <a:tc>
                  <a:txBody>
                    <a:bodyPr wrap="square"/>
                    <a:lstStyle/>
                    <a:p>
                      <a:pPr algn="l"/>
                      <a:r>
                        <a:rPr sz="750" b="0" i="0">
                          <a:solidFill>
                            <a:srgbClr val="17232D"/>
                          </a:solidFill>
                          <a:latin typeface="Inter"/>
                        </a:rPr>
                        <a:t>Pump electronics, 2 lines</a:t>
                      </a:r>
                      <a:endParaRPr sz="750" b="0" i="0">
                        <a:solidFill>
                          <a:srgbClr val="17232D"/>
                        </a:solidFill>
                        <a:latin typeface="Inter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rgbClr val="0E4D5E"/>
                      </a:solidFill>
                    </a:lnT>
                    <a:lnB w="6350">
                      <a:solidFill>
                        <a:srgbClr val="C9D2D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 b="0" i="0">
                          <a:solidFill>
                            <a:srgbClr val="C4541C"/>
                          </a:solidFill>
                          <a:latin typeface="Inter"/>
                        </a:rPr>
                        <a:t>Salt Lake City</a:t>
                      </a:r>
                      <a:endParaRPr sz="750" b="0" i="0">
                        <a:solidFill>
                          <a:srgbClr val="C4541C"/>
                        </a:solidFill>
                        <a:latin typeface="Inter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rgbClr val="0E4D5E"/>
                      </a:solidFill>
                    </a:lnT>
                    <a:lnB w="6350">
                      <a:solidFill>
                        <a:srgbClr val="C9D2D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 b="0" i="0">
                          <a:solidFill>
                            <a:srgbClr val="17232D"/>
                          </a:solidFill>
                          <a:latin typeface="Inter"/>
                        </a:rPr>
                        <a:t>Minneapolis</a:t>
                      </a:r>
                      <a:endParaRPr sz="750" b="0" i="0">
                        <a:solidFill>
                          <a:srgbClr val="17232D"/>
                        </a:solidFill>
                        <a:latin typeface="Inter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rgbClr val="0E4D5E"/>
                      </a:solidFill>
                    </a:lnT>
                    <a:lnB w="6350">
                      <a:solidFill>
                        <a:srgbClr val="C9D2D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 b="0" i="0">
                          <a:solidFill>
                            <a:srgbClr val="17232D"/>
                          </a:solidFill>
                          <a:latin typeface="Inter"/>
                        </a:rPr>
                        <a:t>Jan to Apr 2027</a:t>
                      </a:r>
                      <a:endParaRPr sz="750" b="0" i="0">
                        <a:solidFill>
                          <a:srgbClr val="17232D"/>
                        </a:solidFill>
                        <a:latin typeface="Inter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rgbClr val="0E4D5E"/>
                      </a:solidFill>
                    </a:lnT>
                    <a:lnB w="6350">
                      <a:solidFill>
                        <a:srgbClr val="C9D2D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 b="0" i="0">
                          <a:solidFill>
                            <a:srgbClr val="17232D"/>
                          </a:solidFill>
                          <a:latin typeface="Inter"/>
                        </a:rPr>
                        <a:t>June 2027</a:t>
                      </a:r>
                      <a:endParaRPr sz="750" b="0" i="0">
                        <a:solidFill>
                          <a:srgbClr val="17232D"/>
                        </a:solidFill>
                        <a:latin typeface="Inter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rgbClr val="0E4D5E"/>
                      </a:solidFill>
                    </a:lnT>
                    <a:lnB w="6350">
                      <a:solidFill>
                        <a:srgbClr val="C9D2D8"/>
                      </a:solidFill>
                    </a:lnB>
                    <a:noFill/>
                  </a:tcPr>
                </a:tc>
              </a:tr>
              <a:tr h="169418">
                <a:tc>
                  <a:txBody>
                    <a:bodyPr wrap="square"/>
                    <a:lstStyle/>
                    <a:p>
                      <a:pPr algn="l"/>
                      <a:r>
                        <a:rPr sz="750" b="0" i="0">
                          <a:solidFill>
                            <a:srgbClr val="17232D"/>
                          </a:solidFill>
                          <a:latin typeface="Inter"/>
                        </a:rPr>
                        <a:t>Infusion sets, 3 lines</a:t>
                      </a:r>
                      <a:endParaRPr sz="750" b="0" i="0">
                        <a:solidFill>
                          <a:srgbClr val="17232D"/>
                        </a:solidFill>
                        <a:latin typeface="Inter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D2D8"/>
                      </a:solidFill>
                    </a:lnT>
                    <a:lnB w="6350">
                      <a:solidFill>
                        <a:srgbClr val="C9D2D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 b="0" i="0">
                          <a:solidFill>
                            <a:srgbClr val="C4541C"/>
                          </a:solidFill>
                          <a:latin typeface="Inter"/>
                        </a:rPr>
                        <a:t>Salt Lake City</a:t>
                      </a:r>
                      <a:endParaRPr sz="750" b="0" i="0">
                        <a:solidFill>
                          <a:srgbClr val="C4541C"/>
                        </a:solidFill>
                        <a:latin typeface="Inter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D2D8"/>
                      </a:solidFill>
                    </a:lnT>
                    <a:lnB w="6350">
                      <a:solidFill>
                        <a:srgbClr val="C9D2D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 b="0" i="0">
                          <a:solidFill>
                            <a:srgbClr val="17232D"/>
                          </a:solidFill>
                          <a:latin typeface="Inter"/>
                        </a:rPr>
                        <a:t>Ciudad Juarez</a:t>
                      </a:r>
                      <a:endParaRPr sz="750" b="0" i="0">
                        <a:solidFill>
                          <a:srgbClr val="17232D"/>
                        </a:solidFill>
                        <a:latin typeface="Inter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D2D8"/>
                      </a:solidFill>
                    </a:lnT>
                    <a:lnB w="6350">
                      <a:solidFill>
                        <a:srgbClr val="C9D2D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 b="0" i="0">
                          <a:solidFill>
                            <a:srgbClr val="17232D"/>
                          </a:solidFill>
                          <a:latin typeface="Inter"/>
                        </a:rPr>
                        <a:t>Mar to Jul 2027</a:t>
                      </a:r>
                      <a:endParaRPr sz="750" b="0" i="0">
                        <a:solidFill>
                          <a:srgbClr val="17232D"/>
                        </a:solidFill>
                        <a:latin typeface="Inter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D2D8"/>
                      </a:solidFill>
                    </a:lnT>
                    <a:lnB w="6350">
                      <a:solidFill>
                        <a:srgbClr val="C9D2D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 b="0" i="0">
                          <a:solidFill>
                            <a:srgbClr val="17232D"/>
                          </a:solidFill>
                          <a:latin typeface="Inter"/>
                        </a:rPr>
                        <a:t>September 2027</a:t>
                      </a:r>
                      <a:endParaRPr sz="750" b="0" i="0">
                        <a:solidFill>
                          <a:srgbClr val="17232D"/>
                        </a:solidFill>
                        <a:latin typeface="Inter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D2D8"/>
                      </a:solidFill>
                    </a:lnT>
                    <a:lnB w="6350">
                      <a:solidFill>
                        <a:srgbClr val="C9D2D8"/>
                      </a:solidFill>
                    </a:lnB>
                    <a:noFill/>
                  </a:tcPr>
                </a:tc>
              </a:tr>
              <a:tr h="169418">
                <a:tc>
                  <a:txBody>
                    <a:bodyPr wrap="square"/>
                    <a:lstStyle/>
                    <a:p>
                      <a:pPr algn="l"/>
                      <a:r>
                        <a:rPr sz="750" b="0" i="0">
                          <a:solidFill>
                            <a:srgbClr val="17232D"/>
                          </a:solidFill>
                          <a:latin typeface="Inter"/>
                        </a:rPr>
                        <a:t>Surgical instruments, 4 lines</a:t>
                      </a:r>
                      <a:endParaRPr sz="750" b="0" i="0">
                        <a:solidFill>
                          <a:srgbClr val="17232D"/>
                        </a:solidFill>
                        <a:latin typeface="Inter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D2D8"/>
                      </a:solidFill>
                    </a:lnT>
                    <a:lnB w="9525">
                      <a:solidFill>
                        <a:srgbClr val="0E4D5E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 b="0" i="0">
                          <a:solidFill>
                            <a:srgbClr val="C4541C"/>
                          </a:solidFill>
                          <a:latin typeface="Inter"/>
                        </a:rPr>
                        <a:t>Tuttlingen</a:t>
                      </a:r>
                      <a:endParaRPr sz="750" b="0" i="0">
                        <a:solidFill>
                          <a:srgbClr val="C4541C"/>
                        </a:solidFill>
                        <a:latin typeface="Inter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D2D8"/>
                      </a:solidFill>
                    </a:lnT>
                    <a:lnB w="9525">
                      <a:solidFill>
                        <a:srgbClr val="0E4D5E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 b="0" i="0">
                          <a:solidFill>
                            <a:srgbClr val="17232D"/>
                          </a:solidFill>
                          <a:latin typeface="Inter"/>
                        </a:rPr>
                        <a:t>Brno</a:t>
                      </a:r>
                      <a:endParaRPr sz="750" b="0" i="0">
                        <a:solidFill>
                          <a:srgbClr val="17232D"/>
                        </a:solidFill>
                        <a:latin typeface="Inter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D2D8"/>
                      </a:solidFill>
                    </a:lnT>
                    <a:lnB w="9525">
                      <a:solidFill>
                        <a:srgbClr val="0E4D5E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 b="0" i="0">
                          <a:solidFill>
                            <a:srgbClr val="17232D"/>
                          </a:solidFill>
                          <a:latin typeface="Inter"/>
                        </a:rPr>
                        <a:t>Oct 2027 to Mar 2028</a:t>
                      </a:r>
                      <a:endParaRPr sz="750" b="0" i="0">
                        <a:solidFill>
                          <a:srgbClr val="17232D"/>
                        </a:solidFill>
                        <a:latin typeface="Inter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D2D8"/>
                      </a:solidFill>
                    </a:lnT>
                    <a:lnB w="9525">
                      <a:solidFill>
                        <a:srgbClr val="0E4D5E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 b="0" i="0">
                          <a:solidFill>
                            <a:srgbClr val="17232D"/>
                          </a:solidFill>
                          <a:latin typeface="Inter"/>
                        </a:rPr>
                        <a:t>June 2028</a:t>
                      </a:r>
                      <a:endParaRPr sz="750" b="0" i="0">
                        <a:solidFill>
                          <a:srgbClr val="17232D"/>
                        </a:solidFill>
                        <a:latin typeface="Inter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D2D8"/>
                      </a:solidFill>
                    </a:lnT>
                    <a:lnB w="9525">
                      <a:solidFill>
                        <a:srgbClr val="0E4D5E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32" name="tr-n"/>
          <p:cNvSpPr/>
          <p:nvPr/>
        </p:nvSpPr>
        <p:spPr>
          <a:xfrm>
            <a:off x="5746115" y="4424171"/>
            <a:ext cx="6034405" cy="1066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ts val="8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00" b="0" i="0">
                <a:solidFill>
                  <a:srgbClr val="56636D"/>
                </a:solidFill>
                <a:latin typeface="Inter"/>
              </a:rPr>
              <a:t>Each line runs 10 to 12 weeks of bridge stock through its cut-over; validation is re-qualification under the receiving plant's quality system.</a:t>
            </a:r>
          </a:p>
        </p:txBody>
      </p:sp>
      <p:sp>
        <p:nvSpPr>
          <p:cNvPr id="33" name="ec-h"/>
          <p:cNvSpPr/>
          <p:nvPr/>
        </p:nvSpPr>
        <p:spPr>
          <a:xfrm>
            <a:off x="5746115" y="4585715"/>
            <a:ext cx="6034405" cy="1600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ts val="12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 b="1" i="0">
                <a:solidFill>
                  <a:srgbClr val="0E4D5E"/>
                </a:solidFill>
                <a:latin typeface="Inter"/>
              </a:rPr>
              <a:t>The $29m saving pays back the $68m in 2.3 years</a:t>
            </a:r>
          </a:p>
        </p:txBody>
      </p:sp>
      <p:graphicFrame>
        <p:nvGraphicFramePr>
          <p:cNvPr id="34" name="econ"/>
          <p:cNvGraphicFramePr>
            <a:graphicFrameLocks noGrp="1"/>
          </p:cNvGraphicFramePr>
          <p:nvPr/>
        </p:nvGraphicFramePr>
        <p:xfrm>
          <a:off x="5746115" y="4800599"/>
          <a:ext cx="6034405" cy="847090"/>
        </p:xfrm>
        <a:graphic>
          <a:graphicData uri="http://schemas.openxmlformats.org/drawingml/2006/table">
            <a:tbl>
              <a:tblPr firstRow="0" bandRow="0" lastRow="0" firstCol="0" lastCol="0" bandCol="0"/>
              <a:tblGrid>
                <a:gridCol w="2534450"/>
                <a:gridCol w="1206881"/>
                <a:gridCol w="1206881"/>
                <a:gridCol w="1086193"/>
              </a:tblGrid>
              <a:tr h="169418">
                <a:tc>
                  <a:txBody>
                    <a:bodyPr wrap="square"/>
                    <a:lstStyle/>
                    <a:p>
                      <a:pPr algn="l"/>
                      <a:r>
                        <a:rPr sz="750" b="1" i="0">
                          <a:solidFill>
                            <a:srgbClr val="0E4D5E"/>
                          </a:solidFill>
                          <a:latin typeface="Inter"/>
                        </a:rPr>
                        <a:t>Footprint initiative</a:t>
                      </a:r>
                      <a:endParaRPr sz="750" b="1" i="0">
                        <a:solidFill>
                          <a:srgbClr val="0E4D5E"/>
                        </a:solidFill>
                        <a:latin typeface="Inter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0E4D5E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1" i="0">
                          <a:solidFill>
                            <a:srgbClr val="0E4D5E"/>
                          </a:solidFill>
                          <a:latin typeface="Inter"/>
                        </a:rPr>
                        <a:t>Run-rate saving, $m</a:t>
                      </a:r>
                      <a:endParaRPr sz="750" b="1" i="0">
                        <a:solidFill>
                          <a:srgbClr val="0E4D5E"/>
                        </a:solidFill>
                        <a:latin typeface="Inter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0E4D5E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1" i="0">
                          <a:solidFill>
                            <a:srgbClr val="0E4D5E"/>
                          </a:solidFill>
                          <a:latin typeface="Inter"/>
                        </a:rPr>
                        <a:t>One-off cost, $m</a:t>
                      </a:r>
                      <a:endParaRPr sz="750" b="1" i="0">
                        <a:solidFill>
                          <a:srgbClr val="0E4D5E"/>
                        </a:solidFill>
                        <a:latin typeface="Inter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0E4D5E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1" i="0">
                          <a:solidFill>
                            <a:srgbClr val="0E4D5E"/>
                          </a:solidFill>
                          <a:latin typeface="Inter"/>
                        </a:rPr>
                        <a:t>Payback, years</a:t>
                      </a:r>
                      <a:endParaRPr sz="750" b="1" i="0">
                        <a:solidFill>
                          <a:srgbClr val="0E4D5E"/>
                        </a:solidFill>
                        <a:latin typeface="Inter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0E4D5E"/>
                      </a:solidFill>
                    </a:lnB>
                    <a:noFill/>
                  </a:tcPr>
                </a:tc>
              </a:tr>
              <a:tr h="169418">
                <a:tc>
                  <a:txBody>
                    <a:bodyPr wrap="square"/>
                    <a:lstStyle/>
                    <a:p>
                      <a:pPr algn="l"/>
                      <a:r>
                        <a:rPr sz="750" b="0" i="0">
                          <a:solidFill>
                            <a:srgbClr val="C4541C"/>
                          </a:solidFill>
                          <a:latin typeface="Inter"/>
                        </a:rPr>
                        <a:t>F1  Salt Lake City exit</a:t>
                      </a:r>
                      <a:endParaRPr sz="750" b="0" i="0">
                        <a:solidFill>
                          <a:srgbClr val="C4541C"/>
                        </a:solidFill>
                        <a:latin typeface="Inter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rgbClr val="0E4D5E"/>
                      </a:solidFill>
                    </a:lnT>
                    <a:lnB w="6350">
                      <a:solidFill>
                        <a:srgbClr val="C9D2D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1" i="0">
                          <a:solidFill>
                            <a:srgbClr val="0E4D5E"/>
                          </a:solidFill>
                          <a:latin typeface="Inter"/>
                        </a:rPr>
                        <a:t>15</a:t>
                      </a:r>
                      <a:endParaRPr sz="750" b="1" i="0">
                        <a:solidFill>
                          <a:srgbClr val="0E4D5E"/>
                        </a:solidFill>
                        <a:latin typeface="Inter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rgbClr val="0E4D5E"/>
                      </a:solidFill>
                    </a:lnT>
                    <a:lnB w="6350">
                      <a:solidFill>
                        <a:srgbClr val="C9D2D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 i="0">
                          <a:solidFill>
                            <a:srgbClr val="17232D"/>
                          </a:solidFill>
                          <a:latin typeface="Inter"/>
                        </a:rPr>
                        <a:t>38</a:t>
                      </a:r>
                      <a:endParaRPr sz="750" b="0" i="0">
                        <a:solidFill>
                          <a:srgbClr val="17232D"/>
                        </a:solidFill>
                        <a:latin typeface="Inter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rgbClr val="0E4D5E"/>
                      </a:solidFill>
                    </a:lnT>
                    <a:lnB w="6350">
                      <a:solidFill>
                        <a:srgbClr val="C9D2D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 i="0">
                          <a:solidFill>
                            <a:srgbClr val="17232D"/>
                          </a:solidFill>
                          <a:latin typeface="Inter"/>
                        </a:rPr>
                        <a:t>2.5</a:t>
                      </a:r>
                      <a:endParaRPr sz="750" b="0" i="0">
                        <a:solidFill>
                          <a:srgbClr val="17232D"/>
                        </a:solidFill>
                        <a:latin typeface="Inter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rgbClr val="0E4D5E"/>
                      </a:solidFill>
                    </a:lnT>
                    <a:lnB w="6350">
                      <a:solidFill>
                        <a:srgbClr val="C9D2D8"/>
                      </a:solidFill>
                    </a:lnB>
                    <a:noFill/>
                  </a:tcPr>
                </a:tc>
              </a:tr>
              <a:tr h="169418">
                <a:tc>
                  <a:txBody>
                    <a:bodyPr wrap="square"/>
                    <a:lstStyle/>
                    <a:p>
                      <a:pPr algn="l"/>
                      <a:r>
                        <a:rPr sz="750" b="0" i="0">
                          <a:solidFill>
                            <a:srgbClr val="C4541C"/>
                          </a:solidFill>
                          <a:latin typeface="Inter"/>
                        </a:rPr>
                        <a:t>F2  Tuttlingen exit to Brno</a:t>
                      </a:r>
                      <a:endParaRPr sz="750" b="0" i="0">
                        <a:solidFill>
                          <a:srgbClr val="C4541C"/>
                        </a:solidFill>
                        <a:latin typeface="Inter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D2D8"/>
                      </a:solidFill>
                    </a:lnT>
                    <a:lnB w="6350">
                      <a:solidFill>
                        <a:srgbClr val="C9D2D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1" i="0">
                          <a:solidFill>
                            <a:srgbClr val="0E4D5E"/>
                          </a:solidFill>
                          <a:latin typeface="Inter"/>
                        </a:rPr>
                        <a:t>9</a:t>
                      </a:r>
                      <a:endParaRPr sz="750" b="1" i="0">
                        <a:solidFill>
                          <a:srgbClr val="0E4D5E"/>
                        </a:solidFill>
                        <a:latin typeface="Inter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D2D8"/>
                      </a:solidFill>
                    </a:lnT>
                    <a:lnB w="6350">
                      <a:solidFill>
                        <a:srgbClr val="C9D2D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 i="0">
                          <a:solidFill>
                            <a:srgbClr val="17232D"/>
                          </a:solidFill>
                          <a:latin typeface="Inter"/>
                        </a:rPr>
                        <a:t>24</a:t>
                      </a:r>
                      <a:endParaRPr sz="750" b="0" i="0">
                        <a:solidFill>
                          <a:srgbClr val="17232D"/>
                        </a:solidFill>
                        <a:latin typeface="Inter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D2D8"/>
                      </a:solidFill>
                    </a:lnT>
                    <a:lnB w="6350">
                      <a:solidFill>
                        <a:srgbClr val="C9D2D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 i="0">
                          <a:solidFill>
                            <a:srgbClr val="17232D"/>
                          </a:solidFill>
                          <a:latin typeface="Inter"/>
                        </a:rPr>
                        <a:t>2.7</a:t>
                      </a:r>
                      <a:endParaRPr sz="750" b="0" i="0">
                        <a:solidFill>
                          <a:srgbClr val="17232D"/>
                        </a:solidFill>
                        <a:latin typeface="Inter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D2D8"/>
                      </a:solidFill>
                    </a:lnT>
                    <a:lnB w="6350">
                      <a:solidFill>
                        <a:srgbClr val="C9D2D8"/>
                      </a:solidFill>
                    </a:lnB>
                    <a:noFill/>
                  </a:tcPr>
                </a:tc>
              </a:tr>
              <a:tr h="169418">
                <a:tc>
                  <a:txBody>
                    <a:bodyPr wrap="square"/>
                    <a:lstStyle/>
                    <a:p>
                      <a:pPr algn="l"/>
                      <a:r>
                        <a:rPr sz="750" b="0" i="0">
                          <a:solidFill>
                            <a:srgbClr val="17232D"/>
                          </a:solidFill>
                          <a:latin typeface="Inter"/>
                        </a:rPr>
                        <a:t>F3  Lean and OEE in retained plants</a:t>
                      </a:r>
                      <a:endParaRPr sz="750" b="0" i="0">
                        <a:solidFill>
                          <a:srgbClr val="17232D"/>
                        </a:solidFill>
                        <a:latin typeface="Inter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D2D8"/>
                      </a:solidFill>
                    </a:lnT>
                    <a:lnB w="9525">
                      <a:solidFill>
                        <a:srgbClr val="0E4D5E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1" i="0">
                          <a:solidFill>
                            <a:srgbClr val="0E4D5E"/>
                          </a:solidFill>
                          <a:latin typeface="Inter"/>
                        </a:rPr>
                        <a:t>5</a:t>
                      </a:r>
                      <a:endParaRPr sz="750" b="1" i="0">
                        <a:solidFill>
                          <a:srgbClr val="0E4D5E"/>
                        </a:solidFill>
                        <a:latin typeface="Inter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D2D8"/>
                      </a:solidFill>
                    </a:lnT>
                    <a:lnB w="9525">
                      <a:solidFill>
                        <a:srgbClr val="0E4D5E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 i="0">
                          <a:solidFill>
                            <a:srgbClr val="17232D"/>
                          </a:solidFill>
                          <a:latin typeface="Inter"/>
                        </a:rPr>
                        <a:t>6</a:t>
                      </a:r>
                      <a:endParaRPr sz="750" b="0" i="0">
                        <a:solidFill>
                          <a:srgbClr val="17232D"/>
                        </a:solidFill>
                        <a:latin typeface="Inter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D2D8"/>
                      </a:solidFill>
                    </a:lnT>
                    <a:lnB w="9525">
                      <a:solidFill>
                        <a:srgbClr val="0E4D5E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 i="0">
                          <a:solidFill>
                            <a:srgbClr val="17232D"/>
                          </a:solidFill>
                          <a:latin typeface="Inter"/>
                        </a:rPr>
                        <a:t>1.2</a:t>
                      </a:r>
                      <a:endParaRPr sz="750" b="0" i="0">
                        <a:solidFill>
                          <a:srgbClr val="17232D"/>
                        </a:solidFill>
                        <a:latin typeface="Inter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D2D8"/>
                      </a:solidFill>
                    </a:lnT>
                    <a:lnB w="9525">
                      <a:solidFill>
                        <a:srgbClr val="0E4D5E"/>
                      </a:solidFill>
                    </a:lnB>
                    <a:noFill/>
                  </a:tcPr>
                </a:tc>
              </a:tr>
              <a:tr h="169418">
                <a:tc>
                  <a:txBody>
                    <a:bodyPr wrap="square"/>
                    <a:lstStyle/>
                    <a:p>
                      <a:pPr algn="l"/>
                      <a:r>
                        <a:rPr sz="750" b="1" i="0">
                          <a:solidFill>
                            <a:srgbClr val="17232D"/>
                          </a:solidFill>
                          <a:latin typeface="Inter"/>
                        </a:rPr>
                        <a:t>Footprint lever</a:t>
                      </a:r>
                      <a:endParaRPr sz="750" b="1" i="0">
                        <a:solidFill>
                          <a:srgbClr val="17232D"/>
                        </a:solidFill>
                        <a:latin typeface="Inter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rgbClr val="0E4D5E"/>
                      </a:solidFill>
                    </a:lnT>
                    <a:lnB w="9525">
                      <a:solidFill>
                        <a:srgbClr val="0E4D5E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1" i="0">
                          <a:solidFill>
                            <a:srgbClr val="0E4D5E"/>
                          </a:solidFill>
                          <a:latin typeface="Inter"/>
                        </a:rPr>
                        <a:t>29</a:t>
                      </a:r>
                      <a:endParaRPr sz="750" b="1" i="0">
                        <a:solidFill>
                          <a:srgbClr val="0E4D5E"/>
                        </a:solidFill>
                        <a:latin typeface="Inter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rgbClr val="0E4D5E"/>
                      </a:solidFill>
                    </a:lnT>
                    <a:lnB w="9525">
                      <a:solidFill>
                        <a:srgbClr val="0E4D5E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1" i="0">
                          <a:solidFill>
                            <a:srgbClr val="17232D"/>
                          </a:solidFill>
                          <a:latin typeface="Inter"/>
                        </a:rPr>
                        <a:t>68</a:t>
                      </a:r>
                      <a:endParaRPr sz="750" b="1" i="0">
                        <a:solidFill>
                          <a:srgbClr val="17232D"/>
                        </a:solidFill>
                        <a:latin typeface="Inter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rgbClr val="0E4D5E"/>
                      </a:solidFill>
                    </a:lnT>
                    <a:lnB w="9525">
                      <a:solidFill>
                        <a:srgbClr val="0E4D5E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1" i="0">
                          <a:solidFill>
                            <a:srgbClr val="17232D"/>
                          </a:solidFill>
                          <a:latin typeface="Inter"/>
                        </a:rPr>
                        <a:t>2.3</a:t>
                      </a:r>
                      <a:endParaRPr sz="750" b="1" i="0">
                        <a:solidFill>
                          <a:srgbClr val="17232D"/>
                        </a:solidFill>
                        <a:latin typeface="Inter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rgbClr val="0E4D5E"/>
                      </a:solidFill>
                    </a:lnT>
                    <a:lnB w="9525">
                      <a:solidFill>
                        <a:srgbClr val="0E4D5E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35" name="ec-n"/>
          <p:cNvSpPr/>
          <p:nvPr/>
        </p:nvSpPr>
        <p:spPr>
          <a:xfrm>
            <a:off x="5746115" y="5702553"/>
            <a:ext cx="6034405" cy="1066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ts val="8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00" b="0" i="0">
                <a:solidFill>
                  <a:srgbClr val="56636D"/>
                </a:solidFill>
                <a:latin typeface="Inter"/>
              </a:rPr>
              <a:t>Payback is one-off cost and capital over the run-rate saving; F1's saving starts at M4 in September 2027 and F2's at M5 in June 2028.</a:t>
            </a:r>
          </a:p>
        </p:txBody>
      </p:sp>
      <p:sp>
        <p:nvSpPr>
          <p:cNvPr id="36" name="source"/>
          <p:cNvSpPr/>
          <p:nvPr/>
        </p:nvSpPr>
        <p:spPr>
          <a:xfrm>
            <a:off x="411480" y="6266688"/>
            <a:ext cx="11369040" cy="1066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ts val="8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00" b="0" i="0">
                <a:solidFill>
                  <a:srgbClr val="56636D"/>
                </a:solidFill>
                <a:latin typeface="Inter"/>
              </a:rPr>
              <a:t>Source: Corrin Medical management accounts and transformation plan; FY2025 is eleven months actual and a December forecast. All figures are illustrative, invented for a fictional company.</a:t>
            </a:r>
          </a:p>
        </p:txBody>
      </p:sp>
      <p:sp>
        <p:nvSpPr>
          <p:cNvPr id="37" name="site1-mark"/>
          <p:cNvSpPr/>
          <p:nvPr/>
        </p:nvSpPr>
        <p:spPr>
          <a:xfrm>
            <a:off x="1786244" y="2198838"/>
            <a:ext cx="155636" cy="158250"/>
          </a:xfrm>
          <a:prstGeom prst="ellipse">
            <a:avLst/>
          </a:prstGeom>
          <a:solidFill>
            <a:srgbClr val="0E4D5E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" name="site1-label"/>
          <p:cNvSpPr/>
          <p:nvPr/>
        </p:nvSpPr>
        <p:spPr>
          <a:xfrm>
            <a:off x="1975662" y="2220813"/>
            <a:ext cx="610015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50" b="1" i="0">
                <a:solidFill>
                  <a:srgbClr val="17232D"/>
                </a:solidFill>
                <a:latin typeface="Inter"/>
              </a:rPr>
              <a:t>Minneapolis</a:t>
            </a:r>
          </a:p>
        </p:txBody>
      </p:sp>
      <p:sp>
        <p:nvSpPr>
          <p:cNvPr id="39" name="site2-mark"/>
          <p:cNvSpPr/>
          <p:nvPr/>
        </p:nvSpPr>
        <p:spPr>
          <a:xfrm>
            <a:off x="844819" y="2446899"/>
            <a:ext cx="155636" cy="158281"/>
          </a:xfrm>
          <a:prstGeom prst="ellipse">
            <a:avLst/>
          </a:prstGeom>
          <a:solidFill>
            <a:srgbClr val="C4541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" name="site2-label"/>
          <p:cNvSpPr/>
          <p:nvPr/>
        </p:nvSpPr>
        <p:spPr>
          <a:xfrm>
            <a:off x="585166" y="2298817"/>
            <a:ext cx="674941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50" b="1" i="0">
                <a:solidFill>
                  <a:srgbClr val="17232D"/>
                </a:solidFill>
                <a:latin typeface="Inter"/>
              </a:rPr>
              <a:t>Salt Lake City</a:t>
            </a:r>
          </a:p>
        </p:txBody>
      </p:sp>
      <p:sp>
        <p:nvSpPr>
          <p:cNvPr id="41" name="site3-mark"/>
          <p:cNvSpPr/>
          <p:nvPr/>
        </p:nvSpPr>
        <p:spPr>
          <a:xfrm>
            <a:off x="1121386" y="2980164"/>
            <a:ext cx="155636" cy="158281"/>
          </a:xfrm>
          <a:prstGeom prst="ellipse">
            <a:avLst/>
          </a:prstGeom>
          <a:solidFill>
            <a:srgbClr val="0E4D5E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" name="site3-label"/>
          <p:cNvSpPr/>
          <p:nvPr/>
        </p:nvSpPr>
        <p:spPr>
          <a:xfrm>
            <a:off x="1310805" y="3002154"/>
            <a:ext cx="710102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50" b="1" i="0">
                <a:solidFill>
                  <a:srgbClr val="17232D"/>
                </a:solidFill>
                <a:latin typeface="Inter"/>
              </a:rPr>
              <a:t>Ciudad Juarez</a:t>
            </a:r>
          </a:p>
        </p:txBody>
      </p:sp>
      <p:sp>
        <p:nvSpPr>
          <p:cNvPr id="43" name="site4-mark"/>
          <p:cNvSpPr/>
          <p:nvPr/>
        </p:nvSpPr>
        <p:spPr>
          <a:xfrm>
            <a:off x="2244321" y="4254112"/>
            <a:ext cx="155636" cy="158250"/>
          </a:xfrm>
          <a:prstGeom prst="ellipse">
            <a:avLst/>
          </a:prstGeom>
          <a:solidFill>
            <a:srgbClr val="0E4D5E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4" name="site4-label"/>
          <p:cNvSpPr/>
          <p:nvPr/>
        </p:nvSpPr>
        <p:spPr>
          <a:xfrm>
            <a:off x="1794885" y="4276087"/>
            <a:ext cx="415654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50" b="1" i="0">
                <a:solidFill>
                  <a:srgbClr val="17232D"/>
                </a:solidFill>
                <a:latin typeface="Inter"/>
              </a:rPr>
              <a:t>Alajuela</a:t>
            </a:r>
          </a:p>
        </p:txBody>
      </p:sp>
      <p:sp>
        <p:nvSpPr>
          <p:cNvPr id="45" name="site5-mark"/>
          <p:cNvSpPr/>
          <p:nvPr/>
        </p:nvSpPr>
        <p:spPr>
          <a:xfrm>
            <a:off x="2907534" y="2640434"/>
            <a:ext cx="155503" cy="158250"/>
          </a:xfrm>
          <a:prstGeom prst="ellipse">
            <a:avLst/>
          </a:prstGeom>
          <a:solidFill>
            <a:srgbClr val="0E4D5E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6" name="site5-label"/>
          <p:cNvSpPr/>
          <p:nvPr/>
        </p:nvSpPr>
        <p:spPr>
          <a:xfrm>
            <a:off x="2792876" y="2832467"/>
            <a:ext cx="384819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50" b="1" i="0">
                <a:solidFill>
                  <a:srgbClr val="17232D"/>
                </a:solidFill>
                <a:latin typeface="Inter"/>
              </a:rPr>
              <a:t>Galway</a:t>
            </a:r>
          </a:p>
        </p:txBody>
      </p:sp>
      <p:sp>
        <p:nvSpPr>
          <p:cNvPr id="47" name="site6-mark"/>
          <p:cNvSpPr/>
          <p:nvPr/>
        </p:nvSpPr>
        <p:spPr>
          <a:xfrm>
            <a:off x="4413396" y="3339013"/>
            <a:ext cx="155503" cy="158281"/>
          </a:xfrm>
          <a:prstGeom prst="ellipse">
            <a:avLst/>
          </a:prstGeom>
          <a:solidFill>
            <a:srgbClr val="C4541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8" name="site6-label"/>
          <p:cNvSpPr/>
          <p:nvPr/>
        </p:nvSpPr>
        <p:spPr>
          <a:xfrm>
            <a:off x="4236090" y="3531075"/>
            <a:ext cx="510114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50" b="1" i="0">
                <a:solidFill>
                  <a:srgbClr val="17232D"/>
                </a:solidFill>
                <a:latin typeface="Inter"/>
              </a:rPr>
              <a:t>Tuttlingen</a:t>
            </a:r>
          </a:p>
        </p:txBody>
      </p:sp>
      <p:sp>
        <p:nvSpPr>
          <p:cNvPr id="49" name="site7-mark"/>
          <p:cNvSpPr/>
          <p:nvPr/>
        </p:nvSpPr>
        <p:spPr>
          <a:xfrm>
            <a:off x="5069833" y="3179210"/>
            <a:ext cx="155503" cy="158281"/>
          </a:xfrm>
          <a:prstGeom prst="ellipse">
            <a:avLst/>
          </a:prstGeom>
          <a:solidFill>
            <a:srgbClr val="0E4D5E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0" name="site7-label"/>
          <p:cNvSpPr/>
          <p:nvPr/>
        </p:nvSpPr>
        <p:spPr>
          <a:xfrm>
            <a:off x="5017241" y="3031128"/>
            <a:ext cx="260687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50" b="1" i="0">
                <a:solidFill>
                  <a:srgbClr val="17232D"/>
                </a:solidFill>
                <a:latin typeface="Inter"/>
              </a:rPr>
              <a:t>Brno</a:t>
            </a:r>
          </a:p>
        </p:txBody>
      </p:sp>
    </p:spTree>
    <p:custDataLst>
      <p:tags r:id="rId9"/>
    </p:custDataLst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cxnSp>
        <p:nvCxnSpPr>
          <p:cNvPr id="33" name="chrome-1"/>
          <p:cNvCxnSpPr/>
          <p:nvPr/>
        </p:nvCxnSpPr>
        <p:spPr>
          <a:xfrm>
            <a:off x="411480" y="1037843"/>
            <a:ext cx="11368735" cy="0"/>
          </a:xfrm>
          <a:prstGeom prst="line">
            <a:avLst/>
          </a:prstGeom>
          <a:ln w="12700">
            <a:solidFill>
              <a:srgbClr val="0E4D5E"/>
            </a:solidFill>
          </a:ln>
        </p:spPr>
      </p:cxnSp>
      <p:cxnSp>
        <p:nvCxnSpPr>
          <p:cNvPr id="34" name="chrome-2"/>
          <p:cNvCxnSpPr/>
          <p:nvPr/>
        </p:nvCxnSpPr>
        <p:spPr>
          <a:xfrm>
            <a:off x="411480" y="6405372"/>
            <a:ext cx="11368735" cy="0"/>
          </a:xfrm>
          <a:prstGeom prst="line">
            <a:avLst/>
          </a:prstGeom>
          <a:ln w="6350">
            <a:solidFill>
              <a:srgbClr val="C9D2D8"/>
            </a:solidFill>
          </a:ln>
        </p:spPr>
      </p:cxnSp>
      <p:pic>
        <p:nvPicPr>
          <p:cNvPr id="35" name="chrome-3" descr="corrin-m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6473952"/>
            <a:ext cx="201168" cy="201168"/>
          </a:xfrm>
          <a:prstGeom prst="rect">
            <a:avLst/>
          </a:prstGeom>
        </p:spPr>
      </p:pic>
      <p:sp>
        <p:nvSpPr>
          <p:cNvPr id="36" name="chrome-4"/>
          <p:cNvSpPr txBox="1"/>
          <p:nvPr/>
        </p:nvSpPr>
        <p:spPr>
          <a:xfrm>
            <a:off x="658368" y="6492240"/>
            <a:ext cx="1188720" cy="164592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r>
              <a:rPr sz="900" b="1">
                <a:solidFill>
                  <a:srgbClr val="0E4D5E"/>
                </a:solidFill>
                <a:latin typeface="Inter"/>
              </a:rPr>
              <a:t>Corrin Medical</a:t>
            </a:r>
          </a:p>
        </p:txBody>
      </p:sp>
      <p:sp>
        <p:nvSpPr>
          <p:cNvPr id="37" name="chrome-5"/>
          <p:cNvSpPr txBox="1"/>
          <p:nvPr/>
        </p:nvSpPr>
        <p:spPr>
          <a:xfrm>
            <a:off x="1920240" y="6510528"/>
            <a:ext cx="8229600" cy="1524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r"/>
            <a:r>
              <a:rPr sz="700" b="0">
                <a:solidFill>
                  <a:srgbClr val="56636D"/>
                </a:solidFill>
                <a:latin typeface="Inter"/>
              </a:rPr>
              <a:t>Board of Directors  |  Corrin 2028 operating transformation  |  18 December 2025  |  Illustrative figures for a fictional company</a:t>
            </a:r>
          </a:p>
        </p:txBody>
      </p:sp>
      <p:sp>
        <p:nvSpPr>
          <p:cNvPr id="38" name="chrome-6"/>
          <p:cNvSpPr txBox="1"/>
          <p:nvPr/>
        </p:nvSpPr>
        <p:spPr>
          <a:xfrm>
            <a:off x="11323015" y="6510528"/>
            <a:ext cx="457200" cy="1524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r"/>
            <a:fld id="{B6F15528-21DE-4FAA-801E-634DDDAF5B2F}" type="slidenum">
              <a:rPr sz="700">
                <a:solidFill>
                  <a:srgbClr val="56636D"/>
                </a:solidFill>
                <a:latin typeface="Inter"/>
              </a:rPr>
              <a:t>1</a:t>
            </a:fld>
          </a:p>
        </p:txBody>
      </p:sp>
      <p:sp>
        <p:nvSpPr>
          <p:cNvPr id="3" name="kicker"/>
          <p:cNvSpPr/>
          <p:nvPr/>
        </p:nvSpPr>
        <p:spPr>
          <a:xfrm>
            <a:off x="411480" y="543305"/>
            <a:ext cx="11369040" cy="1219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ts val="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00" b="1" i="0" spc="50">
                <a:solidFill>
                  <a:srgbClr val="0E4D5E"/>
                </a:solidFill>
                <a:latin typeface="Inter"/>
              </a:rPr>
              <a:t>PRIORITISATION  |  INITIATIVES</a:t>
            </a:r>
          </a:p>
        </p:txBody>
      </p:sp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411480" y="692657"/>
            <a:ext cx="11369040" cy="240030"/>
          </a:xfrm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1" i="0">
                <a:solidFill>
                  <a:srgbClr val="17232D"/>
                </a:solidFill>
                <a:latin typeface="Inter"/>
              </a:rPr>
              <a:t>Four strategic bets hold 46% of the value and 64% of the cost; two quick wins start now</a:t>
            </a:r>
          </a:p>
        </p:txBody>
      </p:sp>
      <p:sp>
        <p:nvSpPr>
          <p:cNvPr id="4" name="mx-h"/>
          <p:cNvSpPr/>
          <p:nvPr/>
        </p:nvSpPr>
        <p:spPr>
          <a:xfrm>
            <a:off x="411480" y="1133855"/>
            <a:ext cx="5835469" cy="1600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ts val="12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 b="1" i="0">
                <a:solidFill>
                  <a:srgbClr val="0E4D5E"/>
                </a:solidFill>
                <a:latin typeface="Inter"/>
              </a:rPr>
              <a:t>Value against ease of delivery, sized by cost</a:t>
            </a:r>
          </a:p>
        </p:txBody>
      </p:sp>
      <p:sp>
        <p:nvSpPr>
          <p:cNvPr id="5" name="mx-u"/>
          <p:cNvSpPr/>
          <p:nvPr/>
        </p:nvSpPr>
        <p:spPr>
          <a:xfrm>
            <a:off x="411480" y="1321307"/>
            <a:ext cx="5835469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50" b="0" i="0">
                <a:solidFill>
                  <a:srgbClr val="56636D"/>
                </a:solidFill>
                <a:latin typeface="Inter"/>
              </a:rPr>
              <a:t>Each point is one initiative by code: strategic bets in orange, other initiatives in petrol, deferred ideas in grey</a:t>
            </a:r>
          </a:p>
        </p:txBody>
      </p:sp>
      <p:sp>
        <p:nvSpPr>
          <p:cNvPr id="6" name="q-quick-band"/>
          <p:cNvSpPr/>
          <p:nvPr/>
        </p:nvSpPr>
        <p:spPr>
          <a:xfrm>
            <a:off x="3329214" y="1776998"/>
            <a:ext cx="2421720" cy="1993392"/>
          </a:xfrm>
          <a:prstGeom prst="rect">
            <a:avLst/>
          </a:prstGeom>
          <a:solidFill>
            <a:srgbClr val="EEF2F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q-quick-label"/>
          <p:cNvSpPr/>
          <p:nvPr/>
        </p:nvSpPr>
        <p:spPr>
          <a:xfrm>
            <a:off x="5095601" y="1776998"/>
            <a:ext cx="655333" cy="1498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 marL="0" indent="0">
              <a:lnSpc>
                <a:spcPts val="108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sz="900" b="1" i="0">
                <a:solidFill>
                  <a:srgbClr val="0E4D5E"/>
                </a:solidFill>
                <a:latin typeface="Inter"/>
              </a:rPr>
              <a:t>Quick wins</a:t>
            </a:r>
          </a:p>
        </p:txBody>
      </p:sp>
      <p:sp>
        <p:nvSpPr>
          <p:cNvPr id="8" name="q-bets-l-band"/>
          <p:cNvSpPr/>
          <p:nvPr/>
        </p:nvSpPr>
        <p:spPr>
          <a:xfrm>
            <a:off x="1004364" y="1856734"/>
            <a:ext cx="2203765" cy="181398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q-bets-l-label"/>
          <p:cNvSpPr/>
          <p:nvPr/>
        </p:nvSpPr>
        <p:spPr>
          <a:xfrm>
            <a:off x="1004364" y="1856734"/>
            <a:ext cx="820030" cy="1498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ts val="108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sz="900" b="1" i="0">
                <a:solidFill>
                  <a:srgbClr val="0E4D5E"/>
                </a:solidFill>
                <a:latin typeface="Inter"/>
              </a:rPr>
              <a:t>Strategic bets</a:t>
            </a:r>
          </a:p>
        </p:txBody>
      </p:sp>
      <p:sp>
        <p:nvSpPr>
          <p:cNvPr id="10" name="q-fill-l-band"/>
          <p:cNvSpPr/>
          <p:nvPr/>
        </p:nvSpPr>
        <p:spPr>
          <a:xfrm>
            <a:off x="3450300" y="3870060"/>
            <a:ext cx="2240091" cy="141530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q-fill-l-label"/>
          <p:cNvSpPr/>
          <p:nvPr/>
        </p:nvSpPr>
        <p:spPr>
          <a:xfrm>
            <a:off x="5270300" y="5135509"/>
            <a:ext cx="420091" cy="1498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 marL="0" indent="0">
              <a:lnSpc>
                <a:spcPts val="108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sz="900" b="1" i="0">
                <a:solidFill>
                  <a:srgbClr val="0E4D5E"/>
                </a:solidFill>
                <a:latin typeface="Inter"/>
              </a:rPr>
              <a:t>Fill-ins</a:t>
            </a:r>
          </a:p>
        </p:txBody>
      </p:sp>
      <p:sp>
        <p:nvSpPr>
          <p:cNvPr id="12" name="q-low-l-band"/>
          <p:cNvSpPr/>
          <p:nvPr/>
        </p:nvSpPr>
        <p:spPr>
          <a:xfrm>
            <a:off x="1004364" y="3870060"/>
            <a:ext cx="2203765" cy="141530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q-low-l-label"/>
          <p:cNvSpPr/>
          <p:nvPr/>
        </p:nvSpPr>
        <p:spPr>
          <a:xfrm>
            <a:off x="1004364" y="5135509"/>
            <a:ext cx="1255296" cy="1498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ts val="108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sz="900" b="1" i="0">
                <a:solidFill>
                  <a:srgbClr val="0E4D5E"/>
                </a:solidFill>
                <a:latin typeface="Inter"/>
              </a:rPr>
              <a:t>Defer unless enabling</a:t>
            </a:r>
          </a:p>
        </p:txBody>
      </p:sp>
      <p:graphicFrame>
        <p:nvGraphicFramePr>
          <p:cNvPr id="14" name="matrix"/>
          <p:cNvGraphicFramePr>
            <a:graphicFrameLocks noGrp="1"/>
          </p:cNvGraphicFramePr>
          <p:nvPr/>
        </p:nvGraphicFramePr>
        <p:xfrm>
          <a:off x="411480" y="1463039"/>
          <a:ext cx="5835469" cy="4485133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5" name="sk-t"/>
          <p:cNvSpPr/>
          <p:nvPr/>
        </p:nvSpPr>
        <p:spPr>
          <a:xfrm>
            <a:off x="411480" y="6013704"/>
            <a:ext cx="1629513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50" b="0" i="0">
                <a:solidFill>
                  <a:srgbClr val="56636D"/>
                </a:solidFill>
                <a:latin typeface="Inter"/>
              </a:rPr>
              <a:t>Marker size is the cost to achieve:</a:t>
            </a:r>
          </a:p>
        </p:txBody>
      </p:sp>
      <p:sp>
        <p:nvSpPr>
          <p:cNvPr id="16" name="sk1-fill"/>
          <p:cNvSpPr/>
          <p:nvPr/>
        </p:nvSpPr>
        <p:spPr>
          <a:xfrm>
            <a:off x="2095857" y="6026404"/>
            <a:ext cx="88900" cy="88900"/>
          </a:xfrm>
          <a:prstGeom prst="ellipse">
            <a:avLst/>
          </a:prstGeom>
          <a:solidFill>
            <a:srgbClr val="A3AFB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sk1-t"/>
          <p:cNvSpPr/>
          <p:nvPr/>
        </p:nvSpPr>
        <p:spPr>
          <a:xfrm>
            <a:off x="2239621" y="6013704"/>
            <a:ext cx="718903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50" b="0" i="0">
                <a:solidFill>
                  <a:srgbClr val="56636D"/>
                </a:solidFill>
                <a:latin typeface="Inter"/>
              </a:rPr>
              <a:t>under $10m</a:t>
            </a:r>
          </a:p>
        </p:txBody>
      </p:sp>
      <p:sp>
        <p:nvSpPr>
          <p:cNvPr id="18" name="sk2-fill"/>
          <p:cNvSpPr/>
          <p:nvPr/>
        </p:nvSpPr>
        <p:spPr>
          <a:xfrm>
            <a:off x="3013388" y="6001004"/>
            <a:ext cx="139700" cy="139700"/>
          </a:xfrm>
          <a:prstGeom prst="ellipse">
            <a:avLst/>
          </a:prstGeom>
          <a:solidFill>
            <a:srgbClr val="A3AFB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sk2-t"/>
          <p:cNvSpPr/>
          <p:nvPr/>
        </p:nvSpPr>
        <p:spPr>
          <a:xfrm>
            <a:off x="3207952" y="6013704"/>
            <a:ext cx="814757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50" b="0" i="0">
                <a:solidFill>
                  <a:srgbClr val="56636D"/>
                </a:solidFill>
                <a:latin typeface="Inter"/>
              </a:rPr>
              <a:t>$10m to $25m</a:t>
            </a:r>
          </a:p>
        </p:txBody>
      </p:sp>
      <p:sp>
        <p:nvSpPr>
          <p:cNvPr id="20" name="sk3-fill"/>
          <p:cNvSpPr/>
          <p:nvPr/>
        </p:nvSpPr>
        <p:spPr>
          <a:xfrm>
            <a:off x="4077573" y="5975604"/>
            <a:ext cx="190500" cy="190500"/>
          </a:xfrm>
          <a:prstGeom prst="ellipse">
            <a:avLst/>
          </a:prstGeom>
          <a:solidFill>
            <a:srgbClr val="A3AFB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sk3-t"/>
          <p:cNvSpPr/>
          <p:nvPr/>
        </p:nvSpPr>
        <p:spPr>
          <a:xfrm>
            <a:off x="4322937" y="6013704"/>
            <a:ext cx="718903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50" b="0" i="0">
                <a:solidFill>
                  <a:srgbClr val="56636D"/>
                </a:solidFill>
                <a:latin typeface="Inter"/>
              </a:rPr>
              <a:t>over $25m</a:t>
            </a:r>
          </a:p>
        </p:txBody>
      </p:sp>
      <p:sp>
        <p:nvSpPr>
          <p:cNvPr id="22" name="tab-h"/>
          <p:cNvSpPr/>
          <p:nvPr/>
        </p:nvSpPr>
        <p:spPr>
          <a:xfrm>
            <a:off x="6475549" y="1133855"/>
            <a:ext cx="5304971" cy="1600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ts val="12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 b="1" i="0">
                <a:solidFill>
                  <a:srgbClr val="0E4D5E"/>
                </a:solidFill>
                <a:latin typeface="Inter"/>
              </a:rPr>
              <a:t>Twelve initiatives in the plan</a:t>
            </a:r>
          </a:p>
        </p:txBody>
      </p:sp>
      <p:sp>
        <p:nvSpPr>
          <p:cNvPr id="23" name="tab-u"/>
          <p:cNvSpPr/>
          <p:nvPr/>
        </p:nvSpPr>
        <p:spPr>
          <a:xfrm>
            <a:off x="6475549" y="1348739"/>
            <a:ext cx="5304971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50" b="0" i="0">
                <a:solidFill>
                  <a:srgbClr val="56636D"/>
                </a:solidFill>
                <a:latin typeface="Inter"/>
              </a:rPr>
              <a:t>Run-rate EBITDA and cost to achieve, $m; ease scored 1 hard to 5 easy; strategic bets in orange</a:t>
            </a:r>
          </a:p>
        </p:txBody>
      </p:sp>
      <p:graphicFrame>
        <p:nvGraphicFramePr>
          <p:cNvPr id="24" name="inits"/>
          <p:cNvGraphicFramePr>
            <a:graphicFrameLocks noGrp="1"/>
          </p:cNvGraphicFramePr>
          <p:nvPr/>
        </p:nvGraphicFramePr>
        <p:xfrm>
          <a:off x="6475549" y="1517903"/>
          <a:ext cx="5304971" cy="2486406"/>
        </p:xfrm>
        <a:graphic>
          <a:graphicData uri="http://schemas.openxmlformats.org/drawingml/2006/table">
            <a:tbl>
              <a:tblPr firstRow="0" bandRow="0" lastRow="0" firstCol="0" lastCol="0" bandCol="0"/>
              <a:tblGrid>
                <a:gridCol w="371348"/>
                <a:gridCol w="2121988"/>
                <a:gridCol w="583547"/>
                <a:gridCol w="530497"/>
                <a:gridCol w="424398"/>
                <a:gridCol w="795746"/>
                <a:gridCol w="477447"/>
              </a:tblGrid>
              <a:tr h="283972">
                <a:tc>
                  <a:txBody>
                    <a:bodyPr wrap="square"/>
                    <a:lstStyle/>
                    <a:p>
                      <a:pPr algn="l"/>
                      <a:r>
                        <a:rPr sz="750" b="1" i="0">
                          <a:solidFill>
                            <a:srgbClr val="0E4D5E"/>
                          </a:solidFill>
                          <a:latin typeface="Inter"/>
                        </a:rPr>
                        <a:t>Code</a:t>
                      </a:r>
                      <a:endParaRPr sz="750" b="1" i="0">
                        <a:solidFill>
                          <a:srgbClr val="0E4D5E"/>
                        </a:solidFill>
                        <a:latin typeface="Inter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0E4D5E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 b="1" i="0">
                          <a:solidFill>
                            <a:srgbClr val="0E4D5E"/>
                          </a:solidFill>
                          <a:latin typeface="Inter"/>
                        </a:rPr>
                        <a:t>Initiative</a:t>
                      </a:r>
                      <a:endParaRPr sz="750" b="1" i="0">
                        <a:solidFill>
                          <a:srgbClr val="0E4D5E"/>
                        </a:solidFill>
                        <a:latin typeface="Inter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0E4D5E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1" i="0">
                          <a:solidFill>
                            <a:srgbClr val="0E4D5E"/>
                          </a:solidFill>
                          <a:latin typeface="Inter"/>
                        </a:rPr>
                        <a:t>$m EBITDA</a:t>
                      </a:r>
                      <a:endParaRPr sz="750" b="1" i="0">
                        <a:solidFill>
                          <a:srgbClr val="0E4D5E"/>
                        </a:solidFill>
                        <a:latin typeface="Inter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0E4D5E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1" i="0">
                          <a:solidFill>
                            <a:srgbClr val="0E4D5E"/>
                          </a:solidFill>
                          <a:latin typeface="Inter"/>
                        </a:rPr>
                        <a:t>$m cost</a:t>
                      </a:r>
                      <a:endParaRPr sz="750" b="1" i="0">
                        <a:solidFill>
                          <a:srgbClr val="0E4D5E"/>
                        </a:solidFill>
                        <a:latin typeface="Inter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0E4D5E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1" i="0">
                          <a:solidFill>
                            <a:srgbClr val="0E4D5E"/>
                          </a:solidFill>
                          <a:latin typeface="Inter"/>
                        </a:rPr>
                        <a:t>Ease</a:t>
                      </a:r>
                      <a:endParaRPr sz="750" b="1" i="0">
                        <a:solidFill>
                          <a:srgbClr val="0E4D5E"/>
                        </a:solidFill>
                        <a:latin typeface="Inter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0E4D5E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 b="1" i="0">
                          <a:solidFill>
                            <a:srgbClr val="0E4D5E"/>
                          </a:solidFill>
                          <a:latin typeface="Inter"/>
                        </a:rPr>
                        <a:t>Quadrant</a:t>
                      </a:r>
                      <a:endParaRPr sz="750" b="1" i="0">
                        <a:solidFill>
                          <a:srgbClr val="0E4D5E"/>
                        </a:solidFill>
                        <a:latin typeface="Inter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0E4D5E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1" i="0">
                          <a:solidFill>
                            <a:srgbClr val="0E4D5E"/>
                          </a:solidFill>
                          <a:latin typeface="Inter"/>
                        </a:rPr>
                        <a:t>Wave</a:t>
                      </a:r>
                      <a:endParaRPr sz="750" b="1" i="0">
                        <a:solidFill>
                          <a:srgbClr val="0E4D5E"/>
                        </a:solidFill>
                        <a:latin typeface="Inter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0E4D5E"/>
                      </a:solidFill>
                    </a:lnB>
                    <a:noFill/>
                  </a:tcPr>
                </a:tc>
              </a:tr>
              <a:tr h="169418">
                <a:tc>
                  <a:txBody>
                    <a:bodyPr wrap="square"/>
                    <a:lstStyle/>
                    <a:p>
                      <a:pPr algn="l"/>
                      <a:r>
                        <a:rPr sz="750" b="1" i="0">
                          <a:solidFill>
                            <a:srgbClr val="0E4D5E"/>
                          </a:solidFill>
                          <a:latin typeface="Inter"/>
                        </a:rPr>
                        <a:t>P1</a:t>
                      </a:r>
                      <a:endParaRPr sz="750" b="1" i="0">
                        <a:solidFill>
                          <a:srgbClr val="0E4D5E"/>
                        </a:solidFill>
                        <a:latin typeface="Inter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rgbClr val="0E4D5E"/>
                      </a:solidFill>
                    </a:lnT>
                    <a:lnB w="6350">
                      <a:solidFill>
                        <a:srgbClr val="C9D2D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 b="0" i="0">
                          <a:solidFill>
                            <a:srgbClr val="17232D"/>
                          </a:solidFill>
                          <a:latin typeface="Inter"/>
                        </a:rPr>
                        <a:t>Direct-material re-sourcing</a:t>
                      </a:r>
                      <a:endParaRPr sz="750" b="0" i="0">
                        <a:solidFill>
                          <a:srgbClr val="17232D"/>
                        </a:solidFill>
                        <a:latin typeface="Inter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rgbClr val="0E4D5E"/>
                      </a:solidFill>
                    </a:lnT>
                    <a:lnB w="6350">
                      <a:solidFill>
                        <a:srgbClr val="C9D2D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 i="0">
                          <a:solidFill>
                            <a:srgbClr val="17232D"/>
                          </a:solidFill>
                          <a:latin typeface="Inter"/>
                        </a:rPr>
                        <a:t>16</a:t>
                      </a:r>
                      <a:endParaRPr sz="750" b="0" i="0">
                        <a:solidFill>
                          <a:srgbClr val="17232D"/>
                        </a:solidFill>
                        <a:latin typeface="Inter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rgbClr val="0E4D5E"/>
                      </a:solidFill>
                    </a:lnT>
                    <a:lnB w="6350">
                      <a:solidFill>
                        <a:srgbClr val="C9D2D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 i="0">
                          <a:solidFill>
                            <a:srgbClr val="17232D"/>
                          </a:solidFill>
                          <a:latin typeface="Inter"/>
                        </a:rPr>
                        <a:t>6</a:t>
                      </a:r>
                      <a:endParaRPr sz="750" b="0" i="0">
                        <a:solidFill>
                          <a:srgbClr val="17232D"/>
                        </a:solidFill>
                        <a:latin typeface="Inter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rgbClr val="0E4D5E"/>
                      </a:solidFill>
                    </a:lnT>
                    <a:lnB w="6350">
                      <a:solidFill>
                        <a:srgbClr val="C9D2D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 i="0">
                          <a:solidFill>
                            <a:srgbClr val="17232D"/>
                          </a:solidFill>
                          <a:latin typeface="Inter"/>
                        </a:rPr>
                        <a:t>3.8</a:t>
                      </a:r>
                      <a:endParaRPr sz="750" b="0" i="0">
                        <a:solidFill>
                          <a:srgbClr val="17232D"/>
                        </a:solidFill>
                        <a:latin typeface="Inter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rgbClr val="0E4D5E"/>
                      </a:solidFill>
                    </a:lnT>
                    <a:lnB w="6350">
                      <a:solidFill>
                        <a:srgbClr val="C9D2D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 b="0" i="0">
                          <a:solidFill>
                            <a:srgbClr val="17232D"/>
                          </a:solidFill>
                          <a:latin typeface="Inter"/>
                        </a:rPr>
                        <a:t>Quick win</a:t>
                      </a:r>
                      <a:endParaRPr sz="750" b="0" i="0">
                        <a:solidFill>
                          <a:srgbClr val="17232D"/>
                        </a:solidFill>
                        <a:latin typeface="Inter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rgbClr val="0E4D5E"/>
                      </a:solidFill>
                    </a:lnT>
                    <a:lnB w="6350">
                      <a:solidFill>
                        <a:srgbClr val="C9D2D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 i="0">
                          <a:solidFill>
                            <a:srgbClr val="17232D"/>
                          </a:solidFill>
                          <a:latin typeface="Inter"/>
                        </a:rPr>
                        <a:t>1</a:t>
                      </a:r>
                      <a:endParaRPr sz="750" b="0" i="0">
                        <a:solidFill>
                          <a:srgbClr val="17232D"/>
                        </a:solidFill>
                        <a:latin typeface="Inter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rgbClr val="0E4D5E"/>
                      </a:solidFill>
                    </a:lnT>
                    <a:lnB w="6350">
                      <a:solidFill>
                        <a:srgbClr val="C9D2D8"/>
                      </a:solidFill>
                    </a:lnB>
                    <a:noFill/>
                  </a:tcPr>
                </a:tc>
              </a:tr>
              <a:tr h="169418">
                <a:tc>
                  <a:txBody>
                    <a:bodyPr wrap="square"/>
                    <a:lstStyle/>
                    <a:p>
                      <a:pPr algn="l"/>
                      <a:r>
                        <a:rPr sz="750" b="1" i="0">
                          <a:solidFill>
                            <a:srgbClr val="C4541C"/>
                          </a:solidFill>
                          <a:latin typeface="Inter"/>
                        </a:rPr>
                        <a:t>P2</a:t>
                      </a:r>
                      <a:endParaRPr sz="750" b="1" i="0">
                        <a:solidFill>
                          <a:srgbClr val="C4541C"/>
                        </a:solidFill>
                        <a:latin typeface="Inter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D2D8"/>
                      </a:solidFill>
                    </a:lnT>
                    <a:lnB w="6350">
                      <a:solidFill>
                        <a:srgbClr val="C9D2D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 b="0" i="0">
                          <a:solidFill>
                            <a:srgbClr val="17232D"/>
                          </a:solidFill>
                          <a:latin typeface="Inter"/>
                        </a:rPr>
                        <a:t>BOM value engineering, top 20 SKUs</a:t>
                      </a:r>
                      <a:endParaRPr sz="750" b="0" i="0">
                        <a:solidFill>
                          <a:srgbClr val="17232D"/>
                        </a:solidFill>
                        <a:latin typeface="Inter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D2D8"/>
                      </a:solidFill>
                    </a:lnT>
                    <a:lnB w="6350">
                      <a:solidFill>
                        <a:srgbClr val="C9D2D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 i="0">
                          <a:solidFill>
                            <a:srgbClr val="17232D"/>
                          </a:solidFill>
                          <a:latin typeface="Inter"/>
                        </a:rPr>
                        <a:t>11</a:t>
                      </a:r>
                      <a:endParaRPr sz="750" b="0" i="0">
                        <a:solidFill>
                          <a:srgbClr val="17232D"/>
                        </a:solidFill>
                        <a:latin typeface="Inter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D2D8"/>
                      </a:solidFill>
                    </a:lnT>
                    <a:lnB w="6350">
                      <a:solidFill>
                        <a:srgbClr val="C9D2D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 i="0">
                          <a:solidFill>
                            <a:srgbClr val="17232D"/>
                          </a:solidFill>
                          <a:latin typeface="Inter"/>
                        </a:rPr>
                        <a:t>9</a:t>
                      </a:r>
                      <a:endParaRPr sz="750" b="0" i="0">
                        <a:solidFill>
                          <a:srgbClr val="17232D"/>
                        </a:solidFill>
                        <a:latin typeface="Inter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D2D8"/>
                      </a:solidFill>
                    </a:lnT>
                    <a:lnB w="6350">
                      <a:solidFill>
                        <a:srgbClr val="C9D2D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 i="0">
                          <a:solidFill>
                            <a:srgbClr val="17232D"/>
                          </a:solidFill>
                          <a:latin typeface="Inter"/>
                        </a:rPr>
                        <a:t>2.3</a:t>
                      </a:r>
                      <a:endParaRPr sz="750" b="0" i="0">
                        <a:solidFill>
                          <a:srgbClr val="17232D"/>
                        </a:solidFill>
                        <a:latin typeface="Inter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D2D8"/>
                      </a:solidFill>
                    </a:lnT>
                    <a:lnB w="6350">
                      <a:solidFill>
                        <a:srgbClr val="C9D2D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 b="1" i="0">
                          <a:solidFill>
                            <a:srgbClr val="C4541C"/>
                          </a:solidFill>
                          <a:latin typeface="Inter"/>
                        </a:rPr>
                        <a:t>Strategic bet</a:t>
                      </a:r>
                      <a:endParaRPr sz="750" b="1" i="0">
                        <a:solidFill>
                          <a:srgbClr val="C4541C"/>
                        </a:solidFill>
                        <a:latin typeface="Inter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D2D8"/>
                      </a:solidFill>
                    </a:lnT>
                    <a:lnB w="6350">
                      <a:solidFill>
                        <a:srgbClr val="C9D2D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 i="0">
                          <a:solidFill>
                            <a:srgbClr val="17232D"/>
                          </a:solidFill>
                          <a:latin typeface="Inter"/>
                        </a:rPr>
                        <a:t>2</a:t>
                      </a:r>
                      <a:endParaRPr sz="750" b="0" i="0">
                        <a:solidFill>
                          <a:srgbClr val="17232D"/>
                        </a:solidFill>
                        <a:latin typeface="Inter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D2D8"/>
                      </a:solidFill>
                    </a:lnT>
                    <a:lnB w="6350">
                      <a:solidFill>
                        <a:srgbClr val="C9D2D8"/>
                      </a:solidFill>
                    </a:lnB>
                    <a:noFill/>
                  </a:tcPr>
                </a:tc>
              </a:tr>
              <a:tr h="169418">
                <a:tc>
                  <a:txBody>
                    <a:bodyPr wrap="square"/>
                    <a:lstStyle/>
                    <a:p>
                      <a:pPr algn="l"/>
                      <a:r>
                        <a:rPr sz="750" b="1" i="0">
                          <a:solidFill>
                            <a:srgbClr val="0E4D5E"/>
                          </a:solidFill>
                          <a:latin typeface="Inter"/>
                        </a:rPr>
                        <a:t>P3</a:t>
                      </a:r>
                      <a:endParaRPr sz="750" b="1" i="0">
                        <a:solidFill>
                          <a:srgbClr val="0E4D5E"/>
                        </a:solidFill>
                        <a:latin typeface="Inter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D2D8"/>
                      </a:solidFill>
                    </a:lnT>
                    <a:lnB w="6350">
                      <a:solidFill>
                        <a:srgbClr val="C9D2D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 b="0" i="0">
                          <a:solidFill>
                            <a:srgbClr val="17232D"/>
                          </a:solidFill>
                          <a:latin typeface="Inter"/>
                        </a:rPr>
                        <a:t>Indirect spend and freight tender</a:t>
                      </a:r>
                      <a:endParaRPr sz="750" b="0" i="0">
                        <a:solidFill>
                          <a:srgbClr val="17232D"/>
                        </a:solidFill>
                        <a:latin typeface="Inter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D2D8"/>
                      </a:solidFill>
                    </a:lnT>
                    <a:lnB w="6350">
                      <a:solidFill>
                        <a:srgbClr val="C9D2D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 i="0">
                          <a:solidFill>
                            <a:srgbClr val="17232D"/>
                          </a:solidFill>
                          <a:latin typeface="Inter"/>
                        </a:rPr>
                        <a:t>7</a:t>
                      </a:r>
                      <a:endParaRPr sz="750" b="0" i="0">
                        <a:solidFill>
                          <a:srgbClr val="17232D"/>
                        </a:solidFill>
                        <a:latin typeface="Inter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D2D8"/>
                      </a:solidFill>
                    </a:lnT>
                    <a:lnB w="6350">
                      <a:solidFill>
                        <a:srgbClr val="C9D2D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 i="0">
                          <a:solidFill>
                            <a:srgbClr val="17232D"/>
                          </a:solidFill>
                          <a:latin typeface="Inter"/>
                        </a:rPr>
                        <a:t>2</a:t>
                      </a:r>
                      <a:endParaRPr sz="750" b="0" i="0">
                        <a:solidFill>
                          <a:srgbClr val="17232D"/>
                        </a:solidFill>
                        <a:latin typeface="Inter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D2D8"/>
                      </a:solidFill>
                    </a:lnT>
                    <a:lnB w="6350">
                      <a:solidFill>
                        <a:srgbClr val="C9D2D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 i="0">
                          <a:solidFill>
                            <a:srgbClr val="17232D"/>
                          </a:solidFill>
                          <a:latin typeface="Inter"/>
                        </a:rPr>
                        <a:t>4.4</a:t>
                      </a:r>
                      <a:endParaRPr sz="750" b="0" i="0">
                        <a:solidFill>
                          <a:srgbClr val="17232D"/>
                        </a:solidFill>
                        <a:latin typeface="Inter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D2D8"/>
                      </a:solidFill>
                    </a:lnT>
                    <a:lnB w="6350">
                      <a:solidFill>
                        <a:srgbClr val="C9D2D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 b="0" i="0">
                          <a:solidFill>
                            <a:srgbClr val="17232D"/>
                          </a:solidFill>
                          <a:latin typeface="Inter"/>
                        </a:rPr>
                        <a:t>Fill-in</a:t>
                      </a:r>
                      <a:endParaRPr sz="750" b="0" i="0">
                        <a:solidFill>
                          <a:srgbClr val="17232D"/>
                        </a:solidFill>
                        <a:latin typeface="Inter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D2D8"/>
                      </a:solidFill>
                    </a:lnT>
                    <a:lnB w="6350">
                      <a:solidFill>
                        <a:srgbClr val="C9D2D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 i="0">
                          <a:solidFill>
                            <a:srgbClr val="17232D"/>
                          </a:solidFill>
                          <a:latin typeface="Inter"/>
                        </a:rPr>
                        <a:t>1</a:t>
                      </a:r>
                      <a:endParaRPr sz="750" b="0" i="0">
                        <a:solidFill>
                          <a:srgbClr val="17232D"/>
                        </a:solidFill>
                        <a:latin typeface="Inter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D2D8"/>
                      </a:solidFill>
                    </a:lnT>
                    <a:lnB w="6350">
                      <a:solidFill>
                        <a:srgbClr val="C9D2D8"/>
                      </a:solidFill>
                    </a:lnB>
                    <a:noFill/>
                  </a:tcPr>
                </a:tc>
              </a:tr>
              <a:tr h="169418">
                <a:tc>
                  <a:txBody>
                    <a:bodyPr wrap="square"/>
                    <a:lstStyle/>
                    <a:p>
                      <a:pPr algn="l"/>
                      <a:r>
                        <a:rPr sz="750" b="1" i="0">
                          <a:solidFill>
                            <a:srgbClr val="C4541C"/>
                          </a:solidFill>
                          <a:latin typeface="Inter"/>
                        </a:rPr>
                        <a:t>F1</a:t>
                      </a:r>
                      <a:endParaRPr sz="750" b="1" i="0">
                        <a:solidFill>
                          <a:srgbClr val="C4541C"/>
                        </a:solidFill>
                        <a:latin typeface="Inter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D2D8"/>
                      </a:solidFill>
                    </a:lnT>
                    <a:lnB w="6350">
                      <a:solidFill>
                        <a:srgbClr val="C9D2D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 b="0" i="0">
                          <a:solidFill>
                            <a:srgbClr val="17232D"/>
                          </a:solidFill>
                          <a:latin typeface="Inter"/>
                        </a:rPr>
                        <a:t>Salt Lake City exit</a:t>
                      </a:r>
                      <a:endParaRPr sz="750" b="0" i="0">
                        <a:solidFill>
                          <a:srgbClr val="17232D"/>
                        </a:solidFill>
                        <a:latin typeface="Inter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D2D8"/>
                      </a:solidFill>
                    </a:lnT>
                    <a:lnB w="6350">
                      <a:solidFill>
                        <a:srgbClr val="C9D2D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 i="0">
                          <a:solidFill>
                            <a:srgbClr val="17232D"/>
                          </a:solidFill>
                          <a:latin typeface="Inter"/>
                        </a:rPr>
                        <a:t>15</a:t>
                      </a:r>
                      <a:endParaRPr sz="750" b="0" i="0">
                        <a:solidFill>
                          <a:srgbClr val="17232D"/>
                        </a:solidFill>
                        <a:latin typeface="Inter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D2D8"/>
                      </a:solidFill>
                    </a:lnT>
                    <a:lnB w="6350">
                      <a:solidFill>
                        <a:srgbClr val="C9D2D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 i="0">
                          <a:solidFill>
                            <a:srgbClr val="17232D"/>
                          </a:solidFill>
                          <a:latin typeface="Inter"/>
                        </a:rPr>
                        <a:t>38</a:t>
                      </a:r>
                      <a:endParaRPr sz="750" b="0" i="0">
                        <a:solidFill>
                          <a:srgbClr val="17232D"/>
                        </a:solidFill>
                        <a:latin typeface="Inter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D2D8"/>
                      </a:solidFill>
                    </a:lnT>
                    <a:lnB w="6350">
                      <a:solidFill>
                        <a:srgbClr val="C9D2D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 i="0">
                          <a:solidFill>
                            <a:srgbClr val="17232D"/>
                          </a:solidFill>
                          <a:latin typeface="Inter"/>
                        </a:rPr>
                        <a:t>1.8</a:t>
                      </a:r>
                      <a:endParaRPr sz="750" b="0" i="0">
                        <a:solidFill>
                          <a:srgbClr val="17232D"/>
                        </a:solidFill>
                        <a:latin typeface="Inter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D2D8"/>
                      </a:solidFill>
                    </a:lnT>
                    <a:lnB w="6350">
                      <a:solidFill>
                        <a:srgbClr val="C9D2D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 b="1" i="0">
                          <a:solidFill>
                            <a:srgbClr val="C4541C"/>
                          </a:solidFill>
                          <a:latin typeface="Inter"/>
                        </a:rPr>
                        <a:t>Strategic bet</a:t>
                      </a:r>
                      <a:endParaRPr sz="750" b="1" i="0">
                        <a:solidFill>
                          <a:srgbClr val="C4541C"/>
                        </a:solidFill>
                        <a:latin typeface="Inter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D2D8"/>
                      </a:solidFill>
                    </a:lnT>
                    <a:lnB w="6350">
                      <a:solidFill>
                        <a:srgbClr val="C9D2D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 i="0">
                          <a:solidFill>
                            <a:srgbClr val="17232D"/>
                          </a:solidFill>
                          <a:latin typeface="Inter"/>
                        </a:rPr>
                        <a:t>2</a:t>
                      </a:r>
                      <a:endParaRPr sz="750" b="0" i="0">
                        <a:solidFill>
                          <a:srgbClr val="17232D"/>
                        </a:solidFill>
                        <a:latin typeface="Inter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D2D8"/>
                      </a:solidFill>
                    </a:lnT>
                    <a:lnB w="6350">
                      <a:solidFill>
                        <a:srgbClr val="C9D2D8"/>
                      </a:solidFill>
                    </a:lnB>
                    <a:noFill/>
                  </a:tcPr>
                </a:tc>
              </a:tr>
              <a:tr h="169418">
                <a:tc>
                  <a:txBody>
                    <a:bodyPr wrap="square"/>
                    <a:lstStyle/>
                    <a:p>
                      <a:pPr algn="l"/>
                      <a:r>
                        <a:rPr sz="750" b="1" i="0">
                          <a:solidFill>
                            <a:srgbClr val="C4541C"/>
                          </a:solidFill>
                          <a:latin typeface="Inter"/>
                        </a:rPr>
                        <a:t>F2</a:t>
                      </a:r>
                      <a:endParaRPr sz="750" b="1" i="0">
                        <a:solidFill>
                          <a:srgbClr val="C4541C"/>
                        </a:solidFill>
                        <a:latin typeface="Inter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D2D8"/>
                      </a:solidFill>
                    </a:lnT>
                    <a:lnB w="6350">
                      <a:solidFill>
                        <a:srgbClr val="C9D2D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 b="0" i="0">
                          <a:solidFill>
                            <a:srgbClr val="17232D"/>
                          </a:solidFill>
                          <a:latin typeface="Inter"/>
                        </a:rPr>
                        <a:t>Tuttlingen exit to Brno</a:t>
                      </a:r>
                      <a:endParaRPr sz="750" b="0" i="0">
                        <a:solidFill>
                          <a:srgbClr val="17232D"/>
                        </a:solidFill>
                        <a:latin typeface="Inter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D2D8"/>
                      </a:solidFill>
                    </a:lnT>
                    <a:lnB w="6350">
                      <a:solidFill>
                        <a:srgbClr val="C9D2D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 i="0">
                          <a:solidFill>
                            <a:srgbClr val="17232D"/>
                          </a:solidFill>
                          <a:latin typeface="Inter"/>
                        </a:rPr>
                        <a:t>9</a:t>
                      </a:r>
                      <a:endParaRPr sz="750" b="0" i="0">
                        <a:solidFill>
                          <a:srgbClr val="17232D"/>
                        </a:solidFill>
                        <a:latin typeface="Inter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D2D8"/>
                      </a:solidFill>
                    </a:lnT>
                    <a:lnB w="6350">
                      <a:solidFill>
                        <a:srgbClr val="C9D2D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 i="0">
                          <a:solidFill>
                            <a:srgbClr val="17232D"/>
                          </a:solidFill>
                          <a:latin typeface="Inter"/>
                        </a:rPr>
                        <a:t>24</a:t>
                      </a:r>
                      <a:endParaRPr sz="750" b="0" i="0">
                        <a:solidFill>
                          <a:srgbClr val="17232D"/>
                        </a:solidFill>
                        <a:latin typeface="Inter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D2D8"/>
                      </a:solidFill>
                    </a:lnT>
                    <a:lnB w="6350">
                      <a:solidFill>
                        <a:srgbClr val="C9D2D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 i="0">
                          <a:solidFill>
                            <a:srgbClr val="17232D"/>
                          </a:solidFill>
                          <a:latin typeface="Inter"/>
                        </a:rPr>
                        <a:t>2.2</a:t>
                      </a:r>
                      <a:endParaRPr sz="750" b="0" i="0">
                        <a:solidFill>
                          <a:srgbClr val="17232D"/>
                        </a:solidFill>
                        <a:latin typeface="Inter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D2D8"/>
                      </a:solidFill>
                    </a:lnT>
                    <a:lnB w="6350">
                      <a:solidFill>
                        <a:srgbClr val="C9D2D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 b="1" i="0">
                          <a:solidFill>
                            <a:srgbClr val="C4541C"/>
                          </a:solidFill>
                          <a:latin typeface="Inter"/>
                        </a:rPr>
                        <a:t>Strategic bet</a:t>
                      </a:r>
                      <a:endParaRPr sz="750" b="1" i="0">
                        <a:solidFill>
                          <a:srgbClr val="C4541C"/>
                        </a:solidFill>
                        <a:latin typeface="Inter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D2D8"/>
                      </a:solidFill>
                    </a:lnT>
                    <a:lnB w="6350">
                      <a:solidFill>
                        <a:srgbClr val="C9D2D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 i="0">
                          <a:solidFill>
                            <a:srgbClr val="17232D"/>
                          </a:solidFill>
                          <a:latin typeface="Inter"/>
                        </a:rPr>
                        <a:t>3</a:t>
                      </a:r>
                      <a:endParaRPr sz="750" b="0" i="0">
                        <a:solidFill>
                          <a:srgbClr val="17232D"/>
                        </a:solidFill>
                        <a:latin typeface="Inter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D2D8"/>
                      </a:solidFill>
                    </a:lnT>
                    <a:lnB w="6350">
                      <a:solidFill>
                        <a:srgbClr val="C9D2D8"/>
                      </a:solidFill>
                    </a:lnB>
                    <a:noFill/>
                  </a:tcPr>
                </a:tc>
              </a:tr>
              <a:tr h="169418">
                <a:tc>
                  <a:txBody>
                    <a:bodyPr wrap="square"/>
                    <a:lstStyle/>
                    <a:p>
                      <a:pPr algn="l"/>
                      <a:r>
                        <a:rPr sz="750" b="1" i="0">
                          <a:solidFill>
                            <a:srgbClr val="0E4D5E"/>
                          </a:solidFill>
                          <a:latin typeface="Inter"/>
                        </a:rPr>
                        <a:t>F3</a:t>
                      </a:r>
                      <a:endParaRPr sz="750" b="1" i="0">
                        <a:solidFill>
                          <a:srgbClr val="0E4D5E"/>
                        </a:solidFill>
                        <a:latin typeface="Inter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D2D8"/>
                      </a:solidFill>
                    </a:lnT>
                    <a:lnB w="6350">
                      <a:solidFill>
                        <a:srgbClr val="C9D2D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 b="0" i="0">
                          <a:solidFill>
                            <a:srgbClr val="17232D"/>
                          </a:solidFill>
                          <a:latin typeface="Inter"/>
                        </a:rPr>
                        <a:t>Lean and OEE in retained plants</a:t>
                      </a:r>
                      <a:endParaRPr sz="750" b="0" i="0">
                        <a:solidFill>
                          <a:srgbClr val="17232D"/>
                        </a:solidFill>
                        <a:latin typeface="Inter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D2D8"/>
                      </a:solidFill>
                    </a:lnT>
                    <a:lnB w="6350">
                      <a:solidFill>
                        <a:srgbClr val="C9D2D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 i="0">
                          <a:solidFill>
                            <a:srgbClr val="17232D"/>
                          </a:solidFill>
                          <a:latin typeface="Inter"/>
                        </a:rPr>
                        <a:t>5</a:t>
                      </a:r>
                      <a:endParaRPr sz="750" b="0" i="0">
                        <a:solidFill>
                          <a:srgbClr val="17232D"/>
                        </a:solidFill>
                        <a:latin typeface="Inter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D2D8"/>
                      </a:solidFill>
                    </a:lnT>
                    <a:lnB w="6350">
                      <a:solidFill>
                        <a:srgbClr val="C9D2D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 i="0">
                          <a:solidFill>
                            <a:srgbClr val="17232D"/>
                          </a:solidFill>
                          <a:latin typeface="Inter"/>
                        </a:rPr>
                        <a:t>6</a:t>
                      </a:r>
                      <a:endParaRPr sz="750" b="0" i="0">
                        <a:solidFill>
                          <a:srgbClr val="17232D"/>
                        </a:solidFill>
                        <a:latin typeface="Inter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D2D8"/>
                      </a:solidFill>
                    </a:lnT>
                    <a:lnB w="6350">
                      <a:solidFill>
                        <a:srgbClr val="C9D2D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 i="0">
                          <a:solidFill>
                            <a:srgbClr val="17232D"/>
                          </a:solidFill>
                          <a:latin typeface="Inter"/>
                        </a:rPr>
                        <a:t>4.0</a:t>
                      </a:r>
                      <a:endParaRPr sz="750" b="0" i="0">
                        <a:solidFill>
                          <a:srgbClr val="17232D"/>
                        </a:solidFill>
                        <a:latin typeface="Inter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D2D8"/>
                      </a:solidFill>
                    </a:lnT>
                    <a:lnB w="6350">
                      <a:solidFill>
                        <a:srgbClr val="C9D2D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 b="0" i="0">
                          <a:solidFill>
                            <a:srgbClr val="17232D"/>
                          </a:solidFill>
                          <a:latin typeface="Inter"/>
                        </a:rPr>
                        <a:t>Fill-in</a:t>
                      </a:r>
                      <a:endParaRPr sz="750" b="0" i="0">
                        <a:solidFill>
                          <a:srgbClr val="17232D"/>
                        </a:solidFill>
                        <a:latin typeface="Inter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D2D8"/>
                      </a:solidFill>
                    </a:lnT>
                    <a:lnB w="6350">
                      <a:solidFill>
                        <a:srgbClr val="C9D2D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 i="0">
                          <a:solidFill>
                            <a:srgbClr val="17232D"/>
                          </a:solidFill>
                          <a:latin typeface="Inter"/>
                        </a:rPr>
                        <a:t>1</a:t>
                      </a:r>
                      <a:endParaRPr sz="750" b="0" i="0">
                        <a:solidFill>
                          <a:srgbClr val="17232D"/>
                        </a:solidFill>
                        <a:latin typeface="Inter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D2D8"/>
                      </a:solidFill>
                    </a:lnT>
                    <a:lnB w="6350">
                      <a:solidFill>
                        <a:srgbClr val="C9D2D8"/>
                      </a:solidFill>
                    </a:lnB>
                    <a:noFill/>
                  </a:tcPr>
                </a:tc>
              </a:tr>
              <a:tr h="169418">
                <a:tc>
                  <a:txBody>
                    <a:bodyPr wrap="square"/>
                    <a:lstStyle/>
                    <a:p>
                      <a:pPr algn="l"/>
                      <a:r>
                        <a:rPr sz="750" b="1" i="0">
                          <a:solidFill>
                            <a:srgbClr val="0E4D5E"/>
                          </a:solidFill>
                          <a:latin typeface="Inter"/>
                        </a:rPr>
                        <a:t>C1</a:t>
                      </a:r>
                      <a:endParaRPr sz="750" b="1" i="0">
                        <a:solidFill>
                          <a:srgbClr val="0E4D5E"/>
                        </a:solidFill>
                        <a:latin typeface="Inter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D2D8"/>
                      </a:solidFill>
                    </a:lnT>
                    <a:lnB w="6350">
                      <a:solidFill>
                        <a:srgbClr val="C9D2D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 b="0" i="0">
                          <a:solidFill>
                            <a:srgbClr val="17232D"/>
                          </a:solidFill>
                          <a:latin typeface="Inter"/>
                        </a:rPr>
                        <a:t>Contract-price master, GPO compliance</a:t>
                      </a:r>
                      <a:endParaRPr sz="750" b="0" i="0">
                        <a:solidFill>
                          <a:srgbClr val="17232D"/>
                        </a:solidFill>
                        <a:latin typeface="Inter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D2D8"/>
                      </a:solidFill>
                    </a:lnT>
                    <a:lnB w="6350">
                      <a:solidFill>
                        <a:srgbClr val="C9D2D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 i="0">
                          <a:solidFill>
                            <a:srgbClr val="17232D"/>
                          </a:solidFill>
                          <a:latin typeface="Inter"/>
                        </a:rPr>
                        <a:t>10</a:t>
                      </a:r>
                      <a:endParaRPr sz="750" b="0" i="0">
                        <a:solidFill>
                          <a:srgbClr val="17232D"/>
                        </a:solidFill>
                        <a:latin typeface="Inter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D2D8"/>
                      </a:solidFill>
                    </a:lnT>
                    <a:lnB w="6350">
                      <a:solidFill>
                        <a:srgbClr val="C9D2D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 i="0">
                          <a:solidFill>
                            <a:srgbClr val="17232D"/>
                          </a:solidFill>
                          <a:latin typeface="Inter"/>
                        </a:rPr>
                        <a:t>7</a:t>
                      </a:r>
                      <a:endParaRPr sz="750" b="0" i="0">
                        <a:solidFill>
                          <a:srgbClr val="17232D"/>
                        </a:solidFill>
                        <a:latin typeface="Inter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D2D8"/>
                      </a:solidFill>
                    </a:lnT>
                    <a:lnB w="6350">
                      <a:solidFill>
                        <a:srgbClr val="C9D2D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 i="0">
                          <a:solidFill>
                            <a:srgbClr val="17232D"/>
                          </a:solidFill>
                          <a:latin typeface="Inter"/>
                        </a:rPr>
                        <a:t>4.2</a:t>
                      </a:r>
                      <a:endParaRPr sz="750" b="0" i="0">
                        <a:solidFill>
                          <a:srgbClr val="17232D"/>
                        </a:solidFill>
                        <a:latin typeface="Inter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D2D8"/>
                      </a:solidFill>
                    </a:lnT>
                    <a:lnB w="6350">
                      <a:solidFill>
                        <a:srgbClr val="C9D2D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 b="0" i="0">
                          <a:solidFill>
                            <a:srgbClr val="17232D"/>
                          </a:solidFill>
                          <a:latin typeface="Inter"/>
                        </a:rPr>
                        <a:t>Quick win</a:t>
                      </a:r>
                      <a:endParaRPr sz="750" b="0" i="0">
                        <a:solidFill>
                          <a:srgbClr val="17232D"/>
                        </a:solidFill>
                        <a:latin typeface="Inter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D2D8"/>
                      </a:solidFill>
                    </a:lnT>
                    <a:lnB w="6350">
                      <a:solidFill>
                        <a:srgbClr val="C9D2D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 i="0">
                          <a:solidFill>
                            <a:srgbClr val="17232D"/>
                          </a:solidFill>
                          <a:latin typeface="Inter"/>
                        </a:rPr>
                        <a:t>1</a:t>
                      </a:r>
                      <a:endParaRPr sz="750" b="0" i="0">
                        <a:solidFill>
                          <a:srgbClr val="17232D"/>
                        </a:solidFill>
                        <a:latin typeface="Inter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D2D8"/>
                      </a:solidFill>
                    </a:lnT>
                    <a:lnB w="6350">
                      <a:solidFill>
                        <a:srgbClr val="C9D2D8"/>
                      </a:solidFill>
                    </a:lnB>
                    <a:noFill/>
                  </a:tcPr>
                </a:tc>
              </a:tr>
              <a:tr h="169418">
                <a:tc>
                  <a:txBody>
                    <a:bodyPr wrap="square"/>
                    <a:lstStyle/>
                    <a:p>
                      <a:pPr algn="l"/>
                      <a:r>
                        <a:rPr sz="750" b="1" i="0">
                          <a:solidFill>
                            <a:srgbClr val="0E4D5E"/>
                          </a:solidFill>
                          <a:latin typeface="Inter"/>
                        </a:rPr>
                        <a:t>C2</a:t>
                      </a:r>
                      <a:endParaRPr sz="750" b="1" i="0">
                        <a:solidFill>
                          <a:srgbClr val="0E4D5E"/>
                        </a:solidFill>
                        <a:latin typeface="Inter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D2D8"/>
                      </a:solidFill>
                    </a:lnT>
                    <a:lnB w="6350">
                      <a:solidFill>
                        <a:srgbClr val="C9D2D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 b="0" i="0">
                          <a:solidFill>
                            <a:srgbClr val="17232D"/>
                          </a:solidFill>
                          <a:latin typeface="Inter"/>
                        </a:rPr>
                        <a:t>Bill-only and consignment digitised</a:t>
                      </a:r>
                      <a:endParaRPr sz="750" b="0" i="0">
                        <a:solidFill>
                          <a:srgbClr val="17232D"/>
                        </a:solidFill>
                        <a:latin typeface="Inter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D2D8"/>
                      </a:solidFill>
                    </a:lnT>
                    <a:lnB w="6350">
                      <a:solidFill>
                        <a:srgbClr val="C9D2D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 i="0">
                          <a:solidFill>
                            <a:srgbClr val="17232D"/>
                          </a:solidFill>
                          <a:latin typeface="Inter"/>
                        </a:rPr>
                        <a:t>4</a:t>
                      </a:r>
                      <a:endParaRPr sz="750" b="0" i="0">
                        <a:solidFill>
                          <a:srgbClr val="17232D"/>
                        </a:solidFill>
                        <a:latin typeface="Inter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D2D8"/>
                      </a:solidFill>
                    </a:lnT>
                    <a:lnB w="6350">
                      <a:solidFill>
                        <a:srgbClr val="C9D2D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 i="0">
                          <a:solidFill>
                            <a:srgbClr val="17232D"/>
                          </a:solidFill>
                          <a:latin typeface="Inter"/>
                        </a:rPr>
                        <a:t>8</a:t>
                      </a:r>
                      <a:endParaRPr sz="750" b="0" i="0">
                        <a:solidFill>
                          <a:srgbClr val="17232D"/>
                        </a:solidFill>
                        <a:latin typeface="Inter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D2D8"/>
                      </a:solidFill>
                    </a:lnT>
                    <a:lnB w="6350">
                      <a:solidFill>
                        <a:srgbClr val="C9D2D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 i="0">
                          <a:solidFill>
                            <a:srgbClr val="17232D"/>
                          </a:solidFill>
                          <a:latin typeface="Inter"/>
                        </a:rPr>
                        <a:t>3.3</a:t>
                      </a:r>
                      <a:endParaRPr sz="750" b="0" i="0">
                        <a:solidFill>
                          <a:srgbClr val="17232D"/>
                        </a:solidFill>
                        <a:latin typeface="Inter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D2D8"/>
                      </a:solidFill>
                    </a:lnT>
                    <a:lnB w="6350">
                      <a:solidFill>
                        <a:srgbClr val="C9D2D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 b="0" i="0">
                          <a:solidFill>
                            <a:srgbClr val="17232D"/>
                          </a:solidFill>
                          <a:latin typeface="Inter"/>
                        </a:rPr>
                        <a:t>Fill-in</a:t>
                      </a:r>
                      <a:endParaRPr sz="750" b="0" i="0">
                        <a:solidFill>
                          <a:srgbClr val="17232D"/>
                        </a:solidFill>
                        <a:latin typeface="Inter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D2D8"/>
                      </a:solidFill>
                    </a:lnT>
                    <a:lnB w="6350">
                      <a:solidFill>
                        <a:srgbClr val="C9D2D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 i="0">
                          <a:solidFill>
                            <a:srgbClr val="17232D"/>
                          </a:solidFill>
                          <a:latin typeface="Inter"/>
                        </a:rPr>
                        <a:t>2</a:t>
                      </a:r>
                      <a:endParaRPr sz="750" b="0" i="0">
                        <a:solidFill>
                          <a:srgbClr val="17232D"/>
                        </a:solidFill>
                        <a:latin typeface="Inter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D2D8"/>
                      </a:solidFill>
                    </a:lnT>
                    <a:lnB w="6350">
                      <a:solidFill>
                        <a:srgbClr val="C9D2D8"/>
                      </a:solidFill>
                    </a:lnB>
                    <a:noFill/>
                  </a:tcPr>
                </a:tc>
              </a:tr>
              <a:tr h="169418">
                <a:tc>
                  <a:txBody>
                    <a:bodyPr wrap="square"/>
                    <a:lstStyle/>
                    <a:p>
                      <a:pPr algn="l"/>
                      <a:r>
                        <a:rPr sz="750" b="1" i="0">
                          <a:solidFill>
                            <a:srgbClr val="0E4D5E"/>
                          </a:solidFill>
                          <a:latin typeface="Inter"/>
                        </a:rPr>
                        <a:t>C3</a:t>
                      </a:r>
                      <a:endParaRPr sz="750" b="1" i="0">
                        <a:solidFill>
                          <a:srgbClr val="0E4D5E"/>
                        </a:solidFill>
                        <a:latin typeface="Inter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D2D8"/>
                      </a:solidFill>
                    </a:lnT>
                    <a:lnB w="6350">
                      <a:solidFill>
                        <a:srgbClr val="C9D2D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 b="0" i="0">
                          <a:solidFill>
                            <a:srgbClr val="17232D"/>
                          </a:solidFill>
                          <a:latin typeface="Inter"/>
                        </a:rPr>
                        <a:t>Collections and dispute automation</a:t>
                      </a:r>
                      <a:endParaRPr sz="750" b="0" i="0">
                        <a:solidFill>
                          <a:srgbClr val="17232D"/>
                        </a:solidFill>
                        <a:latin typeface="Inter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D2D8"/>
                      </a:solidFill>
                    </a:lnT>
                    <a:lnB w="6350">
                      <a:solidFill>
                        <a:srgbClr val="C9D2D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 i="0">
                          <a:solidFill>
                            <a:srgbClr val="17232D"/>
                          </a:solidFill>
                          <a:latin typeface="Inter"/>
                        </a:rPr>
                        <a:t>4</a:t>
                      </a:r>
                      <a:endParaRPr sz="750" b="0" i="0">
                        <a:solidFill>
                          <a:srgbClr val="17232D"/>
                        </a:solidFill>
                        <a:latin typeface="Inter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D2D8"/>
                      </a:solidFill>
                    </a:lnT>
                    <a:lnB w="6350">
                      <a:solidFill>
                        <a:srgbClr val="C9D2D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 i="0">
                          <a:solidFill>
                            <a:srgbClr val="17232D"/>
                          </a:solidFill>
                          <a:latin typeface="Inter"/>
                        </a:rPr>
                        <a:t>6</a:t>
                      </a:r>
                      <a:endParaRPr sz="750" b="0" i="0">
                        <a:solidFill>
                          <a:srgbClr val="17232D"/>
                        </a:solidFill>
                        <a:latin typeface="Inter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D2D8"/>
                      </a:solidFill>
                    </a:lnT>
                    <a:lnB w="6350">
                      <a:solidFill>
                        <a:srgbClr val="C9D2D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 i="0">
                          <a:solidFill>
                            <a:srgbClr val="17232D"/>
                          </a:solidFill>
                          <a:latin typeface="Inter"/>
                        </a:rPr>
                        <a:t>3.6</a:t>
                      </a:r>
                      <a:endParaRPr sz="750" b="0" i="0">
                        <a:solidFill>
                          <a:srgbClr val="17232D"/>
                        </a:solidFill>
                        <a:latin typeface="Inter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D2D8"/>
                      </a:solidFill>
                    </a:lnT>
                    <a:lnB w="6350">
                      <a:solidFill>
                        <a:srgbClr val="C9D2D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 b="0" i="0">
                          <a:solidFill>
                            <a:srgbClr val="17232D"/>
                          </a:solidFill>
                          <a:latin typeface="Inter"/>
                        </a:rPr>
                        <a:t>Fill-in</a:t>
                      </a:r>
                      <a:endParaRPr sz="750" b="0" i="0">
                        <a:solidFill>
                          <a:srgbClr val="17232D"/>
                        </a:solidFill>
                        <a:latin typeface="Inter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D2D8"/>
                      </a:solidFill>
                    </a:lnT>
                    <a:lnB w="6350">
                      <a:solidFill>
                        <a:srgbClr val="C9D2D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 i="0">
                          <a:solidFill>
                            <a:srgbClr val="17232D"/>
                          </a:solidFill>
                          <a:latin typeface="Inter"/>
                        </a:rPr>
                        <a:t>1</a:t>
                      </a:r>
                      <a:endParaRPr sz="750" b="0" i="0">
                        <a:solidFill>
                          <a:srgbClr val="17232D"/>
                        </a:solidFill>
                        <a:latin typeface="Inter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D2D8"/>
                      </a:solidFill>
                    </a:lnT>
                    <a:lnB w="6350">
                      <a:solidFill>
                        <a:srgbClr val="C9D2D8"/>
                      </a:solidFill>
                    </a:lnB>
                    <a:noFill/>
                  </a:tcPr>
                </a:tc>
              </a:tr>
              <a:tr h="169418">
                <a:tc>
                  <a:txBody>
                    <a:bodyPr wrap="square"/>
                    <a:lstStyle/>
                    <a:p>
                      <a:pPr algn="l"/>
                      <a:r>
                        <a:rPr sz="750" b="1" i="0">
                          <a:solidFill>
                            <a:srgbClr val="C4541C"/>
                          </a:solidFill>
                          <a:latin typeface="Inter"/>
                        </a:rPr>
                        <a:t>O1</a:t>
                      </a:r>
                      <a:endParaRPr sz="750" b="1" i="0">
                        <a:solidFill>
                          <a:srgbClr val="C4541C"/>
                        </a:solidFill>
                        <a:latin typeface="Inter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D2D8"/>
                      </a:solidFill>
                    </a:lnT>
                    <a:lnB w="6350">
                      <a:solidFill>
                        <a:srgbClr val="C9D2D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 b="0" i="0">
                          <a:solidFill>
                            <a:srgbClr val="17232D"/>
                          </a:solidFill>
                          <a:latin typeface="Inter"/>
                        </a:rPr>
                        <a:t>Shared-services hub, Brno</a:t>
                      </a:r>
                      <a:endParaRPr sz="750" b="0" i="0">
                        <a:solidFill>
                          <a:srgbClr val="17232D"/>
                        </a:solidFill>
                        <a:latin typeface="Inter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D2D8"/>
                      </a:solidFill>
                    </a:lnT>
                    <a:lnB w="6350">
                      <a:solidFill>
                        <a:srgbClr val="C9D2D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 i="0">
                          <a:solidFill>
                            <a:srgbClr val="17232D"/>
                          </a:solidFill>
                          <a:latin typeface="Inter"/>
                        </a:rPr>
                        <a:t>12</a:t>
                      </a:r>
                      <a:endParaRPr sz="750" b="0" i="0">
                        <a:solidFill>
                          <a:srgbClr val="17232D"/>
                        </a:solidFill>
                        <a:latin typeface="Inter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D2D8"/>
                      </a:solidFill>
                    </a:lnT>
                    <a:lnB w="6350">
                      <a:solidFill>
                        <a:srgbClr val="C9D2D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 i="0">
                          <a:solidFill>
                            <a:srgbClr val="17232D"/>
                          </a:solidFill>
                          <a:latin typeface="Inter"/>
                        </a:rPr>
                        <a:t>34</a:t>
                      </a:r>
                      <a:endParaRPr sz="750" b="0" i="0">
                        <a:solidFill>
                          <a:srgbClr val="17232D"/>
                        </a:solidFill>
                        <a:latin typeface="Inter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D2D8"/>
                      </a:solidFill>
                    </a:lnT>
                    <a:lnB w="6350">
                      <a:solidFill>
                        <a:srgbClr val="C9D2D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 i="0">
                          <a:solidFill>
                            <a:srgbClr val="17232D"/>
                          </a:solidFill>
                          <a:latin typeface="Inter"/>
                        </a:rPr>
                        <a:t>2.7</a:t>
                      </a:r>
                      <a:endParaRPr sz="750" b="0" i="0">
                        <a:solidFill>
                          <a:srgbClr val="17232D"/>
                        </a:solidFill>
                        <a:latin typeface="Inter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D2D8"/>
                      </a:solidFill>
                    </a:lnT>
                    <a:lnB w="6350">
                      <a:solidFill>
                        <a:srgbClr val="C9D2D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 b="1" i="0">
                          <a:solidFill>
                            <a:srgbClr val="C4541C"/>
                          </a:solidFill>
                          <a:latin typeface="Inter"/>
                        </a:rPr>
                        <a:t>Strategic bet</a:t>
                      </a:r>
                      <a:endParaRPr sz="750" b="1" i="0">
                        <a:solidFill>
                          <a:srgbClr val="C4541C"/>
                        </a:solidFill>
                        <a:latin typeface="Inter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D2D8"/>
                      </a:solidFill>
                    </a:lnT>
                    <a:lnB w="6350">
                      <a:solidFill>
                        <a:srgbClr val="C9D2D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 i="0">
                          <a:solidFill>
                            <a:srgbClr val="17232D"/>
                          </a:solidFill>
                          <a:latin typeface="Inter"/>
                        </a:rPr>
                        <a:t>2</a:t>
                      </a:r>
                      <a:endParaRPr sz="750" b="0" i="0">
                        <a:solidFill>
                          <a:srgbClr val="17232D"/>
                        </a:solidFill>
                        <a:latin typeface="Inter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D2D8"/>
                      </a:solidFill>
                    </a:lnT>
                    <a:lnB w="6350">
                      <a:solidFill>
                        <a:srgbClr val="C9D2D8"/>
                      </a:solidFill>
                    </a:lnB>
                    <a:noFill/>
                  </a:tcPr>
                </a:tc>
              </a:tr>
              <a:tr h="169418">
                <a:tc>
                  <a:txBody>
                    <a:bodyPr wrap="square"/>
                    <a:lstStyle/>
                    <a:p>
                      <a:pPr algn="l"/>
                      <a:r>
                        <a:rPr sz="750" b="1" i="0">
                          <a:solidFill>
                            <a:srgbClr val="0E4D5E"/>
                          </a:solidFill>
                          <a:latin typeface="Inter"/>
                        </a:rPr>
                        <a:t>O2</a:t>
                      </a:r>
                      <a:endParaRPr sz="750" b="1" i="0">
                        <a:solidFill>
                          <a:srgbClr val="0E4D5E"/>
                        </a:solidFill>
                        <a:latin typeface="Inter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D2D8"/>
                      </a:solidFill>
                    </a:lnT>
                    <a:lnB w="6350">
                      <a:solidFill>
                        <a:srgbClr val="C9D2D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 b="0" i="0">
                          <a:solidFill>
                            <a:srgbClr val="17232D"/>
                          </a:solidFill>
                          <a:latin typeface="Inter"/>
                        </a:rPr>
                        <a:t>Spans and layers, commercial and G&amp;A</a:t>
                      </a:r>
                      <a:endParaRPr sz="750" b="0" i="0">
                        <a:solidFill>
                          <a:srgbClr val="17232D"/>
                        </a:solidFill>
                        <a:latin typeface="Inter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D2D8"/>
                      </a:solidFill>
                    </a:lnT>
                    <a:lnB w="6350">
                      <a:solidFill>
                        <a:srgbClr val="C9D2D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 i="0">
                          <a:solidFill>
                            <a:srgbClr val="17232D"/>
                          </a:solidFill>
                          <a:latin typeface="Inter"/>
                        </a:rPr>
                        <a:t>7</a:t>
                      </a:r>
                      <a:endParaRPr sz="750" b="0" i="0">
                        <a:solidFill>
                          <a:srgbClr val="17232D"/>
                        </a:solidFill>
                        <a:latin typeface="Inter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D2D8"/>
                      </a:solidFill>
                    </a:lnT>
                    <a:lnB w="6350">
                      <a:solidFill>
                        <a:srgbClr val="C9D2D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 i="0">
                          <a:solidFill>
                            <a:srgbClr val="17232D"/>
                          </a:solidFill>
                          <a:latin typeface="Inter"/>
                        </a:rPr>
                        <a:t>9</a:t>
                      </a:r>
                      <a:endParaRPr sz="750" b="0" i="0">
                        <a:solidFill>
                          <a:srgbClr val="17232D"/>
                        </a:solidFill>
                        <a:latin typeface="Inter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D2D8"/>
                      </a:solidFill>
                    </a:lnT>
                    <a:lnB w="6350">
                      <a:solidFill>
                        <a:srgbClr val="C9D2D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 i="0">
                          <a:solidFill>
                            <a:srgbClr val="17232D"/>
                          </a:solidFill>
                          <a:latin typeface="Inter"/>
                        </a:rPr>
                        <a:t>3.4</a:t>
                      </a:r>
                      <a:endParaRPr sz="750" b="0" i="0">
                        <a:solidFill>
                          <a:srgbClr val="17232D"/>
                        </a:solidFill>
                        <a:latin typeface="Inter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D2D8"/>
                      </a:solidFill>
                    </a:lnT>
                    <a:lnB w="6350">
                      <a:solidFill>
                        <a:srgbClr val="C9D2D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 b="0" i="0">
                          <a:solidFill>
                            <a:srgbClr val="17232D"/>
                          </a:solidFill>
                          <a:latin typeface="Inter"/>
                        </a:rPr>
                        <a:t>Fill-in</a:t>
                      </a:r>
                      <a:endParaRPr sz="750" b="0" i="0">
                        <a:solidFill>
                          <a:srgbClr val="17232D"/>
                        </a:solidFill>
                        <a:latin typeface="Inter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D2D8"/>
                      </a:solidFill>
                    </a:lnT>
                    <a:lnB w="6350">
                      <a:solidFill>
                        <a:srgbClr val="C9D2D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 i="0">
                          <a:solidFill>
                            <a:srgbClr val="17232D"/>
                          </a:solidFill>
                          <a:latin typeface="Inter"/>
                        </a:rPr>
                        <a:t>1</a:t>
                      </a:r>
                      <a:endParaRPr sz="750" b="0" i="0">
                        <a:solidFill>
                          <a:srgbClr val="17232D"/>
                        </a:solidFill>
                        <a:latin typeface="Inter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D2D8"/>
                      </a:solidFill>
                    </a:lnT>
                    <a:lnB w="6350">
                      <a:solidFill>
                        <a:srgbClr val="C9D2D8"/>
                      </a:solidFill>
                    </a:lnB>
                    <a:noFill/>
                  </a:tcPr>
                </a:tc>
              </a:tr>
              <a:tr h="169418">
                <a:tc>
                  <a:txBody>
                    <a:bodyPr wrap="square"/>
                    <a:lstStyle/>
                    <a:p>
                      <a:pPr algn="l"/>
                      <a:r>
                        <a:rPr sz="750" b="1" i="0">
                          <a:solidFill>
                            <a:srgbClr val="0E4D5E"/>
                          </a:solidFill>
                          <a:latin typeface="Inter"/>
                        </a:rPr>
                        <a:t>O3</a:t>
                      </a:r>
                      <a:endParaRPr sz="750" b="1" i="0">
                        <a:solidFill>
                          <a:srgbClr val="0E4D5E"/>
                        </a:solidFill>
                        <a:latin typeface="Inter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D2D8"/>
                      </a:solidFill>
                    </a:lnT>
                    <a:lnB w="9525">
                      <a:solidFill>
                        <a:srgbClr val="0E4D5E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 b="0" i="0">
                          <a:solidFill>
                            <a:srgbClr val="17232D"/>
                          </a:solidFill>
                          <a:latin typeface="Inter"/>
                        </a:rPr>
                        <a:t>Global quality and regulatory function</a:t>
                      </a:r>
                      <a:endParaRPr sz="750" b="0" i="0">
                        <a:solidFill>
                          <a:srgbClr val="17232D"/>
                        </a:solidFill>
                        <a:latin typeface="Inter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D2D8"/>
                      </a:solidFill>
                    </a:lnT>
                    <a:lnB w="9525">
                      <a:solidFill>
                        <a:srgbClr val="0E4D5E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 i="0">
                          <a:solidFill>
                            <a:srgbClr val="17232D"/>
                          </a:solidFill>
                          <a:latin typeface="Inter"/>
                        </a:rPr>
                        <a:t>3</a:t>
                      </a:r>
                      <a:endParaRPr sz="750" b="0" i="0">
                        <a:solidFill>
                          <a:srgbClr val="17232D"/>
                        </a:solidFill>
                        <a:latin typeface="Inter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D2D8"/>
                      </a:solidFill>
                    </a:lnT>
                    <a:lnB w="9525">
                      <a:solidFill>
                        <a:srgbClr val="0E4D5E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 i="0">
                          <a:solidFill>
                            <a:srgbClr val="17232D"/>
                          </a:solidFill>
                          <a:latin typeface="Inter"/>
                        </a:rPr>
                        <a:t>16</a:t>
                      </a:r>
                      <a:endParaRPr sz="750" b="0" i="0">
                        <a:solidFill>
                          <a:srgbClr val="17232D"/>
                        </a:solidFill>
                        <a:latin typeface="Inter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D2D8"/>
                      </a:solidFill>
                    </a:lnT>
                    <a:lnB w="9525">
                      <a:solidFill>
                        <a:srgbClr val="0E4D5E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 i="0">
                          <a:solidFill>
                            <a:srgbClr val="17232D"/>
                          </a:solidFill>
                          <a:latin typeface="Inter"/>
                        </a:rPr>
                        <a:t>2.4</a:t>
                      </a:r>
                      <a:endParaRPr sz="750" b="0" i="0">
                        <a:solidFill>
                          <a:srgbClr val="17232D"/>
                        </a:solidFill>
                        <a:latin typeface="Inter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D2D8"/>
                      </a:solidFill>
                    </a:lnT>
                    <a:lnB w="9525">
                      <a:solidFill>
                        <a:srgbClr val="0E4D5E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 b="0" i="0">
                          <a:solidFill>
                            <a:srgbClr val="17232D"/>
                          </a:solidFill>
                          <a:latin typeface="Inter"/>
                        </a:rPr>
                        <a:t>Enabler</a:t>
                      </a:r>
                      <a:endParaRPr sz="750" b="0" i="0">
                        <a:solidFill>
                          <a:srgbClr val="17232D"/>
                        </a:solidFill>
                        <a:latin typeface="Inter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D2D8"/>
                      </a:solidFill>
                    </a:lnT>
                    <a:lnB w="9525">
                      <a:solidFill>
                        <a:srgbClr val="0E4D5E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 i="0">
                          <a:solidFill>
                            <a:srgbClr val="17232D"/>
                          </a:solidFill>
                          <a:latin typeface="Inter"/>
                        </a:rPr>
                        <a:t>1</a:t>
                      </a:r>
                      <a:endParaRPr sz="750" b="0" i="0">
                        <a:solidFill>
                          <a:srgbClr val="17232D"/>
                        </a:solidFill>
                        <a:latin typeface="Inter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D2D8"/>
                      </a:solidFill>
                    </a:lnT>
                    <a:lnB w="9525">
                      <a:solidFill>
                        <a:srgbClr val="0E4D5E"/>
                      </a:solidFill>
                    </a:lnB>
                    <a:noFill/>
                  </a:tcPr>
                </a:tc>
              </a:tr>
              <a:tr h="169418">
                <a:tc>
                  <a:txBody>
                    <a:bodyPr wrap="square"/>
                    <a:lstStyle/>
                    <a:p>
                      <a:pPr algn="l"/>
                      <a:endParaRPr sz="750" b="1" i="0">
                        <a:solidFill>
                          <a:srgbClr val="17232D"/>
                        </a:solidFill>
                        <a:latin typeface="Inter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rgbClr val="0E4D5E"/>
                      </a:solidFill>
                    </a:lnT>
                    <a:lnB w="9525">
                      <a:solidFill>
                        <a:srgbClr val="0E4D5E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 b="1" i="0">
                          <a:solidFill>
                            <a:srgbClr val="17232D"/>
                          </a:solidFill>
                          <a:latin typeface="Inter"/>
                        </a:rPr>
                        <a:t>Total, twelve initiatives</a:t>
                      </a:r>
                      <a:endParaRPr sz="750" b="1" i="0">
                        <a:solidFill>
                          <a:srgbClr val="17232D"/>
                        </a:solidFill>
                        <a:latin typeface="Inter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rgbClr val="0E4D5E"/>
                      </a:solidFill>
                    </a:lnT>
                    <a:lnB w="9525">
                      <a:solidFill>
                        <a:srgbClr val="0E4D5E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1" i="0">
                          <a:solidFill>
                            <a:srgbClr val="17232D"/>
                          </a:solidFill>
                          <a:latin typeface="Inter"/>
                        </a:rPr>
                        <a:t>103</a:t>
                      </a:r>
                      <a:endParaRPr sz="750" b="1" i="0">
                        <a:solidFill>
                          <a:srgbClr val="17232D"/>
                        </a:solidFill>
                        <a:latin typeface="Inter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rgbClr val="0E4D5E"/>
                      </a:solidFill>
                    </a:lnT>
                    <a:lnB w="9525">
                      <a:solidFill>
                        <a:srgbClr val="0E4D5E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1" i="0">
                          <a:solidFill>
                            <a:srgbClr val="17232D"/>
                          </a:solidFill>
                          <a:latin typeface="Inter"/>
                        </a:rPr>
                        <a:t>165</a:t>
                      </a:r>
                      <a:endParaRPr sz="750" b="1" i="0">
                        <a:solidFill>
                          <a:srgbClr val="17232D"/>
                        </a:solidFill>
                        <a:latin typeface="Inter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rgbClr val="0E4D5E"/>
                      </a:solidFill>
                    </a:lnT>
                    <a:lnB w="9525">
                      <a:solidFill>
                        <a:srgbClr val="0E4D5E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endParaRPr sz="750" b="1" i="0">
                        <a:solidFill>
                          <a:srgbClr val="17232D"/>
                        </a:solidFill>
                        <a:latin typeface="Inter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rgbClr val="0E4D5E"/>
                      </a:solidFill>
                    </a:lnT>
                    <a:lnB w="9525">
                      <a:solidFill>
                        <a:srgbClr val="0E4D5E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endParaRPr sz="750" b="1" i="0">
                        <a:solidFill>
                          <a:srgbClr val="17232D"/>
                        </a:solidFill>
                        <a:latin typeface="Inter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rgbClr val="0E4D5E"/>
                      </a:solidFill>
                    </a:lnT>
                    <a:lnB w="9525">
                      <a:solidFill>
                        <a:srgbClr val="0E4D5E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endParaRPr sz="750" b="1" i="0">
                        <a:solidFill>
                          <a:srgbClr val="17232D"/>
                        </a:solidFill>
                        <a:latin typeface="Inter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rgbClr val="0E4D5E"/>
                      </a:solidFill>
                    </a:lnT>
                    <a:lnB w="9525">
                      <a:solidFill>
                        <a:srgbClr val="0E4D5E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25" name="tab-n"/>
          <p:cNvSpPr/>
          <p:nvPr/>
        </p:nvSpPr>
        <p:spPr>
          <a:xfrm>
            <a:off x="6475549" y="4059173"/>
            <a:ext cx="5304971" cy="698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ts val="92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sz="800" b="0" i="0">
                <a:solidFill>
                  <a:srgbClr val="17232D"/>
                </a:solidFill>
                <a:latin typeface="Inter"/>
              </a:rPr>
              <a:t>The four strategic bets, P2, F1, F2 and O1, carry $47m of the $103m, 46%, and $105m of the $165m cost,</a:t>
            </a:r>
            <a:br/>
            <a:r>
              <a:rPr sz="800" b="0" i="0">
                <a:solidFill>
                  <a:srgbClr val="17232D"/>
                </a:solidFill>
                <a:latin typeface="Inter"/>
              </a:rPr>
              <a:t>64%: they are where delivery risk sits.</a:t>
            </a:r>
          </a:p>
          <a:p>
            <a:pPr algn="l" marL="0" indent="0">
              <a:lnSpc>
                <a:spcPts val="92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sz="800" b="0" i="0">
                <a:solidFill>
                  <a:srgbClr val="17232D"/>
                </a:solidFill>
                <a:latin typeface="Inter"/>
              </a:rPr>
              <a:t>The quick wins, P1 and C1, add $26m for $13m and start in January 2026. Wave 1 is seven initiatives worth</a:t>
            </a:r>
            <a:br/>
            <a:r>
              <a:rPr sz="800" b="0" i="0">
                <a:solidFill>
                  <a:srgbClr val="17232D"/>
                </a:solidFill>
                <a:latin typeface="Inter"/>
              </a:rPr>
              <a:t>$52m for $52m of cost, all started by April 2026.</a:t>
            </a:r>
          </a:p>
          <a:p>
            <a:pPr algn="l" marL="0" indent="0">
              <a:lnSpc>
                <a:spcPts val="92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sz="800" b="0" i="0">
                <a:solidFill>
                  <a:srgbClr val="17232D"/>
                </a:solidFill>
                <a:latin typeface="Inter"/>
              </a:rPr>
              <a:t>Deferred: X1 own distribution in DACH ($2m, ease 1.5) and X2 single-step ERP replacement ($3m, ease 1.2).</a:t>
            </a:r>
          </a:p>
        </p:txBody>
      </p:sp>
      <p:sp>
        <p:nvSpPr>
          <p:cNvPr id="26" name="lv-h"/>
          <p:cNvSpPr/>
          <p:nvPr/>
        </p:nvSpPr>
        <p:spPr>
          <a:xfrm>
            <a:off x="6475549" y="4812537"/>
            <a:ext cx="5304971" cy="1600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ts val="12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 b="1" i="0">
                <a:solidFill>
                  <a:srgbClr val="0E4D5E"/>
                </a:solidFill>
                <a:latin typeface="Inter"/>
              </a:rPr>
              <a:t>By lever: what each dollar of EBITDA costs</a:t>
            </a:r>
          </a:p>
        </p:txBody>
      </p:sp>
      <p:graphicFrame>
        <p:nvGraphicFramePr>
          <p:cNvPr id="27" name="levers"/>
          <p:cNvGraphicFramePr>
            <a:graphicFrameLocks noGrp="1"/>
          </p:cNvGraphicFramePr>
          <p:nvPr/>
        </p:nvGraphicFramePr>
        <p:xfrm>
          <a:off x="6475549" y="5027421"/>
          <a:ext cx="5304971" cy="1016508"/>
        </p:xfrm>
        <a:graphic>
          <a:graphicData uri="http://schemas.openxmlformats.org/drawingml/2006/table">
            <a:tbl>
              <a:tblPr firstRow="0" bandRow="0" lastRow="0" firstCol="0" lastCol="0" bandCol="0"/>
              <a:tblGrid>
                <a:gridCol w="2121988"/>
                <a:gridCol w="848795"/>
                <a:gridCol w="848795"/>
                <a:gridCol w="1485393"/>
              </a:tblGrid>
              <a:tr h="169418">
                <a:tc>
                  <a:txBody>
                    <a:bodyPr wrap="square"/>
                    <a:lstStyle/>
                    <a:p>
                      <a:pPr algn="l"/>
                      <a:r>
                        <a:rPr sz="750" b="1" i="0">
                          <a:solidFill>
                            <a:srgbClr val="0E4D5E"/>
                          </a:solidFill>
                          <a:latin typeface="Inter"/>
                        </a:rPr>
                        <a:t>Lever</a:t>
                      </a:r>
                      <a:endParaRPr sz="750" b="1" i="0">
                        <a:solidFill>
                          <a:srgbClr val="0E4D5E"/>
                        </a:solidFill>
                        <a:latin typeface="Inter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0E4D5E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1" i="0">
                          <a:solidFill>
                            <a:srgbClr val="0E4D5E"/>
                          </a:solidFill>
                          <a:latin typeface="Inter"/>
                        </a:rPr>
                        <a:t>$m EBITDA</a:t>
                      </a:r>
                      <a:endParaRPr sz="750" b="1" i="0">
                        <a:solidFill>
                          <a:srgbClr val="0E4D5E"/>
                        </a:solidFill>
                        <a:latin typeface="Inter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0E4D5E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1" i="0">
                          <a:solidFill>
                            <a:srgbClr val="0E4D5E"/>
                          </a:solidFill>
                          <a:latin typeface="Inter"/>
                        </a:rPr>
                        <a:t>$m cost</a:t>
                      </a:r>
                      <a:endParaRPr sz="750" b="1" i="0">
                        <a:solidFill>
                          <a:srgbClr val="0E4D5E"/>
                        </a:solidFill>
                        <a:latin typeface="Inter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0E4D5E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1" i="0">
                          <a:solidFill>
                            <a:srgbClr val="0E4D5E"/>
                          </a:solidFill>
                          <a:latin typeface="Inter"/>
                        </a:rPr>
                        <a:t>Cost per $ of EBITDA</a:t>
                      </a:r>
                      <a:endParaRPr sz="750" b="1" i="0">
                        <a:solidFill>
                          <a:srgbClr val="0E4D5E"/>
                        </a:solidFill>
                        <a:latin typeface="Inter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0E4D5E"/>
                      </a:solidFill>
                    </a:lnB>
                    <a:noFill/>
                  </a:tcPr>
                </a:tc>
              </a:tr>
              <a:tr h="169418">
                <a:tc>
                  <a:txBody>
                    <a:bodyPr wrap="square"/>
                    <a:lstStyle/>
                    <a:p>
                      <a:pPr algn="l"/>
                      <a:r>
                        <a:rPr sz="750" b="0" i="0">
                          <a:solidFill>
                            <a:srgbClr val="17232D"/>
                          </a:solidFill>
                          <a:latin typeface="Inter"/>
                        </a:rPr>
                        <a:t>Procurement, P1 to P3</a:t>
                      </a:r>
                      <a:endParaRPr sz="750" b="0" i="0">
                        <a:solidFill>
                          <a:srgbClr val="17232D"/>
                        </a:solidFill>
                        <a:latin typeface="Inter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rgbClr val="0E4D5E"/>
                      </a:solidFill>
                    </a:lnT>
                    <a:lnB w="6350">
                      <a:solidFill>
                        <a:srgbClr val="C9D2D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 i="0">
                          <a:solidFill>
                            <a:srgbClr val="17232D"/>
                          </a:solidFill>
                          <a:latin typeface="Inter"/>
                        </a:rPr>
                        <a:t>34</a:t>
                      </a:r>
                      <a:endParaRPr sz="750" b="0" i="0">
                        <a:solidFill>
                          <a:srgbClr val="17232D"/>
                        </a:solidFill>
                        <a:latin typeface="Inter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rgbClr val="0E4D5E"/>
                      </a:solidFill>
                    </a:lnT>
                    <a:lnB w="6350">
                      <a:solidFill>
                        <a:srgbClr val="C9D2D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 i="0">
                          <a:solidFill>
                            <a:srgbClr val="17232D"/>
                          </a:solidFill>
                          <a:latin typeface="Inter"/>
                        </a:rPr>
                        <a:t>17</a:t>
                      </a:r>
                      <a:endParaRPr sz="750" b="0" i="0">
                        <a:solidFill>
                          <a:srgbClr val="17232D"/>
                        </a:solidFill>
                        <a:latin typeface="Inter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rgbClr val="0E4D5E"/>
                      </a:solidFill>
                    </a:lnT>
                    <a:lnB w="6350">
                      <a:solidFill>
                        <a:srgbClr val="C9D2D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 i="0">
                          <a:solidFill>
                            <a:srgbClr val="17232D"/>
                          </a:solidFill>
                          <a:latin typeface="Inter"/>
                        </a:rPr>
                        <a:t>0.50</a:t>
                      </a:r>
                      <a:endParaRPr sz="750" b="0" i="0">
                        <a:solidFill>
                          <a:srgbClr val="17232D"/>
                        </a:solidFill>
                        <a:latin typeface="Inter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rgbClr val="0E4D5E"/>
                      </a:solidFill>
                    </a:lnT>
                    <a:lnB w="6350">
                      <a:solidFill>
                        <a:srgbClr val="C9D2D8"/>
                      </a:solidFill>
                    </a:lnB>
                    <a:noFill/>
                  </a:tcPr>
                </a:tc>
              </a:tr>
              <a:tr h="169418">
                <a:tc>
                  <a:txBody>
                    <a:bodyPr wrap="square"/>
                    <a:lstStyle/>
                    <a:p>
                      <a:pPr algn="l"/>
                      <a:r>
                        <a:rPr sz="750" b="0" i="0">
                          <a:solidFill>
                            <a:srgbClr val="17232D"/>
                          </a:solidFill>
                          <a:latin typeface="Inter"/>
                        </a:rPr>
                        <a:t>Footprint, F1 to F3</a:t>
                      </a:r>
                      <a:endParaRPr sz="750" b="0" i="0">
                        <a:solidFill>
                          <a:srgbClr val="17232D"/>
                        </a:solidFill>
                        <a:latin typeface="Inter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D2D8"/>
                      </a:solidFill>
                    </a:lnT>
                    <a:lnB w="6350">
                      <a:solidFill>
                        <a:srgbClr val="C9D2D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 i="0">
                          <a:solidFill>
                            <a:srgbClr val="17232D"/>
                          </a:solidFill>
                          <a:latin typeface="Inter"/>
                        </a:rPr>
                        <a:t>29</a:t>
                      </a:r>
                      <a:endParaRPr sz="750" b="0" i="0">
                        <a:solidFill>
                          <a:srgbClr val="17232D"/>
                        </a:solidFill>
                        <a:latin typeface="Inter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D2D8"/>
                      </a:solidFill>
                    </a:lnT>
                    <a:lnB w="6350">
                      <a:solidFill>
                        <a:srgbClr val="C9D2D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 i="0">
                          <a:solidFill>
                            <a:srgbClr val="17232D"/>
                          </a:solidFill>
                          <a:latin typeface="Inter"/>
                        </a:rPr>
                        <a:t>68</a:t>
                      </a:r>
                      <a:endParaRPr sz="750" b="0" i="0">
                        <a:solidFill>
                          <a:srgbClr val="17232D"/>
                        </a:solidFill>
                        <a:latin typeface="Inter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D2D8"/>
                      </a:solidFill>
                    </a:lnT>
                    <a:lnB w="6350">
                      <a:solidFill>
                        <a:srgbClr val="C9D2D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1" i="0">
                          <a:solidFill>
                            <a:srgbClr val="C4541C"/>
                          </a:solidFill>
                          <a:latin typeface="Inter"/>
                        </a:rPr>
                        <a:t>2.34</a:t>
                      </a:r>
                      <a:endParaRPr sz="750" b="1" i="0">
                        <a:solidFill>
                          <a:srgbClr val="C4541C"/>
                        </a:solidFill>
                        <a:latin typeface="Inter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D2D8"/>
                      </a:solidFill>
                    </a:lnT>
                    <a:lnB w="6350">
                      <a:solidFill>
                        <a:srgbClr val="C9D2D8"/>
                      </a:solidFill>
                    </a:lnB>
                    <a:noFill/>
                  </a:tcPr>
                </a:tc>
              </a:tr>
              <a:tr h="169418">
                <a:tc>
                  <a:txBody>
                    <a:bodyPr wrap="square"/>
                    <a:lstStyle/>
                    <a:p>
                      <a:pPr algn="l"/>
                      <a:r>
                        <a:rPr sz="750" b="0" i="0">
                          <a:solidFill>
                            <a:srgbClr val="17232D"/>
                          </a:solidFill>
                          <a:latin typeface="Inter"/>
                        </a:rPr>
                        <a:t>Commercial and order to cash, C1 to C3</a:t>
                      </a:r>
                      <a:endParaRPr sz="750" b="0" i="0">
                        <a:solidFill>
                          <a:srgbClr val="17232D"/>
                        </a:solidFill>
                        <a:latin typeface="Inter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D2D8"/>
                      </a:solidFill>
                    </a:lnT>
                    <a:lnB w="6350">
                      <a:solidFill>
                        <a:srgbClr val="C9D2D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 i="0">
                          <a:solidFill>
                            <a:srgbClr val="17232D"/>
                          </a:solidFill>
                          <a:latin typeface="Inter"/>
                        </a:rPr>
                        <a:t>18</a:t>
                      </a:r>
                      <a:endParaRPr sz="750" b="0" i="0">
                        <a:solidFill>
                          <a:srgbClr val="17232D"/>
                        </a:solidFill>
                        <a:latin typeface="Inter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D2D8"/>
                      </a:solidFill>
                    </a:lnT>
                    <a:lnB w="6350">
                      <a:solidFill>
                        <a:srgbClr val="C9D2D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 i="0">
                          <a:solidFill>
                            <a:srgbClr val="17232D"/>
                          </a:solidFill>
                          <a:latin typeface="Inter"/>
                        </a:rPr>
                        <a:t>21</a:t>
                      </a:r>
                      <a:endParaRPr sz="750" b="0" i="0">
                        <a:solidFill>
                          <a:srgbClr val="17232D"/>
                        </a:solidFill>
                        <a:latin typeface="Inter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D2D8"/>
                      </a:solidFill>
                    </a:lnT>
                    <a:lnB w="6350">
                      <a:solidFill>
                        <a:srgbClr val="C9D2D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 i="0">
                          <a:solidFill>
                            <a:srgbClr val="17232D"/>
                          </a:solidFill>
                          <a:latin typeface="Inter"/>
                        </a:rPr>
                        <a:t>1.17</a:t>
                      </a:r>
                      <a:endParaRPr sz="750" b="0" i="0">
                        <a:solidFill>
                          <a:srgbClr val="17232D"/>
                        </a:solidFill>
                        <a:latin typeface="Inter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D2D8"/>
                      </a:solidFill>
                    </a:lnT>
                    <a:lnB w="6350">
                      <a:solidFill>
                        <a:srgbClr val="C9D2D8"/>
                      </a:solidFill>
                    </a:lnB>
                    <a:noFill/>
                  </a:tcPr>
                </a:tc>
              </a:tr>
              <a:tr h="169418">
                <a:tc>
                  <a:txBody>
                    <a:bodyPr wrap="square"/>
                    <a:lstStyle/>
                    <a:p>
                      <a:pPr algn="l"/>
                      <a:r>
                        <a:rPr sz="750" b="0" i="0">
                          <a:solidFill>
                            <a:srgbClr val="17232D"/>
                          </a:solidFill>
                          <a:latin typeface="Inter"/>
                        </a:rPr>
                        <a:t>Operating model, O1 to O3</a:t>
                      </a:r>
                      <a:endParaRPr sz="750" b="0" i="0">
                        <a:solidFill>
                          <a:srgbClr val="17232D"/>
                        </a:solidFill>
                        <a:latin typeface="Inter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D2D8"/>
                      </a:solidFill>
                    </a:lnT>
                    <a:lnB w="9525">
                      <a:solidFill>
                        <a:srgbClr val="0E4D5E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 i="0">
                          <a:solidFill>
                            <a:srgbClr val="17232D"/>
                          </a:solidFill>
                          <a:latin typeface="Inter"/>
                        </a:rPr>
                        <a:t>22</a:t>
                      </a:r>
                      <a:endParaRPr sz="750" b="0" i="0">
                        <a:solidFill>
                          <a:srgbClr val="17232D"/>
                        </a:solidFill>
                        <a:latin typeface="Inter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D2D8"/>
                      </a:solidFill>
                    </a:lnT>
                    <a:lnB w="9525">
                      <a:solidFill>
                        <a:srgbClr val="0E4D5E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 i="0">
                          <a:solidFill>
                            <a:srgbClr val="17232D"/>
                          </a:solidFill>
                          <a:latin typeface="Inter"/>
                        </a:rPr>
                        <a:t>59</a:t>
                      </a:r>
                      <a:endParaRPr sz="750" b="0" i="0">
                        <a:solidFill>
                          <a:srgbClr val="17232D"/>
                        </a:solidFill>
                        <a:latin typeface="Inter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D2D8"/>
                      </a:solidFill>
                    </a:lnT>
                    <a:lnB w="9525">
                      <a:solidFill>
                        <a:srgbClr val="0E4D5E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1" i="0">
                          <a:solidFill>
                            <a:srgbClr val="C4541C"/>
                          </a:solidFill>
                          <a:latin typeface="Inter"/>
                        </a:rPr>
                        <a:t>2.68</a:t>
                      </a:r>
                      <a:endParaRPr sz="750" b="1" i="0">
                        <a:solidFill>
                          <a:srgbClr val="C4541C"/>
                        </a:solidFill>
                        <a:latin typeface="Inter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D2D8"/>
                      </a:solidFill>
                    </a:lnT>
                    <a:lnB w="9525">
                      <a:solidFill>
                        <a:srgbClr val="0E4D5E"/>
                      </a:solidFill>
                    </a:lnB>
                    <a:noFill/>
                  </a:tcPr>
                </a:tc>
              </a:tr>
              <a:tr h="169418">
                <a:tc>
                  <a:txBody>
                    <a:bodyPr wrap="square"/>
                    <a:lstStyle/>
                    <a:p>
                      <a:pPr algn="l"/>
                      <a:r>
                        <a:rPr sz="750" b="1" i="0">
                          <a:solidFill>
                            <a:srgbClr val="17232D"/>
                          </a:solidFill>
                          <a:latin typeface="Inter"/>
                        </a:rPr>
                        <a:t>Total</a:t>
                      </a:r>
                      <a:endParaRPr sz="750" b="1" i="0">
                        <a:solidFill>
                          <a:srgbClr val="17232D"/>
                        </a:solidFill>
                        <a:latin typeface="Inter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rgbClr val="0E4D5E"/>
                      </a:solidFill>
                    </a:lnT>
                    <a:lnB w="9525">
                      <a:solidFill>
                        <a:srgbClr val="0E4D5E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1" i="0">
                          <a:solidFill>
                            <a:srgbClr val="17232D"/>
                          </a:solidFill>
                          <a:latin typeface="Inter"/>
                        </a:rPr>
                        <a:t>103</a:t>
                      </a:r>
                      <a:endParaRPr sz="750" b="1" i="0">
                        <a:solidFill>
                          <a:srgbClr val="17232D"/>
                        </a:solidFill>
                        <a:latin typeface="Inter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rgbClr val="0E4D5E"/>
                      </a:solidFill>
                    </a:lnT>
                    <a:lnB w="9525">
                      <a:solidFill>
                        <a:srgbClr val="0E4D5E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1" i="0">
                          <a:solidFill>
                            <a:srgbClr val="17232D"/>
                          </a:solidFill>
                          <a:latin typeface="Inter"/>
                        </a:rPr>
                        <a:t>165</a:t>
                      </a:r>
                      <a:endParaRPr sz="750" b="1" i="0">
                        <a:solidFill>
                          <a:srgbClr val="17232D"/>
                        </a:solidFill>
                        <a:latin typeface="Inter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rgbClr val="0E4D5E"/>
                      </a:solidFill>
                    </a:lnT>
                    <a:lnB w="9525">
                      <a:solidFill>
                        <a:srgbClr val="0E4D5E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endParaRPr sz="750" b="1" i="0">
                        <a:solidFill>
                          <a:srgbClr val="17232D"/>
                        </a:solidFill>
                        <a:latin typeface="Inter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rgbClr val="0E4D5E"/>
                      </a:solidFill>
                    </a:lnT>
                    <a:lnB w="9525">
                      <a:solidFill>
                        <a:srgbClr val="0E4D5E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28" name="source"/>
          <p:cNvSpPr/>
          <p:nvPr/>
        </p:nvSpPr>
        <p:spPr>
          <a:xfrm>
            <a:off x="411480" y="6266688"/>
            <a:ext cx="11369040" cy="1066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ts val="8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00" b="0" i="0">
                <a:solidFill>
                  <a:srgbClr val="56636D"/>
                </a:solidFill>
                <a:latin typeface="Inter"/>
              </a:rPr>
              <a:t>Source: Corrin Medical management accounts and transformation plan; FY2025 is eleven months actual and a December forecast. All figures are illustrative, invented for a fictional company.</a:t>
            </a:r>
          </a:p>
        </p:txBody>
      </p:sp>
      <p:cxnSp>
        <p:nvCxnSpPr>
          <p:cNvPr id="29" name="q-ease-line"/>
          <p:cNvCxnSpPr/>
          <p:nvPr/>
        </p:nvCxnSpPr>
        <p:spPr>
          <a:xfrm flipV="1">
            <a:off x="3329214" y="1776998"/>
            <a:ext cx="0" cy="3588107"/>
          </a:xfrm>
          <a:prstGeom prst="line">
            <a:avLst/>
          </a:prstGeom>
          <a:ln w="9525">
            <a:solidFill>
              <a:srgbClr val="0E4D5E"/>
            </a:solidFill>
            <a:prstDash val="dash"/>
          </a:ln>
        </p:spPr>
      </p:cxnSp>
      <p:sp>
        <p:nvSpPr>
          <p:cNvPr id="30" name="q-ease-label"/>
          <p:cNvSpPr/>
          <p:nvPr/>
        </p:nvSpPr>
        <p:spPr>
          <a:xfrm>
            <a:off x="3157896" y="1635266"/>
            <a:ext cx="342636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 marL="0" indent="0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50" b="0" i="0">
                <a:solidFill>
                  <a:srgbClr val="0E4D5E"/>
                </a:solidFill>
                <a:latin typeface="Inter"/>
              </a:rPr>
              <a:t>Ease 3</a:t>
            </a:r>
          </a:p>
        </p:txBody>
      </p:sp>
      <p:cxnSp>
        <p:nvCxnSpPr>
          <p:cNvPr id="31" name="q-value-line"/>
          <p:cNvCxnSpPr/>
          <p:nvPr/>
        </p:nvCxnSpPr>
        <p:spPr>
          <a:xfrm>
            <a:off x="907495" y="3770391"/>
            <a:ext cx="4843439" cy="0"/>
          </a:xfrm>
          <a:prstGeom prst="line">
            <a:avLst/>
          </a:prstGeom>
          <a:ln w="9525">
            <a:solidFill>
              <a:srgbClr val="0E4D5E"/>
            </a:solidFill>
            <a:prstDash val="dash"/>
          </a:ln>
        </p:spPr>
      </p:cxnSp>
      <p:sp>
        <p:nvSpPr>
          <p:cNvPr id="32" name="q-value-label"/>
          <p:cNvSpPr/>
          <p:nvPr/>
        </p:nvSpPr>
        <p:spPr>
          <a:xfrm>
            <a:off x="5778366" y="3713241"/>
            <a:ext cx="243944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50" b="0" i="0">
                <a:solidFill>
                  <a:srgbClr val="0E4D5E"/>
                </a:solidFill>
                <a:latin typeface="Inter"/>
              </a:rPr>
              <a:t>$8m</a:t>
            </a:r>
          </a:p>
        </p:txBody>
      </p:sp>
    </p:spTree>
    <p:custDataLst>
      <p:tags r:id="rId4"/>
    </p:custDataLst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cxnSp>
        <p:nvCxnSpPr>
          <p:cNvPr id="29" name="chrome-1"/>
          <p:cNvCxnSpPr/>
          <p:nvPr/>
        </p:nvCxnSpPr>
        <p:spPr>
          <a:xfrm>
            <a:off x="411480" y="1037843"/>
            <a:ext cx="11368735" cy="0"/>
          </a:xfrm>
          <a:prstGeom prst="line">
            <a:avLst/>
          </a:prstGeom>
          <a:ln w="12700">
            <a:solidFill>
              <a:srgbClr val="0E4D5E"/>
            </a:solidFill>
          </a:ln>
        </p:spPr>
      </p:cxnSp>
      <p:cxnSp>
        <p:nvCxnSpPr>
          <p:cNvPr id="30" name="chrome-2"/>
          <p:cNvCxnSpPr/>
          <p:nvPr/>
        </p:nvCxnSpPr>
        <p:spPr>
          <a:xfrm>
            <a:off x="411480" y="6405372"/>
            <a:ext cx="11368735" cy="0"/>
          </a:xfrm>
          <a:prstGeom prst="line">
            <a:avLst/>
          </a:prstGeom>
          <a:ln w="6350">
            <a:solidFill>
              <a:srgbClr val="C9D2D8"/>
            </a:solidFill>
          </a:ln>
        </p:spPr>
      </p:cxnSp>
      <p:pic>
        <p:nvPicPr>
          <p:cNvPr id="31" name="chrome-3" descr="corrin-m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6473952"/>
            <a:ext cx="201168" cy="201168"/>
          </a:xfrm>
          <a:prstGeom prst="rect">
            <a:avLst/>
          </a:prstGeom>
        </p:spPr>
      </p:pic>
      <p:sp>
        <p:nvSpPr>
          <p:cNvPr id="32" name="chrome-4"/>
          <p:cNvSpPr txBox="1"/>
          <p:nvPr/>
        </p:nvSpPr>
        <p:spPr>
          <a:xfrm>
            <a:off x="658368" y="6492240"/>
            <a:ext cx="1188720" cy="164592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r>
              <a:rPr sz="900" b="1">
                <a:solidFill>
                  <a:srgbClr val="0E4D5E"/>
                </a:solidFill>
                <a:latin typeface="Inter"/>
              </a:rPr>
              <a:t>Corrin Medical</a:t>
            </a:r>
          </a:p>
        </p:txBody>
      </p:sp>
      <p:sp>
        <p:nvSpPr>
          <p:cNvPr id="33" name="chrome-5"/>
          <p:cNvSpPr txBox="1"/>
          <p:nvPr/>
        </p:nvSpPr>
        <p:spPr>
          <a:xfrm>
            <a:off x="1920240" y="6510528"/>
            <a:ext cx="8229600" cy="1524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r"/>
            <a:r>
              <a:rPr sz="700" b="0">
                <a:solidFill>
                  <a:srgbClr val="56636D"/>
                </a:solidFill>
                <a:latin typeface="Inter"/>
              </a:rPr>
              <a:t>Board of Directors  |  Corrin 2028 operating transformation  |  18 December 2025  |  Illustrative figures for a fictional company</a:t>
            </a:r>
          </a:p>
        </p:txBody>
      </p:sp>
      <p:sp>
        <p:nvSpPr>
          <p:cNvPr id="34" name="chrome-6"/>
          <p:cNvSpPr txBox="1"/>
          <p:nvPr/>
        </p:nvSpPr>
        <p:spPr>
          <a:xfrm>
            <a:off x="11323015" y="6510528"/>
            <a:ext cx="457200" cy="1524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r"/>
            <a:fld id="{B6F15528-21DE-4FAA-801E-634DDDAF5B2F}" type="slidenum">
              <a:rPr sz="700">
                <a:solidFill>
                  <a:srgbClr val="56636D"/>
                </a:solidFill>
                <a:latin typeface="Inter"/>
              </a:rPr>
              <a:t>1</a:t>
            </a:fld>
          </a:p>
        </p:txBody>
      </p:sp>
      <p:sp>
        <p:nvSpPr>
          <p:cNvPr id="3" name="kicker"/>
          <p:cNvSpPr/>
          <p:nvPr/>
        </p:nvSpPr>
        <p:spPr>
          <a:xfrm>
            <a:off x="411480" y="543305"/>
            <a:ext cx="11369040" cy="1219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ts val="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00" b="1" i="0" spc="50">
                <a:solidFill>
                  <a:srgbClr val="0E4D5E"/>
                </a:solidFill>
                <a:latin typeface="Inter"/>
              </a:rPr>
              <a:t>VALUE  |  EBITDA BRIDGE AND CASH</a:t>
            </a:r>
          </a:p>
        </p:txBody>
      </p:sp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411480" y="692657"/>
            <a:ext cx="11369040" cy="240030"/>
          </a:xfrm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1" i="0">
                <a:solidFill>
                  <a:srgbClr val="17232D"/>
                </a:solidFill>
                <a:latin typeface="Inter"/>
              </a:rPr>
              <a:t>Volume offsets inflation and run costs; four levers add $103m, taking EBITDA to $290m</a:t>
            </a:r>
          </a:p>
        </p:txBody>
      </p:sp>
      <p:sp>
        <p:nvSpPr>
          <p:cNvPr id="4" name="br-h"/>
          <p:cNvSpPr/>
          <p:nvPr/>
        </p:nvSpPr>
        <p:spPr>
          <a:xfrm>
            <a:off x="411480" y="1133855"/>
            <a:ext cx="11369040" cy="1600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ts val="12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 b="1" i="0">
                <a:solidFill>
                  <a:srgbClr val="0E4D5E"/>
                </a:solidFill>
                <a:latin typeface="Inter"/>
              </a:rPr>
              <a:t>FY2025 EBITDA to FY2028 exit run-rate, $m</a:t>
            </a:r>
          </a:p>
        </p:txBody>
      </p:sp>
      <p:sp>
        <p:nvSpPr>
          <p:cNvPr id="5" name="br-u"/>
          <p:cNvSpPr/>
          <p:nvPr/>
        </p:nvSpPr>
        <p:spPr>
          <a:xfrm>
            <a:off x="411480" y="1321307"/>
            <a:ext cx="1136904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50" b="0" i="0">
                <a:solidFill>
                  <a:srgbClr val="56636D"/>
                </a:solidFill>
                <a:latin typeface="Inter"/>
              </a:rPr>
              <a:t>Totals in dark petrol, increases in mid petrol, decreases in grey; volume first nets off inflation and run costs; cost to achieve under each lever</a:t>
            </a:r>
          </a:p>
        </p:txBody>
      </p:sp>
      <p:graphicFrame>
        <p:nvGraphicFramePr>
          <p:cNvPr id="6" name="bridge"/>
          <p:cNvGraphicFramePr>
            <a:graphicFrameLocks noGrp="1"/>
          </p:cNvGraphicFramePr>
          <p:nvPr/>
        </p:nvGraphicFramePr>
        <p:xfrm>
          <a:off x="411480" y="1463039"/>
          <a:ext cx="11369040" cy="2684527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b1-h"/>
          <p:cNvSpPr/>
          <p:nvPr/>
        </p:nvSpPr>
        <p:spPr>
          <a:xfrm>
            <a:off x="411480" y="4312158"/>
            <a:ext cx="3762704" cy="1600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ts val="12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 b="1" i="0">
                <a:solidFill>
                  <a:srgbClr val="0E4D5E"/>
                </a:solidFill>
                <a:latin typeface="Inter"/>
              </a:rPr>
              <a:t>EBITDA builds over three years</a:t>
            </a:r>
          </a:p>
        </p:txBody>
      </p:sp>
      <p:sp>
        <p:nvSpPr>
          <p:cNvPr id="8" name="b1-u"/>
          <p:cNvSpPr/>
          <p:nvPr/>
        </p:nvSpPr>
        <p:spPr>
          <a:xfrm>
            <a:off x="411480" y="4499610"/>
            <a:ext cx="3762704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50" b="0" i="0">
                <a:solidFill>
                  <a:srgbClr val="56636D"/>
                </a:solidFill>
                <a:latin typeface="Inter"/>
              </a:rPr>
              <a:t>Run-rate at each year end, $m; margin on that year's revenue</a:t>
            </a:r>
          </a:p>
        </p:txBody>
      </p:sp>
      <p:graphicFrame>
        <p:nvGraphicFramePr>
          <p:cNvPr id="9" name="build"/>
          <p:cNvGraphicFramePr>
            <a:graphicFrameLocks noGrp="1"/>
          </p:cNvGraphicFramePr>
          <p:nvPr/>
        </p:nvGraphicFramePr>
        <p:xfrm>
          <a:off x="411480" y="4641342"/>
          <a:ext cx="3762704" cy="1524762"/>
        </p:xfrm>
        <a:graphic>
          <a:graphicData uri="http://schemas.openxmlformats.org/drawingml/2006/table">
            <a:tbl>
              <a:tblPr firstRow="0" bandRow="0" lastRow="0" firstCol="0" lastCol="0" bandCol="0"/>
              <a:tblGrid>
                <a:gridCol w="1354573"/>
                <a:gridCol w="602755"/>
                <a:gridCol w="604594"/>
                <a:gridCol w="595925"/>
                <a:gridCol w="604857"/>
              </a:tblGrid>
              <a:tr h="169418">
                <a:tc>
                  <a:txBody>
                    <a:bodyPr wrap="square"/>
                    <a:lstStyle/>
                    <a:p>
                      <a:pPr algn="l"/>
                      <a:r>
                        <a:rPr sz="750" b="1" i="0">
                          <a:solidFill>
                            <a:srgbClr val="0E4D5E"/>
                          </a:solidFill>
                          <a:latin typeface="Inter"/>
                        </a:rPr>
                        <a:t>$m, run-rate at year end</a:t>
                      </a:r>
                      <a:endParaRPr sz="750" b="1" i="0">
                        <a:solidFill>
                          <a:srgbClr val="0E4D5E"/>
                        </a:solidFill>
                        <a:latin typeface="Inter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0E4D5E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1" i="0">
                          <a:solidFill>
                            <a:srgbClr val="0E4D5E"/>
                          </a:solidFill>
                          <a:latin typeface="Inter"/>
                        </a:rPr>
                        <a:t>2025</a:t>
                      </a:r>
                      <a:endParaRPr sz="750" b="1" i="0">
                        <a:solidFill>
                          <a:srgbClr val="0E4D5E"/>
                        </a:solidFill>
                        <a:latin typeface="Inter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0E4D5E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1" i="0">
                          <a:solidFill>
                            <a:srgbClr val="0E4D5E"/>
                          </a:solidFill>
                          <a:latin typeface="Inter"/>
                        </a:rPr>
                        <a:t>2026</a:t>
                      </a:r>
                      <a:endParaRPr sz="750" b="1" i="0">
                        <a:solidFill>
                          <a:srgbClr val="0E4D5E"/>
                        </a:solidFill>
                        <a:latin typeface="Inter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0E4D5E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1" i="0">
                          <a:solidFill>
                            <a:srgbClr val="0E4D5E"/>
                          </a:solidFill>
                          <a:latin typeface="Inter"/>
                        </a:rPr>
                        <a:t>2027</a:t>
                      </a:r>
                      <a:endParaRPr sz="750" b="1" i="0">
                        <a:solidFill>
                          <a:srgbClr val="0E4D5E"/>
                        </a:solidFill>
                        <a:latin typeface="Inter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0E4D5E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1" i="0">
                          <a:solidFill>
                            <a:srgbClr val="0E4D5E"/>
                          </a:solidFill>
                          <a:latin typeface="Inter"/>
                        </a:rPr>
                        <a:t>2028</a:t>
                      </a:r>
                      <a:endParaRPr sz="750" b="1" i="0">
                        <a:solidFill>
                          <a:srgbClr val="0E4D5E"/>
                        </a:solidFill>
                        <a:latin typeface="Inter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0E4D5E"/>
                      </a:solidFill>
                    </a:lnB>
                    <a:noFill/>
                  </a:tcPr>
                </a:tc>
              </a:tr>
              <a:tr h="169418">
                <a:tc>
                  <a:txBody>
                    <a:bodyPr wrap="square"/>
                    <a:lstStyle/>
                    <a:p>
                      <a:pPr algn="l"/>
                      <a:r>
                        <a:rPr sz="750" b="0" i="0">
                          <a:solidFill>
                            <a:srgbClr val="56636D"/>
                          </a:solidFill>
                          <a:latin typeface="Inter"/>
                        </a:rPr>
                        <a:t>Revenue</a:t>
                      </a:r>
                      <a:endParaRPr sz="750" b="0" i="0">
                        <a:solidFill>
                          <a:srgbClr val="56636D"/>
                        </a:solidFill>
                        <a:latin typeface="Inter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rgbClr val="0E4D5E"/>
                      </a:solidFill>
                    </a:lnT>
                    <a:lnB w="6350">
                      <a:solidFill>
                        <a:srgbClr val="C9D2D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 i="0">
                          <a:solidFill>
                            <a:srgbClr val="56636D"/>
                          </a:solidFill>
                          <a:latin typeface="Inter"/>
                        </a:rPr>
                        <a:t>1,240</a:t>
                      </a:r>
                      <a:endParaRPr sz="750" b="0" i="0">
                        <a:solidFill>
                          <a:srgbClr val="56636D"/>
                        </a:solidFill>
                        <a:latin typeface="Inter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rgbClr val="0E4D5E"/>
                      </a:solidFill>
                    </a:lnT>
                    <a:lnB w="6350">
                      <a:solidFill>
                        <a:srgbClr val="C9D2D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 i="0">
                          <a:solidFill>
                            <a:srgbClr val="56636D"/>
                          </a:solidFill>
                          <a:latin typeface="Inter"/>
                        </a:rPr>
                        <a:t>1,310</a:t>
                      </a:r>
                      <a:endParaRPr sz="750" b="0" i="0">
                        <a:solidFill>
                          <a:srgbClr val="56636D"/>
                        </a:solidFill>
                        <a:latin typeface="Inter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rgbClr val="0E4D5E"/>
                      </a:solidFill>
                    </a:lnT>
                    <a:lnB w="6350">
                      <a:solidFill>
                        <a:srgbClr val="C9D2D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 i="0">
                          <a:solidFill>
                            <a:srgbClr val="56636D"/>
                          </a:solidFill>
                          <a:latin typeface="Inter"/>
                        </a:rPr>
                        <a:t>1,380</a:t>
                      </a:r>
                      <a:endParaRPr sz="750" b="0" i="0">
                        <a:solidFill>
                          <a:srgbClr val="56636D"/>
                        </a:solidFill>
                        <a:latin typeface="Inter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rgbClr val="0E4D5E"/>
                      </a:solidFill>
                    </a:lnT>
                    <a:lnB w="6350">
                      <a:solidFill>
                        <a:srgbClr val="C9D2D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 i="0">
                          <a:solidFill>
                            <a:srgbClr val="56636D"/>
                          </a:solidFill>
                          <a:latin typeface="Inter"/>
                        </a:rPr>
                        <a:t>1,450</a:t>
                      </a:r>
                      <a:endParaRPr sz="750" b="0" i="0">
                        <a:solidFill>
                          <a:srgbClr val="56636D"/>
                        </a:solidFill>
                        <a:latin typeface="Inter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rgbClr val="0E4D5E"/>
                      </a:solidFill>
                    </a:lnT>
                    <a:lnB w="6350">
                      <a:solidFill>
                        <a:srgbClr val="C9D2D8"/>
                      </a:solidFill>
                    </a:lnB>
                    <a:noFill/>
                  </a:tcPr>
                </a:tc>
              </a:tr>
              <a:tr h="169418">
                <a:tc>
                  <a:txBody>
                    <a:bodyPr wrap="square"/>
                    <a:lstStyle/>
                    <a:p>
                      <a:pPr algn="l"/>
                      <a:r>
                        <a:rPr sz="750" b="0" i="0">
                          <a:solidFill>
                            <a:srgbClr val="17232D"/>
                          </a:solidFill>
                          <a:latin typeface="Inter"/>
                        </a:rPr>
                        <a:t>EBITDA at FY2025</a:t>
                      </a:r>
                      <a:endParaRPr sz="750" b="0" i="0">
                        <a:solidFill>
                          <a:srgbClr val="17232D"/>
                        </a:solidFill>
                        <a:latin typeface="Inter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D2D8"/>
                      </a:solidFill>
                    </a:lnT>
                    <a:lnB w="6350">
                      <a:solidFill>
                        <a:srgbClr val="C9D2D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 i="0">
                          <a:solidFill>
                            <a:srgbClr val="17232D"/>
                          </a:solidFill>
                          <a:latin typeface="Inter"/>
                        </a:rPr>
                        <a:t>186</a:t>
                      </a:r>
                      <a:endParaRPr sz="750" b="0" i="0">
                        <a:solidFill>
                          <a:srgbClr val="17232D"/>
                        </a:solidFill>
                        <a:latin typeface="Inter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D2D8"/>
                      </a:solidFill>
                    </a:lnT>
                    <a:lnB w="6350">
                      <a:solidFill>
                        <a:srgbClr val="C9D2D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 i="0">
                          <a:solidFill>
                            <a:srgbClr val="17232D"/>
                          </a:solidFill>
                          <a:latin typeface="Inter"/>
                        </a:rPr>
                        <a:t>186</a:t>
                      </a:r>
                      <a:endParaRPr sz="750" b="0" i="0">
                        <a:solidFill>
                          <a:srgbClr val="17232D"/>
                        </a:solidFill>
                        <a:latin typeface="Inter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D2D8"/>
                      </a:solidFill>
                    </a:lnT>
                    <a:lnB w="6350">
                      <a:solidFill>
                        <a:srgbClr val="C9D2D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 i="0">
                          <a:solidFill>
                            <a:srgbClr val="17232D"/>
                          </a:solidFill>
                          <a:latin typeface="Inter"/>
                        </a:rPr>
                        <a:t>186</a:t>
                      </a:r>
                      <a:endParaRPr sz="750" b="0" i="0">
                        <a:solidFill>
                          <a:srgbClr val="17232D"/>
                        </a:solidFill>
                        <a:latin typeface="Inter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D2D8"/>
                      </a:solidFill>
                    </a:lnT>
                    <a:lnB w="6350">
                      <a:solidFill>
                        <a:srgbClr val="C9D2D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 i="0">
                          <a:solidFill>
                            <a:srgbClr val="17232D"/>
                          </a:solidFill>
                          <a:latin typeface="Inter"/>
                        </a:rPr>
                        <a:t>186</a:t>
                      </a:r>
                      <a:endParaRPr sz="750" b="0" i="0">
                        <a:solidFill>
                          <a:srgbClr val="17232D"/>
                        </a:solidFill>
                        <a:latin typeface="Inter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D2D8"/>
                      </a:solidFill>
                    </a:lnT>
                    <a:lnB w="6350">
                      <a:solidFill>
                        <a:srgbClr val="C9D2D8"/>
                      </a:solidFill>
                    </a:lnB>
                    <a:noFill/>
                  </a:tcPr>
                </a:tc>
              </a:tr>
              <a:tr h="169418">
                <a:tc>
                  <a:txBody>
                    <a:bodyPr wrap="square"/>
                    <a:lstStyle/>
                    <a:p>
                      <a:pPr algn="l"/>
                      <a:r>
                        <a:rPr sz="750" b="0" i="0">
                          <a:solidFill>
                            <a:srgbClr val="17232D"/>
                          </a:solidFill>
                          <a:latin typeface="Inter"/>
                        </a:rPr>
                        <a:t>Volume and mix</a:t>
                      </a:r>
                      <a:endParaRPr sz="750" b="0" i="0">
                        <a:solidFill>
                          <a:srgbClr val="17232D"/>
                        </a:solidFill>
                        <a:latin typeface="Inter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D2D8"/>
                      </a:solidFill>
                    </a:lnT>
                    <a:lnB w="6350">
                      <a:solidFill>
                        <a:srgbClr val="C9D2D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endParaRPr sz="750" b="0" i="0">
                        <a:solidFill>
                          <a:srgbClr val="17232D"/>
                        </a:solidFill>
                        <a:latin typeface="Inter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D2D8"/>
                      </a:solidFill>
                    </a:lnT>
                    <a:lnB w="6350">
                      <a:solidFill>
                        <a:srgbClr val="C9D2D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 i="0">
                          <a:solidFill>
                            <a:srgbClr val="17232D"/>
                          </a:solidFill>
                          <a:latin typeface="Inter"/>
                        </a:rPr>
                        <a:t>12</a:t>
                      </a:r>
                      <a:endParaRPr sz="750" b="0" i="0">
                        <a:solidFill>
                          <a:srgbClr val="17232D"/>
                        </a:solidFill>
                        <a:latin typeface="Inter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D2D8"/>
                      </a:solidFill>
                    </a:lnT>
                    <a:lnB w="6350">
                      <a:solidFill>
                        <a:srgbClr val="C9D2D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 i="0">
                          <a:solidFill>
                            <a:srgbClr val="17232D"/>
                          </a:solidFill>
                          <a:latin typeface="Inter"/>
                        </a:rPr>
                        <a:t>25</a:t>
                      </a:r>
                      <a:endParaRPr sz="750" b="0" i="0">
                        <a:solidFill>
                          <a:srgbClr val="17232D"/>
                        </a:solidFill>
                        <a:latin typeface="Inter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D2D8"/>
                      </a:solidFill>
                    </a:lnT>
                    <a:lnB w="6350">
                      <a:solidFill>
                        <a:srgbClr val="C9D2D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 i="0">
                          <a:solidFill>
                            <a:srgbClr val="17232D"/>
                          </a:solidFill>
                          <a:latin typeface="Inter"/>
                        </a:rPr>
                        <a:t>38</a:t>
                      </a:r>
                      <a:endParaRPr sz="750" b="0" i="0">
                        <a:solidFill>
                          <a:srgbClr val="17232D"/>
                        </a:solidFill>
                        <a:latin typeface="Inter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D2D8"/>
                      </a:solidFill>
                    </a:lnT>
                    <a:lnB w="6350">
                      <a:solidFill>
                        <a:srgbClr val="C9D2D8"/>
                      </a:solidFill>
                    </a:lnB>
                    <a:noFill/>
                  </a:tcPr>
                </a:tc>
              </a:tr>
              <a:tr h="169418">
                <a:tc>
                  <a:txBody>
                    <a:bodyPr wrap="square"/>
                    <a:lstStyle/>
                    <a:p>
                      <a:pPr algn="l"/>
                      <a:r>
                        <a:rPr sz="750" b="0" i="0">
                          <a:solidFill>
                            <a:srgbClr val="17232D"/>
                          </a:solidFill>
                          <a:latin typeface="Inter"/>
                        </a:rPr>
                        <a:t>Inflation</a:t>
                      </a:r>
                      <a:endParaRPr sz="750" b="0" i="0">
                        <a:solidFill>
                          <a:srgbClr val="17232D"/>
                        </a:solidFill>
                        <a:latin typeface="Inter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D2D8"/>
                      </a:solidFill>
                    </a:lnT>
                    <a:lnB w="6350">
                      <a:solidFill>
                        <a:srgbClr val="C9D2D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endParaRPr sz="750" b="0" i="0">
                        <a:solidFill>
                          <a:srgbClr val="17232D"/>
                        </a:solidFill>
                        <a:latin typeface="Inter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D2D8"/>
                      </a:solidFill>
                    </a:lnT>
                    <a:lnB w="6350">
                      <a:solidFill>
                        <a:srgbClr val="C9D2D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 i="0">
                          <a:solidFill>
                            <a:srgbClr val="17232D"/>
                          </a:solidFill>
                          <a:latin typeface="Inter"/>
                        </a:rPr>
                        <a:t>(10)</a:t>
                      </a:r>
                      <a:endParaRPr sz="750" b="0" i="0">
                        <a:solidFill>
                          <a:srgbClr val="17232D"/>
                        </a:solidFill>
                        <a:latin typeface="Inter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D2D8"/>
                      </a:solidFill>
                    </a:lnT>
                    <a:lnB w="6350">
                      <a:solidFill>
                        <a:srgbClr val="C9D2D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 i="0">
                          <a:solidFill>
                            <a:srgbClr val="17232D"/>
                          </a:solidFill>
                          <a:latin typeface="Inter"/>
                        </a:rPr>
                        <a:t>(21)</a:t>
                      </a:r>
                      <a:endParaRPr sz="750" b="0" i="0">
                        <a:solidFill>
                          <a:srgbClr val="17232D"/>
                        </a:solidFill>
                        <a:latin typeface="Inter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D2D8"/>
                      </a:solidFill>
                    </a:lnT>
                    <a:lnB w="6350">
                      <a:solidFill>
                        <a:srgbClr val="C9D2D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 i="0">
                          <a:solidFill>
                            <a:srgbClr val="17232D"/>
                          </a:solidFill>
                          <a:latin typeface="Inter"/>
                        </a:rPr>
                        <a:t>(31)</a:t>
                      </a:r>
                      <a:endParaRPr sz="750" b="0" i="0">
                        <a:solidFill>
                          <a:srgbClr val="17232D"/>
                        </a:solidFill>
                        <a:latin typeface="Inter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D2D8"/>
                      </a:solidFill>
                    </a:lnT>
                    <a:lnB w="6350">
                      <a:solidFill>
                        <a:srgbClr val="C9D2D8"/>
                      </a:solidFill>
                    </a:lnB>
                    <a:noFill/>
                  </a:tcPr>
                </a:tc>
              </a:tr>
              <a:tr h="169418">
                <a:tc>
                  <a:txBody>
                    <a:bodyPr wrap="square"/>
                    <a:lstStyle/>
                    <a:p>
                      <a:pPr algn="l"/>
                      <a:r>
                        <a:rPr sz="750" b="0" i="0">
                          <a:solidFill>
                            <a:srgbClr val="17232D"/>
                          </a:solidFill>
                          <a:latin typeface="Inter"/>
                        </a:rPr>
                        <a:t>Run costs</a:t>
                      </a:r>
                      <a:endParaRPr sz="750" b="0" i="0">
                        <a:solidFill>
                          <a:srgbClr val="17232D"/>
                        </a:solidFill>
                        <a:latin typeface="Inter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D2D8"/>
                      </a:solidFill>
                    </a:lnT>
                    <a:lnB w="6350">
                      <a:solidFill>
                        <a:srgbClr val="C9D2D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endParaRPr sz="750" b="0" i="0">
                        <a:solidFill>
                          <a:srgbClr val="17232D"/>
                        </a:solidFill>
                        <a:latin typeface="Inter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D2D8"/>
                      </a:solidFill>
                    </a:lnT>
                    <a:lnB w="6350">
                      <a:solidFill>
                        <a:srgbClr val="C9D2D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 i="0">
                          <a:solidFill>
                            <a:srgbClr val="17232D"/>
                          </a:solidFill>
                          <a:latin typeface="Inter"/>
                        </a:rPr>
                        <a:t>(3)</a:t>
                      </a:r>
                      <a:endParaRPr sz="750" b="0" i="0">
                        <a:solidFill>
                          <a:srgbClr val="17232D"/>
                        </a:solidFill>
                        <a:latin typeface="Inter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D2D8"/>
                      </a:solidFill>
                    </a:lnT>
                    <a:lnB w="6350">
                      <a:solidFill>
                        <a:srgbClr val="C9D2D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 i="0">
                          <a:solidFill>
                            <a:srgbClr val="17232D"/>
                          </a:solidFill>
                          <a:latin typeface="Inter"/>
                        </a:rPr>
                        <a:t>(5)</a:t>
                      </a:r>
                      <a:endParaRPr sz="750" b="0" i="0">
                        <a:solidFill>
                          <a:srgbClr val="17232D"/>
                        </a:solidFill>
                        <a:latin typeface="Inter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D2D8"/>
                      </a:solidFill>
                    </a:lnT>
                    <a:lnB w="6350">
                      <a:solidFill>
                        <a:srgbClr val="C9D2D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 i="0">
                          <a:solidFill>
                            <a:srgbClr val="17232D"/>
                          </a:solidFill>
                          <a:latin typeface="Inter"/>
                        </a:rPr>
                        <a:t>(6)</a:t>
                      </a:r>
                      <a:endParaRPr sz="750" b="0" i="0">
                        <a:solidFill>
                          <a:srgbClr val="17232D"/>
                        </a:solidFill>
                        <a:latin typeface="Inter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D2D8"/>
                      </a:solidFill>
                    </a:lnT>
                    <a:lnB w="6350">
                      <a:solidFill>
                        <a:srgbClr val="C9D2D8"/>
                      </a:solidFill>
                    </a:lnB>
                    <a:noFill/>
                  </a:tcPr>
                </a:tc>
              </a:tr>
              <a:tr h="169418">
                <a:tc>
                  <a:txBody>
                    <a:bodyPr wrap="square"/>
                    <a:lstStyle/>
                    <a:p>
                      <a:pPr algn="l"/>
                      <a:r>
                        <a:rPr sz="750" b="0" i="0">
                          <a:solidFill>
                            <a:srgbClr val="17232D"/>
                          </a:solidFill>
                          <a:latin typeface="Inter"/>
                        </a:rPr>
                        <a:t>Transformation levers</a:t>
                      </a:r>
                      <a:endParaRPr sz="750" b="0" i="0">
                        <a:solidFill>
                          <a:srgbClr val="17232D"/>
                        </a:solidFill>
                        <a:latin typeface="Inter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D2D8"/>
                      </a:solidFill>
                    </a:lnT>
                    <a:lnB w="6350">
                      <a:solidFill>
                        <a:srgbClr val="C9D2D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endParaRPr sz="750" b="0" i="0">
                        <a:solidFill>
                          <a:srgbClr val="17232D"/>
                        </a:solidFill>
                        <a:latin typeface="Inter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D2D8"/>
                      </a:solidFill>
                    </a:lnT>
                    <a:lnB w="6350">
                      <a:solidFill>
                        <a:srgbClr val="C9D2D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 i="0">
                          <a:solidFill>
                            <a:srgbClr val="17232D"/>
                          </a:solidFill>
                          <a:latin typeface="Inter"/>
                        </a:rPr>
                        <a:t>32</a:t>
                      </a:r>
                      <a:endParaRPr sz="750" b="0" i="0">
                        <a:solidFill>
                          <a:srgbClr val="17232D"/>
                        </a:solidFill>
                        <a:latin typeface="Inter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D2D8"/>
                      </a:solidFill>
                    </a:lnT>
                    <a:lnB w="6350">
                      <a:solidFill>
                        <a:srgbClr val="C9D2D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 i="0">
                          <a:solidFill>
                            <a:srgbClr val="17232D"/>
                          </a:solidFill>
                          <a:latin typeface="Inter"/>
                        </a:rPr>
                        <a:t>71</a:t>
                      </a:r>
                      <a:endParaRPr sz="750" b="0" i="0">
                        <a:solidFill>
                          <a:srgbClr val="17232D"/>
                        </a:solidFill>
                        <a:latin typeface="Inter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D2D8"/>
                      </a:solidFill>
                    </a:lnT>
                    <a:lnB w="6350">
                      <a:solidFill>
                        <a:srgbClr val="C9D2D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 i="0">
                          <a:solidFill>
                            <a:srgbClr val="17232D"/>
                          </a:solidFill>
                          <a:latin typeface="Inter"/>
                        </a:rPr>
                        <a:t>103</a:t>
                      </a:r>
                      <a:endParaRPr sz="750" b="0" i="0">
                        <a:solidFill>
                          <a:srgbClr val="17232D"/>
                        </a:solidFill>
                        <a:latin typeface="Inter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D2D8"/>
                      </a:solidFill>
                    </a:lnT>
                    <a:lnB w="6350">
                      <a:solidFill>
                        <a:srgbClr val="C9D2D8"/>
                      </a:solidFill>
                    </a:lnB>
                    <a:noFill/>
                  </a:tcPr>
                </a:tc>
              </a:tr>
              <a:tr h="169418">
                <a:tc>
                  <a:txBody>
                    <a:bodyPr wrap="square"/>
                    <a:lstStyle/>
                    <a:p>
                      <a:pPr algn="l"/>
                      <a:r>
                        <a:rPr sz="750" b="1" i="0">
                          <a:solidFill>
                            <a:srgbClr val="0E4D5E"/>
                          </a:solidFill>
                          <a:latin typeface="Inter"/>
                        </a:rPr>
                        <a:t>Run-rate EBITDA</a:t>
                      </a:r>
                      <a:endParaRPr sz="750" b="1" i="0">
                        <a:solidFill>
                          <a:srgbClr val="0E4D5E"/>
                        </a:solidFill>
                        <a:latin typeface="Inter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D2D8"/>
                      </a:solidFill>
                    </a:lnT>
                    <a:lnB w="6350">
                      <a:solidFill>
                        <a:srgbClr val="C9D2D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1" i="0">
                          <a:solidFill>
                            <a:srgbClr val="0E4D5E"/>
                          </a:solidFill>
                          <a:latin typeface="Inter"/>
                        </a:rPr>
                        <a:t>186</a:t>
                      </a:r>
                      <a:endParaRPr sz="750" b="1" i="0">
                        <a:solidFill>
                          <a:srgbClr val="0E4D5E"/>
                        </a:solidFill>
                        <a:latin typeface="Inter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D2D8"/>
                      </a:solidFill>
                    </a:lnT>
                    <a:lnB w="6350">
                      <a:solidFill>
                        <a:srgbClr val="C9D2D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1" i="0">
                          <a:solidFill>
                            <a:srgbClr val="0E4D5E"/>
                          </a:solidFill>
                          <a:latin typeface="Inter"/>
                        </a:rPr>
                        <a:t>217</a:t>
                      </a:r>
                      <a:endParaRPr sz="750" b="1" i="0">
                        <a:solidFill>
                          <a:srgbClr val="0E4D5E"/>
                        </a:solidFill>
                        <a:latin typeface="Inter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D2D8"/>
                      </a:solidFill>
                    </a:lnT>
                    <a:lnB w="6350">
                      <a:solidFill>
                        <a:srgbClr val="C9D2D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1" i="0">
                          <a:solidFill>
                            <a:srgbClr val="0E4D5E"/>
                          </a:solidFill>
                          <a:latin typeface="Inter"/>
                        </a:rPr>
                        <a:t>256</a:t>
                      </a:r>
                      <a:endParaRPr sz="750" b="1" i="0">
                        <a:solidFill>
                          <a:srgbClr val="0E4D5E"/>
                        </a:solidFill>
                        <a:latin typeface="Inter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D2D8"/>
                      </a:solidFill>
                    </a:lnT>
                    <a:lnB w="6350">
                      <a:solidFill>
                        <a:srgbClr val="C9D2D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1" i="0">
                          <a:solidFill>
                            <a:srgbClr val="0E4D5E"/>
                          </a:solidFill>
                          <a:latin typeface="Inter"/>
                        </a:rPr>
                        <a:t>290</a:t>
                      </a:r>
                      <a:endParaRPr sz="750" b="1" i="0">
                        <a:solidFill>
                          <a:srgbClr val="0E4D5E"/>
                        </a:solidFill>
                        <a:latin typeface="Inter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D2D8"/>
                      </a:solidFill>
                    </a:lnT>
                    <a:lnB w="6350">
                      <a:solidFill>
                        <a:srgbClr val="C9D2D8"/>
                      </a:solidFill>
                    </a:lnB>
                    <a:noFill/>
                  </a:tcPr>
                </a:tc>
              </a:tr>
              <a:tr h="169418">
                <a:tc>
                  <a:txBody>
                    <a:bodyPr wrap="square"/>
                    <a:lstStyle/>
                    <a:p>
                      <a:pPr algn="l"/>
                      <a:r>
                        <a:rPr sz="750" b="0" i="1">
                          <a:solidFill>
                            <a:srgbClr val="17232D"/>
                          </a:solidFill>
                          <a:latin typeface="Inter"/>
                        </a:rPr>
                        <a:t>EBITDA margin, %</a:t>
                      </a:r>
                      <a:endParaRPr sz="750" b="0" i="1">
                        <a:solidFill>
                          <a:srgbClr val="17232D"/>
                        </a:solidFill>
                        <a:latin typeface="Inter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D2D8"/>
                      </a:solidFill>
                    </a:lnT>
                    <a:lnB w="9525">
                      <a:solidFill>
                        <a:srgbClr val="0E4D5E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 i="1">
                          <a:solidFill>
                            <a:srgbClr val="17232D"/>
                          </a:solidFill>
                          <a:latin typeface="Inter"/>
                        </a:rPr>
                        <a:t>15.0</a:t>
                      </a:r>
                      <a:endParaRPr sz="750" b="0" i="1">
                        <a:solidFill>
                          <a:srgbClr val="17232D"/>
                        </a:solidFill>
                        <a:latin typeface="Inter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D2D8"/>
                      </a:solidFill>
                    </a:lnT>
                    <a:lnB w="9525">
                      <a:solidFill>
                        <a:srgbClr val="0E4D5E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 i="1">
                          <a:solidFill>
                            <a:srgbClr val="17232D"/>
                          </a:solidFill>
                          <a:latin typeface="Inter"/>
                        </a:rPr>
                        <a:t>16.6</a:t>
                      </a:r>
                      <a:endParaRPr sz="750" b="0" i="1">
                        <a:solidFill>
                          <a:srgbClr val="17232D"/>
                        </a:solidFill>
                        <a:latin typeface="Inter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D2D8"/>
                      </a:solidFill>
                    </a:lnT>
                    <a:lnB w="9525">
                      <a:solidFill>
                        <a:srgbClr val="0E4D5E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 i="1">
                          <a:solidFill>
                            <a:srgbClr val="17232D"/>
                          </a:solidFill>
                          <a:latin typeface="Inter"/>
                        </a:rPr>
                        <a:t>18.6</a:t>
                      </a:r>
                      <a:endParaRPr sz="750" b="0" i="1">
                        <a:solidFill>
                          <a:srgbClr val="17232D"/>
                        </a:solidFill>
                        <a:latin typeface="Inter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D2D8"/>
                      </a:solidFill>
                    </a:lnT>
                    <a:lnB w="9525">
                      <a:solidFill>
                        <a:srgbClr val="0E4D5E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 i="1">
                          <a:solidFill>
                            <a:srgbClr val="17232D"/>
                          </a:solidFill>
                          <a:latin typeface="Inter"/>
                        </a:rPr>
                        <a:t>20.0</a:t>
                      </a:r>
                      <a:endParaRPr sz="750" b="0" i="1">
                        <a:solidFill>
                          <a:srgbClr val="17232D"/>
                        </a:solidFill>
                        <a:latin typeface="Inter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D2D8"/>
                      </a:solidFill>
                    </a:lnT>
                    <a:lnB w="9525">
                      <a:solidFill>
                        <a:srgbClr val="0E4D5E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0" name="b2-h"/>
          <p:cNvSpPr/>
          <p:nvPr/>
        </p:nvSpPr>
        <p:spPr>
          <a:xfrm>
            <a:off x="4402784" y="4312158"/>
            <a:ext cx="3762703" cy="1600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ts val="12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 b="1" i="0">
                <a:solidFill>
                  <a:srgbClr val="0E4D5E"/>
                </a:solidFill>
                <a:latin typeface="Inter"/>
              </a:rPr>
              <a:t>Cash turns positive in 2027</a:t>
            </a:r>
          </a:p>
        </p:txBody>
      </p:sp>
      <p:sp>
        <p:nvSpPr>
          <p:cNvPr id="11" name="b2-u"/>
          <p:cNvSpPr/>
          <p:nvPr/>
        </p:nvSpPr>
        <p:spPr>
          <a:xfrm>
            <a:off x="4402784" y="4499610"/>
            <a:ext cx="3762703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50" b="0" i="0">
                <a:solidFill>
                  <a:srgbClr val="56636D"/>
                </a:solidFill>
                <a:latin typeface="Inter"/>
              </a:rPr>
              <a:t>In-year savings as phased in the benefit plan, $m</a:t>
            </a:r>
          </a:p>
        </p:txBody>
      </p:sp>
      <p:graphicFrame>
        <p:nvGraphicFramePr>
          <p:cNvPr id="12" name="cash"/>
          <p:cNvGraphicFramePr>
            <a:graphicFrameLocks noGrp="1"/>
          </p:cNvGraphicFramePr>
          <p:nvPr/>
        </p:nvGraphicFramePr>
        <p:xfrm>
          <a:off x="4402784" y="4641342"/>
          <a:ext cx="3762703" cy="1185926"/>
        </p:xfrm>
        <a:graphic>
          <a:graphicData uri="http://schemas.openxmlformats.org/drawingml/2006/table">
            <a:tbl>
              <a:tblPr firstRow="0" bandRow="0" lastRow="0" firstCol="0" lastCol="0" bandCol="0"/>
              <a:tblGrid>
                <a:gridCol w="1354573"/>
                <a:gridCol w="612228"/>
                <a:gridCol w="599904"/>
                <a:gridCol w="612493"/>
                <a:gridCol w="583505"/>
              </a:tblGrid>
              <a:tr h="169418">
                <a:tc>
                  <a:txBody>
                    <a:bodyPr wrap="square"/>
                    <a:lstStyle/>
                    <a:p>
                      <a:pPr algn="l"/>
                      <a:r>
                        <a:rPr sz="750" b="1" i="0">
                          <a:solidFill>
                            <a:srgbClr val="0E4D5E"/>
                          </a:solidFill>
                          <a:latin typeface="Inter"/>
                        </a:rPr>
                        <a:t>$m, in year</a:t>
                      </a:r>
                      <a:endParaRPr sz="750" b="1" i="0">
                        <a:solidFill>
                          <a:srgbClr val="0E4D5E"/>
                        </a:solidFill>
                        <a:latin typeface="Inter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0E4D5E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1" i="0">
                          <a:solidFill>
                            <a:srgbClr val="0E4D5E"/>
                          </a:solidFill>
                          <a:latin typeface="Inter"/>
                        </a:rPr>
                        <a:t>2026</a:t>
                      </a:r>
                      <a:endParaRPr sz="750" b="1" i="0">
                        <a:solidFill>
                          <a:srgbClr val="0E4D5E"/>
                        </a:solidFill>
                        <a:latin typeface="Inter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0E4D5E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1" i="0">
                          <a:solidFill>
                            <a:srgbClr val="0E4D5E"/>
                          </a:solidFill>
                          <a:latin typeface="Inter"/>
                        </a:rPr>
                        <a:t>2027</a:t>
                      </a:r>
                      <a:endParaRPr sz="750" b="1" i="0">
                        <a:solidFill>
                          <a:srgbClr val="0E4D5E"/>
                        </a:solidFill>
                        <a:latin typeface="Inter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0E4D5E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1" i="0">
                          <a:solidFill>
                            <a:srgbClr val="0E4D5E"/>
                          </a:solidFill>
                          <a:latin typeface="Inter"/>
                        </a:rPr>
                        <a:t>2028</a:t>
                      </a:r>
                      <a:endParaRPr sz="750" b="1" i="0">
                        <a:solidFill>
                          <a:srgbClr val="0E4D5E"/>
                        </a:solidFill>
                        <a:latin typeface="Inter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0E4D5E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1" i="0">
                          <a:solidFill>
                            <a:srgbClr val="0E4D5E"/>
                          </a:solidFill>
                          <a:latin typeface="Inter"/>
                        </a:rPr>
                        <a:t>Total</a:t>
                      </a:r>
                      <a:endParaRPr sz="750" b="1" i="0">
                        <a:solidFill>
                          <a:srgbClr val="0E4D5E"/>
                        </a:solidFill>
                        <a:latin typeface="Inter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0E4D5E"/>
                      </a:solidFill>
                    </a:lnB>
                    <a:noFill/>
                  </a:tcPr>
                </a:tc>
              </a:tr>
              <a:tr h="169418">
                <a:tc>
                  <a:txBody>
                    <a:bodyPr wrap="square"/>
                    <a:lstStyle/>
                    <a:p>
                      <a:pPr algn="l"/>
                      <a:r>
                        <a:rPr sz="750" b="0" i="0">
                          <a:solidFill>
                            <a:srgbClr val="17232D"/>
                          </a:solidFill>
                          <a:latin typeface="Inter"/>
                        </a:rPr>
                        <a:t>In-year savings</a:t>
                      </a:r>
                      <a:endParaRPr sz="750" b="0" i="0">
                        <a:solidFill>
                          <a:srgbClr val="17232D"/>
                        </a:solidFill>
                        <a:latin typeface="Inter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rgbClr val="0E4D5E"/>
                      </a:solidFill>
                    </a:lnT>
                    <a:lnB w="6350">
                      <a:solidFill>
                        <a:srgbClr val="C9D2D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 i="0">
                          <a:solidFill>
                            <a:srgbClr val="17232D"/>
                          </a:solidFill>
                          <a:latin typeface="Inter"/>
                        </a:rPr>
                        <a:t>16</a:t>
                      </a:r>
                      <a:endParaRPr sz="750" b="0" i="0">
                        <a:solidFill>
                          <a:srgbClr val="17232D"/>
                        </a:solidFill>
                        <a:latin typeface="Inter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rgbClr val="0E4D5E"/>
                      </a:solidFill>
                    </a:lnT>
                    <a:lnB w="6350">
                      <a:solidFill>
                        <a:srgbClr val="C9D2D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 i="0">
                          <a:solidFill>
                            <a:srgbClr val="17232D"/>
                          </a:solidFill>
                          <a:latin typeface="Inter"/>
                        </a:rPr>
                        <a:t>51</a:t>
                      </a:r>
                      <a:endParaRPr sz="750" b="0" i="0">
                        <a:solidFill>
                          <a:srgbClr val="17232D"/>
                        </a:solidFill>
                        <a:latin typeface="Inter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rgbClr val="0E4D5E"/>
                      </a:solidFill>
                    </a:lnT>
                    <a:lnB w="6350">
                      <a:solidFill>
                        <a:srgbClr val="C9D2D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 i="0">
                          <a:solidFill>
                            <a:srgbClr val="17232D"/>
                          </a:solidFill>
                          <a:latin typeface="Inter"/>
                        </a:rPr>
                        <a:t>87</a:t>
                      </a:r>
                      <a:endParaRPr sz="750" b="0" i="0">
                        <a:solidFill>
                          <a:srgbClr val="17232D"/>
                        </a:solidFill>
                        <a:latin typeface="Inter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rgbClr val="0E4D5E"/>
                      </a:solidFill>
                    </a:lnT>
                    <a:lnB w="6350">
                      <a:solidFill>
                        <a:srgbClr val="C9D2D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 i="0">
                          <a:solidFill>
                            <a:srgbClr val="17232D"/>
                          </a:solidFill>
                          <a:latin typeface="Inter"/>
                        </a:rPr>
                        <a:t>154</a:t>
                      </a:r>
                      <a:endParaRPr sz="750" b="0" i="0">
                        <a:solidFill>
                          <a:srgbClr val="17232D"/>
                        </a:solidFill>
                        <a:latin typeface="Inter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rgbClr val="0E4D5E"/>
                      </a:solidFill>
                    </a:lnT>
                    <a:lnB w="6350">
                      <a:solidFill>
                        <a:srgbClr val="C9D2D8"/>
                      </a:solidFill>
                    </a:lnB>
                    <a:noFill/>
                  </a:tcPr>
                </a:tc>
              </a:tr>
              <a:tr h="169418">
                <a:tc>
                  <a:txBody>
                    <a:bodyPr wrap="square"/>
                    <a:lstStyle/>
                    <a:p>
                      <a:pPr algn="l"/>
                      <a:r>
                        <a:rPr sz="750" b="0" i="0">
                          <a:solidFill>
                            <a:srgbClr val="17232D"/>
                          </a:solidFill>
                          <a:latin typeface="Inter"/>
                        </a:rPr>
                        <a:t>Working capital released</a:t>
                      </a:r>
                      <a:endParaRPr sz="750" b="0" i="0">
                        <a:solidFill>
                          <a:srgbClr val="17232D"/>
                        </a:solidFill>
                        <a:latin typeface="Inter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D2D8"/>
                      </a:solidFill>
                    </a:lnT>
                    <a:lnB w="6350">
                      <a:solidFill>
                        <a:srgbClr val="C9D2D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 i="0">
                          <a:solidFill>
                            <a:srgbClr val="17232D"/>
                          </a:solidFill>
                          <a:latin typeface="Inter"/>
                        </a:rPr>
                        <a:t>40</a:t>
                      </a:r>
                      <a:endParaRPr sz="750" b="0" i="0">
                        <a:solidFill>
                          <a:srgbClr val="17232D"/>
                        </a:solidFill>
                        <a:latin typeface="Inter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D2D8"/>
                      </a:solidFill>
                    </a:lnT>
                    <a:lnB w="6350">
                      <a:solidFill>
                        <a:srgbClr val="C9D2D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 i="0">
                          <a:solidFill>
                            <a:srgbClr val="17232D"/>
                          </a:solidFill>
                          <a:latin typeface="Inter"/>
                        </a:rPr>
                        <a:t>62</a:t>
                      </a:r>
                      <a:endParaRPr sz="750" b="0" i="0">
                        <a:solidFill>
                          <a:srgbClr val="17232D"/>
                        </a:solidFill>
                        <a:latin typeface="Inter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D2D8"/>
                      </a:solidFill>
                    </a:lnT>
                    <a:lnB w="6350">
                      <a:solidFill>
                        <a:srgbClr val="C9D2D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 i="0">
                          <a:solidFill>
                            <a:srgbClr val="17232D"/>
                          </a:solidFill>
                          <a:latin typeface="Inter"/>
                        </a:rPr>
                        <a:t>44</a:t>
                      </a:r>
                      <a:endParaRPr sz="750" b="0" i="0">
                        <a:solidFill>
                          <a:srgbClr val="17232D"/>
                        </a:solidFill>
                        <a:latin typeface="Inter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D2D8"/>
                      </a:solidFill>
                    </a:lnT>
                    <a:lnB w="6350">
                      <a:solidFill>
                        <a:srgbClr val="C9D2D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 i="0">
                          <a:solidFill>
                            <a:srgbClr val="17232D"/>
                          </a:solidFill>
                          <a:latin typeface="Inter"/>
                        </a:rPr>
                        <a:t>146</a:t>
                      </a:r>
                      <a:endParaRPr sz="750" b="0" i="0">
                        <a:solidFill>
                          <a:srgbClr val="17232D"/>
                        </a:solidFill>
                        <a:latin typeface="Inter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D2D8"/>
                      </a:solidFill>
                    </a:lnT>
                    <a:lnB w="6350">
                      <a:solidFill>
                        <a:srgbClr val="C9D2D8"/>
                      </a:solidFill>
                    </a:lnB>
                    <a:noFill/>
                  </a:tcPr>
                </a:tc>
              </a:tr>
              <a:tr h="169418">
                <a:tc>
                  <a:txBody>
                    <a:bodyPr wrap="square"/>
                    <a:lstStyle/>
                    <a:p>
                      <a:pPr algn="l"/>
                      <a:r>
                        <a:rPr sz="750" b="0" i="0">
                          <a:solidFill>
                            <a:srgbClr val="17232D"/>
                          </a:solidFill>
                          <a:latin typeface="Inter"/>
                        </a:rPr>
                        <a:t>One-off operating cost</a:t>
                      </a:r>
                      <a:endParaRPr sz="750" b="0" i="0">
                        <a:solidFill>
                          <a:srgbClr val="17232D"/>
                        </a:solidFill>
                        <a:latin typeface="Inter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D2D8"/>
                      </a:solidFill>
                    </a:lnT>
                    <a:lnB w="6350">
                      <a:solidFill>
                        <a:srgbClr val="C9D2D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 i="0">
                          <a:solidFill>
                            <a:srgbClr val="17232D"/>
                          </a:solidFill>
                          <a:latin typeface="Inter"/>
                        </a:rPr>
                        <a:t>(44)</a:t>
                      </a:r>
                      <a:endParaRPr sz="750" b="0" i="0">
                        <a:solidFill>
                          <a:srgbClr val="17232D"/>
                        </a:solidFill>
                        <a:latin typeface="Inter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D2D8"/>
                      </a:solidFill>
                    </a:lnT>
                    <a:lnB w="6350">
                      <a:solidFill>
                        <a:srgbClr val="C9D2D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 i="0">
                          <a:solidFill>
                            <a:srgbClr val="17232D"/>
                          </a:solidFill>
                          <a:latin typeface="Inter"/>
                        </a:rPr>
                        <a:t>(36)</a:t>
                      </a:r>
                      <a:endParaRPr sz="750" b="0" i="0">
                        <a:solidFill>
                          <a:srgbClr val="17232D"/>
                        </a:solidFill>
                        <a:latin typeface="Inter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D2D8"/>
                      </a:solidFill>
                    </a:lnT>
                    <a:lnB w="6350">
                      <a:solidFill>
                        <a:srgbClr val="C9D2D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 i="0">
                          <a:solidFill>
                            <a:srgbClr val="17232D"/>
                          </a:solidFill>
                          <a:latin typeface="Inter"/>
                        </a:rPr>
                        <a:t>(18)</a:t>
                      </a:r>
                      <a:endParaRPr sz="750" b="0" i="0">
                        <a:solidFill>
                          <a:srgbClr val="17232D"/>
                        </a:solidFill>
                        <a:latin typeface="Inter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D2D8"/>
                      </a:solidFill>
                    </a:lnT>
                    <a:lnB w="6350">
                      <a:solidFill>
                        <a:srgbClr val="C9D2D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 i="0">
                          <a:solidFill>
                            <a:srgbClr val="17232D"/>
                          </a:solidFill>
                          <a:latin typeface="Inter"/>
                        </a:rPr>
                        <a:t>(98)</a:t>
                      </a:r>
                      <a:endParaRPr sz="750" b="0" i="0">
                        <a:solidFill>
                          <a:srgbClr val="17232D"/>
                        </a:solidFill>
                        <a:latin typeface="Inter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D2D8"/>
                      </a:solidFill>
                    </a:lnT>
                    <a:lnB w="6350">
                      <a:solidFill>
                        <a:srgbClr val="C9D2D8"/>
                      </a:solidFill>
                    </a:lnB>
                    <a:noFill/>
                  </a:tcPr>
                </a:tc>
              </a:tr>
              <a:tr h="169418">
                <a:tc>
                  <a:txBody>
                    <a:bodyPr wrap="square"/>
                    <a:lstStyle/>
                    <a:p>
                      <a:pPr algn="l"/>
                      <a:r>
                        <a:rPr sz="750" b="0" i="0">
                          <a:solidFill>
                            <a:srgbClr val="17232D"/>
                          </a:solidFill>
                          <a:latin typeface="Inter"/>
                        </a:rPr>
                        <a:t>Capital expenditure</a:t>
                      </a:r>
                      <a:endParaRPr sz="750" b="0" i="0">
                        <a:solidFill>
                          <a:srgbClr val="17232D"/>
                        </a:solidFill>
                        <a:latin typeface="Inter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D2D8"/>
                      </a:solidFill>
                    </a:lnT>
                    <a:lnB w="6350">
                      <a:solidFill>
                        <a:srgbClr val="C9D2D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 i="0">
                          <a:solidFill>
                            <a:srgbClr val="17232D"/>
                          </a:solidFill>
                          <a:latin typeface="Inter"/>
                        </a:rPr>
                        <a:t>(28)</a:t>
                      </a:r>
                      <a:endParaRPr sz="750" b="0" i="0">
                        <a:solidFill>
                          <a:srgbClr val="17232D"/>
                        </a:solidFill>
                        <a:latin typeface="Inter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D2D8"/>
                      </a:solidFill>
                    </a:lnT>
                    <a:lnB w="6350">
                      <a:solidFill>
                        <a:srgbClr val="C9D2D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 i="0">
                          <a:solidFill>
                            <a:srgbClr val="17232D"/>
                          </a:solidFill>
                          <a:latin typeface="Inter"/>
                        </a:rPr>
                        <a:t>(25)</a:t>
                      </a:r>
                      <a:endParaRPr sz="750" b="0" i="0">
                        <a:solidFill>
                          <a:srgbClr val="17232D"/>
                        </a:solidFill>
                        <a:latin typeface="Inter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D2D8"/>
                      </a:solidFill>
                    </a:lnT>
                    <a:lnB w="6350">
                      <a:solidFill>
                        <a:srgbClr val="C9D2D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 i="0">
                          <a:solidFill>
                            <a:srgbClr val="17232D"/>
                          </a:solidFill>
                          <a:latin typeface="Inter"/>
                        </a:rPr>
                        <a:t>(14)</a:t>
                      </a:r>
                      <a:endParaRPr sz="750" b="0" i="0">
                        <a:solidFill>
                          <a:srgbClr val="17232D"/>
                        </a:solidFill>
                        <a:latin typeface="Inter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D2D8"/>
                      </a:solidFill>
                    </a:lnT>
                    <a:lnB w="6350">
                      <a:solidFill>
                        <a:srgbClr val="C9D2D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 i="0">
                          <a:solidFill>
                            <a:srgbClr val="17232D"/>
                          </a:solidFill>
                          <a:latin typeface="Inter"/>
                        </a:rPr>
                        <a:t>(67)</a:t>
                      </a:r>
                      <a:endParaRPr sz="750" b="0" i="0">
                        <a:solidFill>
                          <a:srgbClr val="17232D"/>
                        </a:solidFill>
                        <a:latin typeface="Inter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D2D8"/>
                      </a:solidFill>
                    </a:lnT>
                    <a:lnB w="6350">
                      <a:solidFill>
                        <a:srgbClr val="C9D2D8"/>
                      </a:solidFill>
                    </a:lnB>
                    <a:noFill/>
                  </a:tcPr>
                </a:tc>
              </a:tr>
              <a:tr h="169418">
                <a:tc>
                  <a:txBody>
                    <a:bodyPr wrap="square"/>
                    <a:lstStyle/>
                    <a:p>
                      <a:pPr algn="l"/>
                      <a:r>
                        <a:rPr sz="750" b="1" i="0">
                          <a:solidFill>
                            <a:srgbClr val="17232D"/>
                          </a:solidFill>
                          <a:latin typeface="Inter"/>
                        </a:rPr>
                        <a:t>Net cash</a:t>
                      </a:r>
                      <a:endParaRPr sz="750" b="1" i="0">
                        <a:solidFill>
                          <a:srgbClr val="17232D"/>
                        </a:solidFill>
                        <a:latin typeface="Inter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D2D8"/>
                      </a:solidFill>
                    </a:lnT>
                    <a:lnB w="6350">
                      <a:solidFill>
                        <a:srgbClr val="C9D2D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1" i="0">
                          <a:solidFill>
                            <a:srgbClr val="17232D"/>
                          </a:solidFill>
                          <a:latin typeface="Inter"/>
                        </a:rPr>
                        <a:t>(16)</a:t>
                      </a:r>
                      <a:endParaRPr sz="750" b="1" i="0">
                        <a:solidFill>
                          <a:srgbClr val="17232D"/>
                        </a:solidFill>
                        <a:latin typeface="Inter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D2D8"/>
                      </a:solidFill>
                    </a:lnT>
                    <a:lnB w="6350">
                      <a:solidFill>
                        <a:srgbClr val="C9D2D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1" i="0">
                          <a:solidFill>
                            <a:srgbClr val="17232D"/>
                          </a:solidFill>
                          <a:latin typeface="Inter"/>
                        </a:rPr>
                        <a:t>52</a:t>
                      </a:r>
                      <a:endParaRPr sz="750" b="1" i="0">
                        <a:solidFill>
                          <a:srgbClr val="17232D"/>
                        </a:solidFill>
                        <a:latin typeface="Inter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D2D8"/>
                      </a:solidFill>
                    </a:lnT>
                    <a:lnB w="6350">
                      <a:solidFill>
                        <a:srgbClr val="C9D2D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1" i="0">
                          <a:solidFill>
                            <a:srgbClr val="17232D"/>
                          </a:solidFill>
                          <a:latin typeface="Inter"/>
                        </a:rPr>
                        <a:t>99</a:t>
                      </a:r>
                      <a:endParaRPr sz="750" b="1" i="0">
                        <a:solidFill>
                          <a:srgbClr val="17232D"/>
                        </a:solidFill>
                        <a:latin typeface="Inter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D2D8"/>
                      </a:solidFill>
                    </a:lnT>
                    <a:lnB w="6350">
                      <a:solidFill>
                        <a:srgbClr val="C9D2D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1" i="0">
                          <a:solidFill>
                            <a:srgbClr val="17232D"/>
                          </a:solidFill>
                          <a:latin typeface="Inter"/>
                        </a:rPr>
                        <a:t>135</a:t>
                      </a:r>
                      <a:endParaRPr sz="750" b="1" i="0">
                        <a:solidFill>
                          <a:srgbClr val="17232D"/>
                        </a:solidFill>
                        <a:latin typeface="Inter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D2D8"/>
                      </a:solidFill>
                    </a:lnT>
                    <a:lnB w="6350">
                      <a:solidFill>
                        <a:srgbClr val="C9D2D8"/>
                      </a:solidFill>
                    </a:lnB>
                    <a:noFill/>
                  </a:tcPr>
                </a:tc>
              </a:tr>
              <a:tr h="169418">
                <a:tc>
                  <a:txBody>
                    <a:bodyPr wrap="square"/>
                    <a:lstStyle/>
                    <a:p>
                      <a:pPr algn="l"/>
                      <a:r>
                        <a:rPr sz="750" b="1" i="0">
                          <a:solidFill>
                            <a:srgbClr val="17232D"/>
                          </a:solidFill>
                          <a:latin typeface="Inter"/>
                        </a:rPr>
                        <a:t>Cumulative net cash</a:t>
                      </a:r>
                      <a:endParaRPr sz="750" b="1" i="0">
                        <a:solidFill>
                          <a:srgbClr val="17232D"/>
                        </a:solidFill>
                        <a:latin typeface="Inter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D2D8"/>
                      </a:solidFill>
                    </a:lnT>
                    <a:lnB w="9525">
                      <a:solidFill>
                        <a:srgbClr val="0E4D5E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1" i="0">
                          <a:solidFill>
                            <a:srgbClr val="17232D"/>
                          </a:solidFill>
                          <a:latin typeface="Inter"/>
                        </a:rPr>
                        <a:t>(16)</a:t>
                      </a:r>
                      <a:endParaRPr sz="750" b="1" i="0">
                        <a:solidFill>
                          <a:srgbClr val="17232D"/>
                        </a:solidFill>
                        <a:latin typeface="Inter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D2D8"/>
                      </a:solidFill>
                    </a:lnT>
                    <a:lnB w="9525">
                      <a:solidFill>
                        <a:srgbClr val="0E4D5E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1" i="0">
                          <a:solidFill>
                            <a:srgbClr val="0E4D5E"/>
                          </a:solidFill>
                          <a:latin typeface="Inter"/>
                        </a:rPr>
                        <a:t>36</a:t>
                      </a:r>
                      <a:endParaRPr sz="750" b="1" i="0">
                        <a:solidFill>
                          <a:srgbClr val="0E4D5E"/>
                        </a:solidFill>
                        <a:latin typeface="Inter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D2D8"/>
                      </a:solidFill>
                    </a:lnT>
                    <a:lnB w="9525">
                      <a:solidFill>
                        <a:srgbClr val="0E4D5E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1" i="0">
                          <a:solidFill>
                            <a:srgbClr val="17232D"/>
                          </a:solidFill>
                          <a:latin typeface="Inter"/>
                        </a:rPr>
                        <a:t>135</a:t>
                      </a:r>
                      <a:endParaRPr sz="750" b="1" i="0">
                        <a:solidFill>
                          <a:srgbClr val="17232D"/>
                        </a:solidFill>
                        <a:latin typeface="Inter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D2D8"/>
                      </a:solidFill>
                    </a:lnT>
                    <a:lnB w="9525">
                      <a:solidFill>
                        <a:srgbClr val="0E4D5E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endParaRPr sz="750" b="1" i="0">
                        <a:solidFill>
                          <a:srgbClr val="17232D"/>
                        </a:solidFill>
                        <a:latin typeface="Inter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D2D8"/>
                      </a:solidFill>
                    </a:lnT>
                    <a:lnB w="9525">
                      <a:solidFill>
                        <a:srgbClr val="0E4D5E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3" name="b3-h"/>
          <p:cNvSpPr/>
          <p:nvPr/>
        </p:nvSpPr>
        <p:spPr>
          <a:xfrm>
            <a:off x="8394087" y="4312158"/>
            <a:ext cx="3386433" cy="1600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ts val="12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 b="1" i="0">
                <a:solidFill>
                  <a:srgbClr val="0E4D5E"/>
                </a:solidFill>
                <a:latin typeface="Inter"/>
              </a:rPr>
              <a:t>What the bridge assumes</a:t>
            </a:r>
          </a:p>
        </p:txBody>
      </p:sp>
      <p:sp>
        <p:nvSpPr>
          <p:cNvPr id="14" name="b3"/>
          <p:cNvSpPr/>
          <p:nvPr/>
        </p:nvSpPr>
        <p:spPr>
          <a:xfrm>
            <a:off x="8394087" y="4499610"/>
            <a:ext cx="3386433" cy="13589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lvl="0" marL="100584" indent="-100584">
              <a:lnSpc>
                <a:spcPts val="920"/>
              </a:lnSpc>
              <a:spcBef>
                <a:spcPts val="0"/>
              </a:spcBef>
              <a:spcAft>
                <a:spcPts val="300"/>
              </a:spcAft>
              <a:buFont typeface="Inter"/>
              <a:buChar char="•"/>
            </a:pPr>
            <a:r>
              <a:rPr sz="800" b="0" i="0">
                <a:solidFill>
                  <a:srgbClr val="17232D"/>
                </a:solidFill>
                <a:latin typeface="Inter"/>
              </a:rPr>
              <a:t>Volume and mix: revenue grows 5.4% a year to $1,450m on the</a:t>
            </a:r>
            <a:br/>
            <a:r>
              <a:rPr sz="800" b="0" i="0">
                <a:solidFill>
                  <a:srgbClr val="17232D"/>
                </a:solidFill>
                <a:latin typeface="Inter"/>
              </a:rPr>
              <a:t>current portfolio, with no new launches.</a:t>
            </a:r>
          </a:p>
          <a:p>
            <a:pPr algn="l" lvl="0" marL="100584" indent="-100584">
              <a:lnSpc>
                <a:spcPts val="920"/>
              </a:lnSpc>
              <a:spcBef>
                <a:spcPts val="0"/>
              </a:spcBef>
              <a:spcAft>
                <a:spcPts val="300"/>
              </a:spcAft>
              <a:buFont typeface="Inter"/>
              <a:buChar char="•"/>
            </a:pPr>
            <a:r>
              <a:rPr sz="800" b="0" i="0">
                <a:solidFill>
                  <a:srgbClr val="17232D"/>
                </a:solidFill>
                <a:latin typeface="Inter"/>
              </a:rPr>
              <a:t>Inflation: wages 3.5% and materials 2.5% a year, offset only where</a:t>
            </a:r>
            <a:br/>
            <a:r>
              <a:rPr sz="800" b="0" i="0">
                <a:solidFill>
                  <a:srgbClr val="17232D"/>
                </a:solidFill>
                <a:latin typeface="Inter"/>
              </a:rPr>
              <a:t>index clauses apply.</a:t>
            </a:r>
          </a:p>
          <a:p>
            <a:pPr algn="l" lvl="0" marL="100584" indent="-100584">
              <a:lnSpc>
                <a:spcPts val="920"/>
              </a:lnSpc>
              <a:spcBef>
                <a:spcPts val="0"/>
              </a:spcBef>
              <a:spcAft>
                <a:spcPts val="300"/>
              </a:spcAft>
              <a:buFont typeface="Inter"/>
              <a:buChar char="•"/>
            </a:pPr>
            <a:r>
              <a:rPr sz="800" b="0" i="0">
                <a:solidFill>
                  <a:srgbClr val="17232D"/>
                </a:solidFill>
                <a:latin typeface="Inter"/>
              </a:rPr>
              <a:t>Run costs: $6m a year for the planning system, the hub's licences</a:t>
            </a:r>
            <a:br/>
            <a:r>
              <a:rPr sz="800" b="0" i="0">
                <a:solidFill>
                  <a:srgbClr val="17232D"/>
                </a:solidFill>
                <a:latin typeface="Inter"/>
              </a:rPr>
              <a:t>and the quality function.</a:t>
            </a:r>
          </a:p>
          <a:p>
            <a:pPr algn="l" lvl="0" marL="100584" indent="-100584">
              <a:lnSpc>
                <a:spcPts val="920"/>
              </a:lnSpc>
              <a:spcBef>
                <a:spcPts val="0"/>
              </a:spcBef>
              <a:spcAft>
                <a:spcPts val="300"/>
              </a:spcAft>
              <a:buFont typeface="Inter"/>
              <a:buChar char="•"/>
            </a:pPr>
            <a:r>
              <a:rPr sz="800" b="0" i="0">
                <a:solidFill>
                  <a:srgbClr val="17232D"/>
                </a:solidFill>
                <a:latin typeface="Inter"/>
              </a:rPr>
              <a:t>Working capital: $75m from receivables and $71m from inventory,</a:t>
            </a:r>
            <a:br/>
            <a:r>
              <a:rPr sz="800" b="0" i="0">
                <a:solidFill>
                  <a:srgbClr val="17232D"/>
                </a:solidFill>
                <a:latin typeface="Inter"/>
              </a:rPr>
              <a:t>at FY2028 revenue and cost.</a:t>
            </a:r>
          </a:p>
          <a:p>
            <a:pPr algn="l" lvl="0" marL="100584" indent="-100584">
              <a:lnSpc>
                <a:spcPts val="920"/>
              </a:lnSpc>
              <a:spcBef>
                <a:spcPts val="0"/>
              </a:spcBef>
              <a:spcAft>
                <a:spcPts val="300"/>
              </a:spcAft>
              <a:buFont typeface="Inter"/>
              <a:buChar char="•"/>
            </a:pPr>
            <a:r>
              <a:rPr sz="800" b="0" i="0">
                <a:solidFill>
                  <a:srgbClr val="17232D"/>
                </a:solidFill>
                <a:latin typeface="Inter"/>
              </a:rPr>
              <a:t>Cost to achieve: $165m, $98m of it one-off operating cost and</a:t>
            </a:r>
            <a:br/>
            <a:r>
              <a:rPr sz="800" b="0" i="0">
                <a:solidFill>
                  <a:srgbClr val="17232D"/>
                </a:solidFill>
                <a:latin typeface="Inter"/>
              </a:rPr>
              <a:t>$67m capital; 44% falls in 2026.</a:t>
            </a:r>
          </a:p>
        </p:txBody>
      </p:sp>
      <p:sp>
        <p:nvSpPr>
          <p:cNvPr id="15" name="source"/>
          <p:cNvSpPr/>
          <p:nvPr/>
        </p:nvSpPr>
        <p:spPr>
          <a:xfrm>
            <a:off x="411480" y="6266688"/>
            <a:ext cx="11369040" cy="1066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ts val="8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00" b="0" i="0">
                <a:solidFill>
                  <a:srgbClr val="56636D"/>
                </a:solidFill>
                <a:latin typeface="Inter"/>
              </a:rPr>
              <a:t>Source: Corrin Medical management accounts and transformation plan; FY2025 is eleven months actual and a December forecast. All figures are illustrative, invented for a fictional company.</a:t>
            </a:r>
          </a:p>
        </p:txBody>
      </p:sp>
      <p:sp>
        <p:nvSpPr>
          <p:cNvPr id="16" name="levers-bracket"/>
          <p:cNvSpPr/>
          <p:nvPr/>
        </p:nvSpPr>
        <p:spPr>
          <a:xfrm rot="5400000">
            <a:off x="8280299" y="-195172"/>
            <a:ext cx="27432" cy="4237640"/>
          </a:xfrm>
          <a:prstGeom prst="leftBracket">
            <a:avLst/>
          </a:prstGeom>
          <a:noFill/>
          <a:ln w="12700">
            <a:solidFill>
              <a:srgbClr val="C4541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levers-label"/>
          <p:cNvSpPr/>
          <p:nvPr/>
        </p:nvSpPr>
        <p:spPr>
          <a:xfrm>
            <a:off x="7291068" y="1595480"/>
            <a:ext cx="2005892" cy="1498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 marL="0" indent="0">
              <a:lnSpc>
                <a:spcPts val="108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sz="900" b="1" i="0">
                <a:solidFill>
                  <a:srgbClr val="C4541C"/>
                </a:solidFill>
                <a:latin typeface="Inter"/>
              </a:rPr>
              <a:t>Four transformation levers +$103m</a:t>
            </a:r>
          </a:p>
        </p:txBody>
      </p:sp>
      <p:sp>
        <p:nvSpPr>
          <p:cNvPr id="18" name="drift-bracket"/>
          <p:cNvSpPr/>
          <p:nvPr/>
        </p:nvSpPr>
        <p:spPr>
          <a:xfrm rot="5400000">
            <a:off x="4345347" y="685886"/>
            <a:ext cx="27432" cy="3113368"/>
          </a:xfrm>
          <a:prstGeom prst="leftBracket">
            <a:avLst/>
          </a:prstGeom>
          <a:noFill/>
          <a:ln w="12700">
            <a:solidFill>
              <a:srgbClr val="56636D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drift-label"/>
          <p:cNvSpPr/>
          <p:nvPr/>
        </p:nvSpPr>
        <p:spPr>
          <a:xfrm>
            <a:off x="3197643" y="1914402"/>
            <a:ext cx="2322840" cy="1498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 marL="0" indent="0">
              <a:lnSpc>
                <a:spcPts val="108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sz="900" b="1" i="0">
                <a:solidFill>
                  <a:srgbClr val="56636D"/>
                </a:solidFill>
                <a:latin typeface="Inter"/>
              </a:rPr>
              <a:t>Volume less inflation and run costs +$1m</a:t>
            </a:r>
          </a:p>
        </p:txBody>
      </p:sp>
      <p:sp>
        <p:nvSpPr>
          <p:cNvPr id="20" name="ctc-4-shape"/>
          <p:cNvSpPr/>
          <p:nvPr/>
        </p:nvSpPr>
        <p:spPr>
          <a:xfrm>
            <a:off x="6423368" y="3846180"/>
            <a:ext cx="368478" cy="169164"/>
          </a:xfrm>
          <a:prstGeom prst="rect">
            <a:avLst/>
          </a:prstGeom>
          <a:solidFill>
            <a:srgbClr val="FFFFFF"/>
          </a:solidFill>
          <a:ln w="9525">
            <a:solidFill>
              <a:srgbClr val="0E4D5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ctc-4-text"/>
          <p:cNvSpPr/>
          <p:nvPr/>
        </p:nvSpPr>
        <p:spPr>
          <a:xfrm>
            <a:off x="6466915" y="3873612"/>
            <a:ext cx="281384" cy="1143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 marL="0" indent="0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50" b="1" i="0">
                <a:solidFill>
                  <a:srgbClr val="0E4D5E"/>
                </a:solidFill>
                <a:latin typeface="Inter"/>
              </a:rPr>
              <a:t>$17m</a:t>
            </a:r>
          </a:p>
        </p:txBody>
      </p:sp>
      <p:sp>
        <p:nvSpPr>
          <p:cNvPr id="22" name="ctc-5-shape"/>
          <p:cNvSpPr/>
          <p:nvPr/>
        </p:nvSpPr>
        <p:spPr>
          <a:xfrm>
            <a:off x="7547640" y="3846180"/>
            <a:ext cx="368478" cy="169164"/>
          </a:xfrm>
          <a:prstGeom prst="rect">
            <a:avLst/>
          </a:prstGeom>
          <a:solidFill>
            <a:srgbClr val="FFFFFF"/>
          </a:solidFill>
          <a:ln w="9525">
            <a:solidFill>
              <a:srgbClr val="0E4D5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ctc-5-text"/>
          <p:cNvSpPr/>
          <p:nvPr/>
        </p:nvSpPr>
        <p:spPr>
          <a:xfrm>
            <a:off x="7575072" y="3873612"/>
            <a:ext cx="313614" cy="1143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 marL="0" indent="0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50" b="1" i="0">
                <a:solidFill>
                  <a:srgbClr val="0E4D5E"/>
                </a:solidFill>
                <a:latin typeface="Inter"/>
              </a:rPr>
              <a:t>$68m</a:t>
            </a:r>
          </a:p>
        </p:txBody>
      </p:sp>
      <p:sp>
        <p:nvSpPr>
          <p:cNvPr id="24" name="ctc-6-shape"/>
          <p:cNvSpPr/>
          <p:nvPr/>
        </p:nvSpPr>
        <p:spPr>
          <a:xfrm>
            <a:off x="8671911" y="3846180"/>
            <a:ext cx="368478" cy="169164"/>
          </a:xfrm>
          <a:prstGeom prst="rect">
            <a:avLst/>
          </a:prstGeom>
          <a:solidFill>
            <a:srgbClr val="FFFFFF"/>
          </a:solidFill>
          <a:ln w="9525">
            <a:solidFill>
              <a:srgbClr val="0E4D5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ctc-6-text"/>
          <p:cNvSpPr/>
          <p:nvPr/>
        </p:nvSpPr>
        <p:spPr>
          <a:xfrm>
            <a:off x="8710738" y="3873612"/>
            <a:ext cx="290825" cy="1143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 marL="0" indent="0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50" b="1" i="0">
                <a:solidFill>
                  <a:srgbClr val="0E4D5E"/>
                </a:solidFill>
                <a:latin typeface="Inter"/>
              </a:rPr>
              <a:t>$21m</a:t>
            </a:r>
          </a:p>
        </p:txBody>
      </p:sp>
      <p:sp>
        <p:nvSpPr>
          <p:cNvPr id="26" name="ctc-7-shape"/>
          <p:cNvSpPr/>
          <p:nvPr/>
        </p:nvSpPr>
        <p:spPr>
          <a:xfrm>
            <a:off x="9796183" y="3846180"/>
            <a:ext cx="368478" cy="169164"/>
          </a:xfrm>
          <a:prstGeom prst="rect">
            <a:avLst/>
          </a:prstGeom>
          <a:solidFill>
            <a:srgbClr val="FFFFFF"/>
          </a:solidFill>
          <a:ln w="9525">
            <a:solidFill>
              <a:srgbClr val="0E4D5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ctc-7-text"/>
          <p:cNvSpPr/>
          <p:nvPr/>
        </p:nvSpPr>
        <p:spPr>
          <a:xfrm>
            <a:off x="9824173" y="3873612"/>
            <a:ext cx="312498" cy="1143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 marL="0" indent="0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50" b="1" i="0">
                <a:solidFill>
                  <a:srgbClr val="0E4D5E"/>
                </a:solidFill>
                <a:latin typeface="Inter"/>
              </a:rPr>
              <a:t>$59m</a:t>
            </a:r>
          </a:p>
        </p:txBody>
      </p:sp>
      <p:sp>
        <p:nvSpPr>
          <p:cNvPr id="28" name="ctc-label"/>
          <p:cNvSpPr/>
          <p:nvPr/>
        </p:nvSpPr>
        <p:spPr>
          <a:xfrm>
            <a:off x="783263" y="3816462"/>
            <a:ext cx="765121" cy="2286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 marL="0" indent="0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50" b="0" i="0">
                <a:solidFill>
                  <a:srgbClr val="0E4D5E"/>
                </a:solidFill>
                <a:latin typeface="Inter"/>
              </a:rPr>
              <a:t>Cost to achieve,</a:t>
            </a:r>
            <a:br/>
            <a:r>
              <a:rPr sz="750" b="0" i="0">
                <a:solidFill>
                  <a:srgbClr val="0E4D5E"/>
                </a:solidFill>
                <a:latin typeface="Inter"/>
              </a:rPr>
              <a:t>$165m in all</a:t>
            </a:r>
          </a:p>
        </p:txBody>
      </p:sp>
    </p:spTree>
    <p:custDataLst>
      <p:tags r:id="rId4"/>
    </p:custDataLst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cxnSp>
        <p:nvCxnSpPr>
          <p:cNvPr id="61" name="chrome-1"/>
          <p:cNvCxnSpPr/>
          <p:nvPr/>
        </p:nvCxnSpPr>
        <p:spPr>
          <a:xfrm>
            <a:off x="411480" y="1037843"/>
            <a:ext cx="11368735" cy="0"/>
          </a:xfrm>
          <a:prstGeom prst="line">
            <a:avLst/>
          </a:prstGeom>
          <a:ln w="12700">
            <a:solidFill>
              <a:srgbClr val="0E4D5E"/>
            </a:solidFill>
          </a:ln>
        </p:spPr>
      </p:cxnSp>
      <p:cxnSp>
        <p:nvCxnSpPr>
          <p:cNvPr id="62" name="chrome-2"/>
          <p:cNvCxnSpPr/>
          <p:nvPr/>
        </p:nvCxnSpPr>
        <p:spPr>
          <a:xfrm>
            <a:off x="411480" y="6405372"/>
            <a:ext cx="11368735" cy="0"/>
          </a:xfrm>
          <a:prstGeom prst="line">
            <a:avLst/>
          </a:prstGeom>
          <a:ln w="6350">
            <a:solidFill>
              <a:srgbClr val="C9D2D8"/>
            </a:solidFill>
          </a:ln>
        </p:spPr>
      </p:cxnSp>
      <p:pic>
        <p:nvPicPr>
          <p:cNvPr id="63" name="chrome-3" descr="corrin-m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6473952"/>
            <a:ext cx="201168" cy="201168"/>
          </a:xfrm>
          <a:prstGeom prst="rect">
            <a:avLst/>
          </a:prstGeom>
        </p:spPr>
      </p:pic>
      <p:sp>
        <p:nvSpPr>
          <p:cNvPr id="64" name="chrome-4"/>
          <p:cNvSpPr txBox="1"/>
          <p:nvPr/>
        </p:nvSpPr>
        <p:spPr>
          <a:xfrm>
            <a:off x="658368" y="6492240"/>
            <a:ext cx="1188720" cy="164592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r>
              <a:rPr sz="900" b="1">
                <a:solidFill>
                  <a:srgbClr val="0E4D5E"/>
                </a:solidFill>
                <a:latin typeface="Inter"/>
              </a:rPr>
              <a:t>Corrin Medical</a:t>
            </a:r>
          </a:p>
        </p:txBody>
      </p:sp>
      <p:sp>
        <p:nvSpPr>
          <p:cNvPr id="65" name="chrome-5"/>
          <p:cNvSpPr txBox="1"/>
          <p:nvPr/>
        </p:nvSpPr>
        <p:spPr>
          <a:xfrm>
            <a:off x="1920240" y="6510528"/>
            <a:ext cx="8229600" cy="1524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r"/>
            <a:r>
              <a:rPr sz="700" b="0">
                <a:solidFill>
                  <a:srgbClr val="56636D"/>
                </a:solidFill>
                <a:latin typeface="Inter"/>
              </a:rPr>
              <a:t>Board of Directors  |  Corrin 2028 operating transformation  |  18 December 2025  |  Illustrative figures for a fictional company</a:t>
            </a:r>
          </a:p>
        </p:txBody>
      </p:sp>
      <p:sp>
        <p:nvSpPr>
          <p:cNvPr id="66" name="chrome-6"/>
          <p:cNvSpPr txBox="1"/>
          <p:nvPr/>
        </p:nvSpPr>
        <p:spPr>
          <a:xfrm>
            <a:off x="11323015" y="6510528"/>
            <a:ext cx="457200" cy="1524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r"/>
            <a:fld id="{B6F15528-21DE-4FAA-801E-634DDDAF5B2F}" type="slidenum">
              <a:rPr sz="700">
                <a:solidFill>
                  <a:srgbClr val="56636D"/>
                </a:solidFill>
                <a:latin typeface="Inter"/>
              </a:rPr>
              <a:t>1</a:t>
            </a:fld>
          </a:p>
        </p:txBody>
      </p:sp>
      <p:sp>
        <p:nvSpPr>
          <p:cNvPr id="3" name="kicker"/>
          <p:cNvSpPr/>
          <p:nvPr/>
        </p:nvSpPr>
        <p:spPr>
          <a:xfrm>
            <a:off x="411480" y="543305"/>
            <a:ext cx="11369040" cy="1219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ts val="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00" b="1" i="0" spc="50">
                <a:solidFill>
                  <a:srgbClr val="0E4D5E"/>
                </a:solidFill>
                <a:latin typeface="Inter"/>
              </a:rPr>
              <a:t>ROADMAP  |  2026 TO 2028</a:t>
            </a:r>
          </a:p>
        </p:txBody>
      </p:sp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411480" y="692657"/>
            <a:ext cx="11369040" cy="240030"/>
          </a:xfrm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1" i="0">
                <a:solidFill>
                  <a:srgbClr val="17232D"/>
                </a:solidFill>
                <a:latin typeface="Inter"/>
              </a:rPr>
              <a:t>Seven initiatives start by April 2026; the two plant exits run back to back to June 2028</a:t>
            </a:r>
          </a:p>
        </p:txBody>
      </p:sp>
      <p:sp>
        <p:nvSpPr>
          <p:cNvPr id="4" name="g-h"/>
          <p:cNvSpPr/>
          <p:nvPr/>
        </p:nvSpPr>
        <p:spPr>
          <a:xfrm>
            <a:off x="411480" y="1133855"/>
            <a:ext cx="11369040" cy="1600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ts val="12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 b="1" i="0">
                <a:solidFill>
                  <a:srgbClr val="0E4D5E"/>
                </a:solidFill>
                <a:latin typeface="Inter"/>
              </a:rPr>
              <a:t>Twelve initiatives, January 2026 to December 2028, in order of start</a:t>
            </a:r>
          </a:p>
        </p:txBody>
      </p:sp>
      <p:sp>
        <p:nvSpPr>
          <p:cNvPr id="5" name="g-u"/>
          <p:cNvSpPr/>
          <p:nvPr/>
        </p:nvSpPr>
        <p:spPr>
          <a:xfrm>
            <a:off x="411480" y="1321307"/>
            <a:ext cx="1136904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50" b="0" i="0">
                <a:solidFill>
                  <a:srgbClr val="56636D"/>
                </a:solidFill>
                <a:latin typeface="Inter"/>
              </a:rPr>
              <a:t>Light petrol: design; petrol: delivery to full run-rate; orange diamonds: milestones; right: deliveries that wait for another initiative or a milestone</a:t>
            </a:r>
          </a:p>
        </p:txBody>
      </p:sp>
      <p:sp>
        <p:nvSpPr>
          <p:cNvPr id="6" name="y26-band"/>
          <p:cNvSpPr/>
          <p:nvPr/>
        </p:nvSpPr>
        <p:spPr>
          <a:xfrm>
            <a:off x="3267289" y="1463039"/>
            <a:ext cx="2209010" cy="396595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y26-label"/>
          <p:cNvSpPr/>
          <p:nvPr/>
        </p:nvSpPr>
        <p:spPr>
          <a:xfrm>
            <a:off x="3267289" y="1463039"/>
            <a:ext cx="335762" cy="1498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ts val="108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sz="900" b="1" i="0">
                <a:solidFill>
                  <a:srgbClr val="0E4D5E"/>
                </a:solidFill>
                <a:latin typeface="Inter"/>
              </a:rPr>
              <a:t>2026</a:t>
            </a:r>
          </a:p>
        </p:txBody>
      </p:sp>
      <p:sp>
        <p:nvSpPr>
          <p:cNvPr id="8" name="y27-band"/>
          <p:cNvSpPr/>
          <p:nvPr/>
        </p:nvSpPr>
        <p:spPr>
          <a:xfrm>
            <a:off x="5476299" y="1463039"/>
            <a:ext cx="2209010" cy="3965957"/>
          </a:xfrm>
          <a:prstGeom prst="rect">
            <a:avLst/>
          </a:prstGeom>
          <a:solidFill>
            <a:srgbClr val="EEF2F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y27-label"/>
          <p:cNvSpPr/>
          <p:nvPr/>
        </p:nvSpPr>
        <p:spPr>
          <a:xfrm>
            <a:off x="5476299" y="1463039"/>
            <a:ext cx="328004" cy="1498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ts val="108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sz="900" b="1" i="0">
                <a:solidFill>
                  <a:srgbClr val="0E4D5E"/>
                </a:solidFill>
                <a:latin typeface="Inter"/>
              </a:rPr>
              <a:t>2027</a:t>
            </a:r>
          </a:p>
        </p:txBody>
      </p:sp>
      <p:sp>
        <p:nvSpPr>
          <p:cNvPr id="10" name="y28-band"/>
          <p:cNvSpPr/>
          <p:nvPr/>
        </p:nvSpPr>
        <p:spPr>
          <a:xfrm>
            <a:off x="7685309" y="1463039"/>
            <a:ext cx="2209010" cy="396595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y28-label"/>
          <p:cNvSpPr/>
          <p:nvPr/>
        </p:nvSpPr>
        <p:spPr>
          <a:xfrm>
            <a:off x="7685309" y="1463039"/>
            <a:ext cx="335929" cy="1498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ts val="108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sz="900" b="1" i="0">
                <a:solidFill>
                  <a:srgbClr val="0E4D5E"/>
                </a:solidFill>
                <a:latin typeface="Inter"/>
              </a:rPr>
              <a:t>2028</a:t>
            </a:r>
          </a:p>
        </p:txBody>
      </p:sp>
      <p:graphicFrame>
        <p:nvGraphicFramePr>
          <p:cNvPr id="12" name="gantt"/>
          <p:cNvGraphicFramePr>
            <a:graphicFrameLocks noGrp="1"/>
          </p:cNvGraphicFramePr>
          <p:nvPr/>
        </p:nvGraphicFramePr>
        <p:xfrm>
          <a:off x="411480" y="1463039"/>
          <a:ext cx="11369040" cy="3965957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3" name="ms-h"/>
          <p:cNvSpPr/>
          <p:nvPr/>
        </p:nvSpPr>
        <p:spPr>
          <a:xfrm>
            <a:off x="411480" y="5529580"/>
            <a:ext cx="11369040" cy="1600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ts val="12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 b="1" i="0">
                <a:solidFill>
                  <a:srgbClr val="0E4D5E"/>
                </a:solidFill>
                <a:latin typeface="Inter"/>
              </a:rPr>
              <a:t>Milestones the board will see reported</a:t>
            </a:r>
          </a:p>
        </p:txBody>
      </p:sp>
      <p:sp>
        <p:nvSpPr>
          <p:cNvPr id="14" name="m0-c"/>
          <p:cNvSpPr/>
          <p:nvPr/>
        </p:nvSpPr>
        <p:spPr>
          <a:xfrm>
            <a:off x="411480" y="5717032"/>
            <a:ext cx="1704340" cy="1498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ts val="108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sz="900" b="1" i="0">
                <a:solidFill>
                  <a:srgbClr val="C4541C"/>
                </a:solidFill>
                <a:latin typeface="Inter"/>
              </a:rPr>
              <a:t>M1</a:t>
            </a:r>
            <a:r>
              <a:rPr sz="900" b="1" i="0">
                <a:solidFill>
                  <a:srgbClr val="17232D"/>
                </a:solidFill>
                <a:latin typeface="Inter"/>
              </a:rPr>
              <a:t>  January 2026</a:t>
            </a:r>
          </a:p>
        </p:txBody>
      </p:sp>
      <p:sp>
        <p:nvSpPr>
          <p:cNvPr id="15" name="m0-t"/>
          <p:cNvSpPr/>
          <p:nvPr/>
        </p:nvSpPr>
        <p:spPr>
          <a:xfrm>
            <a:off x="411480" y="5894324"/>
            <a:ext cx="1704340" cy="2717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ts val="92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sz="800" b="0" i="0">
                <a:solidFill>
                  <a:srgbClr val="17232D"/>
                </a:solidFill>
                <a:latin typeface="Inter"/>
              </a:rPr>
              <a:t>Programme launch;</a:t>
            </a:r>
            <a:br/>
            <a:r>
              <a:rPr sz="800" b="0" i="0">
                <a:solidFill>
                  <a:srgbClr val="17232D"/>
                </a:solidFill>
                <a:latin typeface="Inter"/>
              </a:rPr>
              <a:t>Transformation Office live</a:t>
            </a:r>
          </a:p>
        </p:txBody>
      </p:sp>
      <p:sp>
        <p:nvSpPr>
          <p:cNvPr id="16" name="m1-c"/>
          <p:cNvSpPr/>
          <p:nvPr/>
        </p:nvSpPr>
        <p:spPr>
          <a:xfrm>
            <a:off x="2344420" y="5717032"/>
            <a:ext cx="1704340" cy="1498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ts val="108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sz="900" b="1" i="0">
                <a:solidFill>
                  <a:srgbClr val="C4541C"/>
                </a:solidFill>
                <a:latin typeface="Inter"/>
              </a:rPr>
              <a:t>M2</a:t>
            </a:r>
            <a:r>
              <a:rPr sz="900" b="1" i="0">
                <a:solidFill>
                  <a:srgbClr val="17232D"/>
                </a:solidFill>
                <a:latin typeface="Inter"/>
              </a:rPr>
              <a:t>  May 2026</a:t>
            </a:r>
          </a:p>
        </p:txBody>
      </p:sp>
      <p:sp>
        <p:nvSpPr>
          <p:cNvPr id="17" name="m1-t"/>
          <p:cNvSpPr/>
          <p:nvPr/>
        </p:nvSpPr>
        <p:spPr>
          <a:xfrm>
            <a:off x="2344420" y="5894324"/>
            <a:ext cx="1704340" cy="2717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ts val="92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sz="800" b="0" i="0">
                <a:solidFill>
                  <a:srgbClr val="17232D"/>
                </a:solidFill>
                <a:latin typeface="Inter"/>
              </a:rPr>
              <a:t>Contract-price master live in the</a:t>
            </a:r>
            <a:br/>
            <a:r>
              <a:rPr sz="800" b="0" i="0">
                <a:solidFill>
                  <a:srgbClr val="17232D"/>
                </a:solidFill>
                <a:latin typeface="Inter"/>
              </a:rPr>
              <a:t>US</a:t>
            </a:r>
          </a:p>
        </p:txBody>
      </p:sp>
      <p:sp>
        <p:nvSpPr>
          <p:cNvPr id="18" name="m2-c"/>
          <p:cNvSpPr/>
          <p:nvPr/>
        </p:nvSpPr>
        <p:spPr>
          <a:xfrm>
            <a:off x="4277360" y="5717032"/>
            <a:ext cx="1704340" cy="1498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ts val="108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sz="900" b="1" i="0">
                <a:solidFill>
                  <a:srgbClr val="C4541C"/>
                </a:solidFill>
                <a:latin typeface="Inter"/>
              </a:rPr>
              <a:t>M3</a:t>
            </a:r>
            <a:r>
              <a:rPr sz="900" b="1" i="0">
                <a:solidFill>
                  <a:srgbClr val="17232D"/>
                </a:solidFill>
                <a:latin typeface="Inter"/>
              </a:rPr>
              <a:t>  December 2026</a:t>
            </a:r>
          </a:p>
        </p:txBody>
      </p:sp>
      <p:sp>
        <p:nvSpPr>
          <p:cNvPr id="19" name="m2-t"/>
          <p:cNvSpPr/>
          <p:nvPr/>
        </p:nvSpPr>
        <p:spPr>
          <a:xfrm>
            <a:off x="4277360" y="5894324"/>
            <a:ext cx="1704340" cy="2717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ts val="92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sz="800" b="0" i="0">
                <a:solidFill>
                  <a:srgbClr val="17232D"/>
                </a:solidFill>
                <a:latin typeface="Inter"/>
              </a:rPr>
              <a:t>Brno hub opens; validation master</a:t>
            </a:r>
            <a:br/>
            <a:r>
              <a:rPr sz="800" b="0" i="0">
                <a:solidFill>
                  <a:srgbClr val="17232D"/>
                </a:solidFill>
                <a:latin typeface="Inter"/>
              </a:rPr>
              <a:t>plan issued</a:t>
            </a:r>
          </a:p>
        </p:txBody>
      </p:sp>
      <p:sp>
        <p:nvSpPr>
          <p:cNvPr id="20" name="m3-c"/>
          <p:cNvSpPr/>
          <p:nvPr/>
        </p:nvSpPr>
        <p:spPr>
          <a:xfrm>
            <a:off x="6210300" y="5717032"/>
            <a:ext cx="1704340" cy="1498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ts val="108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sz="900" b="1" i="0">
                <a:solidFill>
                  <a:srgbClr val="C4541C"/>
                </a:solidFill>
                <a:latin typeface="Inter"/>
              </a:rPr>
              <a:t>M4</a:t>
            </a:r>
            <a:r>
              <a:rPr sz="900" b="1" i="0">
                <a:solidFill>
                  <a:srgbClr val="17232D"/>
                </a:solidFill>
                <a:latin typeface="Inter"/>
              </a:rPr>
              <a:t>  September 2027</a:t>
            </a:r>
          </a:p>
        </p:txBody>
      </p:sp>
      <p:sp>
        <p:nvSpPr>
          <p:cNvPr id="21" name="m3-t"/>
          <p:cNvSpPr/>
          <p:nvPr/>
        </p:nvSpPr>
        <p:spPr>
          <a:xfrm>
            <a:off x="6210300" y="5894324"/>
            <a:ext cx="1704340" cy="1549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ts val="92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sz="800" b="0" i="0">
                <a:solidFill>
                  <a:srgbClr val="17232D"/>
                </a:solidFill>
                <a:latin typeface="Inter"/>
              </a:rPr>
              <a:t>Salt Lake City exit complete</a:t>
            </a:r>
          </a:p>
        </p:txBody>
      </p:sp>
      <p:sp>
        <p:nvSpPr>
          <p:cNvPr id="22" name="m4-c"/>
          <p:cNvSpPr/>
          <p:nvPr/>
        </p:nvSpPr>
        <p:spPr>
          <a:xfrm>
            <a:off x="8143240" y="5717032"/>
            <a:ext cx="1704340" cy="1498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ts val="108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sz="900" b="1" i="0">
                <a:solidFill>
                  <a:srgbClr val="C4541C"/>
                </a:solidFill>
                <a:latin typeface="Inter"/>
              </a:rPr>
              <a:t>M5</a:t>
            </a:r>
            <a:r>
              <a:rPr sz="900" b="1" i="0">
                <a:solidFill>
                  <a:srgbClr val="17232D"/>
                </a:solidFill>
                <a:latin typeface="Inter"/>
              </a:rPr>
              <a:t>  June 2028</a:t>
            </a:r>
          </a:p>
        </p:txBody>
      </p:sp>
      <p:sp>
        <p:nvSpPr>
          <p:cNvPr id="23" name="m4-t"/>
          <p:cNvSpPr/>
          <p:nvPr/>
        </p:nvSpPr>
        <p:spPr>
          <a:xfrm>
            <a:off x="8143240" y="5894324"/>
            <a:ext cx="1704340" cy="1549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ts val="92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sz="800" b="0" i="0">
                <a:solidFill>
                  <a:srgbClr val="17232D"/>
                </a:solidFill>
                <a:latin typeface="Inter"/>
              </a:rPr>
              <a:t>Tuttlingen exit complete</a:t>
            </a:r>
          </a:p>
        </p:txBody>
      </p:sp>
      <p:sp>
        <p:nvSpPr>
          <p:cNvPr id="24" name="m5-c"/>
          <p:cNvSpPr/>
          <p:nvPr/>
        </p:nvSpPr>
        <p:spPr>
          <a:xfrm>
            <a:off x="10076180" y="5717032"/>
            <a:ext cx="1704340" cy="1498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ts val="108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sz="900" b="1" i="0">
                <a:solidFill>
                  <a:srgbClr val="C4541C"/>
                </a:solidFill>
                <a:latin typeface="Inter"/>
              </a:rPr>
              <a:t>M6</a:t>
            </a:r>
            <a:r>
              <a:rPr sz="900" b="1" i="0">
                <a:solidFill>
                  <a:srgbClr val="17232D"/>
                </a:solidFill>
                <a:latin typeface="Inter"/>
              </a:rPr>
              <a:t>  December 2028</a:t>
            </a:r>
          </a:p>
        </p:txBody>
      </p:sp>
      <p:sp>
        <p:nvSpPr>
          <p:cNvPr id="25" name="m5-t"/>
          <p:cNvSpPr/>
          <p:nvPr/>
        </p:nvSpPr>
        <p:spPr>
          <a:xfrm>
            <a:off x="10076180" y="5894324"/>
            <a:ext cx="1704340" cy="2717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ts val="92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sz="800" b="0" i="0">
                <a:solidFill>
                  <a:srgbClr val="17232D"/>
                </a:solidFill>
                <a:latin typeface="Inter"/>
              </a:rPr>
              <a:t>Full $103m run-rate; programme</a:t>
            </a:r>
            <a:br/>
            <a:r>
              <a:rPr sz="800" b="0" i="0">
                <a:solidFill>
                  <a:srgbClr val="17232D"/>
                </a:solidFill>
                <a:latin typeface="Inter"/>
              </a:rPr>
              <a:t>closes</a:t>
            </a:r>
          </a:p>
        </p:txBody>
      </p:sp>
      <p:sp>
        <p:nvSpPr>
          <p:cNvPr id="26" name="source"/>
          <p:cNvSpPr/>
          <p:nvPr/>
        </p:nvSpPr>
        <p:spPr>
          <a:xfrm>
            <a:off x="411480" y="6266688"/>
            <a:ext cx="11369040" cy="1066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ts val="8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00" b="0" i="0">
                <a:solidFill>
                  <a:srgbClr val="56636D"/>
                </a:solidFill>
                <a:latin typeface="Inter"/>
              </a:rPr>
              <a:t>Source: Corrin Medical management accounts and transformation plan; FY2025 is eleven months actual and a December forecast. All figures are illustrative, invented for a fictional company.</a:t>
            </a:r>
          </a:p>
        </p:txBody>
      </p:sp>
      <p:cxnSp>
        <p:nvCxnSpPr>
          <p:cNvPr id="27" name="q3-line"/>
          <p:cNvCxnSpPr/>
          <p:nvPr/>
        </p:nvCxnSpPr>
        <p:spPr>
          <a:xfrm>
            <a:off x="3819541" y="1604680"/>
            <a:ext cx="0" cy="99149"/>
          </a:xfrm>
          <a:prstGeom prst="line">
            <a:avLst/>
          </a:prstGeom>
          <a:ln w="9525">
            <a:solidFill>
              <a:srgbClr val="56636D"/>
            </a:solidFill>
          </a:ln>
        </p:spPr>
      </p:cxnSp>
      <p:sp>
        <p:nvSpPr>
          <p:cNvPr id="28" name="q3-label"/>
          <p:cNvSpPr/>
          <p:nvPr/>
        </p:nvSpPr>
        <p:spPr>
          <a:xfrm>
            <a:off x="3851736" y="1597105"/>
            <a:ext cx="200365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 marL="0" indent="0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50" b="0" i="0">
                <a:solidFill>
                  <a:srgbClr val="56636D"/>
                </a:solidFill>
                <a:latin typeface="Inter"/>
              </a:rPr>
              <a:t>Apr</a:t>
            </a:r>
          </a:p>
        </p:txBody>
      </p:sp>
      <p:cxnSp>
        <p:nvCxnSpPr>
          <p:cNvPr id="29" name="q6-line"/>
          <p:cNvCxnSpPr/>
          <p:nvPr/>
        </p:nvCxnSpPr>
        <p:spPr>
          <a:xfrm>
            <a:off x="4371794" y="1604680"/>
            <a:ext cx="0" cy="99149"/>
          </a:xfrm>
          <a:prstGeom prst="line">
            <a:avLst/>
          </a:prstGeom>
          <a:ln w="9525">
            <a:solidFill>
              <a:srgbClr val="56636D"/>
            </a:solidFill>
          </a:ln>
        </p:spPr>
      </p:cxnSp>
      <p:sp>
        <p:nvSpPr>
          <p:cNvPr id="30" name="q6-label"/>
          <p:cNvSpPr/>
          <p:nvPr/>
        </p:nvSpPr>
        <p:spPr>
          <a:xfrm>
            <a:off x="4403988" y="1597105"/>
            <a:ext cx="174227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 marL="0" indent="0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50" b="0" i="0">
                <a:solidFill>
                  <a:srgbClr val="56636D"/>
                </a:solidFill>
                <a:latin typeface="Inter"/>
              </a:rPr>
              <a:t>Jul</a:t>
            </a:r>
          </a:p>
        </p:txBody>
      </p:sp>
      <p:cxnSp>
        <p:nvCxnSpPr>
          <p:cNvPr id="31" name="q9-line"/>
          <p:cNvCxnSpPr/>
          <p:nvPr/>
        </p:nvCxnSpPr>
        <p:spPr>
          <a:xfrm>
            <a:off x="4924046" y="1604680"/>
            <a:ext cx="0" cy="99149"/>
          </a:xfrm>
          <a:prstGeom prst="line">
            <a:avLst/>
          </a:prstGeom>
          <a:ln w="9525">
            <a:solidFill>
              <a:srgbClr val="56636D"/>
            </a:solidFill>
          </a:ln>
        </p:spPr>
      </p:cxnSp>
      <p:sp>
        <p:nvSpPr>
          <p:cNvPr id="32" name="q9-label"/>
          <p:cNvSpPr/>
          <p:nvPr/>
        </p:nvSpPr>
        <p:spPr>
          <a:xfrm>
            <a:off x="4956241" y="1597105"/>
            <a:ext cx="198877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 marL="0" indent="0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50" b="0" i="0">
                <a:solidFill>
                  <a:srgbClr val="56636D"/>
                </a:solidFill>
                <a:latin typeface="Inter"/>
              </a:rPr>
              <a:t>Oct</a:t>
            </a:r>
          </a:p>
        </p:txBody>
      </p:sp>
      <p:cxnSp>
        <p:nvCxnSpPr>
          <p:cNvPr id="33" name="q15-line"/>
          <p:cNvCxnSpPr/>
          <p:nvPr/>
        </p:nvCxnSpPr>
        <p:spPr>
          <a:xfrm>
            <a:off x="6028552" y="1604680"/>
            <a:ext cx="0" cy="99149"/>
          </a:xfrm>
          <a:prstGeom prst="line">
            <a:avLst/>
          </a:prstGeom>
          <a:ln w="9525">
            <a:solidFill>
              <a:srgbClr val="56636D"/>
            </a:solidFill>
          </a:ln>
        </p:spPr>
      </p:cxnSp>
      <p:sp>
        <p:nvSpPr>
          <p:cNvPr id="34" name="q15-label"/>
          <p:cNvSpPr/>
          <p:nvPr/>
        </p:nvSpPr>
        <p:spPr>
          <a:xfrm>
            <a:off x="6060746" y="1597105"/>
            <a:ext cx="200365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 marL="0" indent="0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50" b="0" i="0">
                <a:solidFill>
                  <a:srgbClr val="56636D"/>
                </a:solidFill>
                <a:latin typeface="Inter"/>
              </a:rPr>
              <a:t>Apr</a:t>
            </a:r>
          </a:p>
        </p:txBody>
      </p:sp>
      <p:cxnSp>
        <p:nvCxnSpPr>
          <p:cNvPr id="35" name="q18-line"/>
          <p:cNvCxnSpPr/>
          <p:nvPr/>
        </p:nvCxnSpPr>
        <p:spPr>
          <a:xfrm>
            <a:off x="6580804" y="1604680"/>
            <a:ext cx="0" cy="99149"/>
          </a:xfrm>
          <a:prstGeom prst="line">
            <a:avLst/>
          </a:prstGeom>
          <a:ln w="9525">
            <a:solidFill>
              <a:srgbClr val="56636D"/>
            </a:solidFill>
          </a:ln>
        </p:spPr>
      </p:cxnSp>
      <p:sp>
        <p:nvSpPr>
          <p:cNvPr id="36" name="q18-label"/>
          <p:cNvSpPr/>
          <p:nvPr/>
        </p:nvSpPr>
        <p:spPr>
          <a:xfrm>
            <a:off x="6612999" y="1597105"/>
            <a:ext cx="174227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 marL="0" indent="0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50" b="0" i="0">
                <a:solidFill>
                  <a:srgbClr val="56636D"/>
                </a:solidFill>
                <a:latin typeface="Inter"/>
              </a:rPr>
              <a:t>Jul</a:t>
            </a:r>
          </a:p>
        </p:txBody>
      </p:sp>
      <p:cxnSp>
        <p:nvCxnSpPr>
          <p:cNvPr id="37" name="q21-line"/>
          <p:cNvCxnSpPr/>
          <p:nvPr/>
        </p:nvCxnSpPr>
        <p:spPr>
          <a:xfrm>
            <a:off x="7133057" y="1604680"/>
            <a:ext cx="0" cy="99149"/>
          </a:xfrm>
          <a:prstGeom prst="line">
            <a:avLst/>
          </a:prstGeom>
          <a:ln w="9525">
            <a:solidFill>
              <a:srgbClr val="56636D"/>
            </a:solidFill>
          </a:ln>
        </p:spPr>
      </p:cxnSp>
      <p:sp>
        <p:nvSpPr>
          <p:cNvPr id="38" name="q21-label"/>
          <p:cNvSpPr/>
          <p:nvPr/>
        </p:nvSpPr>
        <p:spPr>
          <a:xfrm>
            <a:off x="7165251" y="1597105"/>
            <a:ext cx="198877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 marL="0" indent="0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50" b="0" i="0">
                <a:solidFill>
                  <a:srgbClr val="56636D"/>
                </a:solidFill>
                <a:latin typeface="Inter"/>
              </a:rPr>
              <a:t>Oct</a:t>
            </a:r>
          </a:p>
        </p:txBody>
      </p:sp>
      <p:cxnSp>
        <p:nvCxnSpPr>
          <p:cNvPr id="39" name="q27-line"/>
          <p:cNvCxnSpPr/>
          <p:nvPr/>
        </p:nvCxnSpPr>
        <p:spPr>
          <a:xfrm>
            <a:off x="8237562" y="1604680"/>
            <a:ext cx="0" cy="99149"/>
          </a:xfrm>
          <a:prstGeom prst="line">
            <a:avLst/>
          </a:prstGeom>
          <a:ln w="9525">
            <a:solidFill>
              <a:srgbClr val="56636D"/>
            </a:solidFill>
          </a:ln>
        </p:spPr>
      </p:cxnSp>
      <p:sp>
        <p:nvSpPr>
          <p:cNvPr id="40" name="q27-label"/>
          <p:cNvSpPr/>
          <p:nvPr/>
        </p:nvSpPr>
        <p:spPr>
          <a:xfrm>
            <a:off x="8269756" y="1597105"/>
            <a:ext cx="200365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 marL="0" indent="0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50" b="0" i="0">
                <a:solidFill>
                  <a:srgbClr val="56636D"/>
                </a:solidFill>
                <a:latin typeface="Inter"/>
              </a:rPr>
              <a:t>Apr</a:t>
            </a:r>
          </a:p>
        </p:txBody>
      </p:sp>
      <p:cxnSp>
        <p:nvCxnSpPr>
          <p:cNvPr id="41" name="q30-line"/>
          <p:cNvCxnSpPr/>
          <p:nvPr/>
        </p:nvCxnSpPr>
        <p:spPr>
          <a:xfrm>
            <a:off x="8789815" y="1604680"/>
            <a:ext cx="0" cy="99149"/>
          </a:xfrm>
          <a:prstGeom prst="line">
            <a:avLst/>
          </a:prstGeom>
          <a:ln w="9525">
            <a:solidFill>
              <a:srgbClr val="56636D"/>
            </a:solidFill>
          </a:ln>
        </p:spPr>
      </p:cxnSp>
      <p:sp>
        <p:nvSpPr>
          <p:cNvPr id="42" name="q30-label"/>
          <p:cNvSpPr/>
          <p:nvPr/>
        </p:nvSpPr>
        <p:spPr>
          <a:xfrm>
            <a:off x="8822009" y="1597105"/>
            <a:ext cx="174227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 marL="0" indent="0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50" b="0" i="0">
                <a:solidFill>
                  <a:srgbClr val="56636D"/>
                </a:solidFill>
                <a:latin typeface="Inter"/>
              </a:rPr>
              <a:t>Jul</a:t>
            </a:r>
          </a:p>
        </p:txBody>
      </p:sp>
      <p:cxnSp>
        <p:nvCxnSpPr>
          <p:cNvPr id="43" name="q33-line"/>
          <p:cNvCxnSpPr/>
          <p:nvPr/>
        </p:nvCxnSpPr>
        <p:spPr>
          <a:xfrm>
            <a:off x="9342067" y="1604680"/>
            <a:ext cx="0" cy="99149"/>
          </a:xfrm>
          <a:prstGeom prst="line">
            <a:avLst/>
          </a:prstGeom>
          <a:ln w="9525">
            <a:solidFill>
              <a:srgbClr val="56636D"/>
            </a:solidFill>
          </a:ln>
        </p:spPr>
      </p:cxnSp>
      <p:sp>
        <p:nvSpPr>
          <p:cNvPr id="44" name="q33-label"/>
          <p:cNvSpPr/>
          <p:nvPr/>
        </p:nvSpPr>
        <p:spPr>
          <a:xfrm>
            <a:off x="9374262" y="1597105"/>
            <a:ext cx="198877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 marL="0" indent="0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50" b="0" i="0">
                <a:solidFill>
                  <a:srgbClr val="56636D"/>
                </a:solidFill>
                <a:latin typeface="Inter"/>
              </a:rPr>
              <a:t>Oct</a:t>
            </a:r>
          </a:p>
        </p:txBody>
      </p:sp>
      <p:sp>
        <p:nvSpPr>
          <p:cNvPr id="45" name="ms-M1-mark"/>
          <p:cNvSpPr/>
          <p:nvPr/>
        </p:nvSpPr>
        <p:spPr>
          <a:xfrm>
            <a:off x="3166042" y="1746322"/>
            <a:ext cx="202493" cy="283283"/>
          </a:xfrm>
          <a:prstGeom prst="diamond">
            <a:avLst/>
          </a:prstGeom>
          <a:solidFill>
            <a:srgbClr val="C4541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6" name="ms-M1-label"/>
          <p:cNvSpPr/>
          <p:nvPr/>
        </p:nvSpPr>
        <p:spPr>
          <a:xfrm>
            <a:off x="3395967" y="1830813"/>
            <a:ext cx="170274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50" b="1" i="0">
                <a:solidFill>
                  <a:srgbClr val="17232D"/>
                </a:solidFill>
                <a:latin typeface="Inter"/>
              </a:rPr>
              <a:t>M1</a:t>
            </a:r>
          </a:p>
        </p:txBody>
      </p:sp>
      <p:sp>
        <p:nvSpPr>
          <p:cNvPr id="47" name="ms-M2-mark"/>
          <p:cNvSpPr/>
          <p:nvPr/>
        </p:nvSpPr>
        <p:spPr>
          <a:xfrm>
            <a:off x="4086463" y="1746322"/>
            <a:ext cx="202493" cy="283283"/>
          </a:xfrm>
          <a:prstGeom prst="diamond">
            <a:avLst/>
          </a:prstGeom>
          <a:solidFill>
            <a:srgbClr val="C4541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8" name="ms-M2-label"/>
          <p:cNvSpPr/>
          <p:nvPr/>
        </p:nvSpPr>
        <p:spPr>
          <a:xfrm>
            <a:off x="4316388" y="1830813"/>
            <a:ext cx="189203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50" b="1" i="0">
                <a:solidFill>
                  <a:srgbClr val="17232D"/>
                </a:solidFill>
                <a:latin typeface="Inter"/>
              </a:rPr>
              <a:t>M2</a:t>
            </a:r>
          </a:p>
        </p:txBody>
      </p:sp>
      <p:sp>
        <p:nvSpPr>
          <p:cNvPr id="49" name="ms-M3-mark"/>
          <p:cNvSpPr/>
          <p:nvPr/>
        </p:nvSpPr>
        <p:spPr>
          <a:xfrm>
            <a:off x="5375053" y="1746322"/>
            <a:ext cx="202493" cy="283283"/>
          </a:xfrm>
          <a:prstGeom prst="diamond">
            <a:avLst/>
          </a:prstGeom>
          <a:solidFill>
            <a:srgbClr val="C4541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0" name="ms-M3-label"/>
          <p:cNvSpPr/>
          <p:nvPr/>
        </p:nvSpPr>
        <p:spPr>
          <a:xfrm>
            <a:off x="5604977" y="1830813"/>
            <a:ext cx="190691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50" b="1" i="0">
                <a:solidFill>
                  <a:srgbClr val="17232D"/>
                </a:solidFill>
                <a:latin typeface="Inter"/>
              </a:rPr>
              <a:t>M3</a:t>
            </a:r>
          </a:p>
        </p:txBody>
      </p:sp>
      <p:sp>
        <p:nvSpPr>
          <p:cNvPr id="51" name="ms-M4-mark"/>
          <p:cNvSpPr/>
          <p:nvPr/>
        </p:nvSpPr>
        <p:spPr>
          <a:xfrm>
            <a:off x="7031810" y="1746322"/>
            <a:ext cx="202493" cy="283283"/>
          </a:xfrm>
          <a:prstGeom prst="diamond">
            <a:avLst/>
          </a:prstGeom>
          <a:solidFill>
            <a:srgbClr val="C4541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2" name="ms-M4-label"/>
          <p:cNvSpPr/>
          <p:nvPr/>
        </p:nvSpPr>
        <p:spPr>
          <a:xfrm>
            <a:off x="7261735" y="1830813"/>
            <a:ext cx="193621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50" b="1" i="0">
                <a:solidFill>
                  <a:srgbClr val="17232D"/>
                </a:solidFill>
                <a:latin typeface="Inter"/>
              </a:rPr>
              <a:t>M4</a:t>
            </a:r>
          </a:p>
        </p:txBody>
      </p:sp>
      <p:sp>
        <p:nvSpPr>
          <p:cNvPr id="53" name="ms-M5-mark"/>
          <p:cNvSpPr/>
          <p:nvPr/>
        </p:nvSpPr>
        <p:spPr>
          <a:xfrm>
            <a:off x="8688568" y="1746322"/>
            <a:ext cx="202493" cy="283283"/>
          </a:xfrm>
          <a:prstGeom prst="diamond">
            <a:avLst/>
          </a:prstGeom>
          <a:solidFill>
            <a:srgbClr val="C4541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4" name="ms-M5-label"/>
          <p:cNvSpPr/>
          <p:nvPr/>
        </p:nvSpPr>
        <p:spPr>
          <a:xfrm>
            <a:off x="8918493" y="1830813"/>
            <a:ext cx="190087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50" b="1" i="0">
                <a:solidFill>
                  <a:srgbClr val="17232D"/>
                </a:solidFill>
                <a:latin typeface="Inter"/>
              </a:rPr>
              <a:t>M5</a:t>
            </a:r>
          </a:p>
        </p:txBody>
      </p:sp>
      <p:sp>
        <p:nvSpPr>
          <p:cNvPr id="55" name="ms-M6-mark"/>
          <p:cNvSpPr/>
          <p:nvPr/>
        </p:nvSpPr>
        <p:spPr>
          <a:xfrm>
            <a:off x="9793073" y="1746322"/>
            <a:ext cx="202493" cy="283283"/>
          </a:xfrm>
          <a:prstGeom prst="diamond">
            <a:avLst/>
          </a:prstGeom>
          <a:solidFill>
            <a:srgbClr val="C4541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6" name="ms-M6-label"/>
          <p:cNvSpPr/>
          <p:nvPr/>
        </p:nvSpPr>
        <p:spPr>
          <a:xfrm>
            <a:off x="10022998" y="1830813"/>
            <a:ext cx="191063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50" b="1" i="0">
                <a:solidFill>
                  <a:srgbClr val="17232D"/>
                </a:solidFill>
                <a:latin typeface="Inter"/>
              </a:rPr>
              <a:t>M6</a:t>
            </a:r>
          </a:p>
        </p:txBody>
      </p:sp>
      <p:sp>
        <p:nvSpPr>
          <p:cNvPr id="57" name="deps-0-text"/>
          <p:cNvSpPr/>
          <p:nvPr/>
        </p:nvSpPr>
        <p:spPr>
          <a:xfrm>
            <a:off x="10460102" y="1547530"/>
            <a:ext cx="822978" cy="1143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 marL="0" indent="0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50" b="0" i="0">
                <a:solidFill>
                  <a:srgbClr val="56636D"/>
                </a:solidFill>
                <a:latin typeface="Inter"/>
              </a:rPr>
              <a:t>Delivery waits for</a:t>
            </a:r>
          </a:p>
        </p:txBody>
      </p:sp>
      <p:sp>
        <p:nvSpPr>
          <p:cNvPr id="58" name="deps-10-text"/>
          <p:cNvSpPr/>
          <p:nvPr/>
        </p:nvSpPr>
        <p:spPr>
          <a:xfrm>
            <a:off x="10289438" y="4380357"/>
            <a:ext cx="1164306" cy="1143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 marL="0" indent="0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50" b="1" i="0">
                <a:solidFill>
                  <a:srgbClr val="C4541C"/>
                </a:solidFill>
                <a:latin typeface="Inter"/>
              </a:rPr>
              <a:t>O3's validation plan, M3</a:t>
            </a:r>
          </a:p>
        </p:txBody>
      </p:sp>
      <p:sp>
        <p:nvSpPr>
          <p:cNvPr id="59" name="deps-11-text"/>
          <p:cNvSpPr/>
          <p:nvPr/>
        </p:nvSpPr>
        <p:spPr>
          <a:xfrm>
            <a:off x="10351155" y="4663639"/>
            <a:ext cx="1040872" cy="1143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 marL="0" indent="0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50" b="1" i="0">
                <a:solidFill>
                  <a:srgbClr val="C4541C"/>
                </a:solidFill>
                <a:latin typeface="Inter"/>
              </a:rPr>
              <a:t>C1's price master, M3</a:t>
            </a:r>
          </a:p>
        </p:txBody>
      </p:sp>
      <p:sp>
        <p:nvSpPr>
          <p:cNvPr id="60" name="deps-13-text"/>
          <p:cNvSpPr/>
          <p:nvPr/>
        </p:nvSpPr>
        <p:spPr>
          <a:xfrm>
            <a:off x="10561468" y="5230205"/>
            <a:ext cx="620247" cy="1143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 marL="0" indent="0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50" b="1" i="0">
                <a:solidFill>
                  <a:srgbClr val="C4541C"/>
                </a:solidFill>
                <a:latin typeface="Inter"/>
              </a:rPr>
              <a:t>F1's exit, M4</a:t>
            </a:r>
          </a:p>
        </p:txBody>
      </p:sp>
    </p:spTree>
    <p:custDataLst>
      <p:tags r:id="rId4"/>
    </p:custDataLst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cxnSp>
        <p:nvCxnSpPr>
          <p:cNvPr id="135" name="chrome-1"/>
          <p:cNvCxnSpPr/>
          <p:nvPr/>
        </p:nvCxnSpPr>
        <p:spPr>
          <a:xfrm>
            <a:off x="411480" y="1037843"/>
            <a:ext cx="11368735" cy="0"/>
          </a:xfrm>
          <a:prstGeom prst="line">
            <a:avLst/>
          </a:prstGeom>
          <a:ln w="12700">
            <a:solidFill>
              <a:srgbClr val="0E4D5E"/>
            </a:solidFill>
          </a:ln>
        </p:spPr>
      </p:cxnSp>
      <p:cxnSp>
        <p:nvCxnSpPr>
          <p:cNvPr id="136" name="chrome-2"/>
          <p:cNvCxnSpPr/>
          <p:nvPr/>
        </p:nvCxnSpPr>
        <p:spPr>
          <a:xfrm>
            <a:off x="411480" y="6405372"/>
            <a:ext cx="11368735" cy="0"/>
          </a:xfrm>
          <a:prstGeom prst="line">
            <a:avLst/>
          </a:prstGeom>
          <a:ln w="6350">
            <a:solidFill>
              <a:srgbClr val="C9D2D8"/>
            </a:solidFill>
          </a:ln>
        </p:spPr>
      </p:cxnSp>
      <p:pic>
        <p:nvPicPr>
          <p:cNvPr id="137" name="chrome-3" descr="corrin-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6473952"/>
            <a:ext cx="201168" cy="201168"/>
          </a:xfrm>
          <a:prstGeom prst="rect">
            <a:avLst/>
          </a:prstGeom>
        </p:spPr>
      </p:pic>
      <p:sp>
        <p:nvSpPr>
          <p:cNvPr id="138" name="chrome-4"/>
          <p:cNvSpPr txBox="1"/>
          <p:nvPr/>
        </p:nvSpPr>
        <p:spPr>
          <a:xfrm>
            <a:off x="658368" y="6492240"/>
            <a:ext cx="1188720" cy="164592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r>
              <a:rPr sz="900" b="1">
                <a:solidFill>
                  <a:srgbClr val="0E4D5E"/>
                </a:solidFill>
                <a:latin typeface="Inter"/>
              </a:rPr>
              <a:t>Corrin Medical</a:t>
            </a:r>
          </a:p>
        </p:txBody>
      </p:sp>
      <p:sp>
        <p:nvSpPr>
          <p:cNvPr id="139" name="chrome-5"/>
          <p:cNvSpPr txBox="1"/>
          <p:nvPr/>
        </p:nvSpPr>
        <p:spPr>
          <a:xfrm>
            <a:off x="1920240" y="6510528"/>
            <a:ext cx="8229600" cy="1524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r"/>
            <a:r>
              <a:rPr sz="700" b="0">
                <a:solidFill>
                  <a:srgbClr val="56636D"/>
                </a:solidFill>
                <a:latin typeface="Inter"/>
              </a:rPr>
              <a:t>Board of Directors  |  Corrin 2028 operating transformation  |  18 December 2025  |  Illustrative figures for a fictional company</a:t>
            </a:r>
          </a:p>
        </p:txBody>
      </p:sp>
      <p:sp>
        <p:nvSpPr>
          <p:cNvPr id="140" name="chrome-6"/>
          <p:cNvSpPr txBox="1"/>
          <p:nvPr/>
        </p:nvSpPr>
        <p:spPr>
          <a:xfrm>
            <a:off x="11323015" y="6510528"/>
            <a:ext cx="457200" cy="1524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r"/>
            <a:fld id="{B6F15528-21DE-4FAA-801E-634DDDAF5B2F}" type="slidenum">
              <a:rPr sz="700">
                <a:solidFill>
                  <a:srgbClr val="56636D"/>
                </a:solidFill>
                <a:latin typeface="Inter"/>
              </a:rPr>
              <a:t>1</a:t>
            </a:fld>
          </a:p>
        </p:txBody>
      </p:sp>
      <p:sp>
        <p:nvSpPr>
          <p:cNvPr id="3" name="kicker"/>
          <p:cNvSpPr/>
          <p:nvPr/>
        </p:nvSpPr>
        <p:spPr>
          <a:xfrm>
            <a:off x="411480" y="543305"/>
            <a:ext cx="11369040" cy="1219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ts val="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00" b="1" i="0" spc="50">
                <a:solidFill>
                  <a:srgbClr val="0E4D5E"/>
                </a:solidFill>
                <a:latin typeface="Inter"/>
              </a:rPr>
              <a:t>OPERATING MODEL  |  2028</a:t>
            </a:r>
          </a:p>
        </p:txBody>
      </p:sp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411480" y="692657"/>
            <a:ext cx="11369040" cy="240030"/>
          </a:xfrm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1" i="0">
                <a:solidFill>
                  <a:srgbClr val="17232D"/>
                </a:solidFill>
                <a:latin typeface="Inter"/>
              </a:rPr>
              <a:t>Five new units and two fewer layers cut G&amp;A from 11.6% to 9.4% of revenue</a:t>
            </a:r>
          </a:p>
        </p:txBody>
      </p:sp>
      <p:sp>
        <p:nvSpPr>
          <p:cNvPr id="4" name="ceo-fill"/>
          <p:cNvSpPr/>
          <p:nvPr/>
        </p:nvSpPr>
        <p:spPr>
          <a:xfrm>
            <a:off x="5148580" y="1212595"/>
            <a:ext cx="1894840" cy="216408"/>
          </a:xfrm>
          <a:prstGeom prst="rect">
            <a:avLst/>
          </a:prstGeom>
          <a:solidFill>
            <a:srgbClr val="0E4D5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ceo-t"/>
          <p:cNvSpPr/>
          <p:nvPr/>
        </p:nvSpPr>
        <p:spPr>
          <a:xfrm>
            <a:off x="5203444" y="1267459"/>
            <a:ext cx="1785112" cy="1066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 marL="0" indent="0">
              <a:lnSpc>
                <a:spcPts val="8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00" b="1" i="0">
                <a:solidFill>
                  <a:srgbClr val="FFFFFF"/>
                </a:solidFill>
                <a:latin typeface="Inter"/>
              </a:rPr>
              <a:t>Chief Executive Officer</a:t>
            </a:r>
          </a:p>
        </p:txBody>
      </p:sp>
      <p:cxnSp>
        <p:nvCxnSpPr>
          <p:cNvPr id="6" name="ceo-link"/>
          <p:cNvCxnSpPr/>
          <p:nvPr/>
        </p:nvCxnSpPr>
        <p:spPr>
          <a:xfrm>
            <a:off x="7043420" y="1320799"/>
            <a:ext cx="473710" cy="0"/>
          </a:xfrm>
          <a:prstGeom prst="line">
            <a:avLst/>
          </a:prstGeom>
          <a:ln w="12700">
            <a:solidFill>
              <a:srgbClr val="C9D2D8"/>
            </a:solidFill>
          </a:ln>
        </p:spPr>
      </p:cxnSp>
      <p:sp>
        <p:nvSpPr>
          <p:cNvPr id="7" name="tmo-fill"/>
          <p:cNvSpPr/>
          <p:nvPr/>
        </p:nvSpPr>
        <p:spPr>
          <a:xfrm>
            <a:off x="7517130" y="1133855"/>
            <a:ext cx="2652776" cy="373888"/>
          </a:xfrm>
          <a:prstGeom prst="rect">
            <a:avLst/>
          </a:prstGeom>
          <a:solidFill>
            <a:srgbClr val="EEF2F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mo-t"/>
          <p:cNvSpPr/>
          <p:nvPr/>
        </p:nvSpPr>
        <p:spPr>
          <a:xfrm>
            <a:off x="7571994" y="1188719"/>
            <a:ext cx="2543048" cy="2641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ts val="108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sz="900" b="1" i="0">
                <a:solidFill>
                  <a:srgbClr val="17232D"/>
                </a:solidFill>
                <a:latin typeface="Inter"/>
              </a:rPr>
              <a:t>Transformation Office</a:t>
            </a:r>
          </a:p>
          <a:p>
            <a:pPr algn="l" marL="0" indent="0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50" b="0" i="0">
                <a:solidFill>
                  <a:srgbClr val="56636D"/>
                </a:solidFill>
                <a:latin typeface="Inter"/>
              </a:rPr>
              <a:t>Runs the M1 to M6 gates; closes December 2028</a:t>
            </a:r>
          </a:p>
        </p:txBody>
      </p:sp>
      <p:cxnSp>
        <p:nvCxnSpPr>
          <p:cNvPr id="9" name="v0r"/>
          <p:cNvCxnSpPr/>
          <p:nvPr/>
        </p:nvCxnSpPr>
        <p:spPr>
          <a:xfrm>
            <a:off x="6096000" y="1507743"/>
            <a:ext cx="0" cy="137160"/>
          </a:xfrm>
          <a:prstGeom prst="line">
            <a:avLst/>
          </a:prstGeom>
          <a:ln w="12700">
            <a:solidFill>
              <a:srgbClr val="C9D2D8"/>
            </a:solidFill>
          </a:ln>
        </p:spPr>
      </p:cxnSp>
      <p:cxnSp>
        <p:nvCxnSpPr>
          <p:cNvPr id="10" name="hbr"/>
          <p:cNvCxnSpPr/>
          <p:nvPr/>
        </p:nvCxnSpPr>
        <p:spPr>
          <a:xfrm>
            <a:off x="1358900" y="1651253"/>
            <a:ext cx="9474200" cy="0"/>
          </a:xfrm>
          <a:prstGeom prst="line">
            <a:avLst/>
          </a:prstGeom>
          <a:ln w="12700">
            <a:solidFill>
              <a:srgbClr val="C9D2D8"/>
            </a:solidFill>
          </a:ln>
        </p:spPr>
      </p:cxnSp>
      <p:cxnSp>
        <p:nvCxnSpPr>
          <p:cNvPr id="11" name="c0-vr"/>
          <p:cNvCxnSpPr/>
          <p:nvPr/>
        </p:nvCxnSpPr>
        <p:spPr>
          <a:xfrm>
            <a:off x="1358900" y="1657603"/>
            <a:ext cx="0" cy="137160"/>
          </a:xfrm>
          <a:prstGeom prst="line">
            <a:avLst/>
          </a:prstGeom>
          <a:ln w="12700">
            <a:solidFill>
              <a:srgbClr val="C9D2D8"/>
            </a:solidFill>
          </a:ln>
        </p:spPr>
      </p:cxnSp>
      <p:sp>
        <p:nvSpPr>
          <p:cNvPr id="12" name="c0-hd-fill"/>
          <p:cNvSpPr/>
          <p:nvPr/>
        </p:nvSpPr>
        <p:spPr>
          <a:xfrm>
            <a:off x="438912" y="1794763"/>
            <a:ext cx="1839976" cy="365760"/>
          </a:xfrm>
          <a:prstGeom prst="rect">
            <a:avLst/>
          </a:prstGeom>
          <a:solidFill>
            <a:srgbClr val="0E4D5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c0-hd-t"/>
          <p:cNvSpPr/>
          <p:nvPr/>
        </p:nvSpPr>
        <p:spPr>
          <a:xfrm>
            <a:off x="493776" y="1794763"/>
            <a:ext cx="1730248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 marL="0" indent="0">
              <a:lnSpc>
                <a:spcPts val="8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00" b="1" i="0">
                <a:solidFill>
                  <a:srgbClr val="FFFFFF"/>
                </a:solidFill>
                <a:latin typeface="Inter"/>
              </a:rPr>
              <a:t>Chief Financial Officer</a:t>
            </a:r>
          </a:p>
        </p:txBody>
      </p:sp>
      <p:cxnSp>
        <p:nvCxnSpPr>
          <p:cNvPr id="14" name="c0-stub-r"/>
          <p:cNvCxnSpPr/>
          <p:nvPr/>
        </p:nvCxnSpPr>
        <p:spPr>
          <a:xfrm>
            <a:off x="545846" y="2160523"/>
            <a:ext cx="0" cy="109728"/>
          </a:xfrm>
          <a:prstGeom prst="line">
            <a:avLst/>
          </a:prstGeom>
          <a:ln w="12700">
            <a:solidFill>
              <a:srgbClr val="C9D2D8"/>
            </a:solidFill>
          </a:ln>
        </p:spPr>
      </p:cxnSp>
      <p:cxnSp>
        <p:nvCxnSpPr>
          <p:cNvPr id="15" name="c0-u0-ra"/>
          <p:cNvCxnSpPr/>
          <p:nvPr/>
        </p:nvCxnSpPr>
        <p:spPr>
          <a:xfrm>
            <a:off x="545846" y="2270251"/>
            <a:ext cx="0" cy="324612"/>
          </a:xfrm>
          <a:prstGeom prst="line">
            <a:avLst/>
          </a:prstGeom>
          <a:ln w="12700">
            <a:solidFill>
              <a:srgbClr val="C9D2D8"/>
            </a:solidFill>
          </a:ln>
        </p:spPr>
      </p:cxnSp>
      <p:cxnSp>
        <p:nvCxnSpPr>
          <p:cNvPr id="16" name="c0-u0-rb"/>
          <p:cNvCxnSpPr/>
          <p:nvPr/>
        </p:nvCxnSpPr>
        <p:spPr>
          <a:xfrm>
            <a:off x="545846" y="2594863"/>
            <a:ext cx="0" cy="324612"/>
          </a:xfrm>
          <a:prstGeom prst="line">
            <a:avLst/>
          </a:prstGeom>
          <a:ln w="12700">
            <a:solidFill>
              <a:srgbClr val="C9D2D8"/>
            </a:solidFill>
          </a:ln>
        </p:spPr>
      </p:cxnSp>
      <p:cxnSp>
        <p:nvCxnSpPr>
          <p:cNvPr id="17" name="c0-u0-tkr"/>
          <p:cNvCxnSpPr/>
          <p:nvPr/>
        </p:nvCxnSpPr>
        <p:spPr>
          <a:xfrm>
            <a:off x="552196" y="2594863"/>
            <a:ext cx="91440" cy="0"/>
          </a:xfrm>
          <a:prstGeom prst="line">
            <a:avLst/>
          </a:prstGeom>
          <a:ln w="12700">
            <a:solidFill>
              <a:srgbClr val="C9D2D8"/>
            </a:solidFill>
          </a:ln>
        </p:spPr>
      </p:cxnSp>
      <p:sp>
        <p:nvSpPr>
          <p:cNvPr id="18" name="c0-u0-fill"/>
          <p:cNvSpPr/>
          <p:nvPr/>
        </p:nvSpPr>
        <p:spPr>
          <a:xfrm>
            <a:off x="643636" y="2297683"/>
            <a:ext cx="1635252" cy="594360"/>
          </a:xfrm>
          <a:prstGeom prst="rect">
            <a:avLst/>
          </a:prstGeom>
          <a:solidFill>
            <a:srgbClr val="EEF2F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c0-u0-t"/>
          <p:cNvSpPr/>
          <p:nvPr/>
        </p:nvSpPr>
        <p:spPr>
          <a:xfrm>
            <a:off x="698500" y="2352547"/>
            <a:ext cx="1525524" cy="2641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ts val="108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sz="900" b="1" i="0">
                <a:solidFill>
                  <a:srgbClr val="17232D"/>
                </a:solidFill>
                <a:latin typeface="Inter"/>
              </a:rPr>
              <a:t>FP&amp;A and treasury</a:t>
            </a:r>
          </a:p>
          <a:p>
            <a:pPr algn="l" marL="0" indent="0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50" b="0" i="0">
                <a:solidFill>
                  <a:srgbClr val="56636D"/>
                </a:solidFill>
                <a:latin typeface="Inter"/>
              </a:rPr>
              <a:t>Planning, reporting, capital</a:t>
            </a:r>
          </a:p>
        </p:txBody>
      </p:sp>
      <p:cxnSp>
        <p:nvCxnSpPr>
          <p:cNvPr id="20" name="c0-u1-ra"/>
          <p:cNvCxnSpPr/>
          <p:nvPr/>
        </p:nvCxnSpPr>
        <p:spPr>
          <a:xfrm>
            <a:off x="545846" y="2919475"/>
            <a:ext cx="0" cy="324612"/>
          </a:xfrm>
          <a:prstGeom prst="line">
            <a:avLst/>
          </a:prstGeom>
          <a:ln w="12700">
            <a:solidFill>
              <a:srgbClr val="C9D2D8"/>
            </a:solidFill>
          </a:ln>
        </p:spPr>
      </p:cxnSp>
      <p:cxnSp>
        <p:nvCxnSpPr>
          <p:cNvPr id="21" name="c0-u1-rb"/>
          <p:cNvCxnSpPr/>
          <p:nvPr/>
        </p:nvCxnSpPr>
        <p:spPr>
          <a:xfrm>
            <a:off x="545846" y="3244087"/>
            <a:ext cx="0" cy="324612"/>
          </a:xfrm>
          <a:prstGeom prst="line">
            <a:avLst/>
          </a:prstGeom>
          <a:ln w="12700">
            <a:solidFill>
              <a:srgbClr val="C9D2D8"/>
            </a:solidFill>
          </a:ln>
        </p:spPr>
      </p:cxnSp>
      <p:cxnSp>
        <p:nvCxnSpPr>
          <p:cNvPr id="22" name="c0-u1-tkr"/>
          <p:cNvCxnSpPr/>
          <p:nvPr/>
        </p:nvCxnSpPr>
        <p:spPr>
          <a:xfrm>
            <a:off x="552196" y="3244087"/>
            <a:ext cx="91440" cy="0"/>
          </a:xfrm>
          <a:prstGeom prst="line">
            <a:avLst/>
          </a:prstGeom>
          <a:ln w="12700">
            <a:solidFill>
              <a:srgbClr val="C9D2D8"/>
            </a:solidFill>
          </a:ln>
        </p:spPr>
      </p:cxnSp>
      <p:sp>
        <p:nvSpPr>
          <p:cNvPr id="23" name="c0-u1-fill"/>
          <p:cNvSpPr/>
          <p:nvPr/>
        </p:nvSpPr>
        <p:spPr>
          <a:xfrm>
            <a:off x="643636" y="2946907"/>
            <a:ext cx="1635252" cy="594360"/>
          </a:xfrm>
          <a:prstGeom prst="rect">
            <a:avLst/>
          </a:prstGeom>
          <a:solidFill>
            <a:srgbClr val="FFFFFF"/>
          </a:solidFill>
          <a:ln w="19050">
            <a:solidFill>
              <a:srgbClr val="C4541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c0-u1-t"/>
          <p:cNvSpPr/>
          <p:nvPr/>
        </p:nvSpPr>
        <p:spPr>
          <a:xfrm>
            <a:off x="698500" y="3001771"/>
            <a:ext cx="1525524" cy="401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ts val="108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sz="900" b="1" i="0">
                <a:solidFill>
                  <a:srgbClr val="C4541C"/>
                </a:solidFill>
                <a:latin typeface="Inter"/>
              </a:rPr>
              <a:t>New:</a:t>
            </a:r>
            <a:r>
              <a:rPr sz="900" b="1" i="0">
                <a:solidFill>
                  <a:srgbClr val="17232D"/>
                </a:solidFill>
                <a:latin typeface="Inter"/>
              </a:rPr>
              <a:t> Global Business</a:t>
            </a:r>
            <a:br/>
            <a:r>
              <a:rPr sz="900" b="1" i="0">
                <a:solidFill>
                  <a:srgbClr val="17232D"/>
                </a:solidFill>
                <a:latin typeface="Inter"/>
              </a:rPr>
              <a:t>Services</a:t>
            </a:r>
          </a:p>
          <a:p>
            <a:pPr algn="l" marL="0" indent="0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50" b="0" i="0">
                <a:solidFill>
                  <a:srgbClr val="56636D"/>
                </a:solidFill>
                <a:latin typeface="Inter"/>
              </a:rPr>
              <a:t>Brno: finance and order to cash</a:t>
            </a:r>
          </a:p>
        </p:txBody>
      </p:sp>
      <p:cxnSp>
        <p:nvCxnSpPr>
          <p:cNvPr id="25" name="c0-u2-ra"/>
          <p:cNvCxnSpPr/>
          <p:nvPr/>
        </p:nvCxnSpPr>
        <p:spPr>
          <a:xfrm>
            <a:off x="545846" y="3568699"/>
            <a:ext cx="0" cy="324612"/>
          </a:xfrm>
          <a:prstGeom prst="line">
            <a:avLst/>
          </a:prstGeom>
          <a:ln w="12700">
            <a:solidFill>
              <a:srgbClr val="C9D2D8"/>
            </a:solidFill>
          </a:ln>
        </p:spPr>
      </p:cxnSp>
      <p:cxnSp>
        <p:nvCxnSpPr>
          <p:cNvPr id="26" name="c0-u2-tkr"/>
          <p:cNvCxnSpPr/>
          <p:nvPr/>
        </p:nvCxnSpPr>
        <p:spPr>
          <a:xfrm>
            <a:off x="552196" y="3893311"/>
            <a:ext cx="91440" cy="0"/>
          </a:xfrm>
          <a:prstGeom prst="line">
            <a:avLst/>
          </a:prstGeom>
          <a:ln w="12700">
            <a:solidFill>
              <a:srgbClr val="C9D2D8"/>
            </a:solidFill>
          </a:ln>
        </p:spPr>
      </p:cxnSp>
      <p:sp>
        <p:nvSpPr>
          <p:cNvPr id="27" name="c0-u2-fill"/>
          <p:cNvSpPr/>
          <p:nvPr/>
        </p:nvSpPr>
        <p:spPr>
          <a:xfrm>
            <a:off x="643636" y="3596131"/>
            <a:ext cx="1635252" cy="594360"/>
          </a:xfrm>
          <a:prstGeom prst="rect">
            <a:avLst/>
          </a:prstGeom>
          <a:solidFill>
            <a:srgbClr val="EEF2F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c0-u2-t"/>
          <p:cNvSpPr/>
          <p:nvPr/>
        </p:nvSpPr>
        <p:spPr>
          <a:xfrm>
            <a:off x="698500" y="3650995"/>
            <a:ext cx="1525524" cy="2641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ts val="108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sz="900" b="1" i="0">
                <a:solidFill>
                  <a:srgbClr val="17232D"/>
                </a:solidFill>
                <a:latin typeface="Inter"/>
              </a:rPr>
              <a:t>Tax and internal control</a:t>
            </a:r>
          </a:p>
          <a:p>
            <a:pPr algn="l" marL="0" indent="0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50" b="0" i="0">
                <a:solidFill>
                  <a:srgbClr val="56636D"/>
                </a:solidFill>
                <a:latin typeface="Inter"/>
              </a:rPr>
              <a:t>Group tax, controls, audit liaison</a:t>
            </a:r>
          </a:p>
        </p:txBody>
      </p:sp>
      <p:cxnSp>
        <p:nvCxnSpPr>
          <p:cNvPr id="29" name="c1-vr"/>
          <p:cNvCxnSpPr/>
          <p:nvPr/>
        </p:nvCxnSpPr>
        <p:spPr>
          <a:xfrm>
            <a:off x="3253740" y="1657603"/>
            <a:ext cx="0" cy="137160"/>
          </a:xfrm>
          <a:prstGeom prst="line">
            <a:avLst/>
          </a:prstGeom>
          <a:ln w="12700">
            <a:solidFill>
              <a:srgbClr val="C9D2D8"/>
            </a:solidFill>
          </a:ln>
        </p:spPr>
      </p:cxnSp>
      <p:sp>
        <p:nvSpPr>
          <p:cNvPr id="30" name="c1-hd-fill"/>
          <p:cNvSpPr/>
          <p:nvPr/>
        </p:nvSpPr>
        <p:spPr>
          <a:xfrm>
            <a:off x="2333752" y="1794763"/>
            <a:ext cx="1839976" cy="365760"/>
          </a:xfrm>
          <a:prstGeom prst="rect">
            <a:avLst/>
          </a:prstGeom>
          <a:solidFill>
            <a:srgbClr val="0E4D5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c1-hd-t"/>
          <p:cNvSpPr/>
          <p:nvPr/>
        </p:nvSpPr>
        <p:spPr>
          <a:xfrm>
            <a:off x="2388616" y="1794763"/>
            <a:ext cx="1730248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 marL="0" indent="0">
              <a:lnSpc>
                <a:spcPts val="8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00" b="1" i="0">
                <a:solidFill>
                  <a:srgbClr val="FFFFFF"/>
                </a:solidFill>
                <a:latin typeface="Inter"/>
              </a:rPr>
              <a:t>Chief Operating Officer</a:t>
            </a:r>
          </a:p>
        </p:txBody>
      </p:sp>
      <p:cxnSp>
        <p:nvCxnSpPr>
          <p:cNvPr id="32" name="c1-stub-r"/>
          <p:cNvCxnSpPr/>
          <p:nvPr/>
        </p:nvCxnSpPr>
        <p:spPr>
          <a:xfrm>
            <a:off x="2440686" y="2160523"/>
            <a:ext cx="0" cy="109728"/>
          </a:xfrm>
          <a:prstGeom prst="line">
            <a:avLst/>
          </a:prstGeom>
          <a:ln w="12700">
            <a:solidFill>
              <a:srgbClr val="C9D2D8"/>
            </a:solidFill>
          </a:ln>
        </p:spPr>
      </p:cxnSp>
      <p:cxnSp>
        <p:nvCxnSpPr>
          <p:cNvPr id="33" name="c1-u0-ra"/>
          <p:cNvCxnSpPr/>
          <p:nvPr/>
        </p:nvCxnSpPr>
        <p:spPr>
          <a:xfrm>
            <a:off x="2440686" y="2270251"/>
            <a:ext cx="0" cy="324612"/>
          </a:xfrm>
          <a:prstGeom prst="line">
            <a:avLst/>
          </a:prstGeom>
          <a:ln w="12700">
            <a:solidFill>
              <a:srgbClr val="C9D2D8"/>
            </a:solidFill>
          </a:ln>
        </p:spPr>
      </p:cxnSp>
      <p:cxnSp>
        <p:nvCxnSpPr>
          <p:cNvPr id="34" name="c1-u0-rb"/>
          <p:cNvCxnSpPr/>
          <p:nvPr/>
        </p:nvCxnSpPr>
        <p:spPr>
          <a:xfrm>
            <a:off x="2440686" y="2594863"/>
            <a:ext cx="0" cy="324612"/>
          </a:xfrm>
          <a:prstGeom prst="line">
            <a:avLst/>
          </a:prstGeom>
          <a:ln w="12700">
            <a:solidFill>
              <a:srgbClr val="C9D2D8"/>
            </a:solidFill>
          </a:ln>
        </p:spPr>
      </p:cxnSp>
      <p:cxnSp>
        <p:nvCxnSpPr>
          <p:cNvPr id="35" name="c1-u0-tkr"/>
          <p:cNvCxnSpPr/>
          <p:nvPr/>
        </p:nvCxnSpPr>
        <p:spPr>
          <a:xfrm>
            <a:off x="2447036" y="2594863"/>
            <a:ext cx="91440" cy="0"/>
          </a:xfrm>
          <a:prstGeom prst="line">
            <a:avLst/>
          </a:prstGeom>
          <a:ln w="12700">
            <a:solidFill>
              <a:srgbClr val="C9D2D8"/>
            </a:solidFill>
          </a:ln>
        </p:spPr>
      </p:cxnSp>
      <p:sp>
        <p:nvSpPr>
          <p:cNvPr id="36" name="c1-u0-fill"/>
          <p:cNvSpPr/>
          <p:nvPr/>
        </p:nvSpPr>
        <p:spPr>
          <a:xfrm>
            <a:off x="2538476" y="2297683"/>
            <a:ext cx="1635252" cy="594360"/>
          </a:xfrm>
          <a:prstGeom prst="rect">
            <a:avLst/>
          </a:prstGeom>
          <a:solidFill>
            <a:srgbClr val="EEF2F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" name="c1-u0-t"/>
          <p:cNvSpPr/>
          <p:nvPr/>
        </p:nvSpPr>
        <p:spPr>
          <a:xfrm>
            <a:off x="2593340" y="2352547"/>
            <a:ext cx="1525524" cy="3784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ts val="108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sz="900" b="1" i="0">
                <a:solidFill>
                  <a:srgbClr val="17232D"/>
                </a:solidFill>
                <a:latin typeface="Inter"/>
              </a:rPr>
              <a:t>Five plants</a:t>
            </a:r>
          </a:p>
          <a:p>
            <a:pPr algn="l" marL="0" indent="0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50" b="0" i="0">
                <a:solidFill>
                  <a:srgbClr val="56636D"/>
                </a:solidFill>
                <a:latin typeface="Inter"/>
              </a:rPr>
              <a:t>Minneapolis, Juarez, Alajuela,</a:t>
            </a:r>
            <a:br/>
            <a:r>
              <a:rPr sz="750" b="0" i="0">
                <a:solidFill>
                  <a:srgbClr val="56636D"/>
                </a:solidFill>
                <a:latin typeface="Inter"/>
              </a:rPr>
              <a:t>Galway, Brno</a:t>
            </a:r>
          </a:p>
        </p:txBody>
      </p:sp>
      <p:cxnSp>
        <p:nvCxnSpPr>
          <p:cNvPr id="38" name="c1-u1-ra"/>
          <p:cNvCxnSpPr/>
          <p:nvPr/>
        </p:nvCxnSpPr>
        <p:spPr>
          <a:xfrm>
            <a:off x="2440686" y="2919475"/>
            <a:ext cx="0" cy="324612"/>
          </a:xfrm>
          <a:prstGeom prst="line">
            <a:avLst/>
          </a:prstGeom>
          <a:ln w="12700">
            <a:solidFill>
              <a:srgbClr val="C9D2D8"/>
            </a:solidFill>
          </a:ln>
        </p:spPr>
      </p:cxnSp>
      <p:cxnSp>
        <p:nvCxnSpPr>
          <p:cNvPr id="39" name="c1-u1-rb"/>
          <p:cNvCxnSpPr/>
          <p:nvPr/>
        </p:nvCxnSpPr>
        <p:spPr>
          <a:xfrm>
            <a:off x="2440686" y="3244087"/>
            <a:ext cx="0" cy="324612"/>
          </a:xfrm>
          <a:prstGeom prst="line">
            <a:avLst/>
          </a:prstGeom>
          <a:ln w="12700">
            <a:solidFill>
              <a:srgbClr val="C9D2D8"/>
            </a:solidFill>
          </a:ln>
        </p:spPr>
      </p:cxnSp>
      <p:cxnSp>
        <p:nvCxnSpPr>
          <p:cNvPr id="40" name="c1-u1-tkr"/>
          <p:cNvCxnSpPr/>
          <p:nvPr/>
        </p:nvCxnSpPr>
        <p:spPr>
          <a:xfrm>
            <a:off x="2447036" y="3244087"/>
            <a:ext cx="91440" cy="0"/>
          </a:xfrm>
          <a:prstGeom prst="line">
            <a:avLst/>
          </a:prstGeom>
          <a:ln w="12700">
            <a:solidFill>
              <a:srgbClr val="C9D2D8"/>
            </a:solidFill>
          </a:ln>
        </p:spPr>
      </p:cxnSp>
      <p:sp>
        <p:nvSpPr>
          <p:cNvPr id="41" name="c1-u1-fill"/>
          <p:cNvSpPr/>
          <p:nvPr/>
        </p:nvSpPr>
        <p:spPr>
          <a:xfrm>
            <a:off x="2538476" y="2946907"/>
            <a:ext cx="1635252" cy="594360"/>
          </a:xfrm>
          <a:prstGeom prst="rect">
            <a:avLst/>
          </a:prstGeom>
          <a:solidFill>
            <a:srgbClr val="FFFFFF"/>
          </a:solidFill>
          <a:ln w="19050">
            <a:solidFill>
              <a:srgbClr val="C4541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" name="c1-u1-t"/>
          <p:cNvSpPr/>
          <p:nvPr/>
        </p:nvSpPr>
        <p:spPr>
          <a:xfrm>
            <a:off x="2593340" y="3001771"/>
            <a:ext cx="1525524" cy="401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ts val="108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sz="900" b="1" i="0">
                <a:solidFill>
                  <a:srgbClr val="C4541C"/>
                </a:solidFill>
                <a:latin typeface="Inter"/>
              </a:rPr>
              <a:t>New:</a:t>
            </a:r>
            <a:r>
              <a:rPr sz="900" b="1" i="0">
                <a:solidFill>
                  <a:srgbClr val="17232D"/>
                </a:solidFill>
                <a:latin typeface="Inter"/>
              </a:rPr>
              <a:t> Supply chain and</a:t>
            </a:r>
            <a:br/>
            <a:r>
              <a:rPr sz="900" b="1" i="0">
                <a:solidFill>
                  <a:srgbClr val="17232D"/>
                </a:solidFill>
                <a:latin typeface="Inter"/>
              </a:rPr>
              <a:t>planning</a:t>
            </a:r>
          </a:p>
          <a:p>
            <a:pPr algn="l" marL="0" indent="0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50" b="0" i="0">
                <a:solidFill>
                  <a:srgbClr val="56636D"/>
                </a:solidFill>
                <a:latin typeface="Inter"/>
              </a:rPr>
              <a:t>One plan, inventory, logistics</a:t>
            </a:r>
          </a:p>
        </p:txBody>
      </p:sp>
      <p:cxnSp>
        <p:nvCxnSpPr>
          <p:cNvPr id="43" name="c1-u2-ra"/>
          <p:cNvCxnSpPr/>
          <p:nvPr/>
        </p:nvCxnSpPr>
        <p:spPr>
          <a:xfrm>
            <a:off x="2440686" y="3568699"/>
            <a:ext cx="0" cy="324612"/>
          </a:xfrm>
          <a:prstGeom prst="line">
            <a:avLst/>
          </a:prstGeom>
          <a:ln w="12700">
            <a:solidFill>
              <a:srgbClr val="C9D2D8"/>
            </a:solidFill>
          </a:ln>
        </p:spPr>
      </p:cxnSp>
      <p:cxnSp>
        <p:nvCxnSpPr>
          <p:cNvPr id="44" name="c1-u2-tkr"/>
          <p:cNvCxnSpPr/>
          <p:nvPr/>
        </p:nvCxnSpPr>
        <p:spPr>
          <a:xfrm>
            <a:off x="2447036" y="3893311"/>
            <a:ext cx="91440" cy="0"/>
          </a:xfrm>
          <a:prstGeom prst="line">
            <a:avLst/>
          </a:prstGeom>
          <a:ln w="12700">
            <a:solidFill>
              <a:srgbClr val="C9D2D8"/>
            </a:solidFill>
          </a:ln>
        </p:spPr>
      </p:cxnSp>
      <p:sp>
        <p:nvSpPr>
          <p:cNvPr id="45" name="c1-u2-fill"/>
          <p:cNvSpPr/>
          <p:nvPr/>
        </p:nvSpPr>
        <p:spPr>
          <a:xfrm>
            <a:off x="2538476" y="3596131"/>
            <a:ext cx="1635252" cy="594360"/>
          </a:xfrm>
          <a:prstGeom prst="rect">
            <a:avLst/>
          </a:prstGeom>
          <a:solidFill>
            <a:srgbClr val="FFFFFF"/>
          </a:solidFill>
          <a:ln w="19050">
            <a:solidFill>
              <a:srgbClr val="C4541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6" name="c1-u2-t"/>
          <p:cNvSpPr/>
          <p:nvPr/>
        </p:nvSpPr>
        <p:spPr>
          <a:xfrm>
            <a:off x="2593340" y="3650995"/>
            <a:ext cx="1525524" cy="3784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ts val="108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sz="900" b="1" i="0">
                <a:solidFill>
                  <a:srgbClr val="C4541C"/>
                </a:solidFill>
                <a:latin typeface="Inter"/>
              </a:rPr>
              <a:t>New:</a:t>
            </a:r>
            <a:r>
              <a:rPr sz="900" b="1" i="0">
                <a:solidFill>
                  <a:srgbClr val="17232D"/>
                </a:solidFill>
                <a:latin typeface="Inter"/>
              </a:rPr>
              <a:t> Global procurement</a:t>
            </a:r>
          </a:p>
          <a:p>
            <a:pPr algn="l" marL="0" indent="0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50" b="0" i="0">
                <a:solidFill>
                  <a:srgbClr val="56636D"/>
                </a:solidFill>
                <a:latin typeface="Inter"/>
              </a:rPr>
              <a:t>Direct and indirect, from plant</a:t>
            </a:r>
            <a:br/>
            <a:r>
              <a:rPr sz="750" b="0" i="0">
                <a:solidFill>
                  <a:srgbClr val="56636D"/>
                </a:solidFill>
                <a:latin typeface="Inter"/>
              </a:rPr>
              <a:t>buyers</a:t>
            </a:r>
          </a:p>
        </p:txBody>
      </p:sp>
      <p:cxnSp>
        <p:nvCxnSpPr>
          <p:cNvPr id="47" name="c2-vr"/>
          <p:cNvCxnSpPr/>
          <p:nvPr/>
        </p:nvCxnSpPr>
        <p:spPr>
          <a:xfrm>
            <a:off x="5148580" y="1657603"/>
            <a:ext cx="0" cy="137160"/>
          </a:xfrm>
          <a:prstGeom prst="line">
            <a:avLst/>
          </a:prstGeom>
          <a:ln w="12700">
            <a:solidFill>
              <a:srgbClr val="C9D2D8"/>
            </a:solidFill>
          </a:ln>
        </p:spPr>
      </p:cxnSp>
      <p:sp>
        <p:nvSpPr>
          <p:cNvPr id="48" name="c2-hd-fill"/>
          <p:cNvSpPr/>
          <p:nvPr/>
        </p:nvSpPr>
        <p:spPr>
          <a:xfrm>
            <a:off x="4228592" y="1794763"/>
            <a:ext cx="1839976" cy="365760"/>
          </a:xfrm>
          <a:prstGeom prst="rect">
            <a:avLst/>
          </a:prstGeom>
          <a:solidFill>
            <a:srgbClr val="0E4D5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9" name="c2-hd-t"/>
          <p:cNvSpPr/>
          <p:nvPr/>
        </p:nvSpPr>
        <p:spPr>
          <a:xfrm>
            <a:off x="4283456" y="1794763"/>
            <a:ext cx="1730248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 marL="0" indent="0">
              <a:lnSpc>
                <a:spcPts val="8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00" b="1" i="0">
                <a:solidFill>
                  <a:srgbClr val="FFFFFF"/>
                </a:solidFill>
                <a:latin typeface="Inter"/>
              </a:rPr>
              <a:t>Chief Commercial Officer</a:t>
            </a:r>
          </a:p>
        </p:txBody>
      </p:sp>
      <p:cxnSp>
        <p:nvCxnSpPr>
          <p:cNvPr id="50" name="c2-stub-r"/>
          <p:cNvCxnSpPr/>
          <p:nvPr/>
        </p:nvCxnSpPr>
        <p:spPr>
          <a:xfrm>
            <a:off x="4335526" y="2160523"/>
            <a:ext cx="0" cy="109728"/>
          </a:xfrm>
          <a:prstGeom prst="line">
            <a:avLst/>
          </a:prstGeom>
          <a:ln w="12700">
            <a:solidFill>
              <a:srgbClr val="C9D2D8"/>
            </a:solidFill>
          </a:ln>
        </p:spPr>
      </p:cxnSp>
      <p:cxnSp>
        <p:nvCxnSpPr>
          <p:cNvPr id="51" name="c2-u0-ra"/>
          <p:cNvCxnSpPr/>
          <p:nvPr/>
        </p:nvCxnSpPr>
        <p:spPr>
          <a:xfrm>
            <a:off x="4335526" y="2270251"/>
            <a:ext cx="0" cy="324612"/>
          </a:xfrm>
          <a:prstGeom prst="line">
            <a:avLst/>
          </a:prstGeom>
          <a:ln w="12700">
            <a:solidFill>
              <a:srgbClr val="C9D2D8"/>
            </a:solidFill>
          </a:ln>
        </p:spPr>
      </p:cxnSp>
      <p:cxnSp>
        <p:nvCxnSpPr>
          <p:cNvPr id="52" name="c2-u0-rb"/>
          <p:cNvCxnSpPr/>
          <p:nvPr/>
        </p:nvCxnSpPr>
        <p:spPr>
          <a:xfrm>
            <a:off x="4335526" y="2594863"/>
            <a:ext cx="0" cy="324612"/>
          </a:xfrm>
          <a:prstGeom prst="line">
            <a:avLst/>
          </a:prstGeom>
          <a:ln w="12700">
            <a:solidFill>
              <a:srgbClr val="C9D2D8"/>
            </a:solidFill>
          </a:ln>
        </p:spPr>
      </p:cxnSp>
      <p:cxnSp>
        <p:nvCxnSpPr>
          <p:cNvPr id="53" name="c2-u0-tkr"/>
          <p:cNvCxnSpPr/>
          <p:nvPr/>
        </p:nvCxnSpPr>
        <p:spPr>
          <a:xfrm>
            <a:off x="4341876" y="2594863"/>
            <a:ext cx="91440" cy="0"/>
          </a:xfrm>
          <a:prstGeom prst="line">
            <a:avLst/>
          </a:prstGeom>
          <a:ln w="12700">
            <a:solidFill>
              <a:srgbClr val="C9D2D8"/>
            </a:solidFill>
          </a:ln>
        </p:spPr>
      </p:cxnSp>
      <p:sp>
        <p:nvSpPr>
          <p:cNvPr id="54" name="c2-u0-fill"/>
          <p:cNvSpPr/>
          <p:nvPr/>
        </p:nvSpPr>
        <p:spPr>
          <a:xfrm>
            <a:off x="4433316" y="2297683"/>
            <a:ext cx="1635252" cy="594360"/>
          </a:xfrm>
          <a:prstGeom prst="rect">
            <a:avLst/>
          </a:prstGeom>
          <a:solidFill>
            <a:srgbClr val="EEF2F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5" name="c2-u0-t"/>
          <p:cNvSpPr/>
          <p:nvPr/>
        </p:nvSpPr>
        <p:spPr>
          <a:xfrm>
            <a:off x="4488180" y="2352547"/>
            <a:ext cx="1525524" cy="2641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ts val="108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sz="900" b="1" i="0">
                <a:solidFill>
                  <a:srgbClr val="17232D"/>
                </a:solidFill>
                <a:latin typeface="Inter"/>
              </a:rPr>
              <a:t>Americas</a:t>
            </a:r>
          </a:p>
          <a:p>
            <a:pPr algn="l" marL="0" indent="0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50" b="0" i="0">
                <a:solidFill>
                  <a:srgbClr val="56636D"/>
                </a:solidFill>
                <a:latin typeface="Inter"/>
              </a:rPr>
              <a:t>Direct sales, service, distributors</a:t>
            </a:r>
          </a:p>
        </p:txBody>
      </p:sp>
      <p:cxnSp>
        <p:nvCxnSpPr>
          <p:cNvPr id="56" name="c2-u1-ra"/>
          <p:cNvCxnSpPr/>
          <p:nvPr/>
        </p:nvCxnSpPr>
        <p:spPr>
          <a:xfrm>
            <a:off x="4335526" y="2919475"/>
            <a:ext cx="0" cy="324612"/>
          </a:xfrm>
          <a:prstGeom prst="line">
            <a:avLst/>
          </a:prstGeom>
          <a:ln w="12700">
            <a:solidFill>
              <a:srgbClr val="C9D2D8"/>
            </a:solidFill>
          </a:ln>
        </p:spPr>
      </p:cxnSp>
      <p:cxnSp>
        <p:nvCxnSpPr>
          <p:cNvPr id="57" name="c2-u1-rb"/>
          <p:cNvCxnSpPr/>
          <p:nvPr/>
        </p:nvCxnSpPr>
        <p:spPr>
          <a:xfrm>
            <a:off x="4335526" y="3244087"/>
            <a:ext cx="0" cy="324612"/>
          </a:xfrm>
          <a:prstGeom prst="line">
            <a:avLst/>
          </a:prstGeom>
          <a:ln w="12700">
            <a:solidFill>
              <a:srgbClr val="C9D2D8"/>
            </a:solidFill>
          </a:ln>
        </p:spPr>
      </p:cxnSp>
      <p:cxnSp>
        <p:nvCxnSpPr>
          <p:cNvPr id="58" name="c2-u1-tkr"/>
          <p:cNvCxnSpPr/>
          <p:nvPr/>
        </p:nvCxnSpPr>
        <p:spPr>
          <a:xfrm>
            <a:off x="4341876" y="3244087"/>
            <a:ext cx="91440" cy="0"/>
          </a:xfrm>
          <a:prstGeom prst="line">
            <a:avLst/>
          </a:prstGeom>
          <a:ln w="12700">
            <a:solidFill>
              <a:srgbClr val="C9D2D8"/>
            </a:solidFill>
          </a:ln>
        </p:spPr>
      </p:cxnSp>
      <p:sp>
        <p:nvSpPr>
          <p:cNvPr id="59" name="c2-u1-fill"/>
          <p:cNvSpPr/>
          <p:nvPr/>
        </p:nvSpPr>
        <p:spPr>
          <a:xfrm>
            <a:off x="4433316" y="2946907"/>
            <a:ext cx="1635252" cy="594360"/>
          </a:xfrm>
          <a:prstGeom prst="rect">
            <a:avLst/>
          </a:prstGeom>
          <a:solidFill>
            <a:srgbClr val="EEF2F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0" name="c2-u1-t"/>
          <p:cNvSpPr/>
          <p:nvPr/>
        </p:nvSpPr>
        <p:spPr>
          <a:xfrm>
            <a:off x="4488180" y="3001771"/>
            <a:ext cx="1525524" cy="2641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ts val="108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sz="900" b="1" i="0">
                <a:solidFill>
                  <a:srgbClr val="17232D"/>
                </a:solidFill>
                <a:latin typeface="Inter"/>
              </a:rPr>
              <a:t>EMEA and Asia-Pacific</a:t>
            </a:r>
          </a:p>
          <a:p>
            <a:pPr algn="l" marL="0" indent="0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50" b="0" i="0">
                <a:solidFill>
                  <a:srgbClr val="56636D"/>
                </a:solidFill>
                <a:latin typeface="Inter"/>
              </a:rPr>
              <a:t>Direct sales and 31 distributors</a:t>
            </a:r>
          </a:p>
        </p:txBody>
      </p:sp>
      <p:cxnSp>
        <p:nvCxnSpPr>
          <p:cNvPr id="61" name="c2-u2-ra"/>
          <p:cNvCxnSpPr/>
          <p:nvPr/>
        </p:nvCxnSpPr>
        <p:spPr>
          <a:xfrm>
            <a:off x="4335526" y="3568699"/>
            <a:ext cx="0" cy="324612"/>
          </a:xfrm>
          <a:prstGeom prst="line">
            <a:avLst/>
          </a:prstGeom>
          <a:ln w="12700">
            <a:solidFill>
              <a:srgbClr val="C9D2D8"/>
            </a:solidFill>
          </a:ln>
        </p:spPr>
      </p:cxnSp>
      <p:cxnSp>
        <p:nvCxnSpPr>
          <p:cNvPr id="62" name="c2-u2-tkr"/>
          <p:cNvCxnSpPr/>
          <p:nvPr/>
        </p:nvCxnSpPr>
        <p:spPr>
          <a:xfrm>
            <a:off x="4341876" y="3893311"/>
            <a:ext cx="91440" cy="0"/>
          </a:xfrm>
          <a:prstGeom prst="line">
            <a:avLst/>
          </a:prstGeom>
          <a:ln w="12700">
            <a:solidFill>
              <a:srgbClr val="C9D2D8"/>
            </a:solidFill>
          </a:ln>
        </p:spPr>
      </p:cxnSp>
      <p:sp>
        <p:nvSpPr>
          <p:cNvPr id="63" name="c2-u2-fill"/>
          <p:cNvSpPr/>
          <p:nvPr/>
        </p:nvSpPr>
        <p:spPr>
          <a:xfrm>
            <a:off x="4433316" y="3596131"/>
            <a:ext cx="1635252" cy="594360"/>
          </a:xfrm>
          <a:prstGeom prst="rect">
            <a:avLst/>
          </a:prstGeom>
          <a:solidFill>
            <a:srgbClr val="FFFFFF"/>
          </a:solidFill>
          <a:ln w="19050">
            <a:solidFill>
              <a:srgbClr val="C4541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4" name="c2-u2-t"/>
          <p:cNvSpPr/>
          <p:nvPr/>
        </p:nvSpPr>
        <p:spPr>
          <a:xfrm>
            <a:off x="4488180" y="3650995"/>
            <a:ext cx="1525524" cy="401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ts val="108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sz="900" b="1" i="0">
                <a:solidFill>
                  <a:srgbClr val="C4541C"/>
                </a:solidFill>
                <a:latin typeface="Inter"/>
              </a:rPr>
              <a:t>New:</a:t>
            </a:r>
            <a:r>
              <a:rPr sz="900" b="1" i="0">
                <a:solidFill>
                  <a:srgbClr val="17232D"/>
                </a:solidFill>
                <a:latin typeface="Inter"/>
              </a:rPr>
              <a:t> Pricing and</a:t>
            </a:r>
            <a:br/>
            <a:r>
              <a:rPr sz="900" b="1" i="0">
                <a:solidFill>
                  <a:srgbClr val="17232D"/>
                </a:solidFill>
                <a:latin typeface="Inter"/>
              </a:rPr>
              <a:t>contracts</a:t>
            </a:r>
          </a:p>
          <a:p>
            <a:pPr algn="l" marL="0" indent="0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50" b="0" i="0">
                <a:solidFill>
                  <a:srgbClr val="56636D"/>
                </a:solidFill>
                <a:latin typeface="Inter"/>
              </a:rPr>
              <a:t>Price master, GPO terms, rebates</a:t>
            </a:r>
          </a:p>
        </p:txBody>
      </p:sp>
      <p:cxnSp>
        <p:nvCxnSpPr>
          <p:cNvPr id="65" name="c3-vr"/>
          <p:cNvCxnSpPr/>
          <p:nvPr/>
        </p:nvCxnSpPr>
        <p:spPr>
          <a:xfrm>
            <a:off x="7043420" y="1657603"/>
            <a:ext cx="0" cy="137160"/>
          </a:xfrm>
          <a:prstGeom prst="line">
            <a:avLst/>
          </a:prstGeom>
          <a:ln w="12700">
            <a:solidFill>
              <a:srgbClr val="C9D2D8"/>
            </a:solidFill>
          </a:ln>
        </p:spPr>
      </p:cxnSp>
      <p:sp>
        <p:nvSpPr>
          <p:cNvPr id="66" name="c3-hd-fill"/>
          <p:cNvSpPr/>
          <p:nvPr/>
        </p:nvSpPr>
        <p:spPr>
          <a:xfrm>
            <a:off x="6123432" y="1794763"/>
            <a:ext cx="1839976" cy="365760"/>
          </a:xfrm>
          <a:prstGeom prst="rect">
            <a:avLst/>
          </a:prstGeom>
          <a:solidFill>
            <a:srgbClr val="FFFFFF"/>
          </a:solidFill>
          <a:ln w="19050">
            <a:solidFill>
              <a:srgbClr val="C4541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7" name="c3-hd-t"/>
          <p:cNvSpPr/>
          <p:nvPr/>
        </p:nvSpPr>
        <p:spPr>
          <a:xfrm>
            <a:off x="6178296" y="1794763"/>
            <a:ext cx="1730248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 marL="0" indent="0">
              <a:lnSpc>
                <a:spcPts val="8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00" b="1" i="0">
                <a:solidFill>
                  <a:srgbClr val="C4541C"/>
                </a:solidFill>
                <a:latin typeface="Inter"/>
              </a:rPr>
              <a:t>New:</a:t>
            </a:r>
            <a:r>
              <a:rPr sz="800" b="1" i="0">
                <a:solidFill>
                  <a:srgbClr val="17232D"/>
                </a:solidFill>
                <a:latin typeface="Inter"/>
              </a:rPr>
              <a:t> Chief Quality and Regulatory</a:t>
            </a:r>
            <a:br/>
            <a:r>
              <a:rPr sz="800" b="1" i="0">
                <a:solidFill>
                  <a:srgbClr val="17232D"/>
                </a:solidFill>
                <a:latin typeface="Inter"/>
              </a:rPr>
              <a:t>Officer</a:t>
            </a:r>
          </a:p>
        </p:txBody>
      </p:sp>
      <p:cxnSp>
        <p:nvCxnSpPr>
          <p:cNvPr id="68" name="c3-stub-r"/>
          <p:cNvCxnSpPr/>
          <p:nvPr/>
        </p:nvCxnSpPr>
        <p:spPr>
          <a:xfrm>
            <a:off x="6230366" y="2160523"/>
            <a:ext cx="0" cy="109728"/>
          </a:xfrm>
          <a:prstGeom prst="line">
            <a:avLst/>
          </a:prstGeom>
          <a:ln w="12700">
            <a:solidFill>
              <a:srgbClr val="C9D2D8"/>
            </a:solidFill>
          </a:ln>
        </p:spPr>
      </p:cxnSp>
      <p:cxnSp>
        <p:nvCxnSpPr>
          <p:cNvPr id="69" name="c3-u0-ra"/>
          <p:cNvCxnSpPr/>
          <p:nvPr/>
        </p:nvCxnSpPr>
        <p:spPr>
          <a:xfrm>
            <a:off x="6230366" y="2270251"/>
            <a:ext cx="0" cy="324612"/>
          </a:xfrm>
          <a:prstGeom prst="line">
            <a:avLst/>
          </a:prstGeom>
          <a:ln w="12700">
            <a:solidFill>
              <a:srgbClr val="C9D2D8"/>
            </a:solidFill>
          </a:ln>
        </p:spPr>
      </p:cxnSp>
      <p:cxnSp>
        <p:nvCxnSpPr>
          <p:cNvPr id="70" name="c3-u0-rb"/>
          <p:cNvCxnSpPr/>
          <p:nvPr/>
        </p:nvCxnSpPr>
        <p:spPr>
          <a:xfrm>
            <a:off x="6230366" y="2594863"/>
            <a:ext cx="0" cy="324612"/>
          </a:xfrm>
          <a:prstGeom prst="line">
            <a:avLst/>
          </a:prstGeom>
          <a:ln w="12700">
            <a:solidFill>
              <a:srgbClr val="C9D2D8"/>
            </a:solidFill>
          </a:ln>
        </p:spPr>
      </p:cxnSp>
      <p:cxnSp>
        <p:nvCxnSpPr>
          <p:cNvPr id="71" name="c3-u0-tkr"/>
          <p:cNvCxnSpPr/>
          <p:nvPr/>
        </p:nvCxnSpPr>
        <p:spPr>
          <a:xfrm>
            <a:off x="6236716" y="2594863"/>
            <a:ext cx="91440" cy="0"/>
          </a:xfrm>
          <a:prstGeom prst="line">
            <a:avLst/>
          </a:prstGeom>
          <a:ln w="12700">
            <a:solidFill>
              <a:srgbClr val="C9D2D8"/>
            </a:solidFill>
          </a:ln>
        </p:spPr>
      </p:cxnSp>
      <p:sp>
        <p:nvSpPr>
          <p:cNvPr id="72" name="c3-u0-fill"/>
          <p:cNvSpPr/>
          <p:nvPr/>
        </p:nvSpPr>
        <p:spPr>
          <a:xfrm>
            <a:off x="6328156" y="2297683"/>
            <a:ext cx="1635252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0E4D5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3" name="c3-u0-t"/>
          <p:cNvSpPr/>
          <p:nvPr/>
        </p:nvSpPr>
        <p:spPr>
          <a:xfrm>
            <a:off x="6383020" y="2352547"/>
            <a:ext cx="1525524" cy="401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ts val="108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sz="900" b="1" i="0">
                <a:solidFill>
                  <a:srgbClr val="0E4D5E"/>
                </a:solidFill>
                <a:latin typeface="Inter"/>
              </a:rPr>
              <a:t>Moved:</a:t>
            </a:r>
            <a:r>
              <a:rPr sz="900" b="1" i="0">
                <a:solidFill>
                  <a:srgbClr val="17232D"/>
                </a:solidFill>
                <a:latin typeface="Inter"/>
              </a:rPr>
              <a:t> Quality system</a:t>
            </a:r>
            <a:br/>
            <a:r>
              <a:rPr sz="900" b="1" i="0">
                <a:solidFill>
                  <a:srgbClr val="17232D"/>
                </a:solidFill>
                <a:latin typeface="Inter"/>
              </a:rPr>
              <a:t>and CAPA</a:t>
            </a:r>
          </a:p>
          <a:p>
            <a:pPr algn="l" marL="0" indent="0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50" b="0" i="0">
                <a:solidFill>
                  <a:srgbClr val="56636D"/>
                </a:solidFill>
                <a:latin typeface="Inter"/>
              </a:rPr>
              <a:t>From the COO's plants</a:t>
            </a:r>
          </a:p>
        </p:txBody>
      </p:sp>
      <p:cxnSp>
        <p:nvCxnSpPr>
          <p:cNvPr id="74" name="c3-u1-ra"/>
          <p:cNvCxnSpPr/>
          <p:nvPr/>
        </p:nvCxnSpPr>
        <p:spPr>
          <a:xfrm>
            <a:off x="6230366" y="2919475"/>
            <a:ext cx="0" cy="324612"/>
          </a:xfrm>
          <a:prstGeom prst="line">
            <a:avLst/>
          </a:prstGeom>
          <a:ln w="12700">
            <a:solidFill>
              <a:srgbClr val="C9D2D8"/>
            </a:solidFill>
          </a:ln>
        </p:spPr>
      </p:cxnSp>
      <p:cxnSp>
        <p:nvCxnSpPr>
          <p:cNvPr id="75" name="c3-u1-rb"/>
          <p:cNvCxnSpPr/>
          <p:nvPr/>
        </p:nvCxnSpPr>
        <p:spPr>
          <a:xfrm>
            <a:off x="6230366" y="3244087"/>
            <a:ext cx="0" cy="324612"/>
          </a:xfrm>
          <a:prstGeom prst="line">
            <a:avLst/>
          </a:prstGeom>
          <a:ln w="12700">
            <a:solidFill>
              <a:srgbClr val="C9D2D8"/>
            </a:solidFill>
          </a:ln>
        </p:spPr>
      </p:cxnSp>
      <p:cxnSp>
        <p:nvCxnSpPr>
          <p:cNvPr id="76" name="c3-u1-tkr"/>
          <p:cNvCxnSpPr/>
          <p:nvPr/>
        </p:nvCxnSpPr>
        <p:spPr>
          <a:xfrm>
            <a:off x="6236716" y="3244087"/>
            <a:ext cx="91440" cy="0"/>
          </a:xfrm>
          <a:prstGeom prst="line">
            <a:avLst/>
          </a:prstGeom>
          <a:ln w="12700">
            <a:solidFill>
              <a:srgbClr val="C9D2D8"/>
            </a:solidFill>
          </a:ln>
        </p:spPr>
      </p:cxnSp>
      <p:sp>
        <p:nvSpPr>
          <p:cNvPr id="77" name="c3-u1-fill"/>
          <p:cNvSpPr/>
          <p:nvPr/>
        </p:nvSpPr>
        <p:spPr>
          <a:xfrm>
            <a:off x="6328156" y="2946907"/>
            <a:ext cx="1635252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0E4D5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8" name="c3-u1-t"/>
          <p:cNvSpPr/>
          <p:nvPr/>
        </p:nvSpPr>
        <p:spPr>
          <a:xfrm>
            <a:off x="6383020" y="3001771"/>
            <a:ext cx="1525524" cy="2641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ts val="108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sz="900" b="1" i="0">
                <a:solidFill>
                  <a:srgbClr val="0E4D5E"/>
                </a:solidFill>
                <a:latin typeface="Inter"/>
              </a:rPr>
              <a:t>Moved:</a:t>
            </a:r>
            <a:r>
              <a:rPr sz="900" b="1" i="0">
                <a:solidFill>
                  <a:srgbClr val="17232D"/>
                </a:solidFill>
                <a:latin typeface="Inter"/>
              </a:rPr>
              <a:t> Regulatory affairs</a:t>
            </a:r>
          </a:p>
          <a:p>
            <a:pPr algn="l" marL="0" indent="0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50" b="0" i="0">
                <a:solidFill>
                  <a:srgbClr val="56636D"/>
                </a:solidFill>
                <a:latin typeface="Inter"/>
              </a:rPr>
              <a:t>EU MDR and FDA, from R&amp;D</a:t>
            </a:r>
          </a:p>
        </p:txBody>
      </p:sp>
      <p:cxnSp>
        <p:nvCxnSpPr>
          <p:cNvPr id="79" name="c3-u2-ra"/>
          <p:cNvCxnSpPr/>
          <p:nvPr/>
        </p:nvCxnSpPr>
        <p:spPr>
          <a:xfrm>
            <a:off x="6230366" y="3568699"/>
            <a:ext cx="0" cy="324612"/>
          </a:xfrm>
          <a:prstGeom prst="line">
            <a:avLst/>
          </a:prstGeom>
          <a:ln w="12700">
            <a:solidFill>
              <a:srgbClr val="C9D2D8"/>
            </a:solidFill>
          </a:ln>
        </p:spPr>
      </p:cxnSp>
      <p:cxnSp>
        <p:nvCxnSpPr>
          <p:cNvPr id="80" name="c3-u2-tkr"/>
          <p:cNvCxnSpPr/>
          <p:nvPr/>
        </p:nvCxnSpPr>
        <p:spPr>
          <a:xfrm>
            <a:off x="6236716" y="3893311"/>
            <a:ext cx="91440" cy="0"/>
          </a:xfrm>
          <a:prstGeom prst="line">
            <a:avLst/>
          </a:prstGeom>
          <a:ln w="12700">
            <a:solidFill>
              <a:srgbClr val="C9D2D8"/>
            </a:solidFill>
          </a:ln>
        </p:spPr>
      </p:cxnSp>
      <p:sp>
        <p:nvSpPr>
          <p:cNvPr id="81" name="c3-u2-fill"/>
          <p:cNvSpPr/>
          <p:nvPr/>
        </p:nvSpPr>
        <p:spPr>
          <a:xfrm>
            <a:off x="6328156" y="3596131"/>
            <a:ext cx="1635252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0E4D5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2" name="c3-u2-t"/>
          <p:cNvSpPr/>
          <p:nvPr/>
        </p:nvSpPr>
        <p:spPr>
          <a:xfrm>
            <a:off x="6383020" y="3650995"/>
            <a:ext cx="1525524" cy="401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ts val="108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sz="900" b="1" i="0">
                <a:solidFill>
                  <a:srgbClr val="0E4D5E"/>
                </a:solidFill>
                <a:latin typeface="Inter"/>
              </a:rPr>
              <a:t>Moved:</a:t>
            </a:r>
            <a:r>
              <a:rPr sz="900" b="1" i="0">
                <a:solidFill>
                  <a:srgbClr val="17232D"/>
                </a:solidFill>
                <a:latin typeface="Inter"/>
              </a:rPr>
              <a:t> Post-market</a:t>
            </a:r>
            <a:br/>
            <a:r>
              <a:rPr sz="900" b="1" i="0">
                <a:solidFill>
                  <a:srgbClr val="17232D"/>
                </a:solidFill>
                <a:latin typeface="Inter"/>
              </a:rPr>
              <a:t>surveillance</a:t>
            </a:r>
          </a:p>
          <a:p>
            <a:pPr algn="l" marL="0" indent="0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50" b="0" i="0">
                <a:solidFill>
                  <a:srgbClr val="56636D"/>
                </a:solidFill>
                <a:latin typeface="Inter"/>
              </a:rPr>
              <a:t>Complaints, vigilance, from sales</a:t>
            </a:r>
          </a:p>
        </p:txBody>
      </p:sp>
      <p:cxnSp>
        <p:nvCxnSpPr>
          <p:cNvPr id="83" name="c4-vr"/>
          <p:cNvCxnSpPr/>
          <p:nvPr/>
        </p:nvCxnSpPr>
        <p:spPr>
          <a:xfrm>
            <a:off x="8938260" y="1657603"/>
            <a:ext cx="0" cy="137160"/>
          </a:xfrm>
          <a:prstGeom prst="line">
            <a:avLst/>
          </a:prstGeom>
          <a:ln w="12700">
            <a:solidFill>
              <a:srgbClr val="C9D2D8"/>
            </a:solidFill>
          </a:ln>
        </p:spPr>
      </p:cxnSp>
      <p:sp>
        <p:nvSpPr>
          <p:cNvPr id="84" name="c4-hd-fill"/>
          <p:cNvSpPr/>
          <p:nvPr/>
        </p:nvSpPr>
        <p:spPr>
          <a:xfrm>
            <a:off x="8018272" y="1794763"/>
            <a:ext cx="1839976" cy="365760"/>
          </a:xfrm>
          <a:prstGeom prst="rect">
            <a:avLst/>
          </a:prstGeom>
          <a:solidFill>
            <a:srgbClr val="0E4D5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5" name="c4-hd-t"/>
          <p:cNvSpPr/>
          <p:nvPr/>
        </p:nvSpPr>
        <p:spPr>
          <a:xfrm>
            <a:off x="8073136" y="1794763"/>
            <a:ext cx="1730248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 marL="0" indent="0">
              <a:lnSpc>
                <a:spcPts val="8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00" b="1" i="0">
                <a:solidFill>
                  <a:srgbClr val="FFFFFF"/>
                </a:solidFill>
                <a:latin typeface="Inter"/>
              </a:rPr>
              <a:t>Chief Technology Officer</a:t>
            </a:r>
          </a:p>
        </p:txBody>
      </p:sp>
      <p:cxnSp>
        <p:nvCxnSpPr>
          <p:cNvPr id="86" name="c4-stub-r"/>
          <p:cNvCxnSpPr/>
          <p:nvPr/>
        </p:nvCxnSpPr>
        <p:spPr>
          <a:xfrm>
            <a:off x="8125206" y="2160523"/>
            <a:ext cx="0" cy="109728"/>
          </a:xfrm>
          <a:prstGeom prst="line">
            <a:avLst/>
          </a:prstGeom>
          <a:ln w="12700">
            <a:solidFill>
              <a:srgbClr val="C9D2D8"/>
            </a:solidFill>
          </a:ln>
        </p:spPr>
      </p:cxnSp>
      <p:cxnSp>
        <p:nvCxnSpPr>
          <p:cNvPr id="87" name="c4-u0-ra"/>
          <p:cNvCxnSpPr/>
          <p:nvPr/>
        </p:nvCxnSpPr>
        <p:spPr>
          <a:xfrm>
            <a:off x="8125206" y="2270251"/>
            <a:ext cx="0" cy="324612"/>
          </a:xfrm>
          <a:prstGeom prst="line">
            <a:avLst/>
          </a:prstGeom>
          <a:ln w="12700">
            <a:solidFill>
              <a:srgbClr val="C9D2D8"/>
            </a:solidFill>
          </a:ln>
        </p:spPr>
      </p:cxnSp>
      <p:cxnSp>
        <p:nvCxnSpPr>
          <p:cNvPr id="88" name="c4-u0-rb"/>
          <p:cNvCxnSpPr/>
          <p:nvPr/>
        </p:nvCxnSpPr>
        <p:spPr>
          <a:xfrm>
            <a:off x="8125206" y="2594863"/>
            <a:ext cx="0" cy="324612"/>
          </a:xfrm>
          <a:prstGeom prst="line">
            <a:avLst/>
          </a:prstGeom>
          <a:ln w="12700">
            <a:solidFill>
              <a:srgbClr val="C9D2D8"/>
            </a:solidFill>
          </a:ln>
        </p:spPr>
      </p:cxnSp>
      <p:cxnSp>
        <p:nvCxnSpPr>
          <p:cNvPr id="89" name="c4-u0-tkr"/>
          <p:cNvCxnSpPr/>
          <p:nvPr/>
        </p:nvCxnSpPr>
        <p:spPr>
          <a:xfrm>
            <a:off x="8131556" y="2594863"/>
            <a:ext cx="91440" cy="0"/>
          </a:xfrm>
          <a:prstGeom prst="line">
            <a:avLst/>
          </a:prstGeom>
          <a:ln w="12700">
            <a:solidFill>
              <a:srgbClr val="C9D2D8"/>
            </a:solidFill>
          </a:ln>
        </p:spPr>
      </p:cxnSp>
      <p:sp>
        <p:nvSpPr>
          <p:cNvPr id="90" name="c4-u0-fill"/>
          <p:cNvSpPr/>
          <p:nvPr/>
        </p:nvSpPr>
        <p:spPr>
          <a:xfrm>
            <a:off x="8222996" y="2297683"/>
            <a:ext cx="1635252" cy="594360"/>
          </a:xfrm>
          <a:prstGeom prst="rect">
            <a:avLst/>
          </a:prstGeom>
          <a:solidFill>
            <a:srgbClr val="EEF2F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1" name="c4-u0-t"/>
          <p:cNvSpPr/>
          <p:nvPr/>
        </p:nvSpPr>
        <p:spPr>
          <a:xfrm>
            <a:off x="8277860" y="2352547"/>
            <a:ext cx="1525524" cy="2641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ts val="108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sz="900" b="1" i="0">
                <a:solidFill>
                  <a:srgbClr val="17232D"/>
                </a:solidFill>
                <a:latin typeface="Inter"/>
              </a:rPr>
              <a:t>R&amp;D programmes</a:t>
            </a:r>
          </a:p>
          <a:p>
            <a:pPr algn="l" marL="0" indent="0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50" b="0" i="0">
                <a:solidFill>
                  <a:srgbClr val="56636D"/>
                </a:solidFill>
                <a:latin typeface="Inter"/>
              </a:rPr>
              <a:t>Monitoring, infusion, catheters</a:t>
            </a:r>
          </a:p>
        </p:txBody>
      </p:sp>
      <p:cxnSp>
        <p:nvCxnSpPr>
          <p:cNvPr id="92" name="c4-u1-ra"/>
          <p:cNvCxnSpPr/>
          <p:nvPr/>
        </p:nvCxnSpPr>
        <p:spPr>
          <a:xfrm>
            <a:off x="8125206" y="2919475"/>
            <a:ext cx="0" cy="324612"/>
          </a:xfrm>
          <a:prstGeom prst="line">
            <a:avLst/>
          </a:prstGeom>
          <a:ln w="12700">
            <a:solidFill>
              <a:srgbClr val="C9D2D8"/>
            </a:solidFill>
          </a:ln>
        </p:spPr>
      </p:cxnSp>
      <p:cxnSp>
        <p:nvCxnSpPr>
          <p:cNvPr id="93" name="c4-u1-rb"/>
          <p:cNvCxnSpPr/>
          <p:nvPr/>
        </p:nvCxnSpPr>
        <p:spPr>
          <a:xfrm>
            <a:off x="8125206" y="3244087"/>
            <a:ext cx="0" cy="324612"/>
          </a:xfrm>
          <a:prstGeom prst="line">
            <a:avLst/>
          </a:prstGeom>
          <a:ln w="12700">
            <a:solidFill>
              <a:srgbClr val="C9D2D8"/>
            </a:solidFill>
          </a:ln>
        </p:spPr>
      </p:cxnSp>
      <p:cxnSp>
        <p:nvCxnSpPr>
          <p:cNvPr id="94" name="c4-u1-tkr"/>
          <p:cNvCxnSpPr/>
          <p:nvPr/>
        </p:nvCxnSpPr>
        <p:spPr>
          <a:xfrm>
            <a:off x="8131556" y="3244087"/>
            <a:ext cx="91440" cy="0"/>
          </a:xfrm>
          <a:prstGeom prst="line">
            <a:avLst/>
          </a:prstGeom>
          <a:ln w="12700">
            <a:solidFill>
              <a:srgbClr val="C9D2D8"/>
            </a:solidFill>
          </a:ln>
        </p:spPr>
      </p:cxnSp>
      <p:sp>
        <p:nvSpPr>
          <p:cNvPr id="95" name="c4-u1-fill"/>
          <p:cNvSpPr/>
          <p:nvPr/>
        </p:nvSpPr>
        <p:spPr>
          <a:xfrm>
            <a:off x="8222996" y="2946907"/>
            <a:ext cx="1635252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0E4D5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6" name="c4-u1-t"/>
          <p:cNvSpPr/>
          <p:nvPr/>
        </p:nvSpPr>
        <p:spPr>
          <a:xfrm>
            <a:off x="8277860" y="3001771"/>
            <a:ext cx="1525524" cy="401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ts val="108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sz="900" b="1" i="0">
                <a:solidFill>
                  <a:srgbClr val="0E4D5E"/>
                </a:solidFill>
                <a:latin typeface="Inter"/>
              </a:rPr>
              <a:t>Moved:</a:t>
            </a:r>
            <a:r>
              <a:rPr sz="900" b="1" i="0">
                <a:solidFill>
                  <a:srgbClr val="17232D"/>
                </a:solidFill>
                <a:latin typeface="Inter"/>
              </a:rPr>
              <a:t> Sustaining</a:t>
            </a:r>
            <a:br/>
            <a:r>
              <a:rPr sz="900" b="1" i="0">
                <a:solidFill>
                  <a:srgbClr val="17232D"/>
                </a:solidFill>
                <a:latin typeface="Inter"/>
              </a:rPr>
              <a:t>engineering</a:t>
            </a:r>
          </a:p>
          <a:p>
            <a:pPr algn="l" marL="0" indent="0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50" b="0" i="0">
                <a:solidFill>
                  <a:srgbClr val="56636D"/>
                </a:solidFill>
                <a:latin typeface="Inter"/>
              </a:rPr>
              <a:t>From the plants; runs P2</a:t>
            </a:r>
          </a:p>
        </p:txBody>
      </p:sp>
      <p:cxnSp>
        <p:nvCxnSpPr>
          <p:cNvPr id="97" name="c4-u2-ra"/>
          <p:cNvCxnSpPr/>
          <p:nvPr/>
        </p:nvCxnSpPr>
        <p:spPr>
          <a:xfrm>
            <a:off x="8125206" y="3568699"/>
            <a:ext cx="0" cy="324612"/>
          </a:xfrm>
          <a:prstGeom prst="line">
            <a:avLst/>
          </a:prstGeom>
          <a:ln w="12700">
            <a:solidFill>
              <a:srgbClr val="C9D2D8"/>
            </a:solidFill>
          </a:ln>
        </p:spPr>
      </p:cxnSp>
      <p:cxnSp>
        <p:nvCxnSpPr>
          <p:cNvPr id="98" name="c4-u2-tkr"/>
          <p:cNvCxnSpPr/>
          <p:nvPr/>
        </p:nvCxnSpPr>
        <p:spPr>
          <a:xfrm>
            <a:off x="8131556" y="3893311"/>
            <a:ext cx="91440" cy="0"/>
          </a:xfrm>
          <a:prstGeom prst="line">
            <a:avLst/>
          </a:prstGeom>
          <a:ln w="12700">
            <a:solidFill>
              <a:srgbClr val="C9D2D8"/>
            </a:solidFill>
          </a:ln>
        </p:spPr>
      </p:cxnSp>
      <p:sp>
        <p:nvSpPr>
          <p:cNvPr id="99" name="c4-u2-fill"/>
          <p:cNvSpPr/>
          <p:nvPr/>
        </p:nvSpPr>
        <p:spPr>
          <a:xfrm>
            <a:off x="8222996" y="3596131"/>
            <a:ext cx="1635252" cy="594360"/>
          </a:xfrm>
          <a:prstGeom prst="rect">
            <a:avLst/>
          </a:prstGeom>
          <a:solidFill>
            <a:srgbClr val="EEF2F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0" name="c4-u2-t"/>
          <p:cNvSpPr/>
          <p:nvPr/>
        </p:nvSpPr>
        <p:spPr>
          <a:xfrm>
            <a:off x="8277860" y="3650995"/>
            <a:ext cx="1525524" cy="3784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ts val="108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sz="900" b="1" i="0">
                <a:solidFill>
                  <a:srgbClr val="17232D"/>
                </a:solidFill>
                <a:latin typeface="Inter"/>
              </a:rPr>
              <a:t>IT and digital</a:t>
            </a:r>
          </a:p>
          <a:p>
            <a:pPr algn="l" marL="0" indent="0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50" b="0" i="0">
                <a:solidFill>
                  <a:srgbClr val="56636D"/>
                </a:solidFill>
                <a:latin typeface="Inter"/>
              </a:rPr>
              <a:t>ERP upgrade and planning</a:t>
            </a:r>
            <a:br/>
            <a:r>
              <a:rPr sz="750" b="0" i="0">
                <a:solidFill>
                  <a:srgbClr val="56636D"/>
                </a:solidFill>
                <a:latin typeface="Inter"/>
              </a:rPr>
              <a:t>system</a:t>
            </a:r>
          </a:p>
        </p:txBody>
      </p:sp>
      <p:cxnSp>
        <p:nvCxnSpPr>
          <p:cNvPr id="101" name="c5-vr"/>
          <p:cNvCxnSpPr/>
          <p:nvPr/>
        </p:nvCxnSpPr>
        <p:spPr>
          <a:xfrm>
            <a:off x="10833100" y="1657603"/>
            <a:ext cx="0" cy="137160"/>
          </a:xfrm>
          <a:prstGeom prst="line">
            <a:avLst/>
          </a:prstGeom>
          <a:ln w="12700">
            <a:solidFill>
              <a:srgbClr val="C9D2D8"/>
            </a:solidFill>
          </a:ln>
        </p:spPr>
      </p:cxnSp>
      <p:sp>
        <p:nvSpPr>
          <p:cNvPr id="102" name="c5-hd-fill"/>
          <p:cNvSpPr/>
          <p:nvPr/>
        </p:nvSpPr>
        <p:spPr>
          <a:xfrm>
            <a:off x="9913112" y="1794763"/>
            <a:ext cx="1839976" cy="365760"/>
          </a:xfrm>
          <a:prstGeom prst="rect">
            <a:avLst/>
          </a:prstGeom>
          <a:solidFill>
            <a:srgbClr val="0E4D5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3" name="c5-hd-t"/>
          <p:cNvSpPr/>
          <p:nvPr/>
        </p:nvSpPr>
        <p:spPr>
          <a:xfrm>
            <a:off x="9967976" y="1794763"/>
            <a:ext cx="1730248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 marL="0" indent="0">
              <a:lnSpc>
                <a:spcPts val="8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00" b="1" i="0">
                <a:solidFill>
                  <a:srgbClr val="FFFFFF"/>
                </a:solidFill>
                <a:latin typeface="Inter"/>
              </a:rPr>
              <a:t>Chief People Officer</a:t>
            </a:r>
          </a:p>
        </p:txBody>
      </p:sp>
      <p:cxnSp>
        <p:nvCxnSpPr>
          <p:cNvPr id="104" name="c5-stub-r"/>
          <p:cNvCxnSpPr/>
          <p:nvPr/>
        </p:nvCxnSpPr>
        <p:spPr>
          <a:xfrm>
            <a:off x="10020046" y="2160523"/>
            <a:ext cx="0" cy="109728"/>
          </a:xfrm>
          <a:prstGeom prst="line">
            <a:avLst/>
          </a:prstGeom>
          <a:ln w="12700">
            <a:solidFill>
              <a:srgbClr val="C9D2D8"/>
            </a:solidFill>
          </a:ln>
        </p:spPr>
      </p:cxnSp>
      <p:cxnSp>
        <p:nvCxnSpPr>
          <p:cNvPr id="105" name="c5-u0-ra"/>
          <p:cNvCxnSpPr/>
          <p:nvPr/>
        </p:nvCxnSpPr>
        <p:spPr>
          <a:xfrm>
            <a:off x="10020046" y="2270251"/>
            <a:ext cx="0" cy="324612"/>
          </a:xfrm>
          <a:prstGeom prst="line">
            <a:avLst/>
          </a:prstGeom>
          <a:ln w="12700">
            <a:solidFill>
              <a:srgbClr val="C9D2D8"/>
            </a:solidFill>
          </a:ln>
        </p:spPr>
      </p:cxnSp>
      <p:cxnSp>
        <p:nvCxnSpPr>
          <p:cNvPr id="106" name="c5-u0-rb"/>
          <p:cNvCxnSpPr/>
          <p:nvPr/>
        </p:nvCxnSpPr>
        <p:spPr>
          <a:xfrm>
            <a:off x="10020046" y="2594863"/>
            <a:ext cx="0" cy="324612"/>
          </a:xfrm>
          <a:prstGeom prst="line">
            <a:avLst/>
          </a:prstGeom>
          <a:ln w="12700">
            <a:solidFill>
              <a:srgbClr val="C9D2D8"/>
            </a:solidFill>
          </a:ln>
        </p:spPr>
      </p:cxnSp>
      <p:cxnSp>
        <p:nvCxnSpPr>
          <p:cNvPr id="107" name="c5-u0-tkr"/>
          <p:cNvCxnSpPr/>
          <p:nvPr/>
        </p:nvCxnSpPr>
        <p:spPr>
          <a:xfrm>
            <a:off x="10026396" y="2594863"/>
            <a:ext cx="91440" cy="0"/>
          </a:xfrm>
          <a:prstGeom prst="line">
            <a:avLst/>
          </a:prstGeom>
          <a:ln w="12700">
            <a:solidFill>
              <a:srgbClr val="C9D2D8"/>
            </a:solidFill>
          </a:ln>
        </p:spPr>
      </p:cxnSp>
      <p:sp>
        <p:nvSpPr>
          <p:cNvPr id="108" name="c5-u0-fill"/>
          <p:cNvSpPr/>
          <p:nvPr/>
        </p:nvSpPr>
        <p:spPr>
          <a:xfrm>
            <a:off x="10117836" y="2297683"/>
            <a:ext cx="1635252" cy="594360"/>
          </a:xfrm>
          <a:prstGeom prst="rect">
            <a:avLst/>
          </a:prstGeom>
          <a:solidFill>
            <a:srgbClr val="EEF2F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9" name="c5-u0-t"/>
          <p:cNvSpPr/>
          <p:nvPr/>
        </p:nvSpPr>
        <p:spPr>
          <a:xfrm>
            <a:off x="10172700" y="2352547"/>
            <a:ext cx="1525524" cy="2641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ts val="108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sz="900" b="1" i="0">
                <a:solidFill>
                  <a:srgbClr val="17232D"/>
                </a:solidFill>
                <a:latin typeface="Inter"/>
              </a:rPr>
              <a:t>HR business partners</a:t>
            </a:r>
          </a:p>
          <a:p>
            <a:pPr algn="l" marL="0" indent="0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50" b="0" i="0">
                <a:solidFill>
                  <a:srgbClr val="56636D"/>
                </a:solidFill>
                <a:latin typeface="Inter"/>
              </a:rPr>
              <a:t>Leaders and works councils</a:t>
            </a:r>
          </a:p>
        </p:txBody>
      </p:sp>
      <p:cxnSp>
        <p:nvCxnSpPr>
          <p:cNvPr id="110" name="c5-u1-ra"/>
          <p:cNvCxnSpPr/>
          <p:nvPr/>
        </p:nvCxnSpPr>
        <p:spPr>
          <a:xfrm>
            <a:off x="10020046" y="2919475"/>
            <a:ext cx="0" cy="324612"/>
          </a:xfrm>
          <a:prstGeom prst="line">
            <a:avLst/>
          </a:prstGeom>
          <a:ln w="12700">
            <a:solidFill>
              <a:srgbClr val="C9D2D8"/>
            </a:solidFill>
          </a:ln>
        </p:spPr>
      </p:cxnSp>
      <p:cxnSp>
        <p:nvCxnSpPr>
          <p:cNvPr id="111" name="c5-u1-rb"/>
          <p:cNvCxnSpPr/>
          <p:nvPr/>
        </p:nvCxnSpPr>
        <p:spPr>
          <a:xfrm>
            <a:off x="10020046" y="3244087"/>
            <a:ext cx="0" cy="324612"/>
          </a:xfrm>
          <a:prstGeom prst="line">
            <a:avLst/>
          </a:prstGeom>
          <a:ln w="12700">
            <a:solidFill>
              <a:srgbClr val="C9D2D8"/>
            </a:solidFill>
          </a:ln>
        </p:spPr>
      </p:cxnSp>
      <p:cxnSp>
        <p:nvCxnSpPr>
          <p:cNvPr id="112" name="c5-u1-tkr"/>
          <p:cNvCxnSpPr/>
          <p:nvPr/>
        </p:nvCxnSpPr>
        <p:spPr>
          <a:xfrm>
            <a:off x="10026396" y="3244087"/>
            <a:ext cx="91440" cy="0"/>
          </a:xfrm>
          <a:prstGeom prst="line">
            <a:avLst/>
          </a:prstGeom>
          <a:ln w="12700">
            <a:solidFill>
              <a:srgbClr val="C9D2D8"/>
            </a:solidFill>
          </a:ln>
        </p:spPr>
      </p:cxnSp>
      <p:sp>
        <p:nvSpPr>
          <p:cNvPr id="113" name="c5-u1-fill"/>
          <p:cNvSpPr/>
          <p:nvPr/>
        </p:nvSpPr>
        <p:spPr>
          <a:xfrm>
            <a:off x="10117836" y="2946907"/>
            <a:ext cx="1635252" cy="594360"/>
          </a:xfrm>
          <a:prstGeom prst="rect">
            <a:avLst/>
          </a:prstGeom>
          <a:solidFill>
            <a:srgbClr val="EEF2F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4" name="c5-u1-t"/>
          <p:cNvSpPr/>
          <p:nvPr/>
        </p:nvSpPr>
        <p:spPr>
          <a:xfrm>
            <a:off x="10172700" y="3001771"/>
            <a:ext cx="1525524" cy="2641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ts val="108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sz="900" b="1" i="0">
                <a:solidFill>
                  <a:srgbClr val="17232D"/>
                </a:solidFill>
                <a:latin typeface="Inter"/>
              </a:rPr>
              <a:t>Talent and reward</a:t>
            </a:r>
          </a:p>
          <a:p>
            <a:pPr algn="l" marL="0" indent="0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50" b="0" i="0">
                <a:solidFill>
                  <a:srgbClr val="56636D"/>
                </a:solidFill>
                <a:latin typeface="Inter"/>
              </a:rPr>
              <a:t>Retention pool for exiting sites</a:t>
            </a:r>
          </a:p>
        </p:txBody>
      </p:sp>
      <p:cxnSp>
        <p:nvCxnSpPr>
          <p:cNvPr id="115" name="c5-u2-ra"/>
          <p:cNvCxnSpPr/>
          <p:nvPr/>
        </p:nvCxnSpPr>
        <p:spPr>
          <a:xfrm>
            <a:off x="10020046" y="3568699"/>
            <a:ext cx="0" cy="324612"/>
          </a:xfrm>
          <a:prstGeom prst="line">
            <a:avLst/>
          </a:prstGeom>
          <a:ln w="12700">
            <a:solidFill>
              <a:srgbClr val="C9D2D8"/>
            </a:solidFill>
          </a:ln>
        </p:spPr>
      </p:cxnSp>
      <p:cxnSp>
        <p:nvCxnSpPr>
          <p:cNvPr id="116" name="c5-u2-tkr"/>
          <p:cNvCxnSpPr/>
          <p:nvPr/>
        </p:nvCxnSpPr>
        <p:spPr>
          <a:xfrm>
            <a:off x="10026396" y="3893311"/>
            <a:ext cx="91440" cy="0"/>
          </a:xfrm>
          <a:prstGeom prst="line">
            <a:avLst/>
          </a:prstGeom>
          <a:ln w="12700">
            <a:solidFill>
              <a:srgbClr val="C9D2D8"/>
            </a:solidFill>
          </a:ln>
        </p:spPr>
      </p:cxnSp>
      <p:sp>
        <p:nvSpPr>
          <p:cNvPr id="117" name="c5-u2-fill"/>
          <p:cNvSpPr/>
          <p:nvPr/>
        </p:nvSpPr>
        <p:spPr>
          <a:xfrm>
            <a:off x="10117836" y="3596131"/>
            <a:ext cx="1635252" cy="594360"/>
          </a:xfrm>
          <a:prstGeom prst="rect">
            <a:avLst/>
          </a:prstGeom>
          <a:solidFill>
            <a:srgbClr val="EEF2F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8" name="c5-u2-t"/>
          <p:cNvSpPr/>
          <p:nvPr/>
        </p:nvSpPr>
        <p:spPr>
          <a:xfrm>
            <a:off x="10172700" y="3650995"/>
            <a:ext cx="1525524" cy="401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ts val="108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sz="900" b="1" i="0">
                <a:solidFill>
                  <a:srgbClr val="17232D"/>
                </a:solidFill>
                <a:latin typeface="Inter"/>
              </a:rPr>
              <a:t>Change and</a:t>
            </a:r>
            <a:br/>
            <a:r>
              <a:rPr sz="900" b="1" i="0">
                <a:solidFill>
                  <a:srgbClr val="17232D"/>
                </a:solidFill>
                <a:latin typeface="Inter"/>
              </a:rPr>
              <a:t>communications</a:t>
            </a:r>
          </a:p>
          <a:p>
            <a:pPr algn="l" marL="0" indent="0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50" b="0" i="0">
                <a:solidFill>
                  <a:srgbClr val="56636D"/>
                </a:solidFill>
                <a:latin typeface="Inter"/>
              </a:rPr>
              <a:t>One change network for 2028</a:t>
            </a:r>
          </a:p>
        </p:txBody>
      </p:sp>
      <p:sp>
        <p:nvSpPr>
          <p:cNvPr id="119" name="key-t"/>
          <p:cNvSpPr/>
          <p:nvPr/>
        </p:nvSpPr>
        <p:spPr>
          <a:xfrm>
            <a:off x="411480" y="4318507"/>
            <a:ext cx="11369040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50" b="0" i="0">
                <a:solidFill>
                  <a:srgbClr val="56636D"/>
                </a:solidFill>
                <a:latin typeface="Inter"/>
              </a:rPr>
              <a:t>Orange outline: new, five in all, counting the quality and regulatory function; petrol outline: moved from another function; grey: unchanged; the Transformation Office closes in December 2028</a:t>
            </a:r>
          </a:p>
        </p:txBody>
      </p:sp>
      <p:sp>
        <p:nvSpPr>
          <p:cNvPr id="120" name="s1-h"/>
          <p:cNvSpPr/>
          <p:nvPr/>
        </p:nvSpPr>
        <p:spPr>
          <a:xfrm>
            <a:off x="411480" y="4792726"/>
            <a:ext cx="3637280" cy="1600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ts val="12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 b="1" i="0">
                <a:solidFill>
                  <a:srgbClr val="0E4D5E"/>
                </a:solidFill>
                <a:latin typeface="Inter"/>
              </a:rPr>
              <a:t>Three design principles</a:t>
            </a:r>
          </a:p>
        </p:txBody>
      </p:sp>
      <p:sp>
        <p:nvSpPr>
          <p:cNvPr id="121" name="pr0-n-fill"/>
          <p:cNvSpPr/>
          <p:nvPr/>
        </p:nvSpPr>
        <p:spPr>
          <a:xfrm>
            <a:off x="411480" y="5007610"/>
            <a:ext cx="182880" cy="182880"/>
          </a:xfrm>
          <a:prstGeom prst="ellipse">
            <a:avLst/>
          </a:prstGeom>
          <a:solidFill>
            <a:srgbClr val="0E4D5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2" name="pr0-nt"/>
          <p:cNvSpPr/>
          <p:nvPr/>
        </p:nvSpPr>
        <p:spPr>
          <a:xfrm>
            <a:off x="411480" y="5007610"/>
            <a:ext cx="182880" cy="1828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 marL="0" indent="0">
              <a:lnSpc>
                <a:spcPts val="8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00" b="1" i="0">
                <a:solidFill>
                  <a:srgbClr val="FFFFFF"/>
                </a:solidFill>
                <a:latin typeface="Inter"/>
              </a:rPr>
              <a:t>1</a:t>
            </a:r>
          </a:p>
        </p:txBody>
      </p:sp>
      <p:sp>
        <p:nvSpPr>
          <p:cNvPr id="123" name="pr0-t"/>
          <p:cNvSpPr/>
          <p:nvPr/>
        </p:nvSpPr>
        <p:spPr>
          <a:xfrm>
            <a:off x="649224" y="5007610"/>
            <a:ext cx="3399536" cy="2717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ts val="92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sz="800" b="0" i="0">
                <a:solidFill>
                  <a:srgbClr val="17232D"/>
                </a:solidFill>
                <a:latin typeface="Inter"/>
              </a:rPr>
              <a:t>One owner per process end to end: order to cash sits in the Brno hub,</a:t>
            </a:r>
            <a:br/>
            <a:r>
              <a:rPr sz="800" b="0" i="0">
                <a:solidFill>
                  <a:srgbClr val="17232D"/>
                </a:solidFill>
                <a:latin typeface="Inter"/>
              </a:rPr>
              <a:t>not in fourteen countries.</a:t>
            </a:r>
          </a:p>
        </p:txBody>
      </p:sp>
      <p:sp>
        <p:nvSpPr>
          <p:cNvPr id="124" name="pr1-n-fill"/>
          <p:cNvSpPr/>
          <p:nvPr/>
        </p:nvSpPr>
        <p:spPr>
          <a:xfrm>
            <a:off x="411480" y="5334254"/>
            <a:ext cx="182880" cy="182880"/>
          </a:xfrm>
          <a:prstGeom prst="ellipse">
            <a:avLst/>
          </a:prstGeom>
          <a:solidFill>
            <a:srgbClr val="0E4D5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5" name="pr1-nt"/>
          <p:cNvSpPr/>
          <p:nvPr/>
        </p:nvSpPr>
        <p:spPr>
          <a:xfrm>
            <a:off x="411480" y="5334254"/>
            <a:ext cx="182880" cy="1828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 marL="0" indent="0">
              <a:lnSpc>
                <a:spcPts val="8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00" b="1" i="0">
                <a:solidFill>
                  <a:srgbClr val="FFFFFF"/>
                </a:solidFill>
                <a:latin typeface="Inter"/>
              </a:rPr>
              <a:t>2</a:t>
            </a:r>
          </a:p>
        </p:txBody>
      </p:sp>
      <p:sp>
        <p:nvSpPr>
          <p:cNvPr id="126" name="pr1-t"/>
          <p:cNvSpPr/>
          <p:nvPr/>
        </p:nvSpPr>
        <p:spPr>
          <a:xfrm>
            <a:off x="649224" y="5334254"/>
            <a:ext cx="3399536" cy="2717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ts val="92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sz="800" b="0" i="0">
                <a:solidFill>
                  <a:srgbClr val="17232D"/>
                </a:solidFill>
                <a:latin typeface="Inter"/>
              </a:rPr>
              <a:t>Quality and regulatory report to the CEO, independent of the plants</a:t>
            </a:r>
            <a:br/>
            <a:r>
              <a:rPr sz="800" b="0" i="0">
                <a:solidFill>
                  <a:srgbClr val="17232D"/>
                </a:solidFill>
                <a:latin typeface="Inter"/>
              </a:rPr>
              <a:t>they audit.</a:t>
            </a:r>
          </a:p>
        </p:txBody>
      </p:sp>
      <p:sp>
        <p:nvSpPr>
          <p:cNvPr id="127" name="pr2-n-fill"/>
          <p:cNvSpPr/>
          <p:nvPr/>
        </p:nvSpPr>
        <p:spPr>
          <a:xfrm>
            <a:off x="411480" y="5660898"/>
            <a:ext cx="182880" cy="182880"/>
          </a:xfrm>
          <a:prstGeom prst="ellipse">
            <a:avLst/>
          </a:prstGeom>
          <a:solidFill>
            <a:srgbClr val="0E4D5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8" name="pr2-nt"/>
          <p:cNvSpPr/>
          <p:nvPr/>
        </p:nvSpPr>
        <p:spPr>
          <a:xfrm>
            <a:off x="411480" y="5660898"/>
            <a:ext cx="182880" cy="1828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 marL="0" indent="0">
              <a:lnSpc>
                <a:spcPts val="8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00" b="1" i="0">
                <a:solidFill>
                  <a:srgbClr val="FFFFFF"/>
                </a:solidFill>
                <a:latin typeface="Inter"/>
              </a:rPr>
              <a:t>3</a:t>
            </a:r>
          </a:p>
        </p:txBody>
      </p:sp>
      <p:sp>
        <p:nvSpPr>
          <p:cNvPr id="129" name="pr2-t"/>
          <p:cNvSpPr/>
          <p:nvPr/>
        </p:nvSpPr>
        <p:spPr>
          <a:xfrm>
            <a:off x="649224" y="5660898"/>
            <a:ext cx="3399536" cy="2717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ts val="92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sz="800" b="0" i="0">
                <a:solidFill>
                  <a:srgbClr val="17232D"/>
                </a:solidFill>
                <a:latin typeface="Inter"/>
              </a:rPr>
              <a:t>Plants make; procurement, planning and engineering serve all five</a:t>
            </a:r>
            <a:br/>
            <a:r>
              <a:rPr sz="800" b="0" i="0">
                <a:solidFill>
                  <a:srgbClr val="17232D"/>
                </a:solidFill>
                <a:latin typeface="Inter"/>
              </a:rPr>
              <a:t>plants.</a:t>
            </a:r>
          </a:p>
        </p:txBody>
      </p:sp>
      <p:sp>
        <p:nvSpPr>
          <p:cNvPr id="130" name="s2-h"/>
          <p:cNvSpPr/>
          <p:nvPr/>
        </p:nvSpPr>
        <p:spPr>
          <a:xfrm>
            <a:off x="4277360" y="4792726"/>
            <a:ext cx="3091688" cy="1600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ts val="12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 b="1" i="0">
                <a:solidFill>
                  <a:srgbClr val="0E4D5E"/>
                </a:solidFill>
                <a:latin typeface="Inter"/>
              </a:rPr>
              <a:t>Layers, spans and G&amp;A cost</a:t>
            </a:r>
          </a:p>
        </p:txBody>
      </p:sp>
      <p:graphicFrame>
        <p:nvGraphicFramePr>
          <p:cNvPr id="131" name="opm"/>
          <p:cNvGraphicFramePr>
            <a:graphicFrameLocks noGrp="1"/>
          </p:cNvGraphicFramePr>
          <p:nvPr/>
        </p:nvGraphicFramePr>
        <p:xfrm>
          <a:off x="4277360" y="4980178"/>
          <a:ext cx="3091688" cy="1185926"/>
        </p:xfrm>
        <a:graphic>
          <a:graphicData uri="http://schemas.openxmlformats.org/drawingml/2006/table">
            <a:tbl>
              <a:tblPr firstRow="0" bandRow="0" lastRow="0" firstCol="0" lastCol="0" bandCol="0"/>
              <a:tblGrid>
                <a:gridCol w="1855013"/>
                <a:gridCol w="617564"/>
                <a:gridCol w="619111"/>
              </a:tblGrid>
              <a:tr h="169418">
                <a:tc>
                  <a:txBody>
                    <a:bodyPr wrap="square"/>
                    <a:lstStyle/>
                    <a:p>
                      <a:pPr algn="l"/>
                      <a:r>
                        <a:rPr sz="750" b="1" i="0">
                          <a:solidFill>
                            <a:srgbClr val="0E4D5E"/>
                          </a:solidFill>
                          <a:latin typeface="Inter"/>
                        </a:rPr>
                        <a:t>Measure</a:t>
                      </a:r>
                      <a:endParaRPr sz="750" b="1" i="0">
                        <a:solidFill>
                          <a:srgbClr val="0E4D5E"/>
                        </a:solidFill>
                        <a:latin typeface="Inter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0E4D5E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1" i="0">
                          <a:solidFill>
                            <a:srgbClr val="0E4D5E"/>
                          </a:solidFill>
                          <a:latin typeface="Inter"/>
                        </a:rPr>
                        <a:t>FY2025</a:t>
                      </a:r>
                      <a:endParaRPr sz="750" b="1" i="0">
                        <a:solidFill>
                          <a:srgbClr val="0E4D5E"/>
                        </a:solidFill>
                        <a:latin typeface="Inter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0E4D5E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1" i="0">
                          <a:solidFill>
                            <a:srgbClr val="0E4D5E"/>
                          </a:solidFill>
                          <a:latin typeface="Inter"/>
                        </a:rPr>
                        <a:t>FY2028</a:t>
                      </a:r>
                      <a:endParaRPr sz="750" b="1" i="0">
                        <a:solidFill>
                          <a:srgbClr val="0E4D5E"/>
                        </a:solidFill>
                        <a:latin typeface="Inter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0E4D5E"/>
                      </a:solidFill>
                    </a:lnB>
                    <a:noFill/>
                  </a:tcPr>
                </a:tc>
              </a:tr>
              <a:tr h="169418">
                <a:tc>
                  <a:txBody>
                    <a:bodyPr wrap="square"/>
                    <a:lstStyle/>
                    <a:p>
                      <a:pPr algn="l"/>
                      <a:r>
                        <a:rPr sz="750" b="0" i="0">
                          <a:solidFill>
                            <a:srgbClr val="17232D"/>
                          </a:solidFill>
                          <a:latin typeface="Inter"/>
                        </a:rPr>
                        <a:t>Management layers, CEO to front line</a:t>
                      </a:r>
                      <a:endParaRPr sz="750" b="0" i="0">
                        <a:solidFill>
                          <a:srgbClr val="17232D"/>
                        </a:solidFill>
                        <a:latin typeface="Inter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rgbClr val="0E4D5E"/>
                      </a:solidFill>
                    </a:lnT>
                    <a:lnB w="6350">
                      <a:solidFill>
                        <a:srgbClr val="C9D2D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 i="0">
                          <a:solidFill>
                            <a:srgbClr val="17232D"/>
                          </a:solidFill>
                          <a:latin typeface="Inter"/>
                        </a:rPr>
                        <a:t>9</a:t>
                      </a:r>
                      <a:endParaRPr sz="750" b="0" i="0">
                        <a:solidFill>
                          <a:srgbClr val="17232D"/>
                        </a:solidFill>
                        <a:latin typeface="Inter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rgbClr val="0E4D5E"/>
                      </a:solidFill>
                    </a:lnT>
                    <a:lnB w="6350">
                      <a:solidFill>
                        <a:srgbClr val="C9D2D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1" i="0">
                          <a:solidFill>
                            <a:srgbClr val="0E4D5E"/>
                          </a:solidFill>
                          <a:latin typeface="Inter"/>
                        </a:rPr>
                        <a:t>7</a:t>
                      </a:r>
                      <a:endParaRPr sz="750" b="1" i="0">
                        <a:solidFill>
                          <a:srgbClr val="0E4D5E"/>
                        </a:solidFill>
                        <a:latin typeface="Inter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rgbClr val="0E4D5E"/>
                      </a:solidFill>
                    </a:lnT>
                    <a:lnB w="6350">
                      <a:solidFill>
                        <a:srgbClr val="C9D2D8"/>
                      </a:solidFill>
                    </a:lnB>
                    <a:noFill/>
                  </a:tcPr>
                </a:tc>
              </a:tr>
              <a:tr h="169418">
                <a:tc>
                  <a:txBody>
                    <a:bodyPr wrap="square"/>
                    <a:lstStyle/>
                    <a:p>
                      <a:pPr algn="l"/>
                      <a:r>
                        <a:rPr sz="750" b="0" i="0">
                          <a:solidFill>
                            <a:srgbClr val="17232D"/>
                          </a:solidFill>
                          <a:latin typeface="Inter"/>
                        </a:rPr>
                        <a:t>Average span of control</a:t>
                      </a:r>
                      <a:endParaRPr sz="750" b="0" i="0">
                        <a:solidFill>
                          <a:srgbClr val="17232D"/>
                        </a:solidFill>
                        <a:latin typeface="Inter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D2D8"/>
                      </a:solidFill>
                    </a:lnT>
                    <a:lnB w="6350">
                      <a:solidFill>
                        <a:srgbClr val="C9D2D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 i="0">
                          <a:solidFill>
                            <a:srgbClr val="17232D"/>
                          </a:solidFill>
                          <a:latin typeface="Inter"/>
                        </a:rPr>
                        <a:t>4.8</a:t>
                      </a:r>
                      <a:endParaRPr sz="750" b="0" i="0">
                        <a:solidFill>
                          <a:srgbClr val="17232D"/>
                        </a:solidFill>
                        <a:latin typeface="Inter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D2D8"/>
                      </a:solidFill>
                    </a:lnT>
                    <a:lnB w="6350">
                      <a:solidFill>
                        <a:srgbClr val="C9D2D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1" i="0">
                          <a:solidFill>
                            <a:srgbClr val="0E4D5E"/>
                          </a:solidFill>
                          <a:latin typeface="Inter"/>
                        </a:rPr>
                        <a:t>7.0</a:t>
                      </a:r>
                      <a:endParaRPr sz="750" b="1" i="0">
                        <a:solidFill>
                          <a:srgbClr val="0E4D5E"/>
                        </a:solidFill>
                        <a:latin typeface="Inter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D2D8"/>
                      </a:solidFill>
                    </a:lnT>
                    <a:lnB w="6350">
                      <a:solidFill>
                        <a:srgbClr val="C9D2D8"/>
                      </a:solidFill>
                    </a:lnB>
                    <a:noFill/>
                  </a:tcPr>
                </a:tc>
              </a:tr>
              <a:tr h="169418">
                <a:tc>
                  <a:txBody>
                    <a:bodyPr wrap="square"/>
                    <a:lstStyle/>
                    <a:p>
                      <a:pPr algn="l"/>
                      <a:r>
                        <a:rPr sz="750" b="0" i="0">
                          <a:solidFill>
                            <a:srgbClr val="17232D"/>
                          </a:solidFill>
                          <a:latin typeface="Inter"/>
                        </a:rPr>
                        <a:t>G&amp;A headcount</a:t>
                      </a:r>
                      <a:endParaRPr sz="750" b="0" i="0">
                        <a:solidFill>
                          <a:srgbClr val="17232D"/>
                        </a:solidFill>
                        <a:latin typeface="Inter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D2D8"/>
                      </a:solidFill>
                    </a:lnT>
                    <a:lnB w="6350">
                      <a:solidFill>
                        <a:srgbClr val="C9D2D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 i="0">
                          <a:solidFill>
                            <a:srgbClr val="17232D"/>
                          </a:solidFill>
                          <a:latin typeface="Inter"/>
                        </a:rPr>
                        <a:t>1,180</a:t>
                      </a:r>
                      <a:endParaRPr sz="750" b="0" i="0">
                        <a:solidFill>
                          <a:srgbClr val="17232D"/>
                        </a:solidFill>
                        <a:latin typeface="Inter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D2D8"/>
                      </a:solidFill>
                    </a:lnT>
                    <a:lnB w="6350">
                      <a:solidFill>
                        <a:srgbClr val="C9D2D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1" i="0">
                          <a:solidFill>
                            <a:srgbClr val="0E4D5E"/>
                          </a:solidFill>
                          <a:latin typeface="Inter"/>
                        </a:rPr>
                        <a:t>990</a:t>
                      </a:r>
                      <a:endParaRPr sz="750" b="1" i="0">
                        <a:solidFill>
                          <a:srgbClr val="0E4D5E"/>
                        </a:solidFill>
                        <a:latin typeface="Inter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D2D8"/>
                      </a:solidFill>
                    </a:lnT>
                    <a:lnB w="6350">
                      <a:solidFill>
                        <a:srgbClr val="C9D2D8"/>
                      </a:solidFill>
                    </a:lnB>
                    <a:noFill/>
                  </a:tcPr>
                </a:tc>
              </a:tr>
              <a:tr h="169418">
                <a:tc>
                  <a:txBody>
                    <a:bodyPr wrap="square"/>
                    <a:lstStyle/>
                    <a:p>
                      <a:pPr algn="l"/>
                      <a:r>
                        <a:rPr sz="750" b="0" i="0">
                          <a:solidFill>
                            <a:srgbClr val="17232D"/>
                          </a:solidFill>
                          <a:latin typeface="Inter"/>
                        </a:rPr>
                        <a:t>Back-office locations</a:t>
                      </a:r>
                      <a:endParaRPr sz="750" b="0" i="0">
                        <a:solidFill>
                          <a:srgbClr val="17232D"/>
                        </a:solidFill>
                        <a:latin typeface="Inter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D2D8"/>
                      </a:solidFill>
                    </a:lnT>
                    <a:lnB w="6350">
                      <a:solidFill>
                        <a:srgbClr val="C9D2D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 i="0">
                          <a:solidFill>
                            <a:srgbClr val="17232D"/>
                          </a:solidFill>
                          <a:latin typeface="Inter"/>
                        </a:rPr>
                        <a:t>14</a:t>
                      </a:r>
                      <a:endParaRPr sz="750" b="0" i="0">
                        <a:solidFill>
                          <a:srgbClr val="17232D"/>
                        </a:solidFill>
                        <a:latin typeface="Inter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D2D8"/>
                      </a:solidFill>
                    </a:lnT>
                    <a:lnB w="6350">
                      <a:solidFill>
                        <a:srgbClr val="C9D2D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1" i="0">
                          <a:solidFill>
                            <a:srgbClr val="0E4D5E"/>
                          </a:solidFill>
                          <a:latin typeface="Inter"/>
                        </a:rPr>
                        <a:t>3</a:t>
                      </a:r>
                      <a:endParaRPr sz="750" b="1" i="0">
                        <a:solidFill>
                          <a:srgbClr val="0E4D5E"/>
                        </a:solidFill>
                        <a:latin typeface="Inter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D2D8"/>
                      </a:solidFill>
                    </a:lnT>
                    <a:lnB w="6350">
                      <a:solidFill>
                        <a:srgbClr val="C9D2D8"/>
                      </a:solidFill>
                    </a:lnB>
                    <a:noFill/>
                  </a:tcPr>
                </a:tc>
              </a:tr>
              <a:tr h="169418">
                <a:tc>
                  <a:txBody>
                    <a:bodyPr wrap="square"/>
                    <a:lstStyle/>
                    <a:p>
                      <a:pPr algn="l"/>
                      <a:r>
                        <a:rPr sz="750" b="0" i="0">
                          <a:solidFill>
                            <a:srgbClr val="17232D"/>
                          </a:solidFill>
                          <a:latin typeface="Inter"/>
                        </a:rPr>
                        <a:t>G&amp;A cost ($m)</a:t>
                      </a:r>
                      <a:endParaRPr sz="750" b="0" i="0">
                        <a:solidFill>
                          <a:srgbClr val="17232D"/>
                        </a:solidFill>
                        <a:latin typeface="Inter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D2D8"/>
                      </a:solidFill>
                    </a:lnT>
                    <a:lnB w="6350">
                      <a:solidFill>
                        <a:srgbClr val="C9D2D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 i="0">
                          <a:solidFill>
                            <a:srgbClr val="17232D"/>
                          </a:solidFill>
                          <a:latin typeface="Inter"/>
                        </a:rPr>
                        <a:t>143.8</a:t>
                      </a:r>
                      <a:endParaRPr sz="750" b="0" i="0">
                        <a:solidFill>
                          <a:srgbClr val="17232D"/>
                        </a:solidFill>
                        <a:latin typeface="Inter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D2D8"/>
                      </a:solidFill>
                    </a:lnT>
                    <a:lnB w="6350">
                      <a:solidFill>
                        <a:srgbClr val="C9D2D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1" i="0">
                          <a:solidFill>
                            <a:srgbClr val="0E4D5E"/>
                          </a:solidFill>
                          <a:latin typeface="Inter"/>
                        </a:rPr>
                        <a:t>136.3</a:t>
                      </a:r>
                      <a:endParaRPr sz="750" b="1" i="0">
                        <a:solidFill>
                          <a:srgbClr val="0E4D5E"/>
                        </a:solidFill>
                        <a:latin typeface="Inter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D2D8"/>
                      </a:solidFill>
                    </a:lnT>
                    <a:lnB w="6350">
                      <a:solidFill>
                        <a:srgbClr val="C9D2D8"/>
                      </a:solidFill>
                    </a:lnB>
                    <a:noFill/>
                  </a:tcPr>
                </a:tc>
              </a:tr>
              <a:tr h="169418">
                <a:tc>
                  <a:txBody>
                    <a:bodyPr wrap="square"/>
                    <a:lstStyle/>
                    <a:p>
                      <a:pPr algn="l"/>
                      <a:r>
                        <a:rPr sz="750" b="1" i="0">
                          <a:solidFill>
                            <a:srgbClr val="17232D"/>
                          </a:solidFill>
                          <a:latin typeface="Inter"/>
                        </a:rPr>
                        <a:t>G&amp;A cost, % of revenue</a:t>
                      </a:r>
                      <a:endParaRPr sz="750" b="1" i="0">
                        <a:solidFill>
                          <a:srgbClr val="17232D"/>
                        </a:solidFill>
                        <a:latin typeface="Inter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D2D8"/>
                      </a:solidFill>
                    </a:lnT>
                    <a:lnB w="9525">
                      <a:solidFill>
                        <a:srgbClr val="0E4D5E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 i="0">
                          <a:solidFill>
                            <a:srgbClr val="17232D"/>
                          </a:solidFill>
                          <a:latin typeface="Inter"/>
                        </a:rPr>
                        <a:t>11.6</a:t>
                      </a:r>
                      <a:endParaRPr sz="750" b="0" i="0">
                        <a:solidFill>
                          <a:srgbClr val="17232D"/>
                        </a:solidFill>
                        <a:latin typeface="Inter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D2D8"/>
                      </a:solidFill>
                    </a:lnT>
                    <a:lnB w="9525">
                      <a:solidFill>
                        <a:srgbClr val="0E4D5E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1" i="0">
                          <a:solidFill>
                            <a:srgbClr val="0E4D5E"/>
                          </a:solidFill>
                          <a:latin typeface="Inter"/>
                        </a:rPr>
                        <a:t>9.4</a:t>
                      </a:r>
                      <a:endParaRPr sz="750" b="1" i="0">
                        <a:solidFill>
                          <a:srgbClr val="0E4D5E"/>
                        </a:solidFill>
                        <a:latin typeface="Inter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D2D8"/>
                      </a:solidFill>
                    </a:lnT>
                    <a:lnB w="9525">
                      <a:solidFill>
                        <a:srgbClr val="0E4D5E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32" name="s3-h"/>
          <p:cNvSpPr/>
          <p:nvPr/>
        </p:nvSpPr>
        <p:spPr>
          <a:xfrm>
            <a:off x="7597648" y="4792726"/>
            <a:ext cx="4182872" cy="1600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ts val="12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 b="1" i="0">
                <a:solidFill>
                  <a:srgbClr val="0E4D5E"/>
                </a:solidFill>
                <a:latin typeface="Inter"/>
              </a:rPr>
              <a:t>Governance to December 2028</a:t>
            </a:r>
          </a:p>
        </p:txBody>
      </p:sp>
      <p:graphicFrame>
        <p:nvGraphicFramePr>
          <p:cNvPr id="133" name="gov"/>
          <p:cNvGraphicFramePr>
            <a:graphicFrameLocks noGrp="1"/>
          </p:cNvGraphicFramePr>
          <p:nvPr/>
        </p:nvGraphicFramePr>
        <p:xfrm>
          <a:off x="7597648" y="4980178"/>
          <a:ext cx="4182872" cy="847090"/>
        </p:xfrm>
        <a:graphic>
          <a:graphicData uri="http://schemas.openxmlformats.org/drawingml/2006/table">
            <a:tbl>
              <a:tblPr firstRow="0" bandRow="0" lastRow="0" firstCol="0" lastCol="0" bandCol="0"/>
              <a:tblGrid>
                <a:gridCol w="1505834"/>
                <a:gridCol w="543773"/>
                <a:gridCol w="585602"/>
                <a:gridCol w="1547663"/>
              </a:tblGrid>
              <a:tr h="169418">
                <a:tc>
                  <a:txBody>
                    <a:bodyPr wrap="square"/>
                    <a:lstStyle/>
                    <a:p>
                      <a:pPr algn="l"/>
                      <a:r>
                        <a:rPr sz="750" b="1" i="0">
                          <a:solidFill>
                            <a:srgbClr val="0E4D5E"/>
                          </a:solidFill>
                          <a:latin typeface="Inter"/>
                        </a:rPr>
                        <a:t>Forum</a:t>
                      </a:r>
                      <a:endParaRPr sz="750" b="1" i="0">
                        <a:solidFill>
                          <a:srgbClr val="0E4D5E"/>
                        </a:solidFill>
                        <a:latin typeface="Inter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0E4D5E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 b="1" i="0">
                          <a:solidFill>
                            <a:srgbClr val="0E4D5E"/>
                          </a:solidFill>
                          <a:latin typeface="Inter"/>
                        </a:rPr>
                        <a:t>Chair</a:t>
                      </a:r>
                      <a:endParaRPr sz="750" b="1" i="0">
                        <a:solidFill>
                          <a:srgbClr val="0E4D5E"/>
                        </a:solidFill>
                        <a:latin typeface="Inter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0E4D5E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 b="1" i="0">
                          <a:solidFill>
                            <a:srgbClr val="0E4D5E"/>
                          </a:solidFill>
                          <a:latin typeface="Inter"/>
                        </a:rPr>
                        <a:t>Meets</a:t>
                      </a:r>
                      <a:endParaRPr sz="750" b="1" i="0">
                        <a:solidFill>
                          <a:srgbClr val="0E4D5E"/>
                        </a:solidFill>
                        <a:latin typeface="Inter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0E4D5E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 b="1" i="0">
                          <a:solidFill>
                            <a:srgbClr val="0E4D5E"/>
                          </a:solidFill>
                          <a:latin typeface="Inter"/>
                        </a:rPr>
                        <a:t>Decides</a:t>
                      </a:r>
                      <a:endParaRPr sz="750" b="1" i="0">
                        <a:solidFill>
                          <a:srgbClr val="0E4D5E"/>
                        </a:solidFill>
                        <a:latin typeface="Inter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0E4D5E"/>
                      </a:solidFill>
                    </a:lnB>
                    <a:noFill/>
                  </a:tcPr>
                </a:tc>
              </a:tr>
              <a:tr h="169418">
                <a:tc>
                  <a:txBody>
                    <a:bodyPr wrap="square"/>
                    <a:lstStyle/>
                    <a:p>
                      <a:pPr algn="l"/>
                      <a:r>
                        <a:rPr sz="750" b="1" i="0">
                          <a:solidFill>
                            <a:srgbClr val="17232D"/>
                          </a:solidFill>
                          <a:latin typeface="Inter"/>
                        </a:rPr>
                        <a:t>Board</a:t>
                      </a:r>
                      <a:endParaRPr sz="750" b="1" i="0">
                        <a:solidFill>
                          <a:srgbClr val="17232D"/>
                        </a:solidFill>
                        <a:latin typeface="Inter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rgbClr val="0E4D5E"/>
                      </a:solidFill>
                    </a:lnT>
                    <a:lnB w="6350">
                      <a:solidFill>
                        <a:srgbClr val="C9D2D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 b="0" i="0">
                          <a:solidFill>
                            <a:srgbClr val="17232D"/>
                          </a:solidFill>
                          <a:latin typeface="Inter"/>
                        </a:rPr>
                        <a:t>Chair</a:t>
                      </a:r>
                      <a:endParaRPr sz="750" b="0" i="0">
                        <a:solidFill>
                          <a:srgbClr val="17232D"/>
                        </a:solidFill>
                        <a:latin typeface="Inter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rgbClr val="0E4D5E"/>
                      </a:solidFill>
                    </a:lnT>
                    <a:lnB w="6350">
                      <a:solidFill>
                        <a:srgbClr val="C9D2D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 b="0" i="0">
                          <a:solidFill>
                            <a:srgbClr val="17232D"/>
                          </a:solidFill>
                          <a:latin typeface="Inter"/>
                        </a:rPr>
                        <a:t>Quarterly</a:t>
                      </a:r>
                      <a:endParaRPr sz="750" b="0" i="0">
                        <a:solidFill>
                          <a:srgbClr val="17232D"/>
                        </a:solidFill>
                        <a:latin typeface="Inter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rgbClr val="0E4D5E"/>
                      </a:solidFill>
                    </a:lnT>
                    <a:lnB w="6350">
                      <a:solidFill>
                        <a:srgbClr val="C9D2D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 b="0" i="0">
                          <a:solidFill>
                            <a:srgbClr val="17232D"/>
                          </a:solidFill>
                          <a:latin typeface="Inter"/>
                        </a:rPr>
                        <a:t>Passes gates M1 to M6</a:t>
                      </a:r>
                      <a:endParaRPr sz="750" b="0" i="0">
                        <a:solidFill>
                          <a:srgbClr val="17232D"/>
                        </a:solidFill>
                        <a:latin typeface="Inter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rgbClr val="0E4D5E"/>
                      </a:solidFill>
                    </a:lnT>
                    <a:lnB w="6350">
                      <a:solidFill>
                        <a:srgbClr val="C9D2D8"/>
                      </a:solidFill>
                    </a:lnB>
                    <a:noFill/>
                  </a:tcPr>
                </a:tc>
              </a:tr>
              <a:tr h="169418">
                <a:tc>
                  <a:txBody>
                    <a:bodyPr wrap="square"/>
                    <a:lstStyle/>
                    <a:p>
                      <a:pPr algn="l"/>
                      <a:r>
                        <a:rPr sz="750" b="1" i="0">
                          <a:solidFill>
                            <a:srgbClr val="17232D"/>
                          </a:solidFill>
                          <a:latin typeface="Inter"/>
                        </a:rPr>
                        <a:t>Transformation committee</a:t>
                      </a:r>
                      <a:endParaRPr sz="750" b="1" i="0">
                        <a:solidFill>
                          <a:srgbClr val="17232D"/>
                        </a:solidFill>
                        <a:latin typeface="Inter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D2D8"/>
                      </a:solidFill>
                    </a:lnT>
                    <a:lnB w="6350">
                      <a:solidFill>
                        <a:srgbClr val="C9D2D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 b="0" i="0">
                          <a:solidFill>
                            <a:srgbClr val="17232D"/>
                          </a:solidFill>
                          <a:latin typeface="Inter"/>
                        </a:rPr>
                        <a:t>CEO</a:t>
                      </a:r>
                      <a:endParaRPr sz="750" b="0" i="0">
                        <a:solidFill>
                          <a:srgbClr val="17232D"/>
                        </a:solidFill>
                        <a:latin typeface="Inter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D2D8"/>
                      </a:solidFill>
                    </a:lnT>
                    <a:lnB w="6350">
                      <a:solidFill>
                        <a:srgbClr val="C9D2D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 b="0" i="0">
                          <a:solidFill>
                            <a:srgbClr val="17232D"/>
                          </a:solidFill>
                          <a:latin typeface="Inter"/>
                        </a:rPr>
                        <a:t>Monthly</a:t>
                      </a:r>
                      <a:endParaRPr sz="750" b="0" i="0">
                        <a:solidFill>
                          <a:srgbClr val="17232D"/>
                        </a:solidFill>
                        <a:latin typeface="Inter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D2D8"/>
                      </a:solidFill>
                    </a:lnT>
                    <a:lnB w="6350">
                      <a:solidFill>
                        <a:srgbClr val="C9D2D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 b="0" i="0">
                          <a:solidFill>
                            <a:srgbClr val="17232D"/>
                          </a:solidFill>
                          <a:latin typeface="Inter"/>
                        </a:rPr>
                        <a:t>Scope, budget and sequence</a:t>
                      </a:r>
                      <a:endParaRPr sz="750" b="0" i="0">
                        <a:solidFill>
                          <a:srgbClr val="17232D"/>
                        </a:solidFill>
                        <a:latin typeface="Inter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D2D8"/>
                      </a:solidFill>
                    </a:lnT>
                    <a:lnB w="6350">
                      <a:solidFill>
                        <a:srgbClr val="C9D2D8"/>
                      </a:solidFill>
                    </a:lnB>
                    <a:noFill/>
                  </a:tcPr>
                </a:tc>
              </a:tr>
              <a:tr h="169418">
                <a:tc>
                  <a:txBody>
                    <a:bodyPr wrap="square"/>
                    <a:lstStyle/>
                    <a:p>
                      <a:pPr algn="l"/>
                      <a:r>
                        <a:rPr sz="750" b="1" i="0">
                          <a:solidFill>
                            <a:srgbClr val="17232D"/>
                          </a:solidFill>
                          <a:latin typeface="Inter"/>
                        </a:rPr>
                        <a:t>Transformation Office</a:t>
                      </a:r>
                      <a:endParaRPr sz="750" b="1" i="0">
                        <a:solidFill>
                          <a:srgbClr val="17232D"/>
                        </a:solidFill>
                        <a:latin typeface="Inter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D2D8"/>
                      </a:solidFill>
                    </a:lnT>
                    <a:lnB w="6350">
                      <a:solidFill>
                        <a:srgbClr val="C9D2D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 b="0" i="0">
                          <a:solidFill>
                            <a:srgbClr val="17232D"/>
                          </a:solidFill>
                          <a:latin typeface="Inter"/>
                        </a:rPr>
                        <a:t>Director</a:t>
                      </a:r>
                      <a:endParaRPr sz="750" b="0" i="0">
                        <a:solidFill>
                          <a:srgbClr val="17232D"/>
                        </a:solidFill>
                        <a:latin typeface="Inter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D2D8"/>
                      </a:solidFill>
                    </a:lnT>
                    <a:lnB w="6350">
                      <a:solidFill>
                        <a:srgbClr val="C9D2D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 b="0" i="0">
                          <a:solidFill>
                            <a:srgbClr val="17232D"/>
                          </a:solidFill>
                          <a:latin typeface="Inter"/>
                        </a:rPr>
                        <a:t>Weekly</a:t>
                      </a:r>
                      <a:endParaRPr sz="750" b="0" i="0">
                        <a:solidFill>
                          <a:srgbClr val="17232D"/>
                        </a:solidFill>
                        <a:latin typeface="Inter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D2D8"/>
                      </a:solidFill>
                    </a:lnT>
                    <a:lnB w="6350">
                      <a:solidFill>
                        <a:srgbClr val="C9D2D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 b="0" i="0">
                          <a:solidFill>
                            <a:srgbClr val="17232D"/>
                          </a:solidFill>
                          <a:latin typeface="Inter"/>
                        </a:rPr>
                        <a:t>Plans, risks and benefit tracking</a:t>
                      </a:r>
                      <a:endParaRPr sz="750" b="0" i="0">
                        <a:solidFill>
                          <a:srgbClr val="17232D"/>
                        </a:solidFill>
                        <a:latin typeface="Inter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D2D8"/>
                      </a:solidFill>
                    </a:lnT>
                    <a:lnB w="6350">
                      <a:solidFill>
                        <a:srgbClr val="C9D2D8"/>
                      </a:solidFill>
                    </a:lnB>
                    <a:noFill/>
                  </a:tcPr>
                </a:tc>
              </a:tr>
              <a:tr h="169418">
                <a:tc>
                  <a:txBody>
                    <a:bodyPr wrap="square"/>
                    <a:lstStyle/>
                    <a:p>
                      <a:pPr algn="l"/>
                      <a:r>
                        <a:rPr sz="750" b="1" i="0">
                          <a:solidFill>
                            <a:srgbClr val="17232D"/>
                          </a:solidFill>
                          <a:latin typeface="Inter"/>
                        </a:rPr>
                        <a:t>Benefit review</a:t>
                      </a:r>
                      <a:endParaRPr sz="750" b="1" i="0">
                        <a:solidFill>
                          <a:srgbClr val="17232D"/>
                        </a:solidFill>
                        <a:latin typeface="Inter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D2D8"/>
                      </a:solidFill>
                    </a:lnT>
                    <a:lnB w="9525">
                      <a:solidFill>
                        <a:srgbClr val="0E4D5E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 b="0" i="0">
                          <a:solidFill>
                            <a:srgbClr val="17232D"/>
                          </a:solidFill>
                          <a:latin typeface="Inter"/>
                        </a:rPr>
                        <a:t>CFO</a:t>
                      </a:r>
                      <a:endParaRPr sz="750" b="0" i="0">
                        <a:solidFill>
                          <a:srgbClr val="17232D"/>
                        </a:solidFill>
                        <a:latin typeface="Inter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D2D8"/>
                      </a:solidFill>
                    </a:lnT>
                    <a:lnB w="9525">
                      <a:solidFill>
                        <a:srgbClr val="0E4D5E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 b="0" i="0">
                          <a:solidFill>
                            <a:srgbClr val="17232D"/>
                          </a:solidFill>
                          <a:latin typeface="Inter"/>
                        </a:rPr>
                        <a:t>Monthly</a:t>
                      </a:r>
                      <a:endParaRPr sz="750" b="0" i="0">
                        <a:solidFill>
                          <a:srgbClr val="17232D"/>
                        </a:solidFill>
                        <a:latin typeface="Inter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D2D8"/>
                      </a:solidFill>
                    </a:lnT>
                    <a:lnB w="9525">
                      <a:solidFill>
                        <a:srgbClr val="0E4D5E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 b="0" i="0">
                          <a:solidFill>
                            <a:srgbClr val="17232D"/>
                          </a:solidFill>
                          <a:latin typeface="Inter"/>
                        </a:rPr>
                        <a:t>What enters the run-rate</a:t>
                      </a:r>
                      <a:endParaRPr sz="750" b="0" i="0">
                        <a:solidFill>
                          <a:srgbClr val="17232D"/>
                        </a:solidFill>
                        <a:latin typeface="Inter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D2D8"/>
                      </a:solidFill>
                    </a:lnT>
                    <a:lnB w="9525">
                      <a:solidFill>
                        <a:srgbClr val="0E4D5E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34" name="source"/>
          <p:cNvSpPr/>
          <p:nvPr/>
        </p:nvSpPr>
        <p:spPr>
          <a:xfrm>
            <a:off x="411480" y="6266688"/>
            <a:ext cx="11369040" cy="1066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ts val="8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00" b="0" i="0">
                <a:solidFill>
                  <a:srgbClr val="56636D"/>
                </a:solidFill>
                <a:latin typeface="Inter"/>
              </a:rPr>
              <a:t>Source: Corrin Medical management accounts and transformation plan; FY2025 is eleven months actual and a December forecast. All figures are illustrative, invented for a fictional company.</a:t>
            </a:r>
          </a:p>
        </p:txBody>
      </p:sp>
    </p:spTree>
    <p:custDataLst>
      <p:tags r:id="rId3"/>
    </p:custDataLst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cxnSp>
        <p:nvCxnSpPr>
          <p:cNvPr id="99" name="chrome-1"/>
          <p:cNvCxnSpPr/>
          <p:nvPr/>
        </p:nvCxnSpPr>
        <p:spPr>
          <a:xfrm>
            <a:off x="411480" y="1037843"/>
            <a:ext cx="11368735" cy="0"/>
          </a:xfrm>
          <a:prstGeom prst="line">
            <a:avLst/>
          </a:prstGeom>
          <a:ln w="12700">
            <a:solidFill>
              <a:srgbClr val="0E4D5E"/>
            </a:solidFill>
          </a:ln>
        </p:spPr>
      </p:cxnSp>
      <p:cxnSp>
        <p:nvCxnSpPr>
          <p:cNvPr id="100" name="chrome-2"/>
          <p:cNvCxnSpPr/>
          <p:nvPr/>
        </p:nvCxnSpPr>
        <p:spPr>
          <a:xfrm>
            <a:off x="411480" y="6405372"/>
            <a:ext cx="11368735" cy="0"/>
          </a:xfrm>
          <a:prstGeom prst="line">
            <a:avLst/>
          </a:prstGeom>
          <a:ln w="6350">
            <a:solidFill>
              <a:srgbClr val="C9D2D8"/>
            </a:solidFill>
          </a:ln>
        </p:spPr>
      </p:cxnSp>
      <p:pic>
        <p:nvPicPr>
          <p:cNvPr id="101" name="chrome-3" descr="corrin-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6473952"/>
            <a:ext cx="201168" cy="201168"/>
          </a:xfrm>
          <a:prstGeom prst="rect">
            <a:avLst/>
          </a:prstGeom>
        </p:spPr>
      </p:pic>
      <p:sp>
        <p:nvSpPr>
          <p:cNvPr id="102" name="chrome-4"/>
          <p:cNvSpPr txBox="1"/>
          <p:nvPr/>
        </p:nvSpPr>
        <p:spPr>
          <a:xfrm>
            <a:off x="658368" y="6492240"/>
            <a:ext cx="1188720" cy="164592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r>
              <a:rPr sz="900" b="1">
                <a:solidFill>
                  <a:srgbClr val="0E4D5E"/>
                </a:solidFill>
                <a:latin typeface="Inter"/>
              </a:rPr>
              <a:t>Corrin Medical</a:t>
            </a:r>
          </a:p>
        </p:txBody>
      </p:sp>
      <p:sp>
        <p:nvSpPr>
          <p:cNvPr id="103" name="chrome-5"/>
          <p:cNvSpPr txBox="1"/>
          <p:nvPr/>
        </p:nvSpPr>
        <p:spPr>
          <a:xfrm>
            <a:off x="1920240" y="6510528"/>
            <a:ext cx="8229600" cy="1524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r"/>
            <a:r>
              <a:rPr sz="700" b="0">
                <a:solidFill>
                  <a:srgbClr val="56636D"/>
                </a:solidFill>
                <a:latin typeface="Inter"/>
              </a:rPr>
              <a:t>Board of Directors  |  Corrin 2028 operating transformation  |  18 December 2025  |  Illustrative figures for a fictional company</a:t>
            </a:r>
          </a:p>
        </p:txBody>
      </p:sp>
      <p:sp>
        <p:nvSpPr>
          <p:cNvPr id="104" name="chrome-6"/>
          <p:cNvSpPr txBox="1"/>
          <p:nvPr/>
        </p:nvSpPr>
        <p:spPr>
          <a:xfrm>
            <a:off x="11323015" y="6510528"/>
            <a:ext cx="457200" cy="1524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r"/>
            <a:fld id="{B6F15528-21DE-4FAA-801E-634DDDAF5B2F}" type="slidenum">
              <a:rPr sz="700">
                <a:solidFill>
                  <a:srgbClr val="56636D"/>
                </a:solidFill>
                <a:latin typeface="Inter"/>
              </a:rPr>
              <a:t>1</a:t>
            </a:fld>
          </a:p>
        </p:txBody>
      </p:sp>
      <p:sp>
        <p:nvSpPr>
          <p:cNvPr id="3" name="kicker"/>
          <p:cNvSpPr/>
          <p:nvPr/>
        </p:nvSpPr>
        <p:spPr>
          <a:xfrm>
            <a:off x="411480" y="543305"/>
            <a:ext cx="11369040" cy="1219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ts val="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00" b="1" i="0" spc="50">
                <a:solidFill>
                  <a:srgbClr val="0E4D5E"/>
                </a:solidFill>
                <a:latin typeface="Inter"/>
              </a:rPr>
              <a:t>RISK  |  DELIVERY RISKS</a:t>
            </a:r>
          </a:p>
        </p:txBody>
      </p:sp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411480" y="692657"/>
            <a:ext cx="11369040" cy="240030"/>
          </a:xfrm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1" i="0">
                <a:solidFill>
                  <a:srgbClr val="17232D"/>
                </a:solidFill>
                <a:latin typeface="Inter"/>
              </a:rPr>
              <a:t>Mitigation brings all nine risks to ALARP or below; the two worst come from line transfers</a:t>
            </a:r>
          </a:p>
        </p:txBody>
      </p:sp>
      <p:sp>
        <p:nvSpPr>
          <p:cNvPr id="4" name="mx-h"/>
          <p:cNvSpPr/>
          <p:nvPr/>
        </p:nvSpPr>
        <p:spPr>
          <a:xfrm>
            <a:off x="411480" y="1133855"/>
            <a:ext cx="4601486" cy="1600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ts val="12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 b="1" i="0">
                <a:solidFill>
                  <a:srgbClr val="0E4D5E"/>
                </a:solidFill>
                <a:latin typeface="Inter"/>
              </a:rPr>
              <a:t>Nine risks, before and after mitigation</a:t>
            </a:r>
          </a:p>
        </p:txBody>
      </p:sp>
      <p:sp>
        <p:nvSpPr>
          <p:cNvPr id="5" name="mx-u"/>
          <p:cNvSpPr/>
          <p:nvPr/>
        </p:nvSpPr>
        <p:spPr>
          <a:xfrm>
            <a:off x="411480" y="1348739"/>
            <a:ext cx="4601486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50" b="0" i="0">
                <a:solidFill>
                  <a:srgbClr val="56636D"/>
                </a:solidFill>
                <a:latin typeface="Inter"/>
              </a:rPr>
              <a:t>Likelihood 1 rare to 5 frequent; severity 1 negligible to 5 catastrophic; score is the product</a:t>
            </a:r>
          </a:p>
        </p:txBody>
      </p:sp>
      <p:sp>
        <p:nvSpPr>
          <p:cNvPr id="6" name="mb-h"/>
          <p:cNvSpPr/>
          <p:nvPr/>
        </p:nvSpPr>
        <p:spPr>
          <a:xfrm>
            <a:off x="411480" y="1517903"/>
            <a:ext cx="2186443" cy="1498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ts val="108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sz="900" b="1" i="0">
                <a:solidFill>
                  <a:srgbClr val="17232D"/>
                </a:solidFill>
                <a:latin typeface="Inter"/>
              </a:rPr>
              <a:t>Before mitigation</a:t>
            </a:r>
          </a:p>
        </p:txBody>
      </p:sp>
      <p:sp>
        <p:nvSpPr>
          <p:cNvPr id="7" name="mb-lk"/>
          <p:cNvSpPr/>
          <p:nvPr/>
        </p:nvSpPr>
        <p:spPr>
          <a:xfrm>
            <a:off x="411480" y="1695195"/>
            <a:ext cx="2186443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50" b="0" i="0">
                <a:solidFill>
                  <a:srgbClr val="56636D"/>
                </a:solidFill>
                <a:latin typeface="Inter"/>
              </a:rPr>
              <a:t>Likelihood</a:t>
            </a:r>
          </a:p>
        </p:txBody>
      </p:sp>
      <p:sp>
        <p:nvSpPr>
          <p:cNvPr id="8" name="mb-l5"/>
          <p:cNvSpPr/>
          <p:nvPr/>
        </p:nvSpPr>
        <p:spPr>
          <a:xfrm>
            <a:off x="411480" y="1836927"/>
            <a:ext cx="341547" cy="688035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 marL="0" indent="0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50" b="0" i="0">
                <a:solidFill>
                  <a:srgbClr val="56636D"/>
                </a:solidFill>
                <a:latin typeface="Inter"/>
              </a:rPr>
              <a:t>5</a:t>
            </a:r>
          </a:p>
        </p:txBody>
      </p:sp>
      <p:sp>
        <p:nvSpPr>
          <p:cNvPr id="9" name="mb-51-fill"/>
          <p:cNvSpPr/>
          <p:nvPr/>
        </p:nvSpPr>
        <p:spPr>
          <a:xfrm>
            <a:off x="780459" y="1836927"/>
            <a:ext cx="341547" cy="688035"/>
          </a:xfrm>
          <a:prstGeom prst="rect">
            <a:avLst/>
          </a:prstGeom>
          <a:solidFill>
            <a:srgbClr val="B9DCC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mb-52-fill"/>
          <p:cNvSpPr/>
          <p:nvPr/>
        </p:nvSpPr>
        <p:spPr>
          <a:xfrm>
            <a:off x="1149438" y="1836927"/>
            <a:ext cx="341548" cy="688035"/>
          </a:xfrm>
          <a:prstGeom prst="rect">
            <a:avLst/>
          </a:prstGeom>
          <a:solidFill>
            <a:srgbClr val="F3D27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mb-53-fill"/>
          <p:cNvSpPr/>
          <p:nvPr/>
        </p:nvSpPr>
        <p:spPr>
          <a:xfrm>
            <a:off x="1518418" y="1836927"/>
            <a:ext cx="341547" cy="688035"/>
          </a:xfrm>
          <a:prstGeom prst="rect">
            <a:avLst/>
          </a:prstGeom>
          <a:solidFill>
            <a:srgbClr val="EA9A8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mb-54-fill"/>
          <p:cNvSpPr/>
          <p:nvPr/>
        </p:nvSpPr>
        <p:spPr>
          <a:xfrm>
            <a:off x="1887397" y="1836927"/>
            <a:ext cx="341547" cy="688035"/>
          </a:xfrm>
          <a:prstGeom prst="rect">
            <a:avLst/>
          </a:prstGeom>
          <a:solidFill>
            <a:srgbClr val="EA9A8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mb-55-fill"/>
          <p:cNvSpPr/>
          <p:nvPr/>
        </p:nvSpPr>
        <p:spPr>
          <a:xfrm>
            <a:off x="2256376" y="1836927"/>
            <a:ext cx="341547" cy="688035"/>
          </a:xfrm>
          <a:prstGeom prst="rect">
            <a:avLst/>
          </a:prstGeom>
          <a:solidFill>
            <a:srgbClr val="EA9A8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mb-l4"/>
          <p:cNvSpPr/>
          <p:nvPr/>
        </p:nvSpPr>
        <p:spPr>
          <a:xfrm>
            <a:off x="411480" y="2552394"/>
            <a:ext cx="341547" cy="68803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 marL="0" indent="0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50" b="0" i="0">
                <a:solidFill>
                  <a:srgbClr val="56636D"/>
                </a:solidFill>
                <a:latin typeface="Inter"/>
              </a:rPr>
              <a:t>4</a:t>
            </a:r>
          </a:p>
        </p:txBody>
      </p:sp>
      <p:sp>
        <p:nvSpPr>
          <p:cNvPr id="15" name="mb-41-fill"/>
          <p:cNvSpPr/>
          <p:nvPr/>
        </p:nvSpPr>
        <p:spPr>
          <a:xfrm>
            <a:off x="780459" y="2552394"/>
            <a:ext cx="341547" cy="688036"/>
          </a:xfrm>
          <a:prstGeom prst="rect">
            <a:avLst/>
          </a:prstGeom>
          <a:solidFill>
            <a:srgbClr val="B9DCC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mb-42-fill"/>
          <p:cNvSpPr/>
          <p:nvPr/>
        </p:nvSpPr>
        <p:spPr>
          <a:xfrm>
            <a:off x="1149438" y="2552394"/>
            <a:ext cx="341548" cy="688036"/>
          </a:xfrm>
          <a:prstGeom prst="rect">
            <a:avLst/>
          </a:prstGeom>
          <a:solidFill>
            <a:srgbClr val="F3D27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mb-43"/>
          <p:cNvSpPr/>
          <p:nvPr/>
        </p:nvSpPr>
        <p:spPr>
          <a:xfrm>
            <a:off x="1518418" y="2552394"/>
            <a:ext cx="341547" cy="688036"/>
          </a:xfrm>
          <a:prstGeom prst="rect">
            <a:avLst/>
          </a:prstGeom>
          <a:solidFill>
            <a:srgbClr val="F3D27E"/>
          </a:solidFill>
        </p:spPr>
        <p:txBody>
          <a:bodyPr wrap="square" lIns="0" tIns="0" rIns="0" bIns="0" anchor="ctr">
            <a:noAutofit/>
          </a:bodyPr>
          <a:lstStyle/>
          <a:p>
            <a:pPr algn="ctr" marL="0" indent="0">
              <a:lnSpc>
                <a:spcPts val="7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50" b="1" i="0">
                <a:solidFill>
                  <a:srgbClr val="17232D"/>
                </a:solidFill>
                <a:latin typeface="Inter"/>
              </a:rPr>
              <a:t>R4</a:t>
            </a:r>
          </a:p>
          <a:p>
            <a:pPr algn="ctr" marL="0" indent="0">
              <a:lnSpc>
                <a:spcPts val="7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50" b="1" i="0">
                <a:solidFill>
                  <a:srgbClr val="17232D"/>
                </a:solidFill>
                <a:latin typeface="Inter"/>
              </a:rPr>
              <a:t>R5</a:t>
            </a:r>
          </a:p>
        </p:txBody>
      </p:sp>
      <p:sp>
        <p:nvSpPr>
          <p:cNvPr id="18" name="mb-44"/>
          <p:cNvSpPr/>
          <p:nvPr/>
        </p:nvSpPr>
        <p:spPr>
          <a:xfrm>
            <a:off x="1887397" y="2552394"/>
            <a:ext cx="341547" cy="688036"/>
          </a:xfrm>
          <a:prstGeom prst="rect">
            <a:avLst/>
          </a:prstGeom>
          <a:solidFill>
            <a:srgbClr val="EA9A88"/>
          </a:solidFill>
        </p:spPr>
        <p:txBody>
          <a:bodyPr wrap="square" lIns="0" tIns="0" rIns="0" bIns="0" anchor="ctr">
            <a:noAutofit/>
          </a:bodyPr>
          <a:lstStyle/>
          <a:p>
            <a:pPr algn="ctr" marL="0" indent="0">
              <a:lnSpc>
                <a:spcPts val="7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50" b="1" i="0">
                <a:solidFill>
                  <a:srgbClr val="17232D"/>
                </a:solidFill>
                <a:latin typeface="Inter"/>
              </a:rPr>
              <a:t>R1</a:t>
            </a:r>
          </a:p>
        </p:txBody>
      </p:sp>
      <p:sp>
        <p:nvSpPr>
          <p:cNvPr id="19" name="mb-45-fill"/>
          <p:cNvSpPr/>
          <p:nvPr/>
        </p:nvSpPr>
        <p:spPr>
          <a:xfrm>
            <a:off x="2256376" y="2552394"/>
            <a:ext cx="341547" cy="688036"/>
          </a:xfrm>
          <a:prstGeom prst="rect">
            <a:avLst/>
          </a:prstGeom>
          <a:solidFill>
            <a:srgbClr val="EA9A8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mb-l3"/>
          <p:cNvSpPr/>
          <p:nvPr/>
        </p:nvSpPr>
        <p:spPr>
          <a:xfrm>
            <a:off x="411480" y="3267862"/>
            <a:ext cx="341547" cy="688035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 marL="0" indent="0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50" b="0" i="0">
                <a:solidFill>
                  <a:srgbClr val="56636D"/>
                </a:solidFill>
                <a:latin typeface="Inter"/>
              </a:rPr>
              <a:t>3</a:t>
            </a:r>
          </a:p>
        </p:txBody>
      </p:sp>
      <p:sp>
        <p:nvSpPr>
          <p:cNvPr id="21" name="mb-31-fill"/>
          <p:cNvSpPr/>
          <p:nvPr/>
        </p:nvSpPr>
        <p:spPr>
          <a:xfrm>
            <a:off x="780459" y="3267862"/>
            <a:ext cx="341547" cy="688035"/>
          </a:xfrm>
          <a:prstGeom prst="rect">
            <a:avLst/>
          </a:prstGeom>
          <a:solidFill>
            <a:srgbClr val="B9DCC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mb-32-fill"/>
          <p:cNvSpPr/>
          <p:nvPr/>
        </p:nvSpPr>
        <p:spPr>
          <a:xfrm>
            <a:off x="1149438" y="3267862"/>
            <a:ext cx="341548" cy="688035"/>
          </a:xfrm>
          <a:prstGeom prst="rect">
            <a:avLst/>
          </a:prstGeom>
          <a:solidFill>
            <a:srgbClr val="F3D27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mb-33"/>
          <p:cNvSpPr/>
          <p:nvPr/>
        </p:nvSpPr>
        <p:spPr>
          <a:xfrm>
            <a:off x="1518418" y="3267862"/>
            <a:ext cx="341547" cy="688035"/>
          </a:xfrm>
          <a:prstGeom prst="rect">
            <a:avLst/>
          </a:prstGeom>
          <a:solidFill>
            <a:srgbClr val="F3D27E"/>
          </a:solidFill>
        </p:spPr>
        <p:txBody>
          <a:bodyPr wrap="square" lIns="0" tIns="0" rIns="0" bIns="0" anchor="ctr">
            <a:noAutofit/>
          </a:bodyPr>
          <a:lstStyle/>
          <a:p>
            <a:pPr algn="ctr" marL="0" indent="0">
              <a:lnSpc>
                <a:spcPts val="7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50" b="1" i="0">
                <a:solidFill>
                  <a:srgbClr val="17232D"/>
                </a:solidFill>
                <a:latin typeface="Inter"/>
              </a:rPr>
              <a:t>R3</a:t>
            </a:r>
          </a:p>
          <a:p>
            <a:pPr algn="ctr" marL="0" indent="0">
              <a:lnSpc>
                <a:spcPts val="7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50" b="1" i="0">
                <a:solidFill>
                  <a:srgbClr val="17232D"/>
                </a:solidFill>
                <a:latin typeface="Inter"/>
              </a:rPr>
              <a:t>R6</a:t>
            </a:r>
          </a:p>
          <a:p>
            <a:pPr algn="ctr" marL="0" indent="0">
              <a:lnSpc>
                <a:spcPts val="7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50" b="1" i="0">
                <a:solidFill>
                  <a:srgbClr val="17232D"/>
                </a:solidFill>
                <a:latin typeface="Inter"/>
              </a:rPr>
              <a:t>R8</a:t>
            </a:r>
          </a:p>
        </p:txBody>
      </p:sp>
      <p:sp>
        <p:nvSpPr>
          <p:cNvPr id="24" name="mb-34"/>
          <p:cNvSpPr/>
          <p:nvPr/>
        </p:nvSpPr>
        <p:spPr>
          <a:xfrm>
            <a:off x="1887397" y="3267862"/>
            <a:ext cx="341547" cy="688035"/>
          </a:xfrm>
          <a:prstGeom prst="rect">
            <a:avLst/>
          </a:prstGeom>
          <a:solidFill>
            <a:srgbClr val="F3D27E"/>
          </a:solidFill>
        </p:spPr>
        <p:txBody>
          <a:bodyPr wrap="square" lIns="0" tIns="0" rIns="0" bIns="0" anchor="ctr">
            <a:noAutofit/>
          </a:bodyPr>
          <a:lstStyle/>
          <a:p>
            <a:pPr algn="ctr" marL="0" indent="0">
              <a:lnSpc>
                <a:spcPts val="7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50" b="1" i="0">
                <a:solidFill>
                  <a:srgbClr val="17232D"/>
                </a:solidFill>
                <a:latin typeface="Inter"/>
              </a:rPr>
              <a:t>R7</a:t>
            </a:r>
          </a:p>
        </p:txBody>
      </p:sp>
      <p:sp>
        <p:nvSpPr>
          <p:cNvPr id="25" name="mb-35"/>
          <p:cNvSpPr/>
          <p:nvPr/>
        </p:nvSpPr>
        <p:spPr>
          <a:xfrm>
            <a:off x="2256376" y="3267862"/>
            <a:ext cx="341547" cy="688035"/>
          </a:xfrm>
          <a:prstGeom prst="rect">
            <a:avLst/>
          </a:prstGeom>
          <a:solidFill>
            <a:srgbClr val="EA9A88"/>
          </a:solidFill>
        </p:spPr>
        <p:txBody>
          <a:bodyPr wrap="square" lIns="0" tIns="0" rIns="0" bIns="0" anchor="ctr">
            <a:noAutofit/>
          </a:bodyPr>
          <a:lstStyle/>
          <a:p>
            <a:pPr algn="ctr" marL="0" indent="0">
              <a:lnSpc>
                <a:spcPts val="7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50" b="1" i="0">
                <a:solidFill>
                  <a:srgbClr val="17232D"/>
                </a:solidFill>
                <a:latin typeface="Inter"/>
              </a:rPr>
              <a:t>R2</a:t>
            </a:r>
          </a:p>
        </p:txBody>
      </p:sp>
      <p:sp>
        <p:nvSpPr>
          <p:cNvPr id="26" name="mb-l2"/>
          <p:cNvSpPr/>
          <p:nvPr/>
        </p:nvSpPr>
        <p:spPr>
          <a:xfrm>
            <a:off x="411480" y="3983329"/>
            <a:ext cx="341547" cy="68803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 marL="0" indent="0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50" b="0" i="0">
                <a:solidFill>
                  <a:srgbClr val="56636D"/>
                </a:solidFill>
                <a:latin typeface="Inter"/>
              </a:rPr>
              <a:t>2</a:t>
            </a:r>
          </a:p>
        </p:txBody>
      </p:sp>
      <p:sp>
        <p:nvSpPr>
          <p:cNvPr id="27" name="mb-21-fill"/>
          <p:cNvSpPr/>
          <p:nvPr/>
        </p:nvSpPr>
        <p:spPr>
          <a:xfrm>
            <a:off x="780459" y="3983329"/>
            <a:ext cx="341547" cy="688036"/>
          </a:xfrm>
          <a:prstGeom prst="rect">
            <a:avLst/>
          </a:prstGeom>
          <a:solidFill>
            <a:srgbClr val="B9DCC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mb-22-fill"/>
          <p:cNvSpPr/>
          <p:nvPr/>
        </p:nvSpPr>
        <p:spPr>
          <a:xfrm>
            <a:off x="1149438" y="3983329"/>
            <a:ext cx="341548" cy="688036"/>
          </a:xfrm>
          <a:prstGeom prst="rect">
            <a:avLst/>
          </a:prstGeom>
          <a:solidFill>
            <a:srgbClr val="B9DCC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mb-23"/>
          <p:cNvSpPr/>
          <p:nvPr/>
        </p:nvSpPr>
        <p:spPr>
          <a:xfrm>
            <a:off x="1518418" y="3983329"/>
            <a:ext cx="341547" cy="688036"/>
          </a:xfrm>
          <a:prstGeom prst="rect">
            <a:avLst/>
          </a:prstGeom>
          <a:solidFill>
            <a:srgbClr val="F3D27E"/>
          </a:solidFill>
        </p:spPr>
        <p:txBody>
          <a:bodyPr wrap="square" lIns="0" tIns="0" rIns="0" bIns="0" anchor="ctr">
            <a:noAutofit/>
          </a:bodyPr>
          <a:lstStyle/>
          <a:p>
            <a:pPr algn="ctr" marL="0" indent="0">
              <a:lnSpc>
                <a:spcPts val="7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50" b="1" i="0">
                <a:solidFill>
                  <a:srgbClr val="17232D"/>
                </a:solidFill>
                <a:latin typeface="Inter"/>
              </a:rPr>
              <a:t>R9</a:t>
            </a:r>
          </a:p>
        </p:txBody>
      </p:sp>
      <p:sp>
        <p:nvSpPr>
          <p:cNvPr id="30" name="mb-24-fill"/>
          <p:cNvSpPr/>
          <p:nvPr/>
        </p:nvSpPr>
        <p:spPr>
          <a:xfrm>
            <a:off x="1887397" y="3983329"/>
            <a:ext cx="341547" cy="688036"/>
          </a:xfrm>
          <a:prstGeom prst="rect">
            <a:avLst/>
          </a:prstGeom>
          <a:solidFill>
            <a:srgbClr val="F3D27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mb-25-fill"/>
          <p:cNvSpPr/>
          <p:nvPr/>
        </p:nvSpPr>
        <p:spPr>
          <a:xfrm>
            <a:off x="2256376" y="3983329"/>
            <a:ext cx="341547" cy="688036"/>
          </a:xfrm>
          <a:prstGeom prst="rect">
            <a:avLst/>
          </a:prstGeom>
          <a:solidFill>
            <a:srgbClr val="F3D27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mb-l1"/>
          <p:cNvSpPr/>
          <p:nvPr/>
        </p:nvSpPr>
        <p:spPr>
          <a:xfrm>
            <a:off x="411480" y="4698797"/>
            <a:ext cx="341547" cy="688035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 marL="0" indent="0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50" b="0" i="0">
                <a:solidFill>
                  <a:srgbClr val="56636D"/>
                </a:solidFill>
                <a:latin typeface="Inter"/>
              </a:rPr>
              <a:t>1</a:t>
            </a:r>
          </a:p>
        </p:txBody>
      </p:sp>
      <p:sp>
        <p:nvSpPr>
          <p:cNvPr id="33" name="mb-11-fill"/>
          <p:cNvSpPr/>
          <p:nvPr/>
        </p:nvSpPr>
        <p:spPr>
          <a:xfrm>
            <a:off x="780459" y="4698797"/>
            <a:ext cx="341547" cy="688035"/>
          </a:xfrm>
          <a:prstGeom prst="rect">
            <a:avLst/>
          </a:prstGeom>
          <a:solidFill>
            <a:srgbClr val="B9DCC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mb-12-fill"/>
          <p:cNvSpPr/>
          <p:nvPr/>
        </p:nvSpPr>
        <p:spPr>
          <a:xfrm>
            <a:off x="1149438" y="4698797"/>
            <a:ext cx="341548" cy="688035"/>
          </a:xfrm>
          <a:prstGeom prst="rect">
            <a:avLst/>
          </a:prstGeom>
          <a:solidFill>
            <a:srgbClr val="B9DCC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" name="mb-13-fill"/>
          <p:cNvSpPr/>
          <p:nvPr/>
        </p:nvSpPr>
        <p:spPr>
          <a:xfrm>
            <a:off x="1518418" y="4698797"/>
            <a:ext cx="341547" cy="688035"/>
          </a:xfrm>
          <a:prstGeom prst="rect">
            <a:avLst/>
          </a:prstGeom>
          <a:solidFill>
            <a:srgbClr val="B9DCC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mb-14-fill"/>
          <p:cNvSpPr/>
          <p:nvPr/>
        </p:nvSpPr>
        <p:spPr>
          <a:xfrm>
            <a:off x="1887397" y="4698797"/>
            <a:ext cx="341547" cy="688035"/>
          </a:xfrm>
          <a:prstGeom prst="rect">
            <a:avLst/>
          </a:prstGeom>
          <a:solidFill>
            <a:srgbClr val="B9DCC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" name="mb-15-fill"/>
          <p:cNvSpPr/>
          <p:nvPr/>
        </p:nvSpPr>
        <p:spPr>
          <a:xfrm>
            <a:off x="2256376" y="4698797"/>
            <a:ext cx="341547" cy="688035"/>
          </a:xfrm>
          <a:prstGeom prst="rect">
            <a:avLst/>
          </a:prstGeom>
          <a:solidFill>
            <a:srgbClr val="B9DCC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" name="mb-s1"/>
          <p:cNvSpPr/>
          <p:nvPr/>
        </p:nvSpPr>
        <p:spPr>
          <a:xfrm>
            <a:off x="780460" y="5414264"/>
            <a:ext cx="341547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 marL="0" indent="0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50" b="0" i="0">
                <a:solidFill>
                  <a:srgbClr val="56636D"/>
                </a:solidFill>
                <a:latin typeface="Inter"/>
              </a:rPr>
              <a:t>1</a:t>
            </a:r>
          </a:p>
        </p:txBody>
      </p:sp>
      <p:sp>
        <p:nvSpPr>
          <p:cNvPr id="39" name="mb-s2"/>
          <p:cNvSpPr/>
          <p:nvPr/>
        </p:nvSpPr>
        <p:spPr>
          <a:xfrm>
            <a:off x="1149439" y="5414264"/>
            <a:ext cx="341547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 marL="0" indent="0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50" b="0" i="0">
                <a:solidFill>
                  <a:srgbClr val="56636D"/>
                </a:solidFill>
                <a:latin typeface="Inter"/>
              </a:rPr>
              <a:t>2</a:t>
            </a:r>
          </a:p>
        </p:txBody>
      </p:sp>
      <p:sp>
        <p:nvSpPr>
          <p:cNvPr id="40" name="mb-s3"/>
          <p:cNvSpPr/>
          <p:nvPr/>
        </p:nvSpPr>
        <p:spPr>
          <a:xfrm>
            <a:off x="1518418" y="5414264"/>
            <a:ext cx="341547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 marL="0" indent="0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50" b="0" i="0">
                <a:solidFill>
                  <a:srgbClr val="56636D"/>
                </a:solidFill>
                <a:latin typeface="Inter"/>
              </a:rPr>
              <a:t>3</a:t>
            </a:r>
          </a:p>
        </p:txBody>
      </p:sp>
      <p:sp>
        <p:nvSpPr>
          <p:cNvPr id="41" name="mb-s4"/>
          <p:cNvSpPr/>
          <p:nvPr/>
        </p:nvSpPr>
        <p:spPr>
          <a:xfrm>
            <a:off x="1887397" y="5414264"/>
            <a:ext cx="341547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 marL="0" indent="0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50" b="0" i="0">
                <a:solidFill>
                  <a:srgbClr val="56636D"/>
                </a:solidFill>
                <a:latin typeface="Inter"/>
              </a:rPr>
              <a:t>4</a:t>
            </a:r>
          </a:p>
        </p:txBody>
      </p:sp>
      <p:sp>
        <p:nvSpPr>
          <p:cNvPr id="42" name="mb-s5"/>
          <p:cNvSpPr/>
          <p:nvPr/>
        </p:nvSpPr>
        <p:spPr>
          <a:xfrm>
            <a:off x="2256376" y="5414264"/>
            <a:ext cx="341547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 marL="0" indent="0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50" b="0" i="0">
                <a:solidFill>
                  <a:srgbClr val="56636D"/>
                </a:solidFill>
                <a:latin typeface="Inter"/>
              </a:rPr>
              <a:t>5</a:t>
            </a:r>
          </a:p>
        </p:txBody>
      </p:sp>
      <p:sp>
        <p:nvSpPr>
          <p:cNvPr id="43" name="mb-axt"/>
          <p:cNvSpPr/>
          <p:nvPr/>
        </p:nvSpPr>
        <p:spPr>
          <a:xfrm>
            <a:off x="798747" y="5555996"/>
            <a:ext cx="1799176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 marL="0" indent="0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50" b="0" i="0">
                <a:solidFill>
                  <a:srgbClr val="56636D"/>
                </a:solidFill>
                <a:latin typeface="Inter"/>
              </a:rPr>
              <a:t>Severity</a:t>
            </a:r>
          </a:p>
        </p:txBody>
      </p:sp>
      <p:sp>
        <p:nvSpPr>
          <p:cNvPr id="44" name="ma-h"/>
          <p:cNvSpPr/>
          <p:nvPr/>
        </p:nvSpPr>
        <p:spPr>
          <a:xfrm>
            <a:off x="2826523" y="1517903"/>
            <a:ext cx="2186443" cy="1498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ts val="108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sz="900" b="1" i="0">
                <a:solidFill>
                  <a:srgbClr val="17232D"/>
                </a:solidFill>
                <a:latin typeface="Inter"/>
              </a:rPr>
              <a:t>After mitigation</a:t>
            </a:r>
          </a:p>
        </p:txBody>
      </p:sp>
      <p:sp>
        <p:nvSpPr>
          <p:cNvPr id="45" name="ma-lk"/>
          <p:cNvSpPr/>
          <p:nvPr/>
        </p:nvSpPr>
        <p:spPr>
          <a:xfrm>
            <a:off x="2826523" y="1695195"/>
            <a:ext cx="2186443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50" b="0" i="0">
                <a:solidFill>
                  <a:srgbClr val="56636D"/>
                </a:solidFill>
                <a:latin typeface="Inter"/>
              </a:rPr>
              <a:t>Likelihood</a:t>
            </a:r>
          </a:p>
        </p:txBody>
      </p:sp>
      <p:sp>
        <p:nvSpPr>
          <p:cNvPr id="46" name="ma-l5"/>
          <p:cNvSpPr/>
          <p:nvPr/>
        </p:nvSpPr>
        <p:spPr>
          <a:xfrm>
            <a:off x="2826523" y="1836927"/>
            <a:ext cx="341547" cy="688035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 marL="0" indent="0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50" b="0" i="0">
                <a:solidFill>
                  <a:srgbClr val="56636D"/>
                </a:solidFill>
                <a:latin typeface="Inter"/>
              </a:rPr>
              <a:t>5</a:t>
            </a:r>
          </a:p>
        </p:txBody>
      </p:sp>
      <p:sp>
        <p:nvSpPr>
          <p:cNvPr id="47" name="ma-51-fill"/>
          <p:cNvSpPr/>
          <p:nvPr/>
        </p:nvSpPr>
        <p:spPr>
          <a:xfrm>
            <a:off x="3195502" y="1836927"/>
            <a:ext cx="341547" cy="688035"/>
          </a:xfrm>
          <a:prstGeom prst="rect">
            <a:avLst/>
          </a:prstGeom>
          <a:solidFill>
            <a:srgbClr val="B9DCC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8" name="ma-52-fill"/>
          <p:cNvSpPr/>
          <p:nvPr/>
        </p:nvSpPr>
        <p:spPr>
          <a:xfrm>
            <a:off x="3564481" y="1836927"/>
            <a:ext cx="341548" cy="688035"/>
          </a:xfrm>
          <a:prstGeom prst="rect">
            <a:avLst/>
          </a:prstGeom>
          <a:solidFill>
            <a:srgbClr val="F3D27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9" name="ma-53-fill"/>
          <p:cNvSpPr/>
          <p:nvPr/>
        </p:nvSpPr>
        <p:spPr>
          <a:xfrm>
            <a:off x="3933461" y="1836927"/>
            <a:ext cx="341547" cy="688035"/>
          </a:xfrm>
          <a:prstGeom prst="rect">
            <a:avLst/>
          </a:prstGeom>
          <a:solidFill>
            <a:srgbClr val="EA9A8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0" name="ma-54-fill"/>
          <p:cNvSpPr/>
          <p:nvPr/>
        </p:nvSpPr>
        <p:spPr>
          <a:xfrm>
            <a:off x="4302440" y="1836927"/>
            <a:ext cx="341547" cy="688035"/>
          </a:xfrm>
          <a:prstGeom prst="rect">
            <a:avLst/>
          </a:prstGeom>
          <a:solidFill>
            <a:srgbClr val="EA9A8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1" name="ma-55-fill"/>
          <p:cNvSpPr/>
          <p:nvPr/>
        </p:nvSpPr>
        <p:spPr>
          <a:xfrm>
            <a:off x="4671419" y="1836927"/>
            <a:ext cx="341547" cy="688035"/>
          </a:xfrm>
          <a:prstGeom prst="rect">
            <a:avLst/>
          </a:prstGeom>
          <a:solidFill>
            <a:srgbClr val="EA9A8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2" name="ma-l4"/>
          <p:cNvSpPr/>
          <p:nvPr/>
        </p:nvSpPr>
        <p:spPr>
          <a:xfrm>
            <a:off x="2826523" y="2552394"/>
            <a:ext cx="341547" cy="68803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 marL="0" indent="0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50" b="0" i="0">
                <a:solidFill>
                  <a:srgbClr val="56636D"/>
                </a:solidFill>
                <a:latin typeface="Inter"/>
              </a:rPr>
              <a:t>4</a:t>
            </a:r>
          </a:p>
        </p:txBody>
      </p:sp>
      <p:sp>
        <p:nvSpPr>
          <p:cNvPr id="53" name="ma-41-fill"/>
          <p:cNvSpPr/>
          <p:nvPr/>
        </p:nvSpPr>
        <p:spPr>
          <a:xfrm>
            <a:off x="3195502" y="2552394"/>
            <a:ext cx="341547" cy="688036"/>
          </a:xfrm>
          <a:prstGeom prst="rect">
            <a:avLst/>
          </a:prstGeom>
          <a:solidFill>
            <a:srgbClr val="B9DCC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4" name="ma-42-fill"/>
          <p:cNvSpPr/>
          <p:nvPr/>
        </p:nvSpPr>
        <p:spPr>
          <a:xfrm>
            <a:off x="3564481" y="2552394"/>
            <a:ext cx="341548" cy="688036"/>
          </a:xfrm>
          <a:prstGeom prst="rect">
            <a:avLst/>
          </a:prstGeom>
          <a:solidFill>
            <a:srgbClr val="F3D27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5" name="ma-43-fill"/>
          <p:cNvSpPr/>
          <p:nvPr/>
        </p:nvSpPr>
        <p:spPr>
          <a:xfrm>
            <a:off x="3933461" y="2552394"/>
            <a:ext cx="341547" cy="688036"/>
          </a:xfrm>
          <a:prstGeom prst="rect">
            <a:avLst/>
          </a:prstGeom>
          <a:solidFill>
            <a:srgbClr val="F3D27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6" name="ma-44-fill"/>
          <p:cNvSpPr/>
          <p:nvPr/>
        </p:nvSpPr>
        <p:spPr>
          <a:xfrm>
            <a:off x="4302440" y="2552394"/>
            <a:ext cx="341547" cy="688036"/>
          </a:xfrm>
          <a:prstGeom prst="rect">
            <a:avLst/>
          </a:prstGeom>
          <a:solidFill>
            <a:srgbClr val="EA9A8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7" name="ma-45-fill"/>
          <p:cNvSpPr/>
          <p:nvPr/>
        </p:nvSpPr>
        <p:spPr>
          <a:xfrm>
            <a:off x="4671419" y="2552394"/>
            <a:ext cx="341547" cy="688036"/>
          </a:xfrm>
          <a:prstGeom prst="rect">
            <a:avLst/>
          </a:prstGeom>
          <a:solidFill>
            <a:srgbClr val="EA9A8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8" name="ma-l3"/>
          <p:cNvSpPr/>
          <p:nvPr/>
        </p:nvSpPr>
        <p:spPr>
          <a:xfrm>
            <a:off x="2826523" y="3267862"/>
            <a:ext cx="341547" cy="688035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 marL="0" indent="0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50" b="0" i="0">
                <a:solidFill>
                  <a:srgbClr val="56636D"/>
                </a:solidFill>
                <a:latin typeface="Inter"/>
              </a:rPr>
              <a:t>3</a:t>
            </a:r>
          </a:p>
        </p:txBody>
      </p:sp>
      <p:sp>
        <p:nvSpPr>
          <p:cNvPr id="59" name="ma-31-fill"/>
          <p:cNvSpPr/>
          <p:nvPr/>
        </p:nvSpPr>
        <p:spPr>
          <a:xfrm>
            <a:off x="3195502" y="3267862"/>
            <a:ext cx="341547" cy="688035"/>
          </a:xfrm>
          <a:prstGeom prst="rect">
            <a:avLst/>
          </a:prstGeom>
          <a:solidFill>
            <a:srgbClr val="B9DCC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0" name="ma-32"/>
          <p:cNvSpPr/>
          <p:nvPr/>
        </p:nvSpPr>
        <p:spPr>
          <a:xfrm>
            <a:off x="3564481" y="3267862"/>
            <a:ext cx="341548" cy="688035"/>
          </a:xfrm>
          <a:prstGeom prst="rect">
            <a:avLst/>
          </a:prstGeom>
          <a:solidFill>
            <a:srgbClr val="F3D27E"/>
          </a:solidFill>
        </p:spPr>
        <p:txBody>
          <a:bodyPr wrap="square" lIns="0" tIns="0" rIns="0" bIns="0" anchor="ctr">
            <a:noAutofit/>
          </a:bodyPr>
          <a:lstStyle/>
          <a:p>
            <a:pPr algn="ctr" marL="0" indent="0">
              <a:lnSpc>
                <a:spcPts val="7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50" b="1" i="0">
                <a:solidFill>
                  <a:srgbClr val="17232D"/>
                </a:solidFill>
                <a:latin typeface="Inter"/>
              </a:rPr>
              <a:t>R4</a:t>
            </a:r>
          </a:p>
          <a:p>
            <a:pPr algn="ctr" marL="0" indent="0">
              <a:lnSpc>
                <a:spcPts val="7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50" b="1" i="0">
                <a:solidFill>
                  <a:srgbClr val="17232D"/>
                </a:solidFill>
                <a:latin typeface="Inter"/>
              </a:rPr>
              <a:t>R8</a:t>
            </a:r>
          </a:p>
        </p:txBody>
      </p:sp>
      <p:sp>
        <p:nvSpPr>
          <p:cNvPr id="61" name="ma-33-fill"/>
          <p:cNvSpPr/>
          <p:nvPr/>
        </p:nvSpPr>
        <p:spPr>
          <a:xfrm>
            <a:off x="3933461" y="3267862"/>
            <a:ext cx="341547" cy="688035"/>
          </a:xfrm>
          <a:prstGeom prst="rect">
            <a:avLst/>
          </a:prstGeom>
          <a:solidFill>
            <a:srgbClr val="F3D27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2" name="ma-34-fill"/>
          <p:cNvSpPr/>
          <p:nvPr/>
        </p:nvSpPr>
        <p:spPr>
          <a:xfrm>
            <a:off x="4302440" y="3267862"/>
            <a:ext cx="341547" cy="688035"/>
          </a:xfrm>
          <a:prstGeom prst="rect">
            <a:avLst/>
          </a:prstGeom>
          <a:solidFill>
            <a:srgbClr val="F3D27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3" name="ma-35-fill"/>
          <p:cNvSpPr/>
          <p:nvPr/>
        </p:nvSpPr>
        <p:spPr>
          <a:xfrm>
            <a:off x="4671419" y="3267862"/>
            <a:ext cx="341547" cy="688035"/>
          </a:xfrm>
          <a:prstGeom prst="rect">
            <a:avLst/>
          </a:prstGeom>
          <a:solidFill>
            <a:srgbClr val="EA9A8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4" name="ma-l2"/>
          <p:cNvSpPr/>
          <p:nvPr/>
        </p:nvSpPr>
        <p:spPr>
          <a:xfrm>
            <a:off x="2826523" y="3983329"/>
            <a:ext cx="341547" cy="68803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 marL="0" indent="0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50" b="0" i="0">
                <a:solidFill>
                  <a:srgbClr val="56636D"/>
                </a:solidFill>
                <a:latin typeface="Inter"/>
              </a:rPr>
              <a:t>2</a:t>
            </a:r>
          </a:p>
        </p:txBody>
      </p:sp>
      <p:sp>
        <p:nvSpPr>
          <p:cNvPr id="65" name="ma-21-fill"/>
          <p:cNvSpPr/>
          <p:nvPr/>
        </p:nvSpPr>
        <p:spPr>
          <a:xfrm>
            <a:off x="3195502" y="3983329"/>
            <a:ext cx="341547" cy="688036"/>
          </a:xfrm>
          <a:prstGeom prst="rect">
            <a:avLst/>
          </a:prstGeom>
          <a:solidFill>
            <a:srgbClr val="B9DCC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6" name="ma-22"/>
          <p:cNvSpPr/>
          <p:nvPr/>
        </p:nvSpPr>
        <p:spPr>
          <a:xfrm>
            <a:off x="3564481" y="3983329"/>
            <a:ext cx="341548" cy="688036"/>
          </a:xfrm>
          <a:prstGeom prst="rect">
            <a:avLst/>
          </a:prstGeom>
          <a:solidFill>
            <a:srgbClr val="B9DCC4"/>
          </a:solidFill>
        </p:spPr>
        <p:txBody>
          <a:bodyPr wrap="square" lIns="0" tIns="0" rIns="0" bIns="0" anchor="ctr">
            <a:noAutofit/>
          </a:bodyPr>
          <a:lstStyle/>
          <a:p>
            <a:pPr algn="ctr" marL="0" indent="0">
              <a:lnSpc>
                <a:spcPts val="7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50" b="1" i="0">
                <a:solidFill>
                  <a:srgbClr val="17232D"/>
                </a:solidFill>
                <a:latin typeface="Inter"/>
              </a:rPr>
              <a:t>R3</a:t>
            </a:r>
          </a:p>
          <a:p>
            <a:pPr algn="ctr" marL="0" indent="0">
              <a:lnSpc>
                <a:spcPts val="7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50" b="1" i="0">
                <a:solidFill>
                  <a:srgbClr val="17232D"/>
                </a:solidFill>
                <a:latin typeface="Inter"/>
              </a:rPr>
              <a:t>R5</a:t>
            </a:r>
          </a:p>
        </p:txBody>
      </p:sp>
      <p:sp>
        <p:nvSpPr>
          <p:cNvPr id="67" name="ma-23"/>
          <p:cNvSpPr/>
          <p:nvPr/>
        </p:nvSpPr>
        <p:spPr>
          <a:xfrm>
            <a:off x="3933461" y="3983329"/>
            <a:ext cx="341547" cy="688036"/>
          </a:xfrm>
          <a:prstGeom prst="rect">
            <a:avLst/>
          </a:prstGeom>
          <a:solidFill>
            <a:srgbClr val="F3D27E"/>
          </a:solidFill>
        </p:spPr>
        <p:txBody>
          <a:bodyPr wrap="square" lIns="0" tIns="0" rIns="0" bIns="0" anchor="ctr">
            <a:noAutofit/>
          </a:bodyPr>
          <a:lstStyle/>
          <a:p>
            <a:pPr algn="ctr" marL="0" indent="0">
              <a:lnSpc>
                <a:spcPts val="7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50" b="1" i="0">
                <a:solidFill>
                  <a:srgbClr val="17232D"/>
                </a:solidFill>
                <a:latin typeface="Inter"/>
              </a:rPr>
              <a:t>R1</a:t>
            </a:r>
          </a:p>
          <a:p>
            <a:pPr algn="ctr" marL="0" indent="0">
              <a:lnSpc>
                <a:spcPts val="7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50" b="1" i="0">
                <a:solidFill>
                  <a:srgbClr val="17232D"/>
                </a:solidFill>
                <a:latin typeface="Inter"/>
              </a:rPr>
              <a:t>R6</a:t>
            </a:r>
          </a:p>
          <a:p>
            <a:pPr algn="ctr" marL="0" indent="0">
              <a:lnSpc>
                <a:spcPts val="7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50" b="1" i="0">
                <a:solidFill>
                  <a:srgbClr val="17232D"/>
                </a:solidFill>
                <a:latin typeface="Inter"/>
              </a:rPr>
              <a:t>R7</a:t>
            </a:r>
          </a:p>
        </p:txBody>
      </p:sp>
      <p:sp>
        <p:nvSpPr>
          <p:cNvPr id="68" name="ma-24"/>
          <p:cNvSpPr/>
          <p:nvPr/>
        </p:nvSpPr>
        <p:spPr>
          <a:xfrm>
            <a:off x="4302440" y="3983329"/>
            <a:ext cx="341547" cy="688036"/>
          </a:xfrm>
          <a:prstGeom prst="rect">
            <a:avLst/>
          </a:prstGeom>
          <a:solidFill>
            <a:srgbClr val="F3D27E"/>
          </a:solidFill>
        </p:spPr>
        <p:txBody>
          <a:bodyPr wrap="square" lIns="0" tIns="0" rIns="0" bIns="0" anchor="ctr">
            <a:noAutofit/>
          </a:bodyPr>
          <a:lstStyle/>
          <a:p>
            <a:pPr algn="ctr" marL="0" indent="0">
              <a:lnSpc>
                <a:spcPts val="7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50" b="1" i="0">
                <a:solidFill>
                  <a:srgbClr val="17232D"/>
                </a:solidFill>
                <a:latin typeface="Inter"/>
              </a:rPr>
              <a:t>R2</a:t>
            </a:r>
          </a:p>
        </p:txBody>
      </p:sp>
      <p:sp>
        <p:nvSpPr>
          <p:cNvPr id="69" name="ma-25-fill"/>
          <p:cNvSpPr/>
          <p:nvPr/>
        </p:nvSpPr>
        <p:spPr>
          <a:xfrm>
            <a:off x="4671419" y="3983329"/>
            <a:ext cx="341547" cy="688036"/>
          </a:xfrm>
          <a:prstGeom prst="rect">
            <a:avLst/>
          </a:prstGeom>
          <a:solidFill>
            <a:srgbClr val="F3D27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0" name="ma-l1"/>
          <p:cNvSpPr/>
          <p:nvPr/>
        </p:nvSpPr>
        <p:spPr>
          <a:xfrm>
            <a:off x="2826523" y="4698797"/>
            <a:ext cx="341547" cy="688035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 marL="0" indent="0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50" b="0" i="0">
                <a:solidFill>
                  <a:srgbClr val="56636D"/>
                </a:solidFill>
                <a:latin typeface="Inter"/>
              </a:rPr>
              <a:t>1</a:t>
            </a:r>
          </a:p>
        </p:txBody>
      </p:sp>
      <p:sp>
        <p:nvSpPr>
          <p:cNvPr id="71" name="ma-11-fill"/>
          <p:cNvSpPr/>
          <p:nvPr/>
        </p:nvSpPr>
        <p:spPr>
          <a:xfrm>
            <a:off x="3195502" y="4698797"/>
            <a:ext cx="341547" cy="688035"/>
          </a:xfrm>
          <a:prstGeom prst="rect">
            <a:avLst/>
          </a:prstGeom>
          <a:solidFill>
            <a:srgbClr val="B9DCC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2" name="ma-12"/>
          <p:cNvSpPr/>
          <p:nvPr/>
        </p:nvSpPr>
        <p:spPr>
          <a:xfrm>
            <a:off x="3564481" y="4698797"/>
            <a:ext cx="341548" cy="688035"/>
          </a:xfrm>
          <a:prstGeom prst="rect">
            <a:avLst/>
          </a:prstGeom>
          <a:solidFill>
            <a:srgbClr val="B9DCC4"/>
          </a:solidFill>
        </p:spPr>
        <p:txBody>
          <a:bodyPr wrap="square" lIns="0" tIns="0" rIns="0" bIns="0" anchor="ctr">
            <a:noAutofit/>
          </a:bodyPr>
          <a:lstStyle/>
          <a:p>
            <a:pPr algn="ctr" marL="0" indent="0">
              <a:lnSpc>
                <a:spcPts val="7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50" b="1" i="0">
                <a:solidFill>
                  <a:srgbClr val="17232D"/>
                </a:solidFill>
                <a:latin typeface="Inter"/>
              </a:rPr>
              <a:t>R9</a:t>
            </a:r>
          </a:p>
        </p:txBody>
      </p:sp>
      <p:sp>
        <p:nvSpPr>
          <p:cNvPr id="73" name="ma-13-fill"/>
          <p:cNvSpPr/>
          <p:nvPr/>
        </p:nvSpPr>
        <p:spPr>
          <a:xfrm>
            <a:off x="3933461" y="4698797"/>
            <a:ext cx="341547" cy="688035"/>
          </a:xfrm>
          <a:prstGeom prst="rect">
            <a:avLst/>
          </a:prstGeom>
          <a:solidFill>
            <a:srgbClr val="B9DCC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4" name="ma-14-fill"/>
          <p:cNvSpPr/>
          <p:nvPr/>
        </p:nvSpPr>
        <p:spPr>
          <a:xfrm>
            <a:off x="4302440" y="4698797"/>
            <a:ext cx="341547" cy="688035"/>
          </a:xfrm>
          <a:prstGeom prst="rect">
            <a:avLst/>
          </a:prstGeom>
          <a:solidFill>
            <a:srgbClr val="B9DCC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5" name="ma-15-fill"/>
          <p:cNvSpPr/>
          <p:nvPr/>
        </p:nvSpPr>
        <p:spPr>
          <a:xfrm>
            <a:off x="4671419" y="4698797"/>
            <a:ext cx="341547" cy="688035"/>
          </a:xfrm>
          <a:prstGeom prst="rect">
            <a:avLst/>
          </a:prstGeom>
          <a:solidFill>
            <a:srgbClr val="B9DCC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6" name="ma-s1"/>
          <p:cNvSpPr/>
          <p:nvPr/>
        </p:nvSpPr>
        <p:spPr>
          <a:xfrm>
            <a:off x="3195503" y="5414264"/>
            <a:ext cx="341547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 marL="0" indent="0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50" b="0" i="0">
                <a:solidFill>
                  <a:srgbClr val="56636D"/>
                </a:solidFill>
                <a:latin typeface="Inter"/>
              </a:rPr>
              <a:t>1</a:t>
            </a:r>
          </a:p>
        </p:txBody>
      </p:sp>
      <p:sp>
        <p:nvSpPr>
          <p:cNvPr id="77" name="ma-s2"/>
          <p:cNvSpPr/>
          <p:nvPr/>
        </p:nvSpPr>
        <p:spPr>
          <a:xfrm>
            <a:off x="3564482" y="5414264"/>
            <a:ext cx="341547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 marL="0" indent="0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50" b="0" i="0">
                <a:solidFill>
                  <a:srgbClr val="56636D"/>
                </a:solidFill>
                <a:latin typeface="Inter"/>
              </a:rPr>
              <a:t>2</a:t>
            </a:r>
          </a:p>
        </p:txBody>
      </p:sp>
      <p:sp>
        <p:nvSpPr>
          <p:cNvPr id="78" name="ma-s3"/>
          <p:cNvSpPr/>
          <p:nvPr/>
        </p:nvSpPr>
        <p:spPr>
          <a:xfrm>
            <a:off x="3933461" y="5414264"/>
            <a:ext cx="341547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 marL="0" indent="0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50" b="0" i="0">
                <a:solidFill>
                  <a:srgbClr val="56636D"/>
                </a:solidFill>
                <a:latin typeface="Inter"/>
              </a:rPr>
              <a:t>3</a:t>
            </a:r>
          </a:p>
        </p:txBody>
      </p:sp>
      <p:sp>
        <p:nvSpPr>
          <p:cNvPr id="79" name="ma-s4"/>
          <p:cNvSpPr/>
          <p:nvPr/>
        </p:nvSpPr>
        <p:spPr>
          <a:xfrm>
            <a:off x="4302440" y="5414264"/>
            <a:ext cx="341547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 marL="0" indent="0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50" b="0" i="0">
                <a:solidFill>
                  <a:srgbClr val="56636D"/>
                </a:solidFill>
                <a:latin typeface="Inter"/>
              </a:rPr>
              <a:t>4</a:t>
            </a:r>
          </a:p>
        </p:txBody>
      </p:sp>
      <p:sp>
        <p:nvSpPr>
          <p:cNvPr id="80" name="ma-s5"/>
          <p:cNvSpPr/>
          <p:nvPr/>
        </p:nvSpPr>
        <p:spPr>
          <a:xfrm>
            <a:off x="4671419" y="5414264"/>
            <a:ext cx="341547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 marL="0" indent="0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50" b="0" i="0">
                <a:solidFill>
                  <a:srgbClr val="56636D"/>
                </a:solidFill>
                <a:latin typeface="Inter"/>
              </a:rPr>
              <a:t>5</a:t>
            </a:r>
          </a:p>
        </p:txBody>
      </p:sp>
      <p:sp>
        <p:nvSpPr>
          <p:cNvPr id="81" name="ma-axt"/>
          <p:cNvSpPr/>
          <p:nvPr/>
        </p:nvSpPr>
        <p:spPr>
          <a:xfrm>
            <a:off x="3213790" y="5555996"/>
            <a:ext cx="1799176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 marL="0" indent="0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50" b="0" i="0">
                <a:solidFill>
                  <a:srgbClr val="56636D"/>
                </a:solidFill>
                <a:latin typeface="Inter"/>
              </a:rPr>
              <a:t>Severity</a:t>
            </a:r>
          </a:p>
        </p:txBody>
      </p:sp>
      <p:sp>
        <p:nvSpPr>
          <p:cNvPr id="82" name="zk1-s-fill"/>
          <p:cNvSpPr/>
          <p:nvPr/>
        </p:nvSpPr>
        <p:spPr>
          <a:xfrm>
            <a:off x="411480" y="5736590"/>
            <a:ext cx="137160" cy="91440"/>
          </a:xfrm>
          <a:prstGeom prst="rect">
            <a:avLst/>
          </a:prstGeom>
          <a:solidFill>
            <a:srgbClr val="B9DCC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3" name="zk1-t"/>
          <p:cNvSpPr/>
          <p:nvPr/>
        </p:nvSpPr>
        <p:spPr>
          <a:xfrm>
            <a:off x="576072" y="5725160"/>
            <a:ext cx="1327041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50" b="0" i="0">
                <a:solidFill>
                  <a:srgbClr val="56636D"/>
                </a:solidFill>
                <a:latin typeface="Inter"/>
              </a:rPr>
              <a:t>Acceptable: 5 or less</a:t>
            </a:r>
          </a:p>
        </p:txBody>
      </p:sp>
      <p:sp>
        <p:nvSpPr>
          <p:cNvPr id="84" name="zk2-s-fill"/>
          <p:cNvSpPr/>
          <p:nvPr/>
        </p:nvSpPr>
        <p:spPr>
          <a:xfrm>
            <a:off x="2003697" y="5736590"/>
            <a:ext cx="137160" cy="91440"/>
          </a:xfrm>
          <a:prstGeom prst="rect">
            <a:avLst/>
          </a:prstGeom>
          <a:solidFill>
            <a:srgbClr val="F3D27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5" name="zk2-t"/>
          <p:cNvSpPr/>
          <p:nvPr/>
        </p:nvSpPr>
        <p:spPr>
          <a:xfrm>
            <a:off x="2168289" y="5725160"/>
            <a:ext cx="1103296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50" b="0" i="0">
                <a:solidFill>
                  <a:srgbClr val="56636D"/>
                </a:solidFill>
                <a:latin typeface="Inter"/>
              </a:rPr>
              <a:t>ALARP: 6 to 12</a:t>
            </a:r>
          </a:p>
        </p:txBody>
      </p:sp>
      <p:sp>
        <p:nvSpPr>
          <p:cNvPr id="86" name="zk3-s-fill"/>
          <p:cNvSpPr/>
          <p:nvPr/>
        </p:nvSpPr>
        <p:spPr>
          <a:xfrm>
            <a:off x="3372169" y="5736590"/>
            <a:ext cx="137160" cy="91440"/>
          </a:xfrm>
          <a:prstGeom prst="rect">
            <a:avLst/>
          </a:prstGeom>
          <a:solidFill>
            <a:srgbClr val="EA9A8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7" name="zk3-t"/>
          <p:cNvSpPr/>
          <p:nvPr/>
        </p:nvSpPr>
        <p:spPr>
          <a:xfrm>
            <a:off x="3536761" y="5725160"/>
            <a:ext cx="1476205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50" b="0" i="0">
                <a:solidFill>
                  <a:srgbClr val="56636D"/>
                </a:solidFill>
                <a:latin typeface="Inter"/>
              </a:rPr>
              <a:t>Unacceptable: 15 or more</a:t>
            </a:r>
          </a:p>
        </p:txBody>
      </p:sp>
      <p:sp>
        <p:nvSpPr>
          <p:cNvPr id="88" name="mx-n"/>
          <p:cNvSpPr/>
          <p:nvPr/>
        </p:nvSpPr>
        <p:spPr>
          <a:xfrm>
            <a:off x="411480" y="5894324"/>
            <a:ext cx="4601486" cy="2717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ts val="92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sz="800" b="0" i="0">
                <a:solidFill>
                  <a:srgbClr val="17232D"/>
                </a:solidFill>
                <a:latin typeface="Inter"/>
              </a:rPr>
              <a:t>R1 and R2 come from moving validated lines. Bridge stock, build-ahead and dual qualification</a:t>
            </a:r>
            <a:br/>
            <a:r>
              <a:rPr sz="800" b="0" i="0">
                <a:solidFill>
                  <a:srgbClr val="17232D"/>
                </a:solidFill>
                <a:latin typeface="Inter"/>
              </a:rPr>
              <a:t>cut their likelihood; severity stays high because a supply gap reaches patients.</a:t>
            </a:r>
          </a:p>
        </p:txBody>
      </p:sp>
      <p:sp>
        <p:nvSpPr>
          <p:cNvPr id="89" name="reg-h"/>
          <p:cNvSpPr/>
          <p:nvPr/>
        </p:nvSpPr>
        <p:spPr>
          <a:xfrm>
            <a:off x="5241566" y="1133855"/>
            <a:ext cx="6538954" cy="1600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ts val="12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 b="1" i="0">
                <a:solidFill>
                  <a:srgbClr val="0E4D5E"/>
                </a:solidFill>
                <a:latin typeface="Inter"/>
              </a:rPr>
              <a:t>Risk register</a:t>
            </a:r>
          </a:p>
        </p:txBody>
      </p:sp>
      <p:sp>
        <p:nvSpPr>
          <p:cNvPr id="90" name="reg-u"/>
          <p:cNvSpPr/>
          <p:nvPr/>
        </p:nvSpPr>
        <p:spPr>
          <a:xfrm>
            <a:off x="5241566" y="1321307"/>
            <a:ext cx="6538954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50" b="0" i="0">
                <a:solidFill>
                  <a:srgbClr val="56636D"/>
                </a:solidFill>
                <a:latin typeface="Inter"/>
              </a:rPr>
              <a:t>Mitigation costs $14m in all, inside the $165m; scores before and after mitigation, shaded by zone; owners report monthly</a:t>
            </a:r>
          </a:p>
        </p:txBody>
      </p:sp>
      <p:graphicFrame>
        <p:nvGraphicFramePr>
          <p:cNvPr id="91" name="register"/>
          <p:cNvGraphicFramePr>
            <a:graphicFrameLocks noGrp="1"/>
          </p:cNvGraphicFramePr>
          <p:nvPr/>
        </p:nvGraphicFramePr>
        <p:xfrm>
          <a:off x="5241566" y="1463039"/>
          <a:ext cx="6538954" cy="2610612"/>
        </p:xfrm>
        <a:graphic>
          <a:graphicData uri="http://schemas.openxmlformats.org/drawingml/2006/table">
            <a:tbl>
              <a:tblPr firstRow="0" bandRow="0" lastRow="0" firstCol="0" lastCol="0" bandCol="0"/>
              <a:tblGrid>
                <a:gridCol w="294253"/>
                <a:gridCol w="1961686"/>
                <a:gridCol w="555811"/>
                <a:gridCol w="2288634"/>
                <a:gridCol w="523116"/>
                <a:gridCol w="457727"/>
                <a:gridCol w="457727"/>
              </a:tblGrid>
              <a:tr h="169418">
                <a:tc>
                  <a:txBody>
                    <a:bodyPr wrap="square"/>
                    <a:lstStyle/>
                    <a:p>
                      <a:pPr algn="l"/>
                      <a:r>
                        <a:rPr sz="750" b="1" i="0">
                          <a:solidFill>
                            <a:srgbClr val="0E4D5E"/>
                          </a:solidFill>
                          <a:latin typeface="Inter"/>
                        </a:rPr>
                        <a:t>ID</a:t>
                      </a:r>
                      <a:endParaRPr sz="750" b="1" i="0">
                        <a:solidFill>
                          <a:srgbClr val="0E4D5E"/>
                        </a:solidFill>
                        <a:latin typeface="Inter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0E4D5E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 b="1" i="0">
                          <a:solidFill>
                            <a:srgbClr val="0E4D5E"/>
                          </a:solidFill>
                          <a:latin typeface="Inter"/>
                        </a:rPr>
                        <a:t>Risk</a:t>
                      </a:r>
                      <a:endParaRPr sz="750" b="1" i="0">
                        <a:solidFill>
                          <a:srgbClr val="0E4D5E"/>
                        </a:solidFill>
                        <a:latin typeface="Inter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0E4D5E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 b="1" i="0">
                          <a:solidFill>
                            <a:srgbClr val="0E4D5E"/>
                          </a:solidFill>
                          <a:latin typeface="Inter"/>
                        </a:rPr>
                        <a:t>Owner</a:t>
                      </a:r>
                      <a:endParaRPr sz="750" b="1" i="0">
                        <a:solidFill>
                          <a:srgbClr val="0E4D5E"/>
                        </a:solidFill>
                        <a:latin typeface="Inter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0E4D5E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 b="1" i="0">
                          <a:solidFill>
                            <a:srgbClr val="0E4D5E"/>
                          </a:solidFill>
                          <a:latin typeface="Inter"/>
                        </a:rPr>
                        <a:t>Mitigation</a:t>
                      </a:r>
                      <a:endParaRPr sz="750" b="1" i="0">
                        <a:solidFill>
                          <a:srgbClr val="0E4D5E"/>
                        </a:solidFill>
                        <a:latin typeface="Inter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0E4D5E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 b="1" i="0">
                          <a:solidFill>
                            <a:srgbClr val="0E4D5E"/>
                          </a:solidFill>
                          <a:latin typeface="Inter"/>
                        </a:rPr>
                        <a:t>Cost, $m</a:t>
                      </a:r>
                      <a:endParaRPr sz="750" b="1" i="0">
                        <a:solidFill>
                          <a:srgbClr val="0E4D5E"/>
                        </a:solidFill>
                        <a:latin typeface="Inter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0E4D5E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 b="1" i="0">
                          <a:solidFill>
                            <a:srgbClr val="0E4D5E"/>
                          </a:solidFill>
                          <a:latin typeface="Inter"/>
                        </a:rPr>
                        <a:t>Before</a:t>
                      </a:r>
                      <a:endParaRPr sz="750" b="1" i="0">
                        <a:solidFill>
                          <a:srgbClr val="0E4D5E"/>
                        </a:solidFill>
                        <a:latin typeface="Inter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0E4D5E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 b="1" i="0">
                          <a:solidFill>
                            <a:srgbClr val="0E4D5E"/>
                          </a:solidFill>
                          <a:latin typeface="Inter"/>
                        </a:rPr>
                        <a:t>After</a:t>
                      </a:r>
                      <a:endParaRPr sz="750" b="1" i="0">
                        <a:solidFill>
                          <a:srgbClr val="0E4D5E"/>
                        </a:solidFill>
                        <a:latin typeface="Inter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0E4D5E"/>
                      </a:solidFill>
                    </a:lnB>
                    <a:noFill/>
                  </a:tcPr>
                </a:tc>
              </a:tr>
              <a:tr h="283972">
                <a:tc>
                  <a:txBody>
                    <a:bodyPr wrap="square"/>
                    <a:lstStyle/>
                    <a:p>
                      <a:pPr algn="l"/>
                      <a:r>
                        <a:rPr sz="750" b="1" i="0">
                          <a:solidFill>
                            <a:srgbClr val="C4541C"/>
                          </a:solidFill>
                          <a:latin typeface="Inter"/>
                        </a:rPr>
                        <a:t>R1</a:t>
                      </a:r>
                      <a:endParaRPr sz="750" b="1" i="0">
                        <a:solidFill>
                          <a:srgbClr val="C4541C"/>
                        </a:solidFill>
                        <a:latin typeface="Inter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rgbClr val="0E4D5E"/>
                      </a:solidFill>
                    </a:lnT>
                    <a:lnB w="6350">
                      <a:solidFill>
                        <a:srgbClr val="C9D2D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 b="0" i="0">
                          <a:solidFill>
                            <a:srgbClr val="17232D"/>
                          </a:solidFill>
                          <a:latin typeface="Inter"/>
                        </a:rPr>
                        <a:t>Line re-validation delays the Salt Lake City exit</a:t>
                      </a:r>
                      <a:endParaRPr sz="750" b="0" i="0">
                        <a:solidFill>
                          <a:srgbClr val="17232D"/>
                        </a:solidFill>
                        <a:latin typeface="Inter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rgbClr val="0E4D5E"/>
                      </a:solidFill>
                    </a:lnT>
                    <a:lnB w="6350">
                      <a:solidFill>
                        <a:srgbClr val="C9D2D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 b="0" i="0">
                          <a:solidFill>
                            <a:srgbClr val="17232D"/>
                          </a:solidFill>
                          <a:latin typeface="Inter"/>
                        </a:rPr>
                        <a:t>COO, CQRO</a:t>
                      </a:r>
                      <a:endParaRPr sz="750" b="0" i="0">
                        <a:solidFill>
                          <a:srgbClr val="17232D"/>
                        </a:solidFill>
                        <a:latin typeface="Inter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rgbClr val="0E4D5E"/>
                      </a:solidFill>
                    </a:lnT>
                    <a:lnB w="6350">
                      <a:solidFill>
                        <a:srgbClr val="C9D2D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 b="0" i="0">
                          <a:solidFill>
                            <a:srgbClr val="17232D"/>
                          </a:solidFill>
                          <a:latin typeface="Inter"/>
                        </a:rPr>
                        <a:t>Validation master plan per line; 10 weeks of bridge stock</a:t>
                      </a:r>
                      <a:endParaRPr sz="750" b="0" i="0">
                        <a:solidFill>
                          <a:srgbClr val="17232D"/>
                        </a:solidFill>
                        <a:latin typeface="Inter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rgbClr val="0E4D5E"/>
                      </a:solidFill>
                    </a:lnT>
                    <a:lnB w="6350">
                      <a:solidFill>
                        <a:srgbClr val="C9D2D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 i="0">
                          <a:solidFill>
                            <a:srgbClr val="17232D"/>
                          </a:solidFill>
                          <a:latin typeface="Inter"/>
                        </a:rPr>
                        <a:t>2.6</a:t>
                      </a:r>
                      <a:endParaRPr sz="750" b="0" i="0">
                        <a:solidFill>
                          <a:srgbClr val="17232D"/>
                        </a:solidFill>
                        <a:latin typeface="Inter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rgbClr val="0E4D5E"/>
                      </a:solidFill>
                    </a:lnT>
                    <a:lnB w="6350">
                      <a:solidFill>
                        <a:srgbClr val="C9D2D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 i="0">
                          <a:solidFill>
                            <a:srgbClr val="17232D"/>
                          </a:solidFill>
                          <a:latin typeface="Inter"/>
                        </a:rPr>
                        <a:t>16</a:t>
                      </a:r>
                      <a:endParaRPr sz="750" b="1" i="0">
                        <a:solidFill>
                          <a:srgbClr val="17232D"/>
                        </a:solidFill>
                        <a:latin typeface="Inter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rgbClr val="0E4D5E"/>
                      </a:solidFill>
                    </a:lnT>
                    <a:lnB w="6350">
                      <a:solidFill>
                        <a:srgbClr val="C9D2D8"/>
                      </a:solidFill>
                    </a:lnB>
                    <a:solidFill>
                      <a:srgbClr val="EA9A8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 i="0">
                          <a:solidFill>
                            <a:srgbClr val="17232D"/>
                          </a:solidFill>
                          <a:latin typeface="Inter"/>
                        </a:rPr>
                        <a:t>6</a:t>
                      </a:r>
                      <a:endParaRPr sz="750" b="1" i="0">
                        <a:solidFill>
                          <a:srgbClr val="17232D"/>
                        </a:solidFill>
                        <a:latin typeface="Inter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rgbClr val="0E4D5E"/>
                      </a:solidFill>
                    </a:lnT>
                    <a:lnB w="6350">
                      <a:solidFill>
                        <a:srgbClr val="C9D2D8"/>
                      </a:solidFill>
                    </a:lnB>
                    <a:solidFill>
                      <a:srgbClr val="F3D27E"/>
                    </a:solidFill>
                  </a:tcPr>
                </a:tc>
              </a:tr>
              <a:tr h="283972">
                <a:tc>
                  <a:txBody>
                    <a:bodyPr wrap="square"/>
                    <a:lstStyle/>
                    <a:p>
                      <a:pPr algn="l"/>
                      <a:r>
                        <a:rPr sz="750" b="1" i="0">
                          <a:solidFill>
                            <a:srgbClr val="C4541C"/>
                          </a:solidFill>
                          <a:latin typeface="Inter"/>
                        </a:rPr>
                        <a:t>R2</a:t>
                      </a:r>
                      <a:endParaRPr sz="750" b="1" i="0">
                        <a:solidFill>
                          <a:srgbClr val="C4541C"/>
                        </a:solidFill>
                        <a:latin typeface="Inter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D2D8"/>
                      </a:solidFill>
                    </a:lnT>
                    <a:lnB w="6350">
                      <a:solidFill>
                        <a:srgbClr val="C9D2D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 b="0" i="0">
                          <a:solidFill>
                            <a:srgbClr val="17232D"/>
                          </a:solidFill>
                          <a:latin typeface="Inter"/>
                        </a:rPr>
                        <a:t>US hospital supply interrupted during line moves</a:t>
                      </a:r>
                      <a:endParaRPr sz="750" b="0" i="0">
                        <a:solidFill>
                          <a:srgbClr val="17232D"/>
                        </a:solidFill>
                        <a:latin typeface="Inter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D2D8"/>
                      </a:solidFill>
                    </a:lnT>
                    <a:lnB w="6350">
                      <a:solidFill>
                        <a:srgbClr val="C9D2D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 b="0" i="0">
                          <a:solidFill>
                            <a:srgbClr val="17232D"/>
                          </a:solidFill>
                          <a:latin typeface="Inter"/>
                        </a:rPr>
                        <a:t>COO</a:t>
                      </a:r>
                      <a:endParaRPr sz="750" b="0" i="0">
                        <a:solidFill>
                          <a:srgbClr val="17232D"/>
                        </a:solidFill>
                        <a:latin typeface="Inter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D2D8"/>
                      </a:solidFill>
                    </a:lnT>
                    <a:lnB w="6350">
                      <a:solidFill>
                        <a:srgbClr val="C9D2D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 b="0" i="0">
                          <a:solidFill>
                            <a:srgbClr val="17232D"/>
                          </a:solidFill>
                          <a:latin typeface="Inter"/>
                        </a:rPr>
                        <a:t>12-week build-ahead; lines dual-qualified before cut-over</a:t>
                      </a:r>
                      <a:endParaRPr sz="750" b="0" i="0">
                        <a:solidFill>
                          <a:srgbClr val="17232D"/>
                        </a:solidFill>
                        <a:latin typeface="Inter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D2D8"/>
                      </a:solidFill>
                    </a:lnT>
                    <a:lnB w="6350">
                      <a:solidFill>
                        <a:srgbClr val="C9D2D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 i="0">
                          <a:solidFill>
                            <a:srgbClr val="17232D"/>
                          </a:solidFill>
                          <a:latin typeface="Inter"/>
                        </a:rPr>
                        <a:t>3.8</a:t>
                      </a:r>
                      <a:endParaRPr sz="750" b="0" i="0">
                        <a:solidFill>
                          <a:srgbClr val="17232D"/>
                        </a:solidFill>
                        <a:latin typeface="Inter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D2D8"/>
                      </a:solidFill>
                    </a:lnT>
                    <a:lnB w="6350">
                      <a:solidFill>
                        <a:srgbClr val="C9D2D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 i="0">
                          <a:solidFill>
                            <a:srgbClr val="17232D"/>
                          </a:solidFill>
                          <a:latin typeface="Inter"/>
                        </a:rPr>
                        <a:t>15</a:t>
                      </a:r>
                      <a:endParaRPr sz="750" b="1" i="0">
                        <a:solidFill>
                          <a:srgbClr val="17232D"/>
                        </a:solidFill>
                        <a:latin typeface="Inter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D2D8"/>
                      </a:solidFill>
                    </a:lnT>
                    <a:lnB w="6350">
                      <a:solidFill>
                        <a:srgbClr val="C9D2D8"/>
                      </a:solidFill>
                    </a:lnB>
                    <a:solidFill>
                      <a:srgbClr val="EA9A8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 i="0">
                          <a:solidFill>
                            <a:srgbClr val="17232D"/>
                          </a:solidFill>
                          <a:latin typeface="Inter"/>
                        </a:rPr>
                        <a:t>8</a:t>
                      </a:r>
                      <a:endParaRPr sz="750" b="1" i="0">
                        <a:solidFill>
                          <a:srgbClr val="17232D"/>
                        </a:solidFill>
                        <a:latin typeface="Inter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D2D8"/>
                      </a:solidFill>
                    </a:lnT>
                    <a:lnB w="6350">
                      <a:solidFill>
                        <a:srgbClr val="C9D2D8"/>
                      </a:solidFill>
                    </a:lnB>
                    <a:solidFill>
                      <a:srgbClr val="F3D27E"/>
                    </a:solidFill>
                  </a:tcPr>
                </a:tc>
              </a:tr>
              <a:tr h="283972">
                <a:tc>
                  <a:txBody>
                    <a:bodyPr wrap="square"/>
                    <a:lstStyle/>
                    <a:p>
                      <a:pPr algn="l"/>
                      <a:r>
                        <a:rPr sz="750" b="1" i="0">
                          <a:solidFill>
                            <a:srgbClr val="17232D"/>
                          </a:solidFill>
                          <a:latin typeface="Inter"/>
                        </a:rPr>
                        <a:t>R3</a:t>
                      </a:r>
                      <a:endParaRPr sz="750" b="1" i="0">
                        <a:solidFill>
                          <a:srgbClr val="17232D"/>
                        </a:solidFill>
                        <a:latin typeface="Inter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D2D8"/>
                      </a:solidFill>
                    </a:lnT>
                    <a:lnB w="6350">
                      <a:solidFill>
                        <a:srgbClr val="C9D2D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 b="0" i="0">
                          <a:solidFill>
                            <a:srgbClr val="17232D"/>
                          </a:solidFill>
                          <a:latin typeface="Inter"/>
                        </a:rPr>
                        <a:t>GPO renegotiation delays price-master benefits</a:t>
                      </a:r>
                      <a:endParaRPr sz="750" b="0" i="0">
                        <a:solidFill>
                          <a:srgbClr val="17232D"/>
                        </a:solidFill>
                        <a:latin typeface="Inter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D2D8"/>
                      </a:solidFill>
                    </a:lnT>
                    <a:lnB w="6350">
                      <a:solidFill>
                        <a:srgbClr val="C9D2D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 b="0" i="0">
                          <a:solidFill>
                            <a:srgbClr val="17232D"/>
                          </a:solidFill>
                          <a:latin typeface="Inter"/>
                        </a:rPr>
                        <a:t>CCO</a:t>
                      </a:r>
                      <a:endParaRPr sz="750" b="0" i="0">
                        <a:solidFill>
                          <a:srgbClr val="17232D"/>
                        </a:solidFill>
                        <a:latin typeface="Inter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D2D8"/>
                      </a:solidFill>
                    </a:lnT>
                    <a:lnB w="6350">
                      <a:solidFill>
                        <a:srgbClr val="C9D2D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 b="0" i="0">
                          <a:solidFill>
                            <a:srgbClr val="17232D"/>
                          </a:solidFill>
                          <a:latin typeface="Inter"/>
                        </a:rPr>
                        <a:t>Phase by contract renewal date; leakage tracked monthly</a:t>
                      </a:r>
                      <a:endParaRPr sz="750" b="0" i="0">
                        <a:solidFill>
                          <a:srgbClr val="17232D"/>
                        </a:solidFill>
                        <a:latin typeface="Inter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D2D8"/>
                      </a:solidFill>
                    </a:lnT>
                    <a:lnB w="6350">
                      <a:solidFill>
                        <a:srgbClr val="C9D2D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 i="0">
                          <a:solidFill>
                            <a:srgbClr val="17232D"/>
                          </a:solidFill>
                          <a:latin typeface="Inter"/>
                        </a:rPr>
                        <a:t>0.4</a:t>
                      </a:r>
                      <a:endParaRPr sz="750" b="0" i="0">
                        <a:solidFill>
                          <a:srgbClr val="17232D"/>
                        </a:solidFill>
                        <a:latin typeface="Inter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D2D8"/>
                      </a:solidFill>
                    </a:lnT>
                    <a:lnB w="6350">
                      <a:solidFill>
                        <a:srgbClr val="C9D2D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 i="0">
                          <a:solidFill>
                            <a:srgbClr val="17232D"/>
                          </a:solidFill>
                          <a:latin typeface="Inter"/>
                        </a:rPr>
                        <a:t>9</a:t>
                      </a:r>
                      <a:endParaRPr sz="750" b="1" i="0">
                        <a:solidFill>
                          <a:srgbClr val="17232D"/>
                        </a:solidFill>
                        <a:latin typeface="Inter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D2D8"/>
                      </a:solidFill>
                    </a:lnT>
                    <a:lnB w="6350">
                      <a:solidFill>
                        <a:srgbClr val="C9D2D8"/>
                      </a:solidFill>
                    </a:lnB>
                    <a:solidFill>
                      <a:srgbClr val="F3D27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 i="0">
                          <a:solidFill>
                            <a:srgbClr val="17232D"/>
                          </a:solidFill>
                          <a:latin typeface="Inter"/>
                        </a:rPr>
                        <a:t>4</a:t>
                      </a:r>
                      <a:endParaRPr sz="750" b="1" i="0">
                        <a:solidFill>
                          <a:srgbClr val="17232D"/>
                        </a:solidFill>
                        <a:latin typeface="Inter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D2D8"/>
                      </a:solidFill>
                    </a:lnT>
                    <a:lnB w="6350">
                      <a:solidFill>
                        <a:srgbClr val="C9D2D8"/>
                      </a:solidFill>
                    </a:lnB>
                    <a:solidFill>
                      <a:srgbClr val="B9DCC4"/>
                    </a:solidFill>
                  </a:tcPr>
                </a:tc>
              </a:tr>
              <a:tr h="283972">
                <a:tc>
                  <a:txBody>
                    <a:bodyPr wrap="square"/>
                    <a:lstStyle/>
                    <a:p>
                      <a:pPr algn="l"/>
                      <a:r>
                        <a:rPr sz="750" b="1" i="0">
                          <a:solidFill>
                            <a:srgbClr val="17232D"/>
                          </a:solidFill>
                          <a:latin typeface="Inter"/>
                        </a:rPr>
                        <a:t>R4</a:t>
                      </a:r>
                      <a:endParaRPr sz="750" b="1" i="0">
                        <a:solidFill>
                          <a:srgbClr val="17232D"/>
                        </a:solidFill>
                        <a:latin typeface="Inter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D2D8"/>
                      </a:solidFill>
                    </a:lnT>
                    <a:lnB w="6350">
                      <a:solidFill>
                        <a:srgbClr val="C9D2D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 b="0" i="0">
                          <a:solidFill>
                            <a:srgbClr val="17232D"/>
                          </a:solidFill>
                          <a:latin typeface="Inter"/>
                        </a:rPr>
                        <a:t>Order-management upgrade overruns</a:t>
                      </a:r>
                      <a:endParaRPr sz="750" b="0" i="0">
                        <a:solidFill>
                          <a:srgbClr val="17232D"/>
                        </a:solidFill>
                        <a:latin typeface="Inter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D2D8"/>
                      </a:solidFill>
                    </a:lnT>
                    <a:lnB w="6350">
                      <a:solidFill>
                        <a:srgbClr val="C9D2D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 b="0" i="0">
                          <a:solidFill>
                            <a:srgbClr val="17232D"/>
                          </a:solidFill>
                          <a:latin typeface="Inter"/>
                        </a:rPr>
                        <a:t>CFO</a:t>
                      </a:r>
                      <a:endParaRPr sz="750" b="0" i="0">
                        <a:solidFill>
                          <a:srgbClr val="17232D"/>
                        </a:solidFill>
                        <a:latin typeface="Inter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D2D8"/>
                      </a:solidFill>
                    </a:lnT>
                    <a:lnB w="6350">
                      <a:solidFill>
                        <a:srgbClr val="C9D2D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 b="0" i="0">
                          <a:solidFill>
                            <a:srgbClr val="17232D"/>
                          </a:solidFill>
                          <a:latin typeface="Inter"/>
                        </a:rPr>
                        <a:t>Upgrade the current ERP in place; no big-bang replacement</a:t>
                      </a:r>
                      <a:endParaRPr sz="750" b="0" i="0">
                        <a:solidFill>
                          <a:srgbClr val="17232D"/>
                        </a:solidFill>
                        <a:latin typeface="Inter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D2D8"/>
                      </a:solidFill>
                    </a:lnT>
                    <a:lnB w="6350">
                      <a:solidFill>
                        <a:srgbClr val="C9D2D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 i="0">
                          <a:solidFill>
                            <a:srgbClr val="17232D"/>
                          </a:solidFill>
                          <a:latin typeface="Inter"/>
                        </a:rPr>
                        <a:t>1.5</a:t>
                      </a:r>
                      <a:endParaRPr sz="750" b="0" i="0">
                        <a:solidFill>
                          <a:srgbClr val="17232D"/>
                        </a:solidFill>
                        <a:latin typeface="Inter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D2D8"/>
                      </a:solidFill>
                    </a:lnT>
                    <a:lnB w="6350">
                      <a:solidFill>
                        <a:srgbClr val="C9D2D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 i="0">
                          <a:solidFill>
                            <a:srgbClr val="17232D"/>
                          </a:solidFill>
                          <a:latin typeface="Inter"/>
                        </a:rPr>
                        <a:t>12</a:t>
                      </a:r>
                      <a:endParaRPr sz="750" b="1" i="0">
                        <a:solidFill>
                          <a:srgbClr val="17232D"/>
                        </a:solidFill>
                        <a:latin typeface="Inter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D2D8"/>
                      </a:solidFill>
                    </a:lnT>
                    <a:lnB w="6350">
                      <a:solidFill>
                        <a:srgbClr val="C9D2D8"/>
                      </a:solidFill>
                    </a:lnB>
                    <a:solidFill>
                      <a:srgbClr val="F3D27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 i="0">
                          <a:solidFill>
                            <a:srgbClr val="17232D"/>
                          </a:solidFill>
                          <a:latin typeface="Inter"/>
                        </a:rPr>
                        <a:t>6</a:t>
                      </a:r>
                      <a:endParaRPr sz="750" b="1" i="0">
                        <a:solidFill>
                          <a:srgbClr val="17232D"/>
                        </a:solidFill>
                        <a:latin typeface="Inter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D2D8"/>
                      </a:solidFill>
                    </a:lnT>
                    <a:lnB w="6350">
                      <a:solidFill>
                        <a:srgbClr val="C9D2D8"/>
                      </a:solidFill>
                    </a:lnB>
                    <a:solidFill>
                      <a:srgbClr val="F3D27E"/>
                    </a:solidFill>
                  </a:tcPr>
                </a:tc>
              </a:tr>
              <a:tr h="283972">
                <a:tc>
                  <a:txBody>
                    <a:bodyPr wrap="square"/>
                    <a:lstStyle/>
                    <a:p>
                      <a:pPr algn="l"/>
                      <a:r>
                        <a:rPr sz="750" b="1" i="0">
                          <a:solidFill>
                            <a:srgbClr val="17232D"/>
                          </a:solidFill>
                          <a:latin typeface="Inter"/>
                        </a:rPr>
                        <a:t>R5</a:t>
                      </a:r>
                      <a:endParaRPr sz="750" b="1" i="0">
                        <a:solidFill>
                          <a:srgbClr val="17232D"/>
                        </a:solidFill>
                        <a:latin typeface="Inter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D2D8"/>
                      </a:solidFill>
                    </a:lnT>
                    <a:lnB w="6350">
                      <a:solidFill>
                        <a:srgbClr val="C9D2D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 b="0" i="0">
                          <a:solidFill>
                            <a:srgbClr val="17232D"/>
                          </a:solidFill>
                          <a:latin typeface="Inter"/>
                        </a:rPr>
                        <a:t>Key staff leave the two closing plants early</a:t>
                      </a:r>
                      <a:endParaRPr sz="750" b="0" i="0">
                        <a:solidFill>
                          <a:srgbClr val="17232D"/>
                        </a:solidFill>
                        <a:latin typeface="Inter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D2D8"/>
                      </a:solidFill>
                    </a:lnT>
                    <a:lnB w="6350">
                      <a:solidFill>
                        <a:srgbClr val="C9D2D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 b="0" i="0">
                          <a:solidFill>
                            <a:srgbClr val="17232D"/>
                          </a:solidFill>
                          <a:latin typeface="Inter"/>
                        </a:rPr>
                        <a:t>CPO</a:t>
                      </a:r>
                      <a:endParaRPr sz="750" b="0" i="0">
                        <a:solidFill>
                          <a:srgbClr val="17232D"/>
                        </a:solidFill>
                        <a:latin typeface="Inter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D2D8"/>
                      </a:solidFill>
                    </a:lnT>
                    <a:lnB w="6350">
                      <a:solidFill>
                        <a:srgbClr val="C9D2D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 b="0" i="0">
                          <a:solidFill>
                            <a:srgbClr val="17232D"/>
                          </a:solidFill>
                          <a:latin typeface="Inter"/>
                        </a:rPr>
                        <a:t>$4.2m retention pool; knowledge transfer signed off per line</a:t>
                      </a:r>
                      <a:endParaRPr sz="750" b="0" i="0">
                        <a:solidFill>
                          <a:srgbClr val="17232D"/>
                        </a:solidFill>
                        <a:latin typeface="Inter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D2D8"/>
                      </a:solidFill>
                    </a:lnT>
                    <a:lnB w="6350">
                      <a:solidFill>
                        <a:srgbClr val="C9D2D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 i="0">
                          <a:solidFill>
                            <a:srgbClr val="17232D"/>
                          </a:solidFill>
                          <a:latin typeface="Inter"/>
                        </a:rPr>
                        <a:t>4.2</a:t>
                      </a:r>
                      <a:endParaRPr sz="750" b="0" i="0">
                        <a:solidFill>
                          <a:srgbClr val="17232D"/>
                        </a:solidFill>
                        <a:latin typeface="Inter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D2D8"/>
                      </a:solidFill>
                    </a:lnT>
                    <a:lnB w="6350">
                      <a:solidFill>
                        <a:srgbClr val="C9D2D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 i="0">
                          <a:solidFill>
                            <a:srgbClr val="17232D"/>
                          </a:solidFill>
                          <a:latin typeface="Inter"/>
                        </a:rPr>
                        <a:t>12</a:t>
                      </a:r>
                      <a:endParaRPr sz="750" b="1" i="0">
                        <a:solidFill>
                          <a:srgbClr val="17232D"/>
                        </a:solidFill>
                        <a:latin typeface="Inter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D2D8"/>
                      </a:solidFill>
                    </a:lnT>
                    <a:lnB w="6350">
                      <a:solidFill>
                        <a:srgbClr val="C9D2D8"/>
                      </a:solidFill>
                    </a:lnB>
                    <a:solidFill>
                      <a:srgbClr val="F3D27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 i="0">
                          <a:solidFill>
                            <a:srgbClr val="17232D"/>
                          </a:solidFill>
                          <a:latin typeface="Inter"/>
                        </a:rPr>
                        <a:t>4</a:t>
                      </a:r>
                      <a:endParaRPr sz="750" b="1" i="0">
                        <a:solidFill>
                          <a:srgbClr val="17232D"/>
                        </a:solidFill>
                        <a:latin typeface="Inter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D2D8"/>
                      </a:solidFill>
                    </a:lnT>
                    <a:lnB w="6350">
                      <a:solidFill>
                        <a:srgbClr val="C9D2D8"/>
                      </a:solidFill>
                    </a:lnB>
                    <a:solidFill>
                      <a:srgbClr val="B9DCC4"/>
                    </a:solidFill>
                  </a:tcPr>
                </a:tc>
              </a:tr>
              <a:tr h="283972">
                <a:tc>
                  <a:txBody>
                    <a:bodyPr wrap="square"/>
                    <a:lstStyle/>
                    <a:p>
                      <a:pPr algn="l"/>
                      <a:r>
                        <a:rPr sz="750" b="1" i="0">
                          <a:solidFill>
                            <a:srgbClr val="17232D"/>
                          </a:solidFill>
                          <a:latin typeface="Inter"/>
                        </a:rPr>
                        <a:t>R6</a:t>
                      </a:r>
                      <a:endParaRPr sz="750" b="1" i="0">
                        <a:solidFill>
                          <a:srgbClr val="17232D"/>
                        </a:solidFill>
                        <a:latin typeface="Inter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D2D8"/>
                      </a:solidFill>
                    </a:lnT>
                    <a:lnB w="6350">
                      <a:solidFill>
                        <a:srgbClr val="C9D2D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 b="0" i="0">
                          <a:solidFill>
                            <a:srgbClr val="17232D"/>
                          </a:solidFill>
                          <a:latin typeface="Inter"/>
                        </a:rPr>
                        <a:t>Works-council consultation extends the German exit</a:t>
                      </a:r>
                      <a:endParaRPr sz="750" b="0" i="0">
                        <a:solidFill>
                          <a:srgbClr val="17232D"/>
                        </a:solidFill>
                        <a:latin typeface="Inter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D2D8"/>
                      </a:solidFill>
                    </a:lnT>
                    <a:lnB w="6350">
                      <a:solidFill>
                        <a:srgbClr val="C9D2D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 b="0" i="0">
                          <a:solidFill>
                            <a:srgbClr val="17232D"/>
                          </a:solidFill>
                          <a:latin typeface="Inter"/>
                        </a:rPr>
                        <a:t>CPO</a:t>
                      </a:r>
                      <a:endParaRPr sz="750" b="0" i="0">
                        <a:solidFill>
                          <a:srgbClr val="17232D"/>
                        </a:solidFill>
                        <a:latin typeface="Inter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D2D8"/>
                      </a:solidFill>
                    </a:lnT>
                    <a:lnB w="6350">
                      <a:solidFill>
                        <a:srgbClr val="C9D2D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 b="0" i="0">
                          <a:solidFill>
                            <a:srgbClr val="17232D"/>
                          </a:solidFill>
                          <a:latin typeface="Inter"/>
                        </a:rPr>
                        <a:t>Consultation opens Q1 2027 with 4 months of float</a:t>
                      </a:r>
                      <a:endParaRPr sz="750" b="0" i="0">
                        <a:solidFill>
                          <a:srgbClr val="17232D"/>
                        </a:solidFill>
                        <a:latin typeface="Inter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D2D8"/>
                      </a:solidFill>
                    </a:lnT>
                    <a:lnB w="6350">
                      <a:solidFill>
                        <a:srgbClr val="C9D2D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 i="0">
                          <a:solidFill>
                            <a:srgbClr val="17232D"/>
                          </a:solidFill>
                          <a:latin typeface="Inter"/>
                        </a:rPr>
                        <a:t>0.6</a:t>
                      </a:r>
                      <a:endParaRPr sz="750" b="0" i="0">
                        <a:solidFill>
                          <a:srgbClr val="17232D"/>
                        </a:solidFill>
                        <a:latin typeface="Inter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D2D8"/>
                      </a:solidFill>
                    </a:lnT>
                    <a:lnB w="6350">
                      <a:solidFill>
                        <a:srgbClr val="C9D2D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 i="0">
                          <a:solidFill>
                            <a:srgbClr val="17232D"/>
                          </a:solidFill>
                          <a:latin typeface="Inter"/>
                        </a:rPr>
                        <a:t>9</a:t>
                      </a:r>
                      <a:endParaRPr sz="750" b="1" i="0">
                        <a:solidFill>
                          <a:srgbClr val="17232D"/>
                        </a:solidFill>
                        <a:latin typeface="Inter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D2D8"/>
                      </a:solidFill>
                    </a:lnT>
                    <a:lnB w="6350">
                      <a:solidFill>
                        <a:srgbClr val="C9D2D8"/>
                      </a:solidFill>
                    </a:lnB>
                    <a:solidFill>
                      <a:srgbClr val="F3D27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 i="0">
                          <a:solidFill>
                            <a:srgbClr val="17232D"/>
                          </a:solidFill>
                          <a:latin typeface="Inter"/>
                        </a:rPr>
                        <a:t>6</a:t>
                      </a:r>
                      <a:endParaRPr sz="750" b="1" i="0">
                        <a:solidFill>
                          <a:srgbClr val="17232D"/>
                        </a:solidFill>
                        <a:latin typeface="Inter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D2D8"/>
                      </a:solidFill>
                    </a:lnT>
                    <a:lnB w="6350">
                      <a:solidFill>
                        <a:srgbClr val="C9D2D8"/>
                      </a:solidFill>
                    </a:lnB>
                    <a:solidFill>
                      <a:srgbClr val="F3D27E"/>
                    </a:solidFill>
                  </a:tcPr>
                </a:tc>
              </a:tr>
              <a:tr h="283972">
                <a:tc>
                  <a:txBody>
                    <a:bodyPr wrap="square"/>
                    <a:lstStyle/>
                    <a:p>
                      <a:pPr algn="l"/>
                      <a:r>
                        <a:rPr sz="750" b="1" i="0">
                          <a:solidFill>
                            <a:srgbClr val="17232D"/>
                          </a:solidFill>
                          <a:latin typeface="Inter"/>
                        </a:rPr>
                        <a:t>R7</a:t>
                      </a:r>
                      <a:endParaRPr sz="750" b="1" i="0">
                        <a:solidFill>
                          <a:srgbClr val="17232D"/>
                        </a:solidFill>
                        <a:latin typeface="Inter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D2D8"/>
                      </a:solidFill>
                    </a:lnT>
                    <a:lnB w="6350">
                      <a:solidFill>
                        <a:srgbClr val="C9D2D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 b="0" i="0">
                          <a:solidFill>
                            <a:srgbClr val="17232D"/>
                          </a:solidFill>
                          <a:latin typeface="Inter"/>
                        </a:rPr>
                        <a:t>EU MDR recertification collides with transfers</a:t>
                      </a:r>
                      <a:endParaRPr sz="750" b="0" i="0">
                        <a:solidFill>
                          <a:srgbClr val="17232D"/>
                        </a:solidFill>
                        <a:latin typeface="Inter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D2D8"/>
                      </a:solidFill>
                    </a:lnT>
                    <a:lnB w="6350">
                      <a:solidFill>
                        <a:srgbClr val="C9D2D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 b="0" i="0">
                          <a:solidFill>
                            <a:srgbClr val="17232D"/>
                          </a:solidFill>
                          <a:latin typeface="Inter"/>
                        </a:rPr>
                        <a:t>CQRO</a:t>
                      </a:r>
                      <a:endParaRPr sz="750" b="0" i="0">
                        <a:solidFill>
                          <a:srgbClr val="17232D"/>
                        </a:solidFill>
                        <a:latin typeface="Inter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D2D8"/>
                      </a:solidFill>
                    </a:lnT>
                    <a:lnB w="6350">
                      <a:solidFill>
                        <a:srgbClr val="C9D2D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 b="0" i="0">
                          <a:solidFill>
                            <a:srgbClr val="17232D"/>
                          </a:solidFill>
                          <a:latin typeface="Inter"/>
                        </a:rPr>
                        <a:t>One regulatory calendar; notified-body slots booked for 2027</a:t>
                      </a:r>
                      <a:endParaRPr sz="750" b="0" i="0">
                        <a:solidFill>
                          <a:srgbClr val="17232D"/>
                        </a:solidFill>
                        <a:latin typeface="Inter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D2D8"/>
                      </a:solidFill>
                    </a:lnT>
                    <a:lnB w="6350">
                      <a:solidFill>
                        <a:srgbClr val="C9D2D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 i="0">
                          <a:solidFill>
                            <a:srgbClr val="17232D"/>
                          </a:solidFill>
                          <a:latin typeface="Inter"/>
                        </a:rPr>
                        <a:t>0.9</a:t>
                      </a:r>
                      <a:endParaRPr sz="750" b="0" i="0">
                        <a:solidFill>
                          <a:srgbClr val="17232D"/>
                        </a:solidFill>
                        <a:latin typeface="Inter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D2D8"/>
                      </a:solidFill>
                    </a:lnT>
                    <a:lnB w="6350">
                      <a:solidFill>
                        <a:srgbClr val="C9D2D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 i="0">
                          <a:solidFill>
                            <a:srgbClr val="17232D"/>
                          </a:solidFill>
                          <a:latin typeface="Inter"/>
                        </a:rPr>
                        <a:t>12</a:t>
                      </a:r>
                      <a:endParaRPr sz="750" b="1" i="0">
                        <a:solidFill>
                          <a:srgbClr val="17232D"/>
                        </a:solidFill>
                        <a:latin typeface="Inter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D2D8"/>
                      </a:solidFill>
                    </a:lnT>
                    <a:lnB w="6350">
                      <a:solidFill>
                        <a:srgbClr val="C9D2D8"/>
                      </a:solidFill>
                    </a:lnB>
                    <a:solidFill>
                      <a:srgbClr val="F3D27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 i="0">
                          <a:solidFill>
                            <a:srgbClr val="17232D"/>
                          </a:solidFill>
                          <a:latin typeface="Inter"/>
                        </a:rPr>
                        <a:t>6</a:t>
                      </a:r>
                      <a:endParaRPr sz="750" b="1" i="0">
                        <a:solidFill>
                          <a:srgbClr val="17232D"/>
                        </a:solidFill>
                        <a:latin typeface="Inter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D2D8"/>
                      </a:solidFill>
                    </a:lnT>
                    <a:lnB w="6350">
                      <a:solidFill>
                        <a:srgbClr val="C9D2D8"/>
                      </a:solidFill>
                    </a:lnB>
                    <a:solidFill>
                      <a:srgbClr val="F3D27E"/>
                    </a:solidFill>
                  </a:tcPr>
                </a:tc>
              </a:tr>
              <a:tr h="283972">
                <a:tc>
                  <a:txBody>
                    <a:bodyPr wrap="square"/>
                    <a:lstStyle/>
                    <a:p>
                      <a:pPr algn="l"/>
                      <a:r>
                        <a:rPr sz="750" b="1" i="0">
                          <a:solidFill>
                            <a:srgbClr val="17232D"/>
                          </a:solidFill>
                          <a:latin typeface="Inter"/>
                        </a:rPr>
                        <a:t>R8</a:t>
                      </a:r>
                      <a:endParaRPr sz="750" b="1" i="0">
                        <a:solidFill>
                          <a:srgbClr val="17232D"/>
                        </a:solidFill>
                        <a:latin typeface="Inter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D2D8"/>
                      </a:solidFill>
                    </a:lnT>
                    <a:lnB w="6350">
                      <a:solidFill>
                        <a:srgbClr val="C9D2D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 b="0" i="0">
                          <a:solidFill>
                            <a:srgbClr val="17232D"/>
                          </a:solidFill>
                          <a:latin typeface="Inter"/>
                        </a:rPr>
                        <a:t>Inflation runs above the $31m in the plan</a:t>
                      </a:r>
                      <a:endParaRPr sz="750" b="0" i="0">
                        <a:solidFill>
                          <a:srgbClr val="17232D"/>
                        </a:solidFill>
                        <a:latin typeface="Inter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D2D8"/>
                      </a:solidFill>
                    </a:lnT>
                    <a:lnB w="6350">
                      <a:solidFill>
                        <a:srgbClr val="C9D2D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 b="0" i="0">
                          <a:solidFill>
                            <a:srgbClr val="17232D"/>
                          </a:solidFill>
                          <a:latin typeface="Inter"/>
                        </a:rPr>
                        <a:t>CFO</a:t>
                      </a:r>
                      <a:endParaRPr sz="750" b="0" i="0">
                        <a:solidFill>
                          <a:srgbClr val="17232D"/>
                        </a:solidFill>
                        <a:latin typeface="Inter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D2D8"/>
                      </a:solidFill>
                    </a:lnT>
                    <a:lnB w="6350">
                      <a:solidFill>
                        <a:srgbClr val="C9D2D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 b="0" i="0">
                          <a:solidFill>
                            <a:srgbClr val="17232D"/>
                          </a:solidFill>
                          <a:latin typeface="Inter"/>
                        </a:rPr>
                        <a:t>Index clauses in 70% of supply contracts by 2027</a:t>
                      </a:r>
                      <a:endParaRPr sz="750" b="0" i="0">
                        <a:solidFill>
                          <a:srgbClr val="17232D"/>
                        </a:solidFill>
                        <a:latin typeface="Inter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D2D8"/>
                      </a:solidFill>
                    </a:lnT>
                    <a:lnB w="6350">
                      <a:solidFill>
                        <a:srgbClr val="C9D2D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 i="0">
                          <a:solidFill>
                            <a:srgbClr val="17232D"/>
                          </a:solidFill>
                          <a:latin typeface="Inter"/>
                        </a:rPr>
                        <a:t>-</a:t>
                      </a:r>
                      <a:endParaRPr sz="750" b="0" i="0">
                        <a:solidFill>
                          <a:srgbClr val="17232D"/>
                        </a:solidFill>
                        <a:latin typeface="Inter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D2D8"/>
                      </a:solidFill>
                    </a:lnT>
                    <a:lnB w="6350">
                      <a:solidFill>
                        <a:srgbClr val="C9D2D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 i="0">
                          <a:solidFill>
                            <a:srgbClr val="17232D"/>
                          </a:solidFill>
                          <a:latin typeface="Inter"/>
                        </a:rPr>
                        <a:t>9</a:t>
                      </a:r>
                      <a:endParaRPr sz="750" b="1" i="0">
                        <a:solidFill>
                          <a:srgbClr val="17232D"/>
                        </a:solidFill>
                        <a:latin typeface="Inter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D2D8"/>
                      </a:solidFill>
                    </a:lnT>
                    <a:lnB w="6350">
                      <a:solidFill>
                        <a:srgbClr val="C9D2D8"/>
                      </a:solidFill>
                    </a:lnB>
                    <a:solidFill>
                      <a:srgbClr val="F3D27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 i="0">
                          <a:solidFill>
                            <a:srgbClr val="17232D"/>
                          </a:solidFill>
                          <a:latin typeface="Inter"/>
                        </a:rPr>
                        <a:t>6</a:t>
                      </a:r>
                      <a:endParaRPr sz="750" b="1" i="0">
                        <a:solidFill>
                          <a:srgbClr val="17232D"/>
                        </a:solidFill>
                        <a:latin typeface="Inter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D2D8"/>
                      </a:solidFill>
                    </a:lnT>
                    <a:lnB w="6350">
                      <a:solidFill>
                        <a:srgbClr val="C9D2D8"/>
                      </a:solidFill>
                    </a:lnB>
                    <a:solidFill>
                      <a:srgbClr val="F3D27E"/>
                    </a:solidFill>
                  </a:tcPr>
                </a:tc>
              </a:tr>
              <a:tr h="169418">
                <a:tc>
                  <a:txBody>
                    <a:bodyPr wrap="square"/>
                    <a:lstStyle/>
                    <a:p>
                      <a:pPr algn="l"/>
                      <a:r>
                        <a:rPr sz="750" b="1" i="0">
                          <a:solidFill>
                            <a:srgbClr val="17232D"/>
                          </a:solidFill>
                          <a:latin typeface="Inter"/>
                        </a:rPr>
                        <a:t>R9</a:t>
                      </a:r>
                      <a:endParaRPr sz="750" b="1" i="0">
                        <a:solidFill>
                          <a:srgbClr val="17232D"/>
                        </a:solidFill>
                        <a:latin typeface="Inter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D2D8"/>
                      </a:solidFill>
                    </a:lnT>
                    <a:lnB w="9525">
                      <a:solidFill>
                        <a:srgbClr val="0E4D5E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 b="0" i="0">
                          <a:solidFill>
                            <a:srgbClr val="17232D"/>
                          </a:solidFill>
                          <a:latin typeface="Inter"/>
                        </a:rPr>
                        <a:t>Change fatigue lowers sales productivity</a:t>
                      </a:r>
                      <a:endParaRPr sz="750" b="0" i="0">
                        <a:solidFill>
                          <a:srgbClr val="17232D"/>
                        </a:solidFill>
                        <a:latin typeface="Inter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D2D8"/>
                      </a:solidFill>
                    </a:lnT>
                    <a:lnB w="9525">
                      <a:solidFill>
                        <a:srgbClr val="0E4D5E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 b="0" i="0">
                          <a:solidFill>
                            <a:srgbClr val="17232D"/>
                          </a:solidFill>
                          <a:latin typeface="Inter"/>
                        </a:rPr>
                        <a:t>CCO</a:t>
                      </a:r>
                      <a:endParaRPr sz="750" b="0" i="0">
                        <a:solidFill>
                          <a:srgbClr val="17232D"/>
                        </a:solidFill>
                        <a:latin typeface="Inter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D2D8"/>
                      </a:solidFill>
                    </a:lnT>
                    <a:lnB w="9525">
                      <a:solidFill>
                        <a:srgbClr val="0E4D5E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 b="0" i="0">
                          <a:solidFill>
                            <a:srgbClr val="17232D"/>
                          </a:solidFill>
                          <a:latin typeface="Inter"/>
                        </a:rPr>
                        <a:t>Commercial roles change once, in a single wave</a:t>
                      </a:r>
                      <a:endParaRPr sz="750" b="0" i="0">
                        <a:solidFill>
                          <a:srgbClr val="17232D"/>
                        </a:solidFill>
                        <a:latin typeface="Inter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D2D8"/>
                      </a:solidFill>
                    </a:lnT>
                    <a:lnB w="9525">
                      <a:solidFill>
                        <a:srgbClr val="0E4D5E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 i="0">
                          <a:solidFill>
                            <a:srgbClr val="17232D"/>
                          </a:solidFill>
                          <a:latin typeface="Inter"/>
                        </a:rPr>
                        <a:t>0.3</a:t>
                      </a:r>
                      <a:endParaRPr sz="750" b="0" i="0">
                        <a:solidFill>
                          <a:srgbClr val="17232D"/>
                        </a:solidFill>
                        <a:latin typeface="Inter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D2D8"/>
                      </a:solidFill>
                    </a:lnT>
                    <a:lnB w="9525">
                      <a:solidFill>
                        <a:srgbClr val="0E4D5E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 i="0">
                          <a:solidFill>
                            <a:srgbClr val="17232D"/>
                          </a:solidFill>
                          <a:latin typeface="Inter"/>
                        </a:rPr>
                        <a:t>6</a:t>
                      </a:r>
                      <a:endParaRPr sz="750" b="1" i="0">
                        <a:solidFill>
                          <a:srgbClr val="17232D"/>
                        </a:solidFill>
                        <a:latin typeface="Inter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D2D8"/>
                      </a:solidFill>
                    </a:lnT>
                    <a:lnB w="9525">
                      <a:solidFill>
                        <a:srgbClr val="0E4D5E"/>
                      </a:solidFill>
                    </a:lnB>
                    <a:solidFill>
                      <a:srgbClr val="F3D27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 i="0">
                          <a:solidFill>
                            <a:srgbClr val="17232D"/>
                          </a:solidFill>
                          <a:latin typeface="Inter"/>
                        </a:rPr>
                        <a:t>2</a:t>
                      </a:r>
                      <a:endParaRPr sz="750" b="1" i="0">
                        <a:solidFill>
                          <a:srgbClr val="17232D"/>
                        </a:solidFill>
                        <a:latin typeface="Inter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D2D8"/>
                      </a:solidFill>
                    </a:lnT>
                    <a:lnB w="9525">
                      <a:solidFill>
                        <a:srgbClr val="0E4D5E"/>
                      </a:solidFill>
                    </a:lnB>
                    <a:solidFill>
                      <a:srgbClr val="B9DCC4"/>
                    </a:solidFill>
                  </a:tcPr>
                </a:tc>
              </a:tr>
            </a:tbl>
          </a:graphicData>
        </a:graphic>
      </p:graphicFrame>
      <p:sp>
        <p:nvSpPr>
          <p:cNvPr id="92" name="zn-h"/>
          <p:cNvSpPr/>
          <p:nvPr/>
        </p:nvSpPr>
        <p:spPr>
          <a:xfrm>
            <a:off x="5241566" y="4312158"/>
            <a:ext cx="1577589" cy="1600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ts val="12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 b="1" i="0">
                <a:solidFill>
                  <a:srgbClr val="0E4D5E"/>
                </a:solidFill>
                <a:latin typeface="Inter"/>
              </a:rPr>
              <a:t>Risks by zone</a:t>
            </a:r>
          </a:p>
        </p:txBody>
      </p:sp>
      <p:sp>
        <p:nvSpPr>
          <p:cNvPr id="93" name="zn-u"/>
          <p:cNvSpPr/>
          <p:nvPr/>
        </p:nvSpPr>
        <p:spPr>
          <a:xfrm>
            <a:off x="5241566" y="4499610"/>
            <a:ext cx="1577589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50" b="0" i="0">
                <a:solidFill>
                  <a:srgbClr val="56636D"/>
                </a:solidFill>
                <a:latin typeface="Inter"/>
              </a:rPr>
              <a:t>Count of risks, and their scores</a:t>
            </a:r>
            <a:br/>
            <a:r>
              <a:rPr sz="750" b="0" i="0">
                <a:solidFill>
                  <a:srgbClr val="56636D"/>
                </a:solidFill>
                <a:latin typeface="Inter"/>
              </a:rPr>
              <a:t>summed</a:t>
            </a:r>
          </a:p>
        </p:txBody>
      </p:sp>
      <p:graphicFrame>
        <p:nvGraphicFramePr>
          <p:cNvPr id="94" name="zones"/>
          <p:cNvGraphicFramePr>
            <a:graphicFrameLocks noGrp="1"/>
          </p:cNvGraphicFramePr>
          <p:nvPr/>
        </p:nvGraphicFramePr>
        <p:xfrm>
          <a:off x="5241566" y="4755642"/>
          <a:ext cx="1577589" cy="847090"/>
        </p:xfrm>
        <a:graphic>
          <a:graphicData uri="http://schemas.openxmlformats.org/drawingml/2006/table">
            <a:tbl>
              <a:tblPr firstRow="0" bandRow="0" lastRow="0" firstCol="0" lastCol="0" bandCol="0"/>
              <a:tblGrid>
                <a:gridCol w="788794"/>
                <a:gridCol w="394397"/>
                <a:gridCol w="394398"/>
              </a:tblGrid>
              <a:tr h="169418">
                <a:tc>
                  <a:txBody>
                    <a:bodyPr wrap="square"/>
                    <a:lstStyle/>
                    <a:p>
                      <a:pPr algn="l"/>
                      <a:r>
                        <a:rPr sz="750" b="1" i="0">
                          <a:solidFill>
                            <a:srgbClr val="0E4D5E"/>
                          </a:solidFill>
                          <a:latin typeface="Inter"/>
                        </a:rPr>
                        <a:t>Zone</a:t>
                      </a:r>
                      <a:endParaRPr sz="750" b="1" i="0">
                        <a:solidFill>
                          <a:srgbClr val="0E4D5E"/>
                        </a:solidFill>
                        <a:latin typeface="Inter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0E4D5E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 i="0">
                          <a:solidFill>
                            <a:srgbClr val="0E4D5E"/>
                          </a:solidFill>
                          <a:latin typeface="Inter"/>
                        </a:rPr>
                        <a:t>Before</a:t>
                      </a:r>
                      <a:endParaRPr sz="750" b="1" i="0">
                        <a:solidFill>
                          <a:srgbClr val="0E4D5E"/>
                        </a:solidFill>
                        <a:latin typeface="Inter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0E4D5E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 i="0">
                          <a:solidFill>
                            <a:srgbClr val="0E4D5E"/>
                          </a:solidFill>
                          <a:latin typeface="Inter"/>
                        </a:rPr>
                        <a:t>After</a:t>
                      </a:r>
                      <a:endParaRPr sz="750" b="1" i="0">
                        <a:solidFill>
                          <a:srgbClr val="0E4D5E"/>
                        </a:solidFill>
                        <a:latin typeface="Inter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0E4D5E"/>
                      </a:solidFill>
                    </a:lnB>
                    <a:noFill/>
                  </a:tcPr>
                </a:tc>
              </a:tr>
              <a:tr h="169418">
                <a:tc>
                  <a:txBody>
                    <a:bodyPr wrap="square"/>
                    <a:lstStyle/>
                    <a:p>
                      <a:pPr algn="l"/>
                      <a:r>
                        <a:rPr sz="750" b="1" i="0">
                          <a:solidFill>
                            <a:srgbClr val="17232D"/>
                          </a:solidFill>
                          <a:latin typeface="Inter"/>
                        </a:rPr>
                        <a:t>Unacceptable</a:t>
                      </a:r>
                      <a:endParaRPr sz="750" b="1" i="0">
                        <a:solidFill>
                          <a:srgbClr val="17232D"/>
                        </a:solidFill>
                        <a:latin typeface="Inter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rgbClr val="0E4D5E"/>
                      </a:solidFill>
                    </a:lnT>
                    <a:lnB w="6350">
                      <a:solidFill>
                        <a:srgbClr val="C9D2D8"/>
                      </a:solidFill>
                    </a:lnB>
                    <a:solidFill>
                      <a:srgbClr val="EA9A8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 i="0">
                          <a:solidFill>
                            <a:srgbClr val="17232D"/>
                          </a:solidFill>
                          <a:latin typeface="Inter"/>
                        </a:rPr>
                        <a:t>2</a:t>
                      </a:r>
                      <a:endParaRPr sz="750" b="0" i="0">
                        <a:solidFill>
                          <a:srgbClr val="17232D"/>
                        </a:solidFill>
                        <a:latin typeface="Inter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rgbClr val="0E4D5E"/>
                      </a:solidFill>
                    </a:lnT>
                    <a:lnB w="6350">
                      <a:solidFill>
                        <a:srgbClr val="C9D2D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 i="0">
                          <a:solidFill>
                            <a:srgbClr val="17232D"/>
                          </a:solidFill>
                          <a:latin typeface="Inter"/>
                        </a:rPr>
                        <a:t>0</a:t>
                      </a:r>
                      <a:endParaRPr sz="750" b="0" i="0">
                        <a:solidFill>
                          <a:srgbClr val="17232D"/>
                        </a:solidFill>
                        <a:latin typeface="Inter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rgbClr val="0E4D5E"/>
                      </a:solidFill>
                    </a:lnT>
                    <a:lnB w="6350">
                      <a:solidFill>
                        <a:srgbClr val="C9D2D8"/>
                      </a:solidFill>
                    </a:lnB>
                    <a:noFill/>
                  </a:tcPr>
                </a:tc>
              </a:tr>
              <a:tr h="169418">
                <a:tc>
                  <a:txBody>
                    <a:bodyPr wrap="square"/>
                    <a:lstStyle/>
                    <a:p>
                      <a:pPr algn="l"/>
                      <a:r>
                        <a:rPr sz="750" b="1" i="0">
                          <a:solidFill>
                            <a:srgbClr val="17232D"/>
                          </a:solidFill>
                          <a:latin typeface="Inter"/>
                        </a:rPr>
                        <a:t>ALARP</a:t>
                      </a:r>
                      <a:endParaRPr sz="750" b="1" i="0">
                        <a:solidFill>
                          <a:srgbClr val="17232D"/>
                        </a:solidFill>
                        <a:latin typeface="Inter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D2D8"/>
                      </a:solidFill>
                    </a:lnT>
                    <a:lnB w="6350">
                      <a:solidFill>
                        <a:srgbClr val="C9D2D8"/>
                      </a:solidFill>
                    </a:lnB>
                    <a:solidFill>
                      <a:srgbClr val="F3D27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 i="0">
                          <a:solidFill>
                            <a:srgbClr val="17232D"/>
                          </a:solidFill>
                          <a:latin typeface="Inter"/>
                        </a:rPr>
                        <a:t>7</a:t>
                      </a:r>
                      <a:endParaRPr sz="750" b="0" i="0">
                        <a:solidFill>
                          <a:srgbClr val="17232D"/>
                        </a:solidFill>
                        <a:latin typeface="Inter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D2D8"/>
                      </a:solidFill>
                    </a:lnT>
                    <a:lnB w="6350">
                      <a:solidFill>
                        <a:srgbClr val="C9D2D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 i="0">
                          <a:solidFill>
                            <a:srgbClr val="17232D"/>
                          </a:solidFill>
                          <a:latin typeface="Inter"/>
                        </a:rPr>
                        <a:t>6</a:t>
                      </a:r>
                      <a:endParaRPr sz="750" b="0" i="0">
                        <a:solidFill>
                          <a:srgbClr val="17232D"/>
                        </a:solidFill>
                        <a:latin typeface="Inter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D2D8"/>
                      </a:solidFill>
                    </a:lnT>
                    <a:lnB w="6350">
                      <a:solidFill>
                        <a:srgbClr val="C9D2D8"/>
                      </a:solidFill>
                    </a:lnB>
                    <a:noFill/>
                  </a:tcPr>
                </a:tc>
              </a:tr>
              <a:tr h="169418">
                <a:tc>
                  <a:txBody>
                    <a:bodyPr wrap="square"/>
                    <a:lstStyle/>
                    <a:p>
                      <a:pPr algn="l"/>
                      <a:r>
                        <a:rPr sz="750" b="1" i="0">
                          <a:solidFill>
                            <a:srgbClr val="17232D"/>
                          </a:solidFill>
                          <a:latin typeface="Inter"/>
                        </a:rPr>
                        <a:t>Acceptable</a:t>
                      </a:r>
                      <a:endParaRPr sz="750" b="1" i="0">
                        <a:solidFill>
                          <a:srgbClr val="17232D"/>
                        </a:solidFill>
                        <a:latin typeface="Inter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D2D8"/>
                      </a:solidFill>
                    </a:lnT>
                    <a:lnB w="6350">
                      <a:solidFill>
                        <a:srgbClr val="C9D2D8"/>
                      </a:solidFill>
                    </a:lnB>
                    <a:solidFill>
                      <a:srgbClr val="B9DCC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 i="0">
                          <a:solidFill>
                            <a:srgbClr val="17232D"/>
                          </a:solidFill>
                          <a:latin typeface="Inter"/>
                        </a:rPr>
                        <a:t>0</a:t>
                      </a:r>
                      <a:endParaRPr sz="750" b="0" i="0">
                        <a:solidFill>
                          <a:srgbClr val="17232D"/>
                        </a:solidFill>
                        <a:latin typeface="Inter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D2D8"/>
                      </a:solidFill>
                    </a:lnT>
                    <a:lnB w="6350">
                      <a:solidFill>
                        <a:srgbClr val="C9D2D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 i="0">
                          <a:solidFill>
                            <a:srgbClr val="17232D"/>
                          </a:solidFill>
                          <a:latin typeface="Inter"/>
                        </a:rPr>
                        <a:t>3</a:t>
                      </a:r>
                      <a:endParaRPr sz="750" b="0" i="0">
                        <a:solidFill>
                          <a:srgbClr val="17232D"/>
                        </a:solidFill>
                        <a:latin typeface="Inter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D2D8"/>
                      </a:solidFill>
                    </a:lnT>
                    <a:lnB w="6350">
                      <a:solidFill>
                        <a:srgbClr val="C9D2D8"/>
                      </a:solidFill>
                    </a:lnB>
                    <a:noFill/>
                  </a:tcPr>
                </a:tc>
              </a:tr>
              <a:tr h="169418">
                <a:tc>
                  <a:txBody>
                    <a:bodyPr wrap="square"/>
                    <a:lstStyle/>
                    <a:p>
                      <a:pPr algn="l"/>
                      <a:r>
                        <a:rPr sz="750" b="1" i="0">
                          <a:solidFill>
                            <a:srgbClr val="17232D"/>
                          </a:solidFill>
                          <a:latin typeface="Inter"/>
                        </a:rPr>
                        <a:t>Sum of scores</a:t>
                      </a:r>
                      <a:endParaRPr sz="750" b="1" i="0">
                        <a:solidFill>
                          <a:srgbClr val="17232D"/>
                        </a:solidFill>
                        <a:latin typeface="Inter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D2D8"/>
                      </a:solidFill>
                    </a:lnT>
                    <a:lnB w="9525">
                      <a:solidFill>
                        <a:srgbClr val="0E4D5E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 i="0">
                          <a:solidFill>
                            <a:srgbClr val="17232D"/>
                          </a:solidFill>
                          <a:latin typeface="Inter"/>
                        </a:rPr>
                        <a:t>100</a:t>
                      </a:r>
                      <a:endParaRPr sz="750" b="1" i="0">
                        <a:solidFill>
                          <a:srgbClr val="17232D"/>
                        </a:solidFill>
                        <a:latin typeface="Inter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D2D8"/>
                      </a:solidFill>
                    </a:lnT>
                    <a:lnB w="9525">
                      <a:solidFill>
                        <a:srgbClr val="0E4D5E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 i="0">
                          <a:solidFill>
                            <a:srgbClr val="17232D"/>
                          </a:solidFill>
                          <a:latin typeface="Inter"/>
                        </a:rPr>
                        <a:t>48</a:t>
                      </a:r>
                      <a:endParaRPr sz="750" b="1" i="0">
                        <a:solidFill>
                          <a:srgbClr val="17232D"/>
                        </a:solidFill>
                        <a:latin typeface="Inter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D2D8"/>
                      </a:solidFill>
                    </a:lnT>
                    <a:lnB w="9525">
                      <a:solidFill>
                        <a:srgbClr val="0E4D5E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95" name="ew-h"/>
          <p:cNvSpPr/>
          <p:nvPr/>
        </p:nvSpPr>
        <p:spPr>
          <a:xfrm>
            <a:off x="7047755" y="4312158"/>
            <a:ext cx="4732765" cy="1600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ts val="12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 b="1" i="0">
                <a:solidFill>
                  <a:srgbClr val="0E4D5E"/>
                </a:solidFill>
                <a:latin typeface="Inter"/>
              </a:rPr>
              <a:t>What the board will see before a risk lands</a:t>
            </a:r>
          </a:p>
        </p:txBody>
      </p:sp>
      <p:sp>
        <p:nvSpPr>
          <p:cNvPr id="96" name="ew-u"/>
          <p:cNvSpPr/>
          <p:nvPr/>
        </p:nvSpPr>
        <p:spPr>
          <a:xfrm>
            <a:off x="7047755" y="4499610"/>
            <a:ext cx="4732765" cy="114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50" b="0" i="0">
                <a:solidFill>
                  <a:srgbClr val="56636D"/>
                </a:solidFill>
                <a:latin typeface="Inter"/>
              </a:rPr>
              <a:t>Indicators reported monthly by the Transformation Office; a trigger escalates the risk out of cycle</a:t>
            </a:r>
          </a:p>
        </p:txBody>
      </p:sp>
      <p:graphicFrame>
        <p:nvGraphicFramePr>
          <p:cNvPr id="97" name="warn"/>
          <p:cNvGraphicFramePr>
            <a:graphicFrameLocks noGrp="1"/>
          </p:cNvGraphicFramePr>
          <p:nvPr/>
        </p:nvGraphicFramePr>
        <p:xfrm>
          <a:off x="7047755" y="4641342"/>
          <a:ext cx="4732765" cy="1524762"/>
        </p:xfrm>
        <a:graphic>
          <a:graphicData uri="http://schemas.openxmlformats.org/drawingml/2006/table">
            <a:tbl>
              <a:tblPr firstRow="0" bandRow="0" lastRow="0" firstCol="0" lastCol="0" bandCol="0"/>
              <a:tblGrid>
                <a:gridCol w="283966"/>
                <a:gridCol w="2035089"/>
                <a:gridCol w="1325174"/>
                <a:gridCol w="1088536"/>
              </a:tblGrid>
              <a:tr h="169418">
                <a:tc>
                  <a:txBody>
                    <a:bodyPr wrap="square"/>
                    <a:lstStyle/>
                    <a:p>
                      <a:pPr algn="l"/>
                      <a:r>
                        <a:rPr sz="750" b="1" i="0">
                          <a:solidFill>
                            <a:srgbClr val="0E4D5E"/>
                          </a:solidFill>
                          <a:latin typeface="Inter"/>
                        </a:rPr>
                        <a:t>ID</a:t>
                      </a:r>
                      <a:endParaRPr sz="750" b="1" i="0">
                        <a:solidFill>
                          <a:srgbClr val="0E4D5E"/>
                        </a:solidFill>
                        <a:latin typeface="Inter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0E4D5E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 b="1" i="0">
                          <a:solidFill>
                            <a:srgbClr val="0E4D5E"/>
                          </a:solidFill>
                          <a:latin typeface="Inter"/>
                        </a:rPr>
                        <a:t>Early-warning indicator</a:t>
                      </a:r>
                      <a:endParaRPr sz="750" b="1" i="0">
                        <a:solidFill>
                          <a:srgbClr val="0E4D5E"/>
                        </a:solidFill>
                        <a:latin typeface="Inter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0E4D5E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 b="1" i="0">
                          <a:solidFill>
                            <a:srgbClr val="0E4D5E"/>
                          </a:solidFill>
                          <a:latin typeface="Inter"/>
                        </a:rPr>
                        <a:t>Trigger</a:t>
                      </a:r>
                      <a:endParaRPr sz="750" b="1" i="0">
                        <a:solidFill>
                          <a:srgbClr val="0E4D5E"/>
                        </a:solidFill>
                        <a:latin typeface="Inter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0E4D5E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 b="1" i="0">
                          <a:solidFill>
                            <a:srgbClr val="0E4D5E"/>
                          </a:solidFill>
                          <a:latin typeface="Inter"/>
                        </a:rPr>
                        <a:t>Escalates to</a:t>
                      </a:r>
                      <a:endParaRPr sz="750" b="1" i="0">
                        <a:solidFill>
                          <a:srgbClr val="0E4D5E"/>
                        </a:solidFill>
                        <a:latin typeface="Inter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0E4D5E"/>
                      </a:solidFill>
                    </a:lnB>
                    <a:noFill/>
                  </a:tcPr>
                </a:tc>
              </a:tr>
              <a:tr h="169418">
                <a:tc>
                  <a:txBody>
                    <a:bodyPr wrap="square"/>
                    <a:lstStyle/>
                    <a:p>
                      <a:pPr algn="l"/>
                      <a:r>
                        <a:rPr sz="750" b="1" i="0">
                          <a:solidFill>
                            <a:srgbClr val="C4541C"/>
                          </a:solidFill>
                          <a:latin typeface="Inter"/>
                        </a:rPr>
                        <a:t>R1</a:t>
                      </a:r>
                      <a:endParaRPr sz="750" b="1" i="0">
                        <a:solidFill>
                          <a:srgbClr val="C4541C"/>
                        </a:solidFill>
                        <a:latin typeface="Inter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rgbClr val="0E4D5E"/>
                      </a:solidFill>
                    </a:lnT>
                    <a:lnB w="6350">
                      <a:solidFill>
                        <a:srgbClr val="C9D2D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 b="0" i="0">
                          <a:solidFill>
                            <a:srgbClr val="17232D"/>
                          </a:solidFill>
                          <a:latin typeface="Inter"/>
                        </a:rPr>
                        <a:t>Validation deviations per moved line</a:t>
                      </a:r>
                      <a:endParaRPr sz="750" b="0" i="0">
                        <a:solidFill>
                          <a:srgbClr val="17232D"/>
                        </a:solidFill>
                        <a:latin typeface="Inter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rgbClr val="0E4D5E"/>
                      </a:solidFill>
                    </a:lnT>
                    <a:lnB w="6350">
                      <a:solidFill>
                        <a:srgbClr val="C9D2D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 b="0" i="0">
                          <a:solidFill>
                            <a:srgbClr val="17232D"/>
                          </a:solidFill>
                          <a:latin typeface="Inter"/>
                        </a:rPr>
                        <a:t>More than 2 open per line</a:t>
                      </a:r>
                      <a:endParaRPr sz="750" b="0" i="0">
                        <a:solidFill>
                          <a:srgbClr val="17232D"/>
                        </a:solidFill>
                        <a:latin typeface="Inter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rgbClr val="0E4D5E"/>
                      </a:solidFill>
                    </a:lnT>
                    <a:lnB w="6350">
                      <a:solidFill>
                        <a:srgbClr val="C9D2D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 b="0" i="0">
                          <a:solidFill>
                            <a:srgbClr val="17232D"/>
                          </a:solidFill>
                          <a:latin typeface="Inter"/>
                        </a:rPr>
                        <a:t>Board, next meeting</a:t>
                      </a:r>
                      <a:endParaRPr sz="750" b="0" i="0">
                        <a:solidFill>
                          <a:srgbClr val="17232D"/>
                        </a:solidFill>
                        <a:latin typeface="Inter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rgbClr val="0E4D5E"/>
                      </a:solidFill>
                    </a:lnT>
                    <a:lnB w="6350">
                      <a:solidFill>
                        <a:srgbClr val="C9D2D8"/>
                      </a:solidFill>
                    </a:lnB>
                    <a:noFill/>
                  </a:tcPr>
                </a:tc>
              </a:tr>
              <a:tr h="169418">
                <a:tc>
                  <a:txBody>
                    <a:bodyPr wrap="square"/>
                    <a:lstStyle/>
                    <a:p>
                      <a:pPr algn="l"/>
                      <a:r>
                        <a:rPr sz="750" b="1" i="0">
                          <a:solidFill>
                            <a:srgbClr val="C4541C"/>
                          </a:solidFill>
                          <a:latin typeface="Inter"/>
                        </a:rPr>
                        <a:t>R2</a:t>
                      </a:r>
                      <a:endParaRPr sz="750" b="1" i="0">
                        <a:solidFill>
                          <a:srgbClr val="C4541C"/>
                        </a:solidFill>
                        <a:latin typeface="Inter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D2D8"/>
                      </a:solidFill>
                    </a:lnT>
                    <a:lnB w="6350">
                      <a:solidFill>
                        <a:srgbClr val="C9D2D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 b="0" i="0">
                          <a:solidFill>
                            <a:srgbClr val="17232D"/>
                          </a:solidFill>
                          <a:latin typeface="Inter"/>
                        </a:rPr>
                        <a:t>US service level, moved product families</a:t>
                      </a:r>
                      <a:endParaRPr sz="750" b="0" i="0">
                        <a:solidFill>
                          <a:srgbClr val="17232D"/>
                        </a:solidFill>
                        <a:latin typeface="Inter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D2D8"/>
                      </a:solidFill>
                    </a:lnT>
                    <a:lnB w="6350">
                      <a:solidFill>
                        <a:srgbClr val="C9D2D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 b="0" i="0">
                          <a:solidFill>
                            <a:srgbClr val="17232D"/>
                          </a:solidFill>
                          <a:latin typeface="Inter"/>
                        </a:rPr>
                        <a:t>Under 95% for 2 weeks</a:t>
                      </a:r>
                      <a:endParaRPr sz="750" b="0" i="0">
                        <a:solidFill>
                          <a:srgbClr val="17232D"/>
                        </a:solidFill>
                        <a:latin typeface="Inter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D2D8"/>
                      </a:solidFill>
                    </a:lnT>
                    <a:lnB w="6350">
                      <a:solidFill>
                        <a:srgbClr val="C9D2D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 b="0" i="0">
                          <a:solidFill>
                            <a:srgbClr val="17232D"/>
                          </a:solidFill>
                          <a:latin typeface="Inter"/>
                        </a:rPr>
                        <a:t>CEO within 48 hours</a:t>
                      </a:r>
                      <a:endParaRPr sz="750" b="0" i="0">
                        <a:solidFill>
                          <a:srgbClr val="17232D"/>
                        </a:solidFill>
                        <a:latin typeface="Inter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D2D8"/>
                      </a:solidFill>
                    </a:lnT>
                    <a:lnB w="6350">
                      <a:solidFill>
                        <a:srgbClr val="C9D2D8"/>
                      </a:solidFill>
                    </a:lnB>
                    <a:noFill/>
                  </a:tcPr>
                </a:tc>
              </a:tr>
              <a:tr h="169418">
                <a:tc>
                  <a:txBody>
                    <a:bodyPr wrap="square"/>
                    <a:lstStyle/>
                    <a:p>
                      <a:pPr algn="l"/>
                      <a:r>
                        <a:rPr sz="750" b="1" i="0">
                          <a:solidFill>
                            <a:srgbClr val="17232D"/>
                          </a:solidFill>
                          <a:latin typeface="Inter"/>
                        </a:rPr>
                        <a:t>R3</a:t>
                      </a:r>
                      <a:endParaRPr sz="750" b="1" i="0">
                        <a:solidFill>
                          <a:srgbClr val="17232D"/>
                        </a:solidFill>
                        <a:latin typeface="Inter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D2D8"/>
                      </a:solidFill>
                    </a:lnT>
                    <a:lnB w="6350">
                      <a:solidFill>
                        <a:srgbClr val="C9D2D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 b="0" i="0">
                          <a:solidFill>
                            <a:srgbClr val="17232D"/>
                          </a:solidFill>
                          <a:latin typeface="Inter"/>
                        </a:rPr>
                        <a:t>Contracts repriced to the renewal plan</a:t>
                      </a:r>
                      <a:endParaRPr sz="750" b="0" i="0">
                        <a:solidFill>
                          <a:srgbClr val="17232D"/>
                        </a:solidFill>
                        <a:latin typeface="Inter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D2D8"/>
                      </a:solidFill>
                    </a:lnT>
                    <a:lnB w="6350">
                      <a:solidFill>
                        <a:srgbClr val="C9D2D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 b="0" i="0">
                          <a:solidFill>
                            <a:srgbClr val="17232D"/>
                          </a:solidFill>
                          <a:latin typeface="Inter"/>
                        </a:rPr>
                        <a:t>Under 80% of plan</a:t>
                      </a:r>
                      <a:endParaRPr sz="750" b="0" i="0">
                        <a:solidFill>
                          <a:srgbClr val="17232D"/>
                        </a:solidFill>
                        <a:latin typeface="Inter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D2D8"/>
                      </a:solidFill>
                    </a:lnT>
                    <a:lnB w="6350">
                      <a:solidFill>
                        <a:srgbClr val="C9D2D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 b="0" i="0">
                          <a:solidFill>
                            <a:srgbClr val="17232D"/>
                          </a:solidFill>
                          <a:latin typeface="Inter"/>
                        </a:rPr>
                        <a:t>CCO and CFO</a:t>
                      </a:r>
                      <a:endParaRPr sz="750" b="0" i="0">
                        <a:solidFill>
                          <a:srgbClr val="17232D"/>
                        </a:solidFill>
                        <a:latin typeface="Inter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D2D8"/>
                      </a:solidFill>
                    </a:lnT>
                    <a:lnB w="6350">
                      <a:solidFill>
                        <a:srgbClr val="C9D2D8"/>
                      </a:solidFill>
                    </a:lnB>
                    <a:noFill/>
                  </a:tcPr>
                </a:tc>
              </a:tr>
              <a:tr h="169418">
                <a:tc>
                  <a:txBody>
                    <a:bodyPr wrap="square"/>
                    <a:lstStyle/>
                    <a:p>
                      <a:pPr algn="l"/>
                      <a:r>
                        <a:rPr sz="750" b="1" i="0">
                          <a:solidFill>
                            <a:srgbClr val="17232D"/>
                          </a:solidFill>
                          <a:latin typeface="Inter"/>
                        </a:rPr>
                        <a:t>R4</a:t>
                      </a:r>
                      <a:endParaRPr sz="750" b="1" i="0">
                        <a:solidFill>
                          <a:srgbClr val="17232D"/>
                        </a:solidFill>
                        <a:latin typeface="Inter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D2D8"/>
                      </a:solidFill>
                    </a:lnT>
                    <a:lnB w="6350">
                      <a:solidFill>
                        <a:srgbClr val="C9D2D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 b="0" i="0">
                          <a:solidFill>
                            <a:srgbClr val="17232D"/>
                          </a:solidFill>
                          <a:latin typeface="Inter"/>
                        </a:rPr>
                        <a:t>Upgrade sprints closed to plan</a:t>
                      </a:r>
                      <a:endParaRPr sz="750" b="0" i="0">
                        <a:solidFill>
                          <a:srgbClr val="17232D"/>
                        </a:solidFill>
                        <a:latin typeface="Inter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D2D8"/>
                      </a:solidFill>
                    </a:lnT>
                    <a:lnB w="6350">
                      <a:solidFill>
                        <a:srgbClr val="C9D2D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 b="0" i="0">
                          <a:solidFill>
                            <a:srgbClr val="17232D"/>
                          </a:solidFill>
                          <a:latin typeface="Inter"/>
                        </a:rPr>
                        <a:t>Under 80% in a quarter</a:t>
                      </a:r>
                      <a:endParaRPr sz="750" b="0" i="0">
                        <a:solidFill>
                          <a:srgbClr val="17232D"/>
                        </a:solidFill>
                        <a:latin typeface="Inter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D2D8"/>
                      </a:solidFill>
                    </a:lnT>
                    <a:lnB w="6350">
                      <a:solidFill>
                        <a:srgbClr val="C9D2D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 b="0" i="0">
                          <a:solidFill>
                            <a:srgbClr val="17232D"/>
                          </a:solidFill>
                          <a:latin typeface="Inter"/>
                        </a:rPr>
                        <a:t>Audit committee</a:t>
                      </a:r>
                      <a:endParaRPr sz="750" b="0" i="0">
                        <a:solidFill>
                          <a:srgbClr val="17232D"/>
                        </a:solidFill>
                        <a:latin typeface="Inter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D2D8"/>
                      </a:solidFill>
                    </a:lnT>
                    <a:lnB w="6350">
                      <a:solidFill>
                        <a:srgbClr val="C9D2D8"/>
                      </a:solidFill>
                    </a:lnB>
                    <a:noFill/>
                  </a:tcPr>
                </a:tc>
              </a:tr>
              <a:tr h="169418">
                <a:tc>
                  <a:txBody>
                    <a:bodyPr wrap="square"/>
                    <a:lstStyle/>
                    <a:p>
                      <a:pPr algn="l"/>
                      <a:r>
                        <a:rPr sz="750" b="1" i="0">
                          <a:solidFill>
                            <a:srgbClr val="17232D"/>
                          </a:solidFill>
                          <a:latin typeface="Inter"/>
                        </a:rPr>
                        <a:t>R5</a:t>
                      </a:r>
                      <a:endParaRPr sz="750" b="1" i="0">
                        <a:solidFill>
                          <a:srgbClr val="17232D"/>
                        </a:solidFill>
                        <a:latin typeface="Inter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D2D8"/>
                      </a:solidFill>
                    </a:lnT>
                    <a:lnB w="6350">
                      <a:solidFill>
                        <a:srgbClr val="C9D2D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 b="0" i="0">
                          <a:solidFill>
                            <a:srgbClr val="17232D"/>
                          </a:solidFill>
                          <a:latin typeface="Inter"/>
                        </a:rPr>
                        <a:t>Regretted leavers at the closing plants</a:t>
                      </a:r>
                      <a:endParaRPr sz="750" b="0" i="0">
                        <a:solidFill>
                          <a:srgbClr val="17232D"/>
                        </a:solidFill>
                        <a:latin typeface="Inter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D2D8"/>
                      </a:solidFill>
                    </a:lnT>
                    <a:lnB w="6350">
                      <a:solidFill>
                        <a:srgbClr val="C9D2D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 b="0" i="0">
                          <a:solidFill>
                            <a:srgbClr val="17232D"/>
                          </a:solidFill>
                          <a:latin typeface="Inter"/>
                        </a:rPr>
                        <a:t>More than 5 in a quarter</a:t>
                      </a:r>
                      <a:endParaRPr sz="750" b="0" i="0">
                        <a:solidFill>
                          <a:srgbClr val="17232D"/>
                        </a:solidFill>
                        <a:latin typeface="Inter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D2D8"/>
                      </a:solidFill>
                    </a:lnT>
                    <a:lnB w="6350">
                      <a:solidFill>
                        <a:srgbClr val="C9D2D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 b="0" i="0">
                          <a:solidFill>
                            <a:srgbClr val="17232D"/>
                          </a:solidFill>
                          <a:latin typeface="Inter"/>
                        </a:rPr>
                        <a:t>CEO and CPO</a:t>
                      </a:r>
                      <a:endParaRPr sz="750" b="0" i="0">
                        <a:solidFill>
                          <a:srgbClr val="17232D"/>
                        </a:solidFill>
                        <a:latin typeface="Inter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D2D8"/>
                      </a:solidFill>
                    </a:lnT>
                    <a:lnB w="6350">
                      <a:solidFill>
                        <a:srgbClr val="C9D2D8"/>
                      </a:solidFill>
                    </a:lnB>
                    <a:noFill/>
                  </a:tcPr>
                </a:tc>
              </a:tr>
              <a:tr h="169418">
                <a:tc>
                  <a:txBody>
                    <a:bodyPr wrap="square"/>
                    <a:lstStyle/>
                    <a:p>
                      <a:pPr algn="l"/>
                      <a:r>
                        <a:rPr sz="750" b="1" i="0">
                          <a:solidFill>
                            <a:srgbClr val="17232D"/>
                          </a:solidFill>
                          <a:latin typeface="Inter"/>
                        </a:rPr>
                        <a:t>R6</a:t>
                      </a:r>
                      <a:endParaRPr sz="750" b="1" i="0">
                        <a:solidFill>
                          <a:srgbClr val="17232D"/>
                        </a:solidFill>
                        <a:latin typeface="Inter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D2D8"/>
                      </a:solidFill>
                    </a:lnT>
                    <a:lnB w="6350">
                      <a:solidFill>
                        <a:srgbClr val="C9D2D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 b="0" i="0">
                          <a:solidFill>
                            <a:srgbClr val="17232D"/>
                          </a:solidFill>
                          <a:latin typeface="Inter"/>
                        </a:rPr>
                        <a:t>Works-council dates met as agreed</a:t>
                      </a:r>
                      <a:endParaRPr sz="750" b="0" i="0">
                        <a:solidFill>
                          <a:srgbClr val="17232D"/>
                        </a:solidFill>
                        <a:latin typeface="Inter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D2D8"/>
                      </a:solidFill>
                    </a:lnT>
                    <a:lnB w="6350">
                      <a:solidFill>
                        <a:srgbClr val="C9D2D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 b="0" i="0">
                          <a:solidFill>
                            <a:srgbClr val="17232D"/>
                          </a:solidFill>
                          <a:latin typeface="Inter"/>
                        </a:rPr>
                        <a:t>Any date 4 weeks late</a:t>
                      </a:r>
                      <a:endParaRPr sz="750" b="0" i="0">
                        <a:solidFill>
                          <a:srgbClr val="17232D"/>
                        </a:solidFill>
                        <a:latin typeface="Inter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D2D8"/>
                      </a:solidFill>
                    </a:lnT>
                    <a:lnB w="6350">
                      <a:solidFill>
                        <a:srgbClr val="C9D2D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 b="0" i="0">
                          <a:solidFill>
                            <a:srgbClr val="17232D"/>
                          </a:solidFill>
                          <a:latin typeface="Inter"/>
                        </a:rPr>
                        <a:t>CEO and CPO</a:t>
                      </a:r>
                      <a:endParaRPr sz="750" b="0" i="0">
                        <a:solidFill>
                          <a:srgbClr val="17232D"/>
                        </a:solidFill>
                        <a:latin typeface="Inter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D2D8"/>
                      </a:solidFill>
                    </a:lnT>
                    <a:lnB w="6350">
                      <a:solidFill>
                        <a:srgbClr val="C9D2D8"/>
                      </a:solidFill>
                    </a:lnB>
                    <a:noFill/>
                  </a:tcPr>
                </a:tc>
              </a:tr>
              <a:tr h="169418">
                <a:tc>
                  <a:txBody>
                    <a:bodyPr wrap="square"/>
                    <a:lstStyle/>
                    <a:p>
                      <a:pPr algn="l"/>
                      <a:r>
                        <a:rPr sz="750" b="1" i="0">
                          <a:solidFill>
                            <a:srgbClr val="17232D"/>
                          </a:solidFill>
                          <a:latin typeface="Inter"/>
                        </a:rPr>
                        <a:t>R7</a:t>
                      </a:r>
                      <a:endParaRPr sz="750" b="1" i="0">
                        <a:solidFill>
                          <a:srgbClr val="17232D"/>
                        </a:solidFill>
                        <a:latin typeface="Inter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D2D8"/>
                      </a:solidFill>
                    </a:lnT>
                    <a:lnB w="6350">
                      <a:solidFill>
                        <a:srgbClr val="C9D2D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 b="0" i="0">
                          <a:solidFill>
                            <a:srgbClr val="17232D"/>
                          </a:solidFill>
                          <a:latin typeface="Inter"/>
                        </a:rPr>
                        <a:t>Notified-body slots confirmed for 2027</a:t>
                      </a:r>
                      <a:endParaRPr sz="750" b="0" i="0">
                        <a:solidFill>
                          <a:srgbClr val="17232D"/>
                        </a:solidFill>
                        <a:latin typeface="Inter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D2D8"/>
                      </a:solidFill>
                    </a:lnT>
                    <a:lnB w="6350">
                      <a:solidFill>
                        <a:srgbClr val="C9D2D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 b="0" i="0">
                          <a:solidFill>
                            <a:srgbClr val="17232D"/>
                          </a:solidFill>
                          <a:latin typeface="Inter"/>
                        </a:rPr>
                        <a:t>Under 3 confirmed by June</a:t>
                      </a:r>
                      <a:endParaRPr sz="750" b="0" i="0">
                        <a:solidFill>
                          <a:srgbClr val="17232D"/>
                        </a:solidFill>
                        <a:latin typeface="Inter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D2D8"/>
                      </a:solidFill>
                    </a:lnT>
                    <a:lnB w="6350">
                      <a:solidFill>
                        <a:srgbClr val="C9D2D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 b="0" i="0">
                          <a:solidFill>
                            <a:srgbClr val="17232D"/>
                          </a:solidFill>
                          <a:latin typeface="Inter"/>
                        </a:rPr>
                        <a:t>CQRO and CEO</a:t>
                      </a:r>
                      <a:endParaRPr sz="750" b="0" i="0">
                        <a:solidFill>
                          <a:srgbClr val="17232D"/>
                        </a:solidFill>
                        <a:latin typeface="Inter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D2D8"/>
                      </a:solidFill>
                    </a:lnT>
                    <a:lnB w="6350">
                      <a:solidFill>
                        <a:srgbClr val="C9D2D8"/>
                      </a:solidFill>
                    </a:lnB>
                    <a:noFill/>
                  </a:tcPr>
                </a:tc>
              </a:tr>
              <a:tr h="169418">
                <a:tc>
                  <a:txBody>
                    <a:bodyPr wrap="square"/>
                    <a:lstStyle/>
                    <a:p>
                      <a:pPr algn="l"/>
                      <a:r>
                        <a:rPr sz="750" b="1" i="0">
                          <a:solidFill>
                            <a:srgbClr val="17232D"/>
                          </a:solidFill>
                          <a:latin typeface="Inter"/>
                        </a:rPr>
                        <a:t>R8</a:t>
                      </a:r>
                      <a:endParaRPr sz="750" b="1" i="0">
                        <a:solidFill>
                          <a:srgbClr val="17232D"/>
                        </a:solidFill>
                        <a:latin typeface="Inter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D2D8"/>
                      </a:solidFill>
                    </a:lnT>
                    <a:lnB w="9525">
                      <a:solidFill>
                        <a:srgbClr val="0E4D5E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 b="0" i="0">
                          <a:solidFill>
                            <a:srgbClr val="17232D"/>
                          </a:solidFill>
                          <a:latin typeface="Inter"/>
                        </a:rPr>
                        <a:t>Supplier price index against the plan</a:t>
                      </a:r>
                      <a:endParaRPr sz="750" b="0" i="0">
                        <a:solidFill>
                          <a:srgbClr val="17232D"/>
                        </a:solidFill>
                        <a:latin typeface="Inter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D2D8"/>
                      </a:solidFill>
                    </a:lnT>
                    <a:lnB w="9525">
                      <a:solidFill>
                        <a:srgbClr val="0E4D5E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 b="0" i="0">
                          <a:solidFill>
                            <a:srgbClr val="17232D"/>
                          </a:solidFill>
                          <a:latin typeface="Inter"/>
                        </a:rPr>
                        <a:t>Above plan two quarters</a:t>
                      </a:r>
                      <a:endParaRPr sz="750" b="0" i="0">
                        <a:solidFill>
                          <a:srgbClr val="17232D"/>
                        </a:solidFill>
                        <a:latin typeface="Inter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D2D8"/>
                      </a:solidFill>
                    </a:lnT>
                    <a:lnB w="9525">
                      <a:solidFill>
                        <a:srgbClr val="0E4D5E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 b="0" i="0">
                          <a:solidFill>
                            <a:srgbClr val="17232D"/>
                          </a:solidFill>
                          <a:latin typeface="Inter"/>
                        </a:rPr>
                        <a:t>Audit committee</a:t>
                      </a:r>
                      <a:endParaRPr sz="750" b="0" i="0">
                        <a:solidFill>
                          <a:srgbClr val="17232D"/>
                        </a:solidFill>
                        <a:latin typeface="Inter"/>
                      </a:endParaRPr>
                    </a:p>
                  </a:txBody>
                  <a:tcPr marL="27432" marR="27432" marT="27432" marB="27432" anchor="ctr"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C9D2D8"/>
                      </a:solidFill>
                    </a:lnT>
                    <a:lnB w="9525">
                      <a:solidFill>
                        <a:srgbClr val="0E4D5E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98" name="source"/>
          <p:cNvSpPr/>
          <p:nvPr/>
        </p:nvSpPr>
        <p:spPr>
          <a:xfrm>
            <a:off x="411480" y="6266688"/>
            <a:ext cx="11369040" cy="1066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lnSpc>
                <a:spcPts val="8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00" b="0" i="0">
                <a:solidFill>
                  <a:srgbClr val="56636D"/>
                </a:solidFill>
                <a:latin typeface="Inter"/>
              </a:rPr>
              <a:t>Source: Corrin Medical management accounts and transformation plan; FY2025 is eleven months actual and a December forecast. All figures are illustrative, invented for a fictional company.</a:t>
            </a:r>
          </a:p>
        </p:txBody>
      </p:sp>
    </p:spTree>
    <p:custDataLst>
      <p:tags r:id="rId3"/>
    </p:custDataLst>
  </p:cSld>
  <p:clrMapOvr>
    <a:masterClrMapping/>
  </p:clrMapOvr>
</p:sld>
</file>

<file path=ppt/tags/tag1.xml><?xml version="1.0" encoding="utf-8"?>
<p:tagLst xmlns:p="http://schemas.openxmlformats.org/presentationml/2006/main">
  <p:tag name="pptx-skill" val="generated"/>
</p:tagLst>
</file>

<file path=ppt/tags/tag2.xml><?xml version="1.0" encoding="utf-8"?>
<p:tagLst xmlns:p="http://schemas.openxmlformats.org/presentationml/2006/main">
  <p:tag name="pptx-skill" val="generated"/>
</p:tagLst>
</file>

<file path=ppt/tags/tag3.xml><?xml version="1.0" encoding="utf-8"?>
<p:tagLst xmlns:p="http://schemas.openxmlformats.org/presentationml/2006/main">
  <p:tag name="pptx-skill" val="generated"/>
</p:tagLst>
</file>

<file path=ppt/tags/tag4.xml><?xml version="1.0" encoding="utf-8"?>
<p:tagLst xmlns:p="http://schemas.openxmlformats.org/presentationml/2006/main">
  <p:tag name="pptx-skill" val="generated"/>
</p:tagLst>
</file>

<file path=ppt/tags/tag5.xml><?xml version="1.0" encoding="utf-8"?>
<p:tagLst xmlns:p="http://schemas.openxmlformats.org/presentationml/2006/main">
  <p:tag name="pptx-skill" val="generated"/>
</p:tagLst>
</file>

<file path=ppt/tags/tag6.xml><?xml version="1.0" encoding="utf-8"?>
<p:tagLst xmlns:p="http://schemas.openxmlformats.org/presentationml/2006/main">
  <p:tag name="pptx-skill" val="generated"/>
</p:tagLst>
</file>

<file path=ppt/tags/tag7.xml><?xml version="1.0" encoding="utf-8"?>
<p:tagLst xmlns:p="http://schemas.openxmlformats.org/presentationml/2006/main">
  <p:tag name="pptx-skill" val="generated"/>
</p:tagLst>
</file>

<file path=ppt/tags/tag8.xml><?xml version="1.0" encoding="utf-8"?>
<p:tagLst xmlns:p="http://schemas.openxmlformats.org/presentationml/2006/main">
  <p:tag name="pptx-skill" val="generated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cp:lastModifiedBy/>
  <cp:revision>1</cp:revision>
  <dcterms:created xsi:type="dcterms:W3CDTF">2026-10-27T18:41:18Z</dcterms:created>
  <dcterms:modified xsi:type="dcterms:W3CDTF">2026-10-27T18:41:18Z</dcterms:modified>
  <cp:category/>
</cp:coreProperties>
</file>