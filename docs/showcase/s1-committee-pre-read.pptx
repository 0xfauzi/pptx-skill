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3"/>
          <c:w val="0.96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D3B5C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376</c:v>
                </c:pt>
                <c:pt idx="1">
                  <c:v>787</c:v>
                </c:pt>
                <c:pt idx="2">
                  <c:v>1382</c:v>
                </c:pt>
                <c:pt idx="3">
                  <c:v>2040</c:v>
                </c:pt>
                <c:pt idx="4">
                  <c:v>4731</c:v>
                </c:pt>
                <c:pt idx="5">
                  <c:v>11555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 and infrastructure expense</c:v>
                </c:pt>
              </c:strCache>
            </c:strRef>
          </c:tx>
          <c:spPr>
            <a:solidFill>
              <a:srgbClr val="8496A9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944</c:v>
                </c:pt>
                <c:pt idx="1">
                  <c:v>1390</c:v>
                </c:pt>
                <c:pt idx="2">
                  <c:v>2047</c:v>
                </c:pt>
                <c:pt idx="3">
                  <c:v>2945</c:v>
                </c:pt>
                <c:pt idx="4">
                  <c:v>3387</c:v>
                </c:pt>
                <c:pt idx="5">
                  <c:v>5558</c:v>
                </c:pt>
              </c:numCache>
            </c:numRef>
          </c:val>
        </c:ser>
        <c:gapWidth val="6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Total operating costs</c:v>
                </c:pt>
              </c:strCache>
            </c:strRef>
          </c:tx>
          <c:spPr>
            <a:ln w="19050">
              <a:solidFill>
                <a:srgbClr val="151D26"/>
              </a:solidFill>
            </a:ln>
          </c:spPr>
          <c:marker>
            <c:symbol val="circle"/>
            <c:size val="5"/>
            <c:spPr>
              <a:solidFill>
                <a:srgbClr val="151D26"/>
              </a:solidFill>
              <a:ln>
                <a:solidFill>
                  <a:srgbClr val="151D26"/>
                </a:solidFill>
              </a:ln>
            </c:spPr>
          </c:marker>
          <c:dLbls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800" b="1" i="0">
                      <a:solidFill>
                        <a:srgbClr val="151D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" sourceLinked="0"/>
              <c:spPr/>
              <c:txPr>
                <a:bodyPr/>
                <a:lstStyle/>
                <a:p>
                  <a:pPr>
                    <a:defRPr sz="800" b="1" i="0">
                      <a:solidFill>
                        <a:srgbClr val="151D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" sourceLinked="0"/>
              <c:spPr/>
              <c:txPr>
                <a:bodyPr/>
                <a:lstStyle/>
                <a:p>
                  <a:pPr>
                    <a:defRPr sz="800" b="1" i="0">
                      <a:solidFill>
                        <a:srgbClr val="151D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" sourceLinked="0"/>
              <c:spPr/>
              <c:txPr>
                <a:bodyPr/>
                <a:lstStyle/>
                <a:p>
                  <a:pPr>
                    <a:defRPr sz="800" b="1" i="0">
                      <a:solidFill>
                        <a:srgbClr val="151D26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Q1'25</c:v>
                </c:pt>
                <c:pt idx="1">
                  <c:v>Q2'25</c:v>
                </c:pt>
                <c:pt idx="2">
                  <c:v>Q3'25</c:v>
                </c:pt>
                <c:pt idx="3">
                  <c:v>Q4'25</c:v>
                </c:pt>
                <c:pt idx="4">
                  <c:v>Q1'26</c:v>
                </c:pt>
                <c:pt idx="5">
                  <c:v>Q2'26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1311</c:v>
                </c:pt>
                <c:pt idx="1">
                  <c:v>1987</c:v>
                </c:pt>
                <c:pt idx="2">
                  <c:v>4471</c:v>
                </c:pt>
                <c:pt idx="3">
                  <c:v>4876</c:v>
                </c:pt>
                <c:pt idx="4">
                  <c:v>6398</c:v>
                </c:pt>
                <c:pt idx="5">
                  <c:v>10581</c:v>
                </c:pt>
              </c:numCache>
            </c:numRef>
          </c:val>
          <c:smooth val="0"/>
        </c:ser>
        <c:marker val="1"/>
        <c:smooth val="0"/>
        <c:axId val="-2068027336"/>
        <c:axId val="-2113994440"/>
      </c:line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2"/>
            </a:solidFill>
          </a:ln>
        </c:spPr>
        <c:txPr>
          <a:bodyPr/>
          <a:lstStyle/>
          <a:p>
            <a:pPr>
              <a:defRPr sz="750" b="0" i="0">
                <a:solidFill>
                  <a:srgbClr val="55606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legend>
      <c:legendPos val="b"/>
      <c:overlay val="0"/>
      <c:txPr>
        <a:bodyPr/>
        <a:lstStyle/>
        <a:p>
          <a:pPr>
            <a:defRPr sz="750" b="0" i="0">
              <a:solidFill>
                <a:srgbClr val="151D26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750" b="0" i="0">
          <a:solidFill>
            <a:srgbClr val="5560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7"/>
          <c:y val="0.02"/>
          <c:w val="0.45"/>
          <c:h val="0.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Minimum spend regardless of usage, or lease rent</c:v>
                </c:pt>
              </c:strCache>
            </c:strRef>
          </c:tx>
          <c:spPr>
            <a:solidFill>
              <a:srgbClr val="1D3B5C"/>
            </a:solidFill>
            <a:ln>
              <a:noFill/>
            </a:ln>
          </c:spPr>
          <c:dLbls>
            <c:dLbl>
              <c:idx val="6"/>
              <c:delete val="1"/>
            </c:dLbl>
            <c:dLbl>
              <c:idx val="5"/>
              <c:delete val="1"/>
            </c:dLbl>
            <c:dLbl>
              <c:idx val="4"/>
              <c:delete val="1"/>
            </c:dLbl>
            <c:numFmt formatCode="0.0" sourceLinked="0"/>
            <c:txPr>
              <a:bodyPr/>
              <a:lstStyle/>
              <a:p>
                <a:pPr>
                  <a:defRPr sz="800" b="1" i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Broadcom, 5-yr leases</c:v>
                </c:pt>
                <c:pt idx="1">
                  <c:v>Google, to Jul 2033</c:v>
                </c:pt>
                <c:pt idx="2">
                  <c:v>Amazon, to Apr 2036</c:v>
                </c:pt>
                <c:pt idx="3">
                  <c:v>Microsoft, to May 2033</c:v>
                </c:pt>
                <c:pt idx="4">
                  <c:v>SpaceXAI, into 2029</c:v>
                </c:pt>
                <c:pt idx="5">
                  <c:v>Nscale, into 2033</c:v>
                </c:pt>
                <c:pt idx="6">
                  <c:v>Lambda, into 2034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161.2</c:v>
                </c:pt>
                <c:pt idx="1">
                  <c:v>114.5</c:v>
                </c:pt>
                <c:pt idx="2">
                  <c:v>110.0</c:v>
                </c:pt>
                <c:pt idx="3">
                  <c:v>44.9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 fees, 'up to' or approximate totals</c:v>
                </c:pt>
              </c:strCache>
            </c:strRef>
          </c:tx>
          <c:spPr>
            <a:solidFill>
              <a:srgbClr val="C4CDD7"/>
            </a:solidFill>
            <a:ln>
              <a:noFill/>
            </a:ln>
          </c:spPr>
          <c:dLbls>
            <c:dLbl>
              <c:idx val="3"/>
              <c:delete val="1"/>
            </c:dLbl>
            <c:dLbl>
              <c:idx val="2"/>
              <c:delete val="1"/>
            </c:dLbl>
            <c:dLbl>
              <c:idx val="1"/>
              <c:delete val="1"/>
            </c:dLbl>
            <c:dLbl>
              <c:idx val="0"/>
              <c:delete val="1"/>
            </c:dLbl>
            <c:numFmt formatCode="0.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Broadcom, 5-yr leases</c:v>
                </c:pt>
                <c:pt idx="1">
                  <c:v>Google, to Jul 2033</c:v>
                </c:pt>
                <c:pt idx="2">
                  <c:v>Amazon, to Apr 2036</c:v>
                </c:pt>
                <c:pt idx="3">
                  <c:v>Microsoft, to May 2033</c:v>
                </c:pt>
                <c:pt idx="4">
                  <c:v>SpaceXAI, into 2029</c:v>
                </c:pt>
                <c:pt idx="5">
                  <c:v>Nscale, into 2033</c:v>
                </c:pt>
                <c:pt idx="6">
                  <c:v>Lambda, into 2034</c:v>
                </c:pt>
              </c:strCache>
            </c:strRef>
          </c:cat>
          <c:val>
            <c:numRef>
              <c:f>Sheet1!$C$2:$C$8</c:f>
              <c:numCache>
                <c:formatCode>0.0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120.5</c:v>
                </c:pt>
                <c:pt idx="5">
                  <c:v>44.6</c:v>
                </c:pt>
                <c:pt idx="6">
                  <c:v>41.3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AD2"/>
            </a:solidFill>
          </a:ln>
        </c:spPr>
        <c:txPr>
          <a:bodyPr/>
          <a:lstStyle/>
          <a:p>
            <a:pPr>
              <a:defRPr sz="750" b="0" i="0">
                <a:solidFill>
                  <a:srgbClr val="151D2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560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9"/>
          <c:w val="0.74"/>
          <c:h val="0.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A3392A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$1.0tn entry</c:v>
                </c:pt>
                <c:pt idx="1">
                  <c:v>$1.25tn entry</c:v>
                </c:pt>
                <c:pt idx="2">
                  <c:v>$1.5tn entry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0.26</c:v>
                </c:pt>
                <c:pt idx="1">
                  <c:v>0.21</c:v>
                </c:pt>
                <c:pt idx="2">
                  <c:v>0.18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D3B5C"/>
            </a:solidFill>
            <a:ln>
              <a:noFill/>
            </a:ln>
          </c:spPr>
          <c:dLbls>
            <c:dLbl>
              <c:idx val="2"/>
              <c:numFmt formatCode="0.00" sourceLinked="0"/>
              <c:spPr/>
              <c:txPr>
                <a:bodyPr/>
                <a:lstStyle/>
                <a:p>
                  <a:pPr>
                    <a:defRPr sz="800" b="1" i="0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$1.0tn entry</c:v>
                </c:pt>
                <c:pt idx="1">
                  <c:v>$1.25tn entry</c:v>
                </c:pt>
                <c:pt idx="2">
                  <c:v>$1.5tn entry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1.38</c:v>
                </c:pt>
                <c:pt idx="1">
                  <c:v>1.1</c:v>
                </c:pt>
                <c:pt idx="2">
                  <c:v>0.92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solidFill>
              <a:srgbClr val="2D6A4C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800" b="1" i="0">
                    <a:solidFill>
                      <a:srgbClr val="151D2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$1.0tn entry</c:v>
                </c:pt>
                <c:pt idx="1">
                  <c:v>$1.25tn entry</c:v>
                </c:pt>
                <c:pt idx="2">
                  <c:v>$1.5tn entry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3.21</c:v>
                </c:pt>
                <c:pt idx="1">
                  <c:v>2.57</c:v>
                </c:pt>
                <c:pt idx="2">
                  <c:v>2.19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 w="9525">
            <a:solidFill>
              <a:srgbClr val="C3CAD2"/>
            </a:solidFill>
          </a:ln>
        </c:spPr>
        <c:txPr>
          <a:bodyPr/>
          <a:lstStyle/>
          <a:p>
            <a:pPr>
              <a:defRPr sz="750" b="0" i="0">
                <a:solidFill>
                  <a:srgbClr val="151D26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950" b="0" i="0">
              <a:solidFill>
                <a:srgbClr val="151D26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750" b="0" i="0">
          <a:solidFill>
            <a:srgbClr val="5560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tags" Target="../tags/tag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tags" Target="../tags/tag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tags" Target="../tags/tag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9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30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31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32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33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RECOMMENDATION  |  ANTHROPIC, PBC INITIAL PUBLIC OFFERING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Participate at 1.0% of NAV, capped at 2.0%: growth is strong but only one quarter is profitable, and an illustrative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bear case that loses 74% holds the size to a 75bp loss budget</a:t>
            </a:r>
          </a:p>
        </p:txBody>
      </p:sp>
      <p:sp>
        <p:nvSpPr>
          <p:cNvPr id="4" name="ask-fill"/>
          <p:cNvSpPr/>
          <p:nvPr/>
        </p:nvSpPr>
        <p:spPr>
          <a:xfrm>
            <a:off x="457200" y="1207008"/>
            <a:ext cx="2936966" cy="4960620"/>
          </a:xfrm>
          <a:prstGeom prst="rect">
            <a:avLst/>
          </a:prstGeom>
          <a:solidFill>
            <a:srgbClr val="EA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sk_h"/>
          <p:cNvSpPr/>
          <p:nvPr/>
        </p:nvSpPr>
        <p:spPr>
          <a:xfrm>
            <a:off x="566928" y="1316736"/>
            <a:ext cx="271751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The ask</a:t>
            </a:r>
          </a:p>
        </p:txBody>
      </p:sp>
      <p:sp>
        <p:nvSpPr>
          <p:cNvPr id="6" name="ask_a_v"/>
          <p:cNvSpPr/>
          <p:nvPr/>
        </p:nvSpPr>
        <p:spPr>
          <a:xfrm>
            <a:off x="566928" y="1531620"/>
            <a:ext cx="1303891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D3B5C"/>
                </a:solidFill>
                <a:latin typeface="Arial"/>
              </a:rPr>
              <a:t>1.0%</a:t>
            </a:r>
          </a:p>
        </p:txBody>
      </p:sp>
      <p:sp>
        <p:nvSpPr>
          <p:cNvPr id="7" name="ask_a_c"/>
          <p:cNvSpPr/>
          <p:nvPr/>
        </p:nvSpPr>
        <p:spPr>
          <a:xfrm>
            <a:off x="566928" y="1863852"/>
            <a:ext cx="130389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of NAV: our order for Class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A shares in the IPO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(proposed ticker ANT)</a:t>
            </a:r>
          </a:p>
        </p:txBody>
      </p:sp>
      <p:sp>
        <p:nvSpPr>
          <p:cNvPr id="8" name="ask_b_v"/>
          <p:cNvSpPr/>
          <p:nvPr/>
        </p:nvSpPr>
        <p:spPr>
          <a:xfrm>
            <a:off x="1980547" y="1531620"/>
            <a:ext cx="1303891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1D3B5C"/>
                </a:solidFill>
                <a:latin typeface="Arial"/>
              </a:rPr>
              <a:t>2.0%</a:t>
            </a:r>
          </a:p>
        </p:txBody>
      </p:sp>
      <p:sp>
        <p:nvSpPr>
          <p:cNvPr id="9" name="ask_b_c"/>
          <p:cNvSpPr/>
          <p:nvPr/>
        </p:nvSpPr>
        <p:spPr>
          <a:xfrm>
            <a:off x="1980547" y="1863852"/>
            <a:ext cx="130389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of NAV: the ceiling, reached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only if the add conditions on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page 6 hold</a:t>
            </a:r>
          </a:p>
        </p:txBody>
      </p:sp>
      <p:sp>
        <p:nvSpPr>
          <p:cNvPr id="10" name="ask_ah"/>
          <p:cNvSpPr/>
          <p:nvPr/>
        </p:nvSpPr>
        <p:spPr>
          <a:xfrm>
            <a:off x="566928" y="2355088"/>
            <a:ext cx="2717510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The committee is asked to approve</a:t>
            </a:r>
          </a:p>
        </p:txBody>
      </p:sp>
      <p:sp>
        <p:nvSpPr>
          <p:cNvPr id="11" name="ask_l"/>
          <p:cNvSpPr/>
          <p:nvPr/>
        </p:nvSpPr>
        <p:spPr>
          <a:xfrm>
            <a:off x="566928" y="2554732"/>
            <a:ext cx="2717510" cy="12237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1. The 1.0% order, priced at no more than an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illustrative $1.0tn equity value, about the $998bn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implied by the last private round.</a:t>
            </a:r>
          </a:p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2. The 2.0% ceiling and the add, hold and trim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levels on page 6.</a:t>
            </a:r>
          </a:p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3. A re-run of pages 5 and 6 when the amended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S-1 sets a price range and fills the blanks listed on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page 6.</a:t>
            </a:r>
          </a:p>
        </p:txBody>
      </p:sp>
      <p:sp>
        <p:nvSpPr>
          <p:cNvPr id="12" name="ask_sh"/>
          <p:cNvSpPr/>
          <p:nvPr/>
        </p:nvSpPr>
        <p:spPr>
          <a:xfrm>
            <a:off x="566928" y="3903980"/>
            <a:ext cx="2717510" cy="144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Why these sizes</a:t>
            </a:r>
          </a:p>
        </p:txBody>
      </p:sp>
      <p:sp>
        <p:nvSpPr>
          <p:cNvPr id="13" name="ask_2"/>
          <p:cNvSpPr/>
          <p:nvPr/>
        </p:nvSpPr>
        <p:spPr>
          <a:xfrm>
            <a:off x="566928" y="4103624"/>
            <a:ext cx="2717510" cy="13243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A bear case may cost at most 75bp of NAV at the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start (1.0% x 74% = 74bp at $1.0tn) and 150bp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once the add conditions hold (2.0% x 74% =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148bp).</a:t>
            </a:r>
          </a:p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The price limit keeps that budget: above about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$1.05tn a 1.0% order breaks it. At $1.25tn the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bear case loses 79%, so 1.0% would cost 79bp,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and the probability-weighted return falls to a loss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of about 3% a year.</a:t>
            </a:r>
          </a:p>
        </p:txBody>
      </p:sp>
      <p:sp>
        <p:nvSpPr>
          <p:cNvPr id="14" name="ask_4"/>
          <p:cNvSpPr/>
          <p:nvPr/>
        </p:nvSpPr>
        <p:spPr>
          <a:xfrm>
            <a:off x="566928" y="5600700"/>
            <a:ext cx="27175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The S-1 sets no price range. Every valuation, probability,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threshold and loss budget in this deck is an illustrative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assumption of Marlow (a fictional fund), not a figure from the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filing.</a:t>
            </a:r>
          </a:p>
        </p:txBody>
      </p:sp>
      <p:sp>
        <p:nvSpPr>
          <p:cNvPr id="15" name="kpi_h"/>
          <p:cNvSpPr/>
          <p:nvPr/>
        </p:nvSpPr>
        <p:spPr>
          <a:xfrm>
            <a:off x="3622766" y="1207008"/>
            <a:ext cx="448273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What the S-1 shows</a:t>
            </a:r>
          </a:p>
        </p:txBody>
      </p:sp>
      <p:sp>
        <p:nvSpPr>
          <p:cNvPr id="16" name="kpi_u"/>
          <p:cNvSpPr/>
          <p:nvPr/>
        </p:nvSpPr>
        <p:spPr>
          <a:xfrm>
            <a:off x="3622766" y="1394460"/>
            <a:ext cx="4482737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As filed, except * : Marlow's arithmetic on S-1 figures (the S-1 states neither gross margin nor the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$637.0bn total).</a:t>
            </a:r>
          </a:p>
        </p:txBody>
      </p:sp>
      <p:graphicFrame>
        <p:nvGraphicFramePr>
          <p:cNvPr id="17" name="kpi"/>
          <p:cNvGraphicFramePr>
            <a:graphicFrameLocks noGrp="1"/>
          </p:cNvGraphicFramePr>
          <p:nvPr/>
        </p:nvGraphicFramePr>
        <p:xfrm>
          <a:off x="3622766" y="1665732"/>
          <a:ext cx="4482737" cy="260070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24131"/>
                <a:gridCol w="1748267"/>
                <a:gridCol w="1210339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Metric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Reading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S-1 section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Revenue, Q2'26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$11.6bn, +1,368% y/y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Quarterly Results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Operating income, Q2'26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$974m; adjusted margin 19%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Quarterly Results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Gross margin, H1'26 *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85.4% (2025: 39.5%)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Notes (opex detail)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Operating cash flow, H1'26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$3.9bn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Liquidity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Cash, short-term investments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$131.7bn at 30 Jun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Summary Financial Data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Net loss, H1'26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$80.7bn; 90% * fair-value change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Summary Financial Data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Compute, % of revenue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48% in Q2'26 (Q1'25: 251%)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Quarterly Results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Customers above $100k TTM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&gt;11,900 (&gt;950 a year earlier)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Key Factors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Net Revenue Retention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About 900% at 30 Sep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Key Factors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Top five customers' share *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21% of Q3'26 revenue (Q1'26: 36%)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Key Factors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Revenue, Q3'26 *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Blank; over about $16.6bn implied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Business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Compute commitments *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$637.0bn to 2036: minimums, maxima and rent added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Liquidity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A share of votes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At most 49.9%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Prospectus Summary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mini_h"/>
          <p:cNvSpPr/>
          <p:nvPr/>
        </p:nvSpPr>
        <p:spPr>
          <a:xfrm>
            <a:off x="3622766" y="4449318"/>
            <a:ext cx="448273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Scenarios at an illustrative $1.0tn entry</a:t>
            </a:r>
          </a:p>
        </p:txBody>
      </p:sp>
      <p:sp>
        <p:nvSpPr>
          <p:cNvPr id="19" name="mini_u"/>
          <p:cNvSpPr/>
          <p:nvPr/>
        </p:nvSpPr>
        <p:spPr>
          <a:xfrm>
            <a:off x="3622766" y="4664202"/>
            <a:ext cx="448273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Marlow assumptions, to end-2029; detail on page 5. Bear case in red.</a:t>
            </a:r>
          </a:p>
        </p:txBody>
      </p:sp>
      <p:graphicFrame>
        <p:nvGraphicFramePr>
          <p:cNvPr id="20" name="mini"/>
          <p:cNvGraphicFramePr>
            <a:graphicFrameLocks noGrp="1"/>
          </p:cNvGraphicFramePr>
          <p:nvPr/>
        </p:nvGraphicFramePr>
        <p:xfrm>
          <a:off x="3622766" y="4840986"/>
          <a:ext cx="4482737" cy="8851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24131"/>
                <a:gridCol w="986202"/>
                <a:gridCol w="896547"/>
                <a:gridCol w="1075857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Scenario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Probability (%)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Multiple (x)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Return (% a year)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A3392A"/>
                          </a:solidFill>
                          <a:latin typeface="Arial"/>
                        </a:rPr>
                        <a:t>Bear</a:t>
                      </a:r>
                      <a:endParaRPr sz="800" b="1" i="0">
                        <a:solidFill>
                          <a:srgbClr val="A339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92A"/>
                          </a:solidFill>
                          <a:latin typeface="Arial"/>
                        </a:rPr>
                        <a:t>0.26</a:t>
                      </a:r>
                      <a:endParaRPr sz="800" b="1" i="0">
                        <a:solidFill>
                          <a:srgbClr val="A339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A3392A"/>
                          </a:solidFill>
                          <a:latin typeface="Arial"/>
                        </a:rPr>
                        <a:t>(36)</a:t>
                      </a:r>
                      <a:endParaRPr sz="800" b="1" i="0">
                        <a:solidFill>
                          <a:srgbClr val="A3392A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Base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1.38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Bull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3.21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48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Probability-weighted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100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1.41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4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mini_fn"/>
          <p:cNvSpPr/>
          <p:nvPr/>
        </p:nvSpPr>
        <p:spPr>
          <a:xfrm>
            <a:off x="3622766" y="5781040"/>
            <a:ext cx="448273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The weighted return averages the three annual returns by probability; 1.41x annualised over three years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would read 12%, which is not a weighted return.</a:t>
            </a:r>
          </a:p>
        </p:txBody>
      </p:sp>
      <p:sp>
        <p:nvSpPr>
          <p:cNvPr id="22" name="why_h"/>
          <p:cNvSpPr/>
          <p:nvPr/>
        </p:nvSpPr>
        <p:spPr>
          <a:xfrm>
            <a:off x="8334103" y="1207008"/>
            <a:ext cx="340069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Why participate</a:t>
            </a:r>
          </a:p>
        </p:txBody>
      </p:sp>
      <p:sp>
        <p:nvSpPr>
          <p:cNvPr id="23" name="why_b"/>
          <p:cNvSpPr/>
          <p:nvPr/>
        </p:nvSpPr>
        <p:spPr>
          <a:xfrm>
            <a:off x="8334103" y="1394460"/>
            <a:ext cx="3400697" cy="10850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Q2'26 revenue was $11.6bn ($46.2bn annualised as Q2'26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x4, Marlow's figure, not the S-1's Run-Rate Revenue); H1'26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operating cash flow was $3.9bn.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Q2'26 was the first quarter of operating profit in the periods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presented: $974m, a 19% adjusted margin.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Adoption is broadening: the top five customers fell from 36%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to 21% of quarterly revenue between Q1'26 and Q3'26.</a:t>
            </a:r>
          </a:p>
        </p:txBody>
      </p:sp>
      <p:sp>
        <p:nvSpPr>
          <p:cNvPr id="24" name="small_h"/>
          <p:cNvSpPr/>
          <p:nvPr/>
        </p:nvSpPr>
        <p:spPr>
          <a:xfrm>
            <a:off x="8334103" y="2718308"/>
            <a:ext cx="340069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Why only 1.0%</a:t>
            </a:r>
          </a:p>
        </p:txBody>
      </p:sp>
      <p:sp>
        <p:nvSpPr>
          <p:cNvPr id="25" name="small_b"/>
          <p:cNvSpPr/>
          <p:nvPr/>
        </p:nvSpPr>
        <p:spPr>
          <a:xfrm>
            <a:off x="8334103" y="2905760"/>
            <a:ext cx="3400697" cy="1677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$637.0bn of compute commitments to seven counterparties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run to 2036 (Marlow's sum of minimums, maxima and rent);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$430.6bn is owed regardless of usage, or is lease rent (page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3).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Q2'26 is the only quarter of operating profit, and the S-1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expects margins may compress as new compute comes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online.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Public holders cannot elect the board majority or change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control (page 4).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The illustrative bear case loses 74% of entry value, and the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probability-weighted return is only about 4% a year.</a:t>
            </a:r>
          </a:p>
        </p:txBody>
      </p:sp>
      <p:sp>
        <p:nvSpPr>
          <p:cNvPr id="26" name="mind_h"/>
          <p:cNvSpPr/>
          <p:nvPr/>
        </p:nvSpPr>
        <p:spPr>
          <a:xfrm>
            <a:off x="8334103" y="4822444"/>
            <a:ext cx="340069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What would change our mind</a:t>
            </a:r>
          </a:p>
        </p:txBody>
      </p:sp>
      <p:sp>
        <p:nvSpPr>
          <p:cNvPr id="27" name="mind_b"/>
          <p:cNvSpPr/>
          <p:nvPr/>
        </p:nvSpPr>
        <p:spPr>
          <a:xfrm>
            <a:off x="8334103" y="5009896"/>
            <a:ext cx="3400697" cy="9464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A price above $1.0tn equity value: at $1.25tn the base case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returns only 1.10x.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Q3'26 revenue, blank in the S-1, below the about $16.6bn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implied by TTM revenue per employee (over $6.6m x about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5,300 staff = about $35.0bn).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Any loosening of the trust's independence before pricing.</a:t>
            </a:r>
          </a:p>
        </p:txBody>
      </p:sp>
      <p:sp>
        <p:nvSpPr>
          <p:cNvPr id="28" name="source"/>
          <p:cNvSpPr/>
          <p:nvPr/>
        </p:nvSpPr>
        <p:spPr>
          <a:xfrm>
            <a:off x="457200" y="6277356"/>
            <a:ext cx="11277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Prospectus Summary; Summary Consolidated Financial and Other Data; MD&amp;A; Business; Notes. Rows marked *, totals, ratios and scenarios: Marlow.</a:t>
            </a: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1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22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23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24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5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WHAT THE S-1 SHOWS  |  GROWTH, MARGINS AND CASH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Revenue rose from $376m to $11.6bn a quarter over six reported quarters and passed total operating costs in Q2'26;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gross margin was 85.4% in H1'26</a:t>
            </a:r>
          </a:p>
        </p:txBody>
      </p:sp>
      <p:sp>
        <p:nvSpPr>
          <p:cNvPr id="4" name="rev_h"/>
          <p:cNvSpPr/>
          <p:nvPr/>
        </p:nvSpPr>
        <p:spPr>
          <a:xfrm>
            <a:off x="457200" y="1207008"/>
            <a:ext cx="55245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Quarterly revenue against compute expense and total operating costs</a:t>
            </a:r>
          </a:p>
        </p:txBody>
      </p:sp>
      <p:sp>
        <p:nvSpPr>
          <p:cNvPr id="5" name="rev_u"/>
          <p:cNvSpPr/>
          <p:nvPr/>
        </p:nvSpPr>
        <p:spPr>
          <a:xfrm>
            <a:off x="457200" y="1394460"/>
            <a:ext cx="55245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$m, three months ended. Compute fell from 251% to 48% of revenue; the line is total operating costs.</a:t>
            </a:r>
          </a:p>
        </p:txBody>
      </p:sp>
      <p:graphicFrame>
        <p:nvGraphicFramePr>
          <p:cNvPr id="6" name="rev"/>
          <p:cNvGraphicFramePr>
            <a:graphicFrameLocks noGrp="1"/>
          </p:cNvGraphicFramePr>
          <p:nvPr/>
        </p:nvGraphicFramePr>
        <p:xfrm>
          <a:off x="457200" y="1543812"/>
          <a:ext cx="5524500" cy="45095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in_h"/>
          <p:cNvSpPr/>
          <p:nvPr/>
        </p:nvSpPr>
        <p:spPr>
          <a:xfrm>
            <a:off x="6210300" y="1207008"/>
            <a:ext cx="55245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Financial summary</a:t>
            </a:r>
          </a:p>
        </p:txBody>
      </p:sp>
      <p:sp>
        <p:nvSpPr>
          <p:cNvPr id="8" name="fin_u"/>
          <p:cNvSpPr/>
          <p:nvPr/>
        </p:nvSpPr>
        <p:spPr>
          <a:xfrm>
            <a:off x="6210300" y="1394460"/>
            <a:ext cx="55245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Years ended 31 December and six months ended 30 June; H1'26 in bold.</a:t>
            </a:r>
          </a:p>
        </p:txBody>
      </p:sp>
      <p:graphicFrame>
        <p:nvGraphicFramePr>
          <p:cNvPr id="9" name="fin"/>
          <p:cNvGraphicFramePr>
            <a:graphicFrameLocks noGrp="1"/>
          </p:cNvGraphicFramePr>
          <p:nvPr/>
        </p:nvGraphicFramePr>
        <p:xfrm>
          <a:off x="6210300" y="1543812"/>
          <a:ext cx="5524500" cy="159334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988820"/>
                <a:gridCol w="651501"/>
                <a:gridCol w="651501"/>
                <a:gridCol w="744225"/>
                <a:gridCol w="744225"/>
                <a:gridCol w="744228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2023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2024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H1'25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H1'26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Revenue ($m)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386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4,585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1,163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16,286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Revenue growth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n/a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841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1,088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n/a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1,300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Gross margin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36.6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(94.8)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39.5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12.4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85.4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Operating margin, GAAP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(1,344)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(772)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(176)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(184)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(4)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Adjusted operating margin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(1,273)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(722)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(106)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(159)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10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Operating cash flow ($m)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(1,627)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(5,692)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(2,637)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(1,513)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3,929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Net loss ($m)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(1,531)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(8,309)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(41,965)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(12,969)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(80,748)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55606B"/>
                          </a:solidFill>
                          <a:latin typeface="Arial"/>
                        </a:rPr>
                        <a:t>of which: fair-value change ($m)</a:t>
                      </a:r>
                      <a:endParaRPr sz="800" b="0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55606B"/>
                          </a:solidFill>
                          <a:latin typeface="Arial"/>
                        </a:rPr>
                        <a:t>(1,045)</a:t>
                      </a:r>
                      <a:endParaRPr sz="800" b="0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55606B"/>
                          </a:solidFill>
                          <a:latin typeface="Arial"/>
                        </a:rPr>
                        <a:t>(5,434)</a:t>
                      </a:r>
                      <a:endParaRPr sz="800" b="0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55606B"/>
                          </a:solidFill>
                          <a:latin typeface="Arial"/>
                        </a:rPr>
                        <a:t>(34,308)</a:t>
                      </a:r>
                      <a:endParaRPr sz="800" b="0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55606B"/>
                          </a:solidFill>
                          <a:latin typeface="Arial"/>
                        </a:rPr>
                        <a:t>(10,942)</a:t>
                      </a:r>
                      <a:endParaRPr sz="800" b="0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1">
                          <a:solidFill>
                            <a:srgbClr val="55606B"/>
                          </a:solidFill>
                          <a:latin typeface="Arial"/>
                        </a:rPr>
                        <a:t>(72,388)</a:t>
                      </a:r>
                      <a:endParaRPr sz="800" b="1" i="1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fin_fn"/>
          <p:cNvSpPr/>
          <p:nvPr/>
        </p:nvSpPr>
        <p:spPr>
          <a:xfrm>
            <a:off x="6210300" y="3192018"/>
            <a:ext cx="5524500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Gross margin: revenue less cost of revenue, over revenue. Adjusted operating margin is the filing's own non-GAAP measure. The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change in fair value of convertible notes, derivatives and SAFEs is non-cash, driven by the rising valuation, and 90% of the H1'26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net loss.</a:t>
            </a:r>
          </a:p>
        </p:txBody>
      </p:sp>
      <p:sp>
        <p:nvSpPr>
          <p:cNvPr id="11" name="qm_h"/>
          <p:cNvSpPr/>
          <p:nvPr/>
        </p:nvSpPr>
        <p:spPr>
          <a:xfrm>
            <a:off x="6210300" y="3589782"/>
            <a:ext cx="55245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Quarterly margins</a:t>
            </a:r>
          </a:p>
        </p:txBody>
      </p:sp>
      <p:graphicFrame>
        <p:nvGraphicFramePr>
          <p:cNvPr id="12" name="qm"/>
          <p:cNvGraphicFramePr>
            <a:graphicFrameLocks noGrp="1"/>
          </p:cNvGraphicFramePr>
          <p:nvPr/>
        </p:nvGraphicFramePr>
        <p:xfrm>
          <a:off x="6210300" y="3777234"/>
          <a:ext cx="5524500" cy="53111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878330"/>
                <a:gridCol w="607695"/>
                <a:gridCol w="607695"/>
                <a:gridCol w="607695"/>
                <a:gridCol w="607695"/>
                <a:gridCol w="607695"/>
                <a:gridCol w="607695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Q1'25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Q2'25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Q3'25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Q4'25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Q1'26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Q2'26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Operating margin, GAAP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(249)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(152)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(224)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(139)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(35)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8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Adjusted operating margin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(221)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(129)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(93)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(84)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(13)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19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cus_h"/>
          <p:cNvSpPr/>
          <p:nvPr/>
        </p:nvSpPr>
        <p:spPr>
          <a:xfrm>
            <a:off x="6210300" y="4363212"/>
            <a:ext cx="55245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Customers and revenue model</a:t>
            </a:r>
          </a:p>
        </p:txBody>
      </p:sp>
      <p:sp>
        <p:nvSpPr>
          <p:cNvPr id="14" name="cus_u"/>
          <p:cNvSpPr/>
          <p:nvPr/>
        </p:nvSpPr>
        <p:spPr>
          <a:xfrm>
            <a:off x="6210300" y="4550664"/>
            <a:ext cx="55245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At or for years ended 31 December; the latest column gives its own period in each cell.</a:t>
            </a:r>
          </a:p>
        </p:txBody>
      </p:sp>
      <p:graphicFrame>
        <p:nvGraphicFramePr>
          <p:cNvPr id="15" name="cus"/>
          <p:cNvGraphicFramePr>
            <a:graphicFrameLocks noGrp="1"/>
          </p:cNvGraphicFramePr>
          <p:nvPr/>
        </p:nvGraphicFramePr>
        <p:xfrm>
          <a:off x="6210300" y="4700016"/>
          <a:ext cx="5524500" cy="8851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988820"/>
                <a:gridCol w="662940"/>
                <a:gridCol w="662940"/>
                <a:gridCol w="662940"/>
                <a:gridCol w="1546860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2023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2024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2025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Latest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Customers above $100k TTM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~20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~200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~1,500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&gt;11,900 (30 Sep 2026)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Their revenue ($m)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~37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~220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~3,500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blank (TTM to Sep 2026)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Their share of revenue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90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57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blank (TTM to Sep 2026)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Consumption-based share of revenue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~100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83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80 (H1'26)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cust"/>
          <p:cNvSpPr/>
          <p:nvPr/>
        </p:nvSpPr>
        <p:spPr>
          <a:xfrm>
            <a:off x="6210300" y="5640070"/>
            <a:ext cx="55245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Net Revenue Retention about 900% at 30 Sep 2026. 'Blank': the S-1 leaves the figure empty.</a:t>
            </a:r>
          </a:p>
        </p:txBody>
      </p:sp>
      <p:sp>
        <p:nvSpPr>
          <p:cNvPr id="17" name="source"/>
          <p:cNvSpPr/>
          <p:nvPr/>
        </p:nvSpPr>
        <p:spPr>
          <a:xfrm>
            <a:off x="457200" y="6163056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Summary Consolidated Financial and Other Data; MD&amp;A (Quarterly Results of Operations, Key Factors, Liquidity and Capital Resources); Note: Supplemental Operating Expense Information. Growth, gross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margin and the 90% share: Marlow.</a:t>
            </a:r>
          </a:p>
        </p:txBody>
      </p:sp>
      <p:sp>
        <p:nvSpPr>
          <p:cNvPr id="18" name="q2-callout-box"/>
          <p:cNvSpPr/>
          <p:nvPr/>
        </p:nvSpPr>
        <p:spPr>
          <a:xfrm>
            <a:off x="2558422" y="2064164"/>
            <a:ext cx="238187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0A75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q2-callout-label"/>
          <p:cNvSpPr/>
          <p:nvPr/>
        </p:nvSpPr>
        <p:spPr>
          <a:xfrm>
            <a:off x="2585854" y="2091596"/>
            <a:ext cx="232701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A7570"/>
                </a:solidFill>
                <a:latin typeface="Arial"/>
              </a:rPr>
              <a:t>Q2'26: revenue $11,555m passed total</a:t>
            </a:r>
            <a:br/>
            <a:r>
              <a:rPr sz="800" b="1" i="0">
                <a:solidFill>
                  <a:srgbClr val="0A7570"/>
                </a:solidFill>
                <a:latin typeface="Arial"/>
              </a:rPr>
              <a:t>operating costs of $10,581m, the first operating</a:t>
            </a:r>
            <a:br/>
            <a:r>
              <a:rPr sz="800" b="1" i="0">
                <a:solidFill>
                  <a:srgbClr val="0A7570"/>
                </a:solidFill>
                <a:latin typeface="Arial"/>
              </a:rPr>
              <a:t>profit in the periods presented: $974m</a:t>
            </a:r>
          </a:p>
        </p:txBody>
      </p:sp>
      <p:cxnSp>
        <p:nvCxnSpPr>
          <p:cNvPr id="20" name="q2-callout-leader"/>
          <p:cNvCxnSpPr/>
          <p:nvPr/>
        </p:nvCxnSpPr>
        <p:spPr>
          <a:xfrm>
            <a:off x="4940300" y="2274476"/>
            <a:ext cx="457200" cy="0"/>
          </a:xfrm>
          <a:prstGeom prst="line">
            <a:avLst/>
          </a:prstGeom>
          <a:ln w="9525">
            <a:solidFill>
              <a:srgbClr val="0A7570"/>
            </a:solidFill>
          </a:ln>
        </p:spPr>
      </p:cxn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6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17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18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19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0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THE TEN RISKS THAT MATTER MOST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Five of the ten risks are high for us; the largest is $637.0bn of named compute commitments to 2036, $430.6bn of it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minimum spend owed regardless of usage, or lease rent</a:t>
            </a:r>
          </a:p>
        </p:txBody>
      </p:sp>
      <p:sp>
        <p:nvSpPr>
          <p:cNvPr id="4" name="risk_h"/>
          <p:cNvSpPr/>
          <p:nvPr/>
        </p:nvSpPr>
        <p:spPr>
          <a:xfrm>
            <a:off x="457200" y="1207008"/>
            <a:ext cx="7750791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Ten risks, ranked by Marlow, with the evidence in the filing</a:t>
            </a:r>
          </a:p>
        </p:txBody>
      </p:sp>
      <p:sp>
        <p:nvSpPr>
          <p:cNvPr id="5" name="risk_u"/>
          <p:cNvSpPr/>
          <p:nvPr/>
        </p:nvSpPr>
        <p:spPr>
          <a:xfrm>
            <a:off x="457200" y="1394460"/>
            <a:ext cx="7750791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Severity is Marlow's judgement for a long-only holder.</a:t>
            </a:r>
          </a:p>
        </p:txBody>
      </p:sp>
      <p:graphicFrame>
        <p:nvGraphicFramePr>
          <p:cNvPr id="6" name="risk"/>
          <p:cNvGraphicFramePr>
            <a:graphicFrameLocks noGrp="1"/>
          </p:cNvGraphicFramePr>
          <p:nvPr/>
        </p:nvGraphicFramePr>
        <p:xfrm>
          <a:off x="457200" y="1543812"/>
          <a:ext cx="7750791" cy="450570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71278"/>
                <a:gridCol w="1162619"/>
                <a:gridCol w="2596515"/>
                <a:gridCol w="1937698"/>
                <a:gridCol w="1201373"/>
                <a:gridCol w="581308"/>
              </a:tblGrid>
              <a:tr h="231902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#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Risk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Evidence in the S-1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Mitigant in the S-1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S-1 section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Severity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598424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Compute commitments outrun revenue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$637.0bn with seven counterparties to 2036, Marlow's sum: 13.8x annualised Q2'26 revenue (multi-year vs one year)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Nscale and Lambda fees accrue only on delivery; SpaceXAI cancellable on 90 days' notice from 2027; $131.7bn cash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Contractual Obligations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High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Margins compress as capacity lands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 S-1 says margins may compress as compute comes online and short-term compute use rises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Compute fell from 251% to 48% of revenue over six reported quarters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Our Financial Model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High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Growth slows from an early-adoption peak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Net Revenue Retention about 900%; the company expects its growth rate to decline, possibly significantly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Public Fortune 500 customers above $100k TTM: on average under 0.1% of their expenses (Q3'26)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Key Factors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High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Revenue rides the newest model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Model versions released in the prior six months were over 80% of Q3'26 revenue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250 model versions, features and apps launched in 9M'26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Customer Usage Patterns; Key Factors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High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Control sits outside public holders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F holds 50.1% of votes; the trust generally elects the board majority; Class A at most 49.9%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Audit and compensation committees fully independent; Class F sunset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Our Governance Structure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High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Customer concentration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Top five about 25% of 9M'26 revenue; one customer 11% of H1'26 revenue; many lack long-term contracts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Top five share fell from 36% (Q1'26) to 21% (Q3'26)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Risk Factors; Note: Concentrations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Medium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Revenue from policy-violating customers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Estimated at 5% to 7% of 9M'26 revenue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Detection and enforcement stepped up in Aug-Sep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Components of Results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Medium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476250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Suppliers are also investors and rivals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Google, Amazon and Microsoft supply compute, invest and compete; Google's ownership cap is 14.99%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Four chip families across several partners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Risk Factors (Amazon, Google, Microsoft); Convertible Notes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Medium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9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Dilution by design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5% of fully diluted shares to the Public Benefit Fund; up to 2% more per 50% price rise; H1'26 SBC $2.2bn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Further issuances are at the board's discretion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Prospectus Summary; Summary Data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Medium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Copyright and harm liability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Bartz copyright class action settled for $1.5bn in 2025; insurance may not fully cover such claims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Settlement approved by the court in July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Risk Factors: Legal and Regulatory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Medium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com_h"/>
          <p:cNvSpPr/>
          <p:nvPr/>
        </p:nvSpPr>
        <p:spPr>
          <a:xfrm>
            <a:off x="8436591" y="1207008"/>
            <a:ext cx="3298209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Named compute commitments: $637.0bn</a:t>
            </a:r>
          </a:p>
        </p:txBody>
      </p:sp>
      <p:sp>
        <p:nvSpPr>
          <p:cNvPr id="8" name="com_u"/>
          <p:cNvSpPr/>
          <p:nvPr/>
        </p:nvSpPr>
        <p:spPr>
          <a:xfrm>
            <a:off x="8436591" y="1394460"/>
            <a:ext cx="329820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$bn, multi-year contract totals, not annual costs, of different kinds added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by Marlow. Navy: minimum spend owed 'regardless of actual usage', or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lease rent; grey: capacity fees, 'up to' or approximate totals.</a:t>
            </a:r>
          </a:p>
        </p:txBody>
      </p:sp>
      <p:graphicFrame>
        <p:nvGraphicFramePr>
          <p:cNvPr id="9" name="com"/>
          <p:cNvGraphicFramePr>
            <a:graphicFrameLocks noGrp="1"/>
          </p:cNvGraphicFramePr>
          <p:nvPr/>
        </p:nvGraphicFramePr>
        <p:xfrm>
          <a:off x="8436591" y="1787652"/>
          <a:ext cx="3298209" cy="38953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om_fn"/>
          <p:cNvSpPr/>
          <p:nvPr/>
        </p:nvSpPr>
        <p:spPr>
          <a:xfrm>
            <a:off x="8436591" y="5710428"/>
            <a:ext cx="329820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Microsoft: cancellable per undelivered tranche; Nscale and Lambda only in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limited circumstances. Broadcom excludes interest. Excluded: more TPU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compute from TPU providers, Google among them, est. $125.0bn to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$150.0bn; AMD, over $20.0bn.</a:t>
            </a:r>
          </a:p>
        </p:txBody>
      </p:sp>
      <p:sp>
        <p:nvSpPr>
          <p:cNvPr id="11" name="source"/>
          <p:cNvSpPr/>
          <p:nvPr/>
        </p:nvSpPr>
        <p:spPr>
          <a:xfrm>
            <a:off x="457200" y="6277356"/>
            <a:ext cx="11277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Risk Factors; MD&amp;A (Our Financial Model, Key Factors, Customer Usage Patterns, Components of Results, Contractual Obligations); Notes. Totals, ratios and grouping: Marlow.</a:t>
            </a:r>
          </a:p>
        </p:txBody>
      </p:sp>
      <p:sp>
        <p:nvSpPr>
          <p:cNvPr id="12" name="br-fixed-bracket"/>
          <p:cNvSpPr/>
          <p:nvPr/>
        </p:nvSpPr>
        <p:spPr>
          <a:xfrm>
            <a:off x="11078947" y="1941876"/>
            <a:ext cx="54864" cy="1984241"/>
          </a:xfrm>
          <a:prstGeom prst="rightBracket">
            <a:avLst/>
          </a:prstGeom>
          <a:noFill/>
          <a:ln w="9525">
            <a:solidFill>
              <a:srgbClr val="151D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r-fixed-label"/>
          <p:cNvSpPr/>
          <p:nvPr/>
        </p:nvSpPr>
        <p:spPr>
          <a:xfrm>
            <a:off x="11188675" y="2873036"/>
            <a:ext cx="475344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51D26"/>
                </a:solidFill>
                <a:latin typeface="Arial"/>
              </a:rPr>
              <a:t>$430.6bn</a:t>
            </a:r>
          </a:p>
        </p:txBody>
      </p:sp>
      <p:sp>
        <p:nvSpPr>
          <p:cNvPr id="14" name="br-cont-bracket"/>
          <p:cNvSpPr/>
          <p:nvPr/>
        </p:nvSpPr>
        <p:spPr>
          <a:xfrm>
            <a:off x="10733766" y="4078750"/>
            <a:ext cx="54864" cy="1450022"/>
          </a:xfrm>
          <a:prstGeom prst="rightBracket">
            <a:avLst/>
          </a:prstGeom>
          <a:noFill/>
          <a:ln w="9525">
            <a:solidFill>
              <a:srgbClr val="151D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r-cont-label"/>
          <p:cNvSpPr/>
          <p:nvPr/>
        </p:nvSpPr>
        <p:spPr>
          <a:xfrm>
            <a:off x="10843494" y="4742801"/>
            <a:ext cx="475344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51D26"/>
                </a:solidFill>
                <a:latin typeface="Arial"/>
              </a:rPr>
              <a:t>$206.4bn</a:t>
            </a: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4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35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36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37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38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GOVERNANCE  |  PUBLIC BENEFIT CORPORATION, SHARE CLASSES, TRUST AND FOUNDER VOTE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Public Class A holders get the economics but at most 49.9% of the votes, and the trust, as sole Class T holder,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generally elects the board majority</a:t>
            </a:r>
          </a:p>
        </p:txBody>
      </p:sp>
      <p:sp>
        <p:nvSpPr>
          <p:cNvPr id="4" name="cls_h"/>
          <p:cNvSpPr/>
          <p:nvPr/>
        </p:nvSpPr>
        <p:spPr>
          <a:xfrm>
            <a:off x="457200" y="1207008"/>
            <a:ext cx="5837208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Five share classes after the offering</a:t>
            </a:r>
          </a:p>
        </p:txBody>
      </p:sp>
      <p:sp>
        <p:nvSpPr>
          <p:cNvPr id="5" name="cls_u"/>
          <p:cNvSpPr/>
          <p:nvPr/>
        </p:nvSpPr>
        <p:spPr>
          <a:xfrm>
            <a:off x="457200" y="1394460"/>
            <a:ext cx="5837208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Class A, the class offered and the one Marlow would hold, in bold.</a:t>
            </a:r>
          </a:p>
        </p:txBody>
      </p:sp>
      <p:graphicFrame>
        <p:nvGraphicFramePr>
          <p:cNvPr id="6" name="cls"/>
          <p:cNvGraphicFramePr>
            <a:graphicFrameLocks noGrp="1"/>
          </p:cNvGraphicFramePr>
          <p:nvPr/>
        </p:nvGraphicFramePr>
        <p:xfrm>
          <a:off x="457200" y="1543812"/>
          <a:ext cx="5837208" cy="167309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525349"/>
                <a:gridCol w="1342558"/>
                <a:gridCol w="1109070"/>
                <a:gridCol w="758837"/>
                <a:gridCol w="2101394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Class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Held by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Votes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Economics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Board election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Class A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Public and existing holders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 per share; at most 49.9% in total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Full, pro rata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Non-Class T directors, with Class F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Mainly strategic partners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None, unless law requires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Full, pro rata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None; converts to A on sale to a third party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Long-Term Benefit Trust (one share)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Only on its listed matters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T directors: the board majority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F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Founder LLC of the seven founders (one share)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50.1% of all votes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Non-Class T directors, with Class 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Employees, founders excluded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Limited matters only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 Specified Class T Director, only if the nominating committee does not concur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pbc_h"/>
          <p:cNvSpPr/>
          <p:nvPr/>
        </p:nvSpPr>
        <p:spPr>
          <a:xfrm>
            <a:off x="457200" y="3489071"/>
            <a:ext cx="5837208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A public benefit corporation</a:t>
            </a:r>
          </a:p>
        </p:txBody>
      </p:sp>
      <p:sp>
        <p:nvSpPr>
          <p:cNvPr id="8" name="pbc"/>
          <p:cNvSpPr/>
          <p:nvPr/>
        </p:nvSpPr>
        <p:spPr>
          <a:xfrm>
            <a:off x="457200" y="3676523"/>
            <a:ext cx="5837208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As a Delaware public benefit corporation the board must balance stockholders' pecuniary interests, those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materially affected by the company, and its purpose: the responsible development and maintenance of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advanced AI for the long-term benefit of humanity. Judicial precedent on that balance is limited.</a:t>
            </a:r>
          </a:p>
        </p:txBody>
      </p:sp>
      <p:sp>
        <p:nvSpPr>
          <p:cNvPr id="9" name="mean_h"/>
          <p:cNvSpPr/>
          <p:nvPr/>
        </p:nvSpPr>
        <p:spPr>
          <a:xfrm>
            <a:off x="457200" y="4402836"/>
            <a:ext cx="5837208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What it means for Marlow</a:t>
            </a:r>
          </a:p>
        </p:txBody>
      </p:sp>
      <p:sp>
        <p:nvSpPr>
          <p:cNvPr id="10" name="mean_b"/>
          <p:cNvSpPr/>
          <p:nvPr/>
        </p:nvSpPr>
        <p:spPr>
          <a:xfrm>
            <a:off x="457200" y="4590288"/>
            <a:ext cx="5837208" cy="1577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We buy economics without control: the Founder LLC's fixed 50.1% decides matters put to stockholders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generally.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A merger or sale of substantially all assets also needs the board's approval, and the trust elects the board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majority: no bid succeeds without trust-elected directors.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Changing the trust needs 80% of the board and of the trustees, or founder, employee and Class A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approval; 85% of Class A once Class F is gone.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Sunset: Class F and E are redeemed 450 days after fewer than three Continuing Founders remain for 90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days.</a:t>
            </a:r>
          </a:p>
          <a:p>
            <a:pPr algn="l" lvl="0" marL="109728" indent="-108585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950" b="0" i="0">
                <a:solidFill>
                  <a:srgbClr val="151D26"/>
                </a:solidFill>
                <a:latin typeface="Arial"/>
              </a:rPr>
              <a:t>Controlled company: the exemption is used only for the nominating committee; audit and compensation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committees are fully independent.</a:t>
            </a:r>
          </a:p>
        </p:txBody>
      </p:sp>
      <p:sp>
        <p:nvSpPr>
          <p:cNvPr id="11" name="diag_h"/>
          <p:cNvSpPr/>
          <p:nvPr/>
        </p:nvSpPr>
        <p:spPr>
          <a:xfrm>
            <a:off x="6523008" y="1207008"/>
            <a:ext cx="5211792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Who elects the board</a:t>
            </a:r>
          </a:p>
        </p:txBody>
      </p:sp>
      <p:sp>
        <p:nvSpPr>
          <p:cNvPr id="12" name="diag_u"/>
          <p:cNvSpPr/>
          <p:nvPr/>
        </p:nvSpPr>
        <p:spPr>
          <a:xfrm>
            <a:off x="6523008" y="1394460"/>
            <a:ext cx="5211792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Each arrow runs from the holders who vote to the seats their vote decides.</a:t>
            </a:r>
          </a:p>
        </p:txBody>
      </p:sp>
      <p:sp>
        <p:nvSpPr>
          <p:cNvPr id="13" name="f1_a-fill"/>
          <p:cNvSpPr/>
          <p:nvPr/>
        </p:nvSpPr>
        <p:spPr>
          <a:xfrm>
            <a:off x="6523008" y="1543812"/>
            <a:ext cx="2391012" cy="498348"/>
          </a:xfrm>
          <a:prstGeom prst="rect">
            <a:avLst/>
          </a:prstGeom>
          <a:solidFill>
            <a:srgbClr val="EA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1_a_t"/>
          <p:cNvSpPr/>
          <p:nvPr/>
        </p:nvSpPr>
        <p:spPr>
          <a:xfrm>
            <a:off x="6577872" y="1598676"/>
            <a:ext cx="2281284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Long-Term Benefit Trust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Holds the Class T share; five trustee seats, one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vacant</a:t>
            </a:r>
          </a:p>
        </p:txBody>
      </p:sp>
      <p:sp>
        <p:nvSpPr>
          <p:cNvPr id="15" name="f1_ar-fill"/>
          <p:cNvSpPr/>
          <p:nvPr/>
        </p:nvSpPr>
        <p:spPr>
          <a:xfrm>
            <a:off x="8968884" y="1678686"/>
            <a:ext cx="320040" cy="228600"/>
          </a:xfrm>
          <a:prstGeom prst="rightArrow">
            <a:avLst/>
          </a:prstGeom>
          <a:solidFill>
            <a:srgbClr val="1D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1_b-fill"/>
          <p:cNvSpPr/>
          <p:nvPr/>
        </p:nvSpPr>
        <p:spPr>
          <a:xfrm>
            <a:off x="9343788" y="1543812"/>
            <a:ext cx="2391012" cy="498348"/>
          </a:xfrm>
          <a:prstGeom prst="rect">
            <a:avLst/>
          </a:prstGeom>
          <a:noFill/>
          <a:ln w="9525">
            <a:solidFill>
              <a:srgbClr val="1D3B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1_b_t"/>
          <p:cNvSpPr/>
          <p:nvPr/>
        </p:nvSpPr>
        <p:spPr>
          <a:xfrm>
            <a:off x="9398652" y="1598676"/>
            <a:ext cx="2281284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Class T directors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A majority of the board; the trust elects and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removes them</a:t>
            </a:r>
          </a:p>
        </p:txBody>
      </p:sp>
      <p:sp>
        <p:nvSpPr>
          <p:cNvPr id="18" name="f2_a-fill"/>
          <p:cNvSpPr/>
          <p:nvPr/>
        </p:nvSpPr>
        <p:spPr>
          <a:xfrm>
            <a:off x="6523008" y="2097024"/>
            <a:ext cx="2391012" cy="498348"/>
          </a:xfrm>
          <a:prstGeom prst="rect">
            <a:avLst/>
          </a:prstGeom>
          <a:solidFill>
            <a:srgbClr val="EA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2_a_t"/>
          <p:cNvSpPr/>
          <p:nvPr/>
        </p:nvSpPr>
        <p:spPr>
          <a:xfrm>
            <a:off x="6577872" y="2151888"/>
            <a:ext cx="2281284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Class E (employees)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Vote only if the nominating committee does not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concur with the trust</a:t>
            </a:r>
          </a:p>
        </p:txBody>
      </p:sp>
      <p:sp>
        <p:nvSpPr>
          <p:cNvPr id="20" name="f2_ar-fill"/>
          <p:cNvSpPr/>
          <p:nvPr/>
        </p:nvSpPr>
        <p:spPr>
          <a:xfrm>
            <a:off x="8968884" y="2231898"/>
            <a:ext cx="320040" cy="228600"/>
          </a:xfrm>
          <a:prstGeom prst="rightArrow">
            <a:avLst/>
          </a:prstGeom>
          <a:solidFill>
            <a:srgbClr val="1D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2_b-fill"/>
          <p:cNvSpPr/>
          <p:nvPr/>
        </p:nvSpPr>
        <p:spPr>
          <a:xfrm>
            <a:off x="9343788" y="2157984"/>
            <a:ext cx="2391012" cy="376428"/>
          </a:xfrm>
          <a:prstGeom prst="rect">
            <a:avLst/>
          </a:prstGeom>
          <a:noFill/>
          <a:ln w="9525">
            <a:solidFill>
              <a:srgbClr val="1D3B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2_b_t"/>
          <p:cNvSpPr/>
          <p:nvPr/>
        </p:nvSpPr>
        <p:spPr>
          <a:xfrm>
            <a:off x="9398652" y="2212848"/>
            <a:ext cx="2281284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The Specified Class T Director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Its nomination, designation or removal</a:t>
            </a:r>
          </a:p>
        </p:txBody>
      </p:sp>
      <p:sp>
        <p:nvSpPr>
          <p:cNvPr id="23" name="f3_a-fill"/>
          <p:cNvSpPr/>
          <p:nvPr/>
        </p:nvSpPr>
        <p:spPr>
          <a:xfrm>
            <a:off x="6523008" y="2711196"/>
            <a:ext cx="2391012" cy="376428"/>
          </a:xfrm>
          <a:prstGeom prst="rect">
            <a:avLst/>
          </a:prstGeom>
          <a:solidFill>
            <a:srgbClr val="EAEF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3_a_t"/>
          <p:cNvSpPr/>
          <p:nvPr/>
        </p:nvSpPr>
        <p:spPr>
          <a:xfrm>
            <a:off x="6577872" y="2766060"/>
            <a:ext cx="2281284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Class F with Class A, voting together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Class F 50.1% of votes; Class A at most 49.9%</a:t>
            </a:r>
          </a:p>
        </p:txBody>
      </p:sp>
      <p:sp>
        <p:nvSpPr>
          <p:cNvPr id="25" name="f3_ar-fill"/>
          <p:cNvSpPr/>
          <p:nvPr/>
        </p:nvSpPr>
        <p:spPr>
          <a:xfrm>
            <a:off x="8968884" y="2785110"/>
            <a:ext cx="320040" cy="228600"/>
          </a:xfrm>
          <a:prstGeom prst="rightArrow">
            <a:avLst/>
          </a:prstGeom>
          <a:solidFill>
            <a:srgbClr val="1D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3_b-fill"/>
          <p:cNvSpPr/>
          <p:nvPr/>
        </p:nvSpPr>
        <p:spPr>
          <a:xfrm>
            <a:off x="9343788" y="2650236"/>
            <a:ext cx="2391012" cy="498348"/>
          </a:xfrm>
          <a:prstGeom prst="rect">
            <a:avLst/>
          </a:prstGeom>
          <a:noFill/>
          <a:ln w="9525">
            <a:solidFill>
              <a:srgbClr val="1D3B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3_b_t"/>
          <p:cNvSpPr/>
          <p:nvPr/>
        </p:nvSpPr>
        <p:spPr>
          <a:xfrm>
            <a:off x="9398652" y="2705100"/>
            <a:ext cx="2281284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Other directors</a:t>
            </a:r>
          </a:p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The board minority; the public's only route to the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board</a:t>
            </a:r>
          </a:p>
        </p:txBody>
      </p:sp>
      <p:sp>
        <p:nvSpPr>
          <p:cNvPr id="28" name="tru_h"/>
          <p:cNvSpPr/>
          <p:nvPr/>
        </p:nvSpPr>
        <p:spPr>
          <a:xfrm>
            <a:off x="6523008" y="3258312"/>
            <a:ext cx="5211792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The trustees</a:t>
            </a:r>
          </a:p>
        </p:txBody>
      </p:sp>
      <p:sp>
        <p:nvSpPr>
          <p:cNvPr id="29" name="tru_u"/>
          <p:cNvSpPr/>
          <p:nvPr/>
        </p:nvSpPr>
        <p:spPr>
          <a:xfrm>
            <a:off x="6523008" y="3445764"/>
            <a:ext cx="5211792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Financially disinterested: barred from directly buying or holding the stock; paid $400,000 a year each.</a:t>
            </a:r>
          </a:p>
        </p:txBody>
      </p:sp>
      <p:graphicFrame>
        <p:nvGraphicFramePr>
          <p:cNvPr id="30" name="tru"/>
          <p:cNvGraphicFramePr>
            <a:graphicFrameLocks noGrp="1"/>
          </p:cNvGraphicFramePr>
          <p:nvPr/>
        </p:nvGraphicFramePr>
        <p:xfrm>
          <a:off x="6523008" y="3595116"/>
          <a:ext cx="5211792" cy="106222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72009"/>
                <a:gridCol w="938123"/>
                <a:gridCol w="2501660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Trustee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Since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Background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Dr. Neil “Buddy” Shah (Chair)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June 2023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CEO, Clinton Health Access Initiative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Richard Fontaine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April 2025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CEO, Center for a New American Security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Ben S. Bernanke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June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Former Chairman, Federal Reserve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Christopher Stubbs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October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Professor of Physics, Harvard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Fifth seat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Vacant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Not yet filled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pb_h"/>
          <p:cNvSpPr/>
          <p:nvPr/>
        </p:nvSpPr>
        <p:spPr>
          <a:xfrm>
            <a:off x="6523008" y="4767072"/>
            <a:ext cx="5211792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Public benefit commitments that cost holders</a:t>
            </a:r>
          </a:p>
        </p:txBody>
      </p:sp>
      <p:graphicFrame>
        <p:nvGraphicFramePr>
          <p:cNvPr id="32" name="pb"/>
          <p:cNvGraphicFramePr>
            <a:graphicFrameLocks noGrp="1"/>
          </p:cNvGraphicFramePr>
          <p:nvPr/>
        </p:nvGraphicFramePr>
        <p:xfrm>
          <a:off x="6523008" y="4954524"/>
          <a:ext cx="5211792" cy="8851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772009"/>
                <a:gridCol w="3439783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Commitment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In the S-1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Initial Public Benefit Issuance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846,840,960 Class N shares, 5% of fully diluted shares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Further issuances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Up to 2% of shares per 50% share-price rise, at the board's discretion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Donation matching expense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$541m in 2025, about 4% of operating expenses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Co-founder pledge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80% of each co-founder's equity to philanthropy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source"/>
          <p:cNvSpPr/>
          <p:nvPr/>
        </p:nvSpPr>
        <p:spPr>
          <a:xfrm>
            <a:off x="457200" y="6277356"/>
            <a:ext cx="11277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Prospectus Summary (Our Capital Structure, Controlled Company Status); Our Governance Structure and Its Goals; Description of Capital Stock.</a:t>
            </a: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8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19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20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21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2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SCENARIOS  |  BULL, BASE AND BEAR, ASSUMPTIONS LABELLED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At an illustrative $1.0tn entry the bear case loses 74% of the entry value, and the three scenarios' annual returns,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weighted by probability, average only about 4% a year</a:t>
            </a:r>
          </a:p>
        </p:txBody>
      </p:sp>
      <p:sp>
        <p:nvSpPr>
          <p:cNvPr id="4" name="sc_h"/>
          <p:cNvSpPr/>
          <p:nvPr/>
        </p:nvSpPr>
        <p:spPr>
          <a:xfrm>
            <a:off x="457200" y="1207008"/>
            <a:ext cx="602672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Scenarios to end-2029, from an illustrative $1.0tn entry</a:t>
            </a:r>
          </a:p>
        </p:txBody>
      </p:sp>
      <p:sp>
        <p:nvSpPr>
          <p:cNvPr id="5" name="sc_u"/>
          <p:cNvSpPr/>
          <p:nvPr/>
        </p:nvSpPr>
        <p:spPr>
          <a:xfrm>
            <a:off x="457200" y="1394460"/>
            <a:ext cx="602672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Assumption rows are illustrative Marlow inputs, not S-1 figures; derived rows are computed from them and the S-1.</a:t>
            </a:r>
          </a:p>
        </p:txBody>
      </p:sp>
      <p:graphicFrame>
        <p:nvGraphicFramePr>
          <p:cNvPr id="6" name="sc"/>
          <p:cNvGraphicFramePr>
            <a:graphicFrameLocks noGrp="1"/>
          </p:cNvGraphicFramePr>
          <p:nvPr/>
        </p:nvGraphicFramePr>
        <p:xfrm>
          <a:off x="457200" y="1543812"/>
          <a:ext cx="6026727" cy="314934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687484"/>
                <a:gridCol w="662940"/>
                <a:gridCol w="1223426"/>
                <a:gridCol w="1223426"/>
                <a:gridCol w="1229451"/>
              </a:tblGrid>
              <a:tr h="231902">
                <a:tc>
                  <a:txBody>
                    <a:bodyPr wrap="square"/>
                    <a:lstStyle/>
                    <a:p>
                      <a:pPr algn="ctr"/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Basis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Bear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Base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Bull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59842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What has to be true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51D26"/>
                          </a:solidFill>
                          <a:latin typeface="Arial"/>
                        </a:rPr>
                        <a:t>Assumption</a:t>
                      </a:r>
                      <a:endParaRPr sz="800" b="0" i="1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Rivals match the frontier, customers optimise spend, fixed compute caps margins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Growth slows every year from a high base while margins rise with scale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Agentic products keep the frontier lead; customers keep expanding spend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Probability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51D26"/>
                          </a:solidFill>
                          <a:latin typeface="Arial"/>
                        </a:rPr>
                        <a:t>Assumption</a:t>
                      </a:r>
                      <a:endParaRPr sz="800" b="0" i="1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2029 revenue ($bn)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51D26"/>
                          </a:solidFill>
                          <a:latin typeface="Arial"/>
                        </a:rPr>
                        <a:t>Assumption</a:t>
                      </a:r>
                      <a:endParaRPr sz="800" b="0" i="1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180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350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Value / 2029 revenue (x)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51D26"/>
                          </a:solidFill>
                          <a:latin typeface="Arial"/>
                        </a:rPr>
                        <a:t>Assumption</a:t>
                      </a:r>
                      <a:endParaRPr sz="800" b="0" i="1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4.0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8.0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10.0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Equity-award dilution (% a year)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151D26"/>
                          </a:solidFill>
                          <a:latin typeface="Arial"/>
                        </a:rPr>
                        <a:t>Assumption</a:t>
                      </a:r>
                      <a:endParaRPr sz="800" b="0" i="1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2.0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1.5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1.5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Implied revenue growth (% a year)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57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96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2029 value ($bn)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280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1,440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3,500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Public benefit issuances triggered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0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Total dilution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5.9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4.4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8.2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Multiple of entry value (x)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A3392A"/>
                          </a:solidFill>
                          <a:latin typeface="Arial"/>
                        </a:rPr>
                        <a:t>0.26</a:t>
                      </a:r>
                      <a:endParaRPr sz="800" b="1" i="0">
                        <a:solidFill>
                          <a:srgbClr val="A3392A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1.38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2D6A4C"/>
                          </a:solidFill>
                          <a:latin typeface="Arial"/>
                        </a:rPr>
                        <a:t>3.21</a:t>
                      </a:r>
                      <a:endParaRPr sz="800" b="1" i="0">
                        <a:solidFill>
                          <a:srgbClr val="2D6A4C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Annual return (%)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55606B"/>
                          </a:solidFill>
                          <a:latin typeface="Arial"/>
                        </a:rPr>
                        <a:t>Derived</a:t>
                      </a:r>
                      <a:endParaRPr sz="800" b="0" i="0">
                        <a:solidFill>
                          <a:srgbClr val="55606B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A3392A"/>
                          </a:solidFill>
                          <a:latin typeface="Arial"/>
                        </a:rPr>
                        <a:t>(36)</a:t>
                      </a:r>
                      <a:endParaRPr sz="800" b="1" i="0">
                        <a:solidFill>
                          <a:srgbClr val="A3392A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2D6A4C"/>
                          </a:solidFill>
                          <a:latin typeface="Arial"/>
                        </a:rPr>
                        <a:t>48</a:t>
                      </a:r>
                      <a:endParaRPr sz="800" b="1" i="0">
                        <a:solidFill>
                          <a:srgbClr val="2D6A4C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moic_n"/>
          <p:cNvSpPr/>
          <p:nvPr/>
        </p:nvSpPr>
        <p:spPr>
          <a:xfrm>
            <a:off x="457200" y="4748022"/>
            <a:ext cx="6026727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Weighted by Marlow's probabilities the three annual returns average about 4% a year; the weighted multiple,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1.41x, would annualise to 12%, but returns do not average that way. At $1.25tn the base case falls to 1.10x and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the weighted return to a loss of about 3% a year.</a:t>
            </a:r>
          </a:p>
        </p:txBody>
      </p:sp>
      <p:sp>
        <p:nvSpPr>
          <p:cNvPr id="8" name="sc_fn"/>
          <p:cNvSpPr/>
          <p:nvPr/>
        </p:nvSpPr>
        <p:spPr>
          <a:xfrm>
            <a:off x="457200" y="5257038"/>
            <a:ext cx="6026727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Implied growth runs from annualised Q2'26 revenue (Q2'26 x4 = $46.2bn, Marlow's figure, not the S-1's Run-Rate Revenue). Net cash is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assumed spent on the compute build-out.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Dilution adds 2% per Public Benefit Issuance, made each time the share price rises 50% above the prior milestone, starting at the IPO price.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Prices are taken after all dilution, so Bull passes 1.5x and 2.25x but not the third milestone, 3.375x.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Entry anchor: Series H paid $589.0095 a preferred share, with its conversion rate adjusted for the 10-for-1 split of the common: $58.90 a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common share x 16.94bn fully diluted shares = $998bn, if the Amazon notes convert in full. Probabilities are Marlow's judgement, tilted to the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bear side because the S-1 expects its growth rate to decline, possibly significantly; no peer or market data.</a:t>
            </a:r>
          </a:p>
        </p:txBody>
      </p:sp>
      <p:sp>
        <p:nvSpPr>
          <p:cNvPr id="9" name="moic_h"/>
          <p:cNvSpPr/>
          <p:nvPr/>
        </p:nvSpPr>
        <p:spPr>
          <a:xfrm>
            <a:off x="6712527" y="1207008"/>
            <a:ext cx="5022273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What the entry price does to each outcome</a:t>
            </a:r>
          </a:p>
        </p:txBody>
      </p:sp>
      <p:sp>
        <p:nvSpPr>
          <p:cNvPr id="10" name="moic_u"/>
          <p:cNvSpPr/>
          <p:nvPr/>
        </p:nvSpPr>
        <p:spPr>
          <a:xfrm>
            <a:off x="6712527" y="1394460"/>
            <a:ext cx="5022273" cy="243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Multiple of entry value at end-2029 (x), at three illustrative entry values; the probability-weighted multiple under</a:t>
            </a:r>
            <a:br/>
            <a:r>
              <a:rPr sz="800" b="0" i="0">
                <a:solidFill>
                  <a:srgbClr val="55606B"/>
                </a:solidFill>
                <a:latin typeface="Arial"/>
              </a:rPr>
              <a:t>each, a summary, not a fourth scenario</a:t>
            </a:r>
          </a:p>
        </p:txBody>
      </p:sp>
      <p:graphicFrame>
        <p:nvGraphicFramePr>
          <p:cNvPr id="11" name="moic"/>
          <p:cNvGraphicFramePr>
            <a:graphicFrameLocks noGrp="1"/>
          </p:cNvGraphicFramePr>
          <p:nvPr/>
        </p:nvGraphicFramePr>
        <p:xfrm>
          <a:off x="6712527" y="1665732"/>
          <a:ext cx="5022273" cy="45018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ource"/>
          <p:cNvSpPr/>
          <p:nvPr/>
        </p:nvSpPr>
        <p:spPr>
          <a:xfrm>
            <a:off x="457200" y="6277356"/>
            <a:ext cx="11277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MD&amp;A: Quarterly Results of Operations; Prospectus Summary (Public Benefit Issuances); Description of Capital Stock. All other inputs are illustrative Marlow assumptions; outputs computed by Marlow.</a:t>
            </a:r>
          </a:p>
        </p:txBody>
      </p:sp>
      <p:cxnSp>
        <p:nvCxnSpPr>
          <p:cNvPr id="13" name="be-line"/>
          <p:cNvCxnSpPr/>
          <p:nvPr/>
        </p:nvCxnSpPr>
        <p:spPr>
          <a:xfrm>
            <a:off x="6812972" y="4611258"/>
            <a:ext cx="3716482" cy="0"/>
          </a:xfrm>
          <a:prstGeom prst="line">
            <a:avLst/>
          </a:prstGeom>
          <a:ln w="9525">
            <a:solidFill>
              <a:srgbClr val="151D26"/>
            </a:solidFill>
            <a:prstDash val="dash"/>
          </a:ln>
        </p:spPr>
      </p:cxnSp>
      <p:sp>
        <p:nvSpPr>
          <p:cNvPr id="14" name="be-label"/>
          <p:cNvSpPr/>
          <p:nvPr/>
        </p:nvSpPr>
        <p:spPr>
          <a:xfrm>
            <a:off x="10529454" y="4550298"/>
            <a:ext cx="87078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151D26"/>
                </a:solidFill>
                <a:latin typeface="Arial"/>
              </a:rPr>
              <a:t>Break-even 1.00x</a:t>
            </a:r>
          </a:p>
        </p:txBody>
      </p:sp>
      <p:sp>
        <p:nvSpPr>
          <p:cNvPr id="15" name="wrow-0-text"/>
          <p:cNvSpPr/>
          <p:nvPr/>
        </p:nvSpPr>
        <p:spPr>
          <a:xfrm>
            <a:off x="6974089" y="5970300"/>
            <a:ext cx="916594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Weighted 1.41x</a:t>
            </a:r>
          </a:p>
        </p:txBody>
      </p:sp>
      <p:sp>
        <p:nvSpPr>
          <p:cNvPr id="16" name="wrow-1-text"/>
          <p:cNvSpPr/>
          <p:nvPr/>
        </p:nvSpPr>
        <p:spPr>
          <a:xfrm>
            <a:off x="8212916" y="5970300"/>
            <a:ext cx="916594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Weighted 1.13x</a:t>
            </a:r>
          </a:p>
        </p:txBody>
      </p:sp>
      <p:sp>
        <p:nvSpPr>
          <p:cNvPr id="17" name="wrow-2-text"/>
          <p:cNvSpPr/>
          <p:nvPr/>
        </p:nvSpPr>
        <p:spPr>
          <a:xfrm>
            <a:off x="9451744" y="5970300"/>
            <a:ext cx="916594" cy="144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51D26"/>
                </a:solidFill>
                <a:latin typeface="Arial"/>
              </a:rPr>
              <a:t>Weighted 0.95x</a:t>
            </a: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6" name="chrome-1"/>
          <p:cNvCxnSpPr/>
          <p:nvPr/>
        </p:nvCxnSpPr>
        <p:spPr>
          <a:xfrm>
            <a:off x="457200" y="1101852"/>
            <a:ext cx="11277295" cy="0"/>
          </a:xfrm>
          <a:prstGeom prst="line">
            <a:avLst/>
          </a:prstGeom>
          <a:ln w="12700">
            <a:solidFill>
              <a:srgbClr val="1D3B5C"/>
            </a:solidFill>
          </a:ln>
        </p:spPr>
      </p:cxnSp>
      <p:sp>
        <p:nvSpPr>
          <p:cNvPr id="17" name="chrome-2"/>
          <p:cNvSpPr txBox="1"/>
          <p:nvPr/>
        </p:nvSpPr>
        <p:spPr>
          <a:xfrm>
            <a:off x="7162495" y="146304"/>
            <a:ext cx="4572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Marlow Street Capital  |  Investment committee pre-read  |  27 October 2026</a:t>
            </a:r>
          </a:p>
        </p:txBody>
      </p:sp>
      <p:cxnSp>
        <p:nvCxnSpPr>
          <p:cNvPr id="18" name="chrome-3"/>
          <p:cNvCxnSpPr/>
          <p:nvPr/>
        </p:nvCxnSpPr>
        <p:spPr>
          <a:xfrm>
            <a:off x="457200" y="6423660"/>
            <a:ext cx="11277295" cy="0"/>
          </a:xfrm>
          <a:prstGeom prst="line">
            <a:avLst/>
          </a:prstGeom>
          <a:ln w="9525">
            <a:solidFill>
              <a:srgbClr val="C3CAD2"/>
            </a:solidFill>
          </a:ln>
        </p:spPr>
      </p:cxnSp>
      <p:sp>
        <p:nvSpPr>
          <p:cNvPr id="19" name="chrome-4"/>
          <p:cNvSpPr txBox="1"/>
          <p:nvPr/>
        </p:nvSpPr>
        <p:spPr>
          <a:xfrm>
            <a:off x="457200" y="6473952"/>
            <a:ext cx="1060704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50" b="0">
                <a:solidFill>
                  <a:srgbClr val="55606B"/>
                </a:solidFill>
                <a:latin typeface="Arial"/>
              </a:rPr>
              <a:t>Unofficial demonstration built from Anthropic, PBC's public Form S-1 (filed 26 October 2026). Not prepared by or affiliated with Anthropic. Not investment advice.</a:t>
            </a:r>
          </a:p>
        </p:txBody>
      </p:sp>
      <p:sp>
        <p:nvSpPr>
          <p:cNvPr id="20" name="chrome-5"/>
          <p:cNvSpPr txBox="1"/>
          <p:nvPr/>
        </p:nvSpPr>
        <p:spPr>
          <a:xfrm>
            <a:off x="11277295" y="6473952"/>
            <a:ext cx="45720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50">
                <a:solidFill>
                  <a:srgbClr val="55606B"/>
                </a:solidFill>
                <a:latin typeface="Arial"/>
              </a:rPr>
              <a:t>1</a:t>
            </a:fld>
          </a:p>
        </p:txBody>
      </p:sp>
      <p:sp>
        <p:nvSpPr>
          <p:cNvPr id="2" name="kicker"/>
          <p:cNvSpPr/>
          <p:nvPr/>
        </p:nvSpPr>
        <p:spPr>
          <a:xfrm>
            <a:off x="457200" y="457200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1D3B5C"/>
                </a:solidFill>
                <a:latin typeface="Arial"/>
              </a:rPr>
              <a:t>RECOMMENDATION  |  SIZING LOGIC AND CONDITIONS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06552"/>
            <a:ext cx="11277600" cy="4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151D26"/>
                </a:solidFill>
                <a:latin typeface="Arial"/>
              </a:rPr>
              <a:t>Start at 1.0% of NAV, the most a 74% bear-case loss allows within a 75bp loss budget; add up to 2.0%, where a bear</a:t>
            </a:r>
            <a:br/>
            <a:r>
              <a:rPr sz="1600" b="1" i="0">
                <a:solidFill>
                  <a:srgbClr val="151D26"/>
                </a:solidFill>
                <a:latin typeface="Arial"/>
              </a:rPr>
              <a:t>case costs 148bp, only if the conditions hold</a:t>
            </a:r>
          </a:p>
        </p:txBody>
      </p:sp>
      <p:sp>
        <p:nvSpPr>
          <p:cNvPr id="4" name="step_h"/>
          <p:cNvSpPr/>
          <p:nvPr/>
        </p:nvSpPr>
        <p:spPr>
          <a:xfrm>
            <a:off x="457200" y="1207008"/>
            <a:ext cx="4910667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How the size follows from the bear case</a:t>
            </a:r>
          </a:p>
        </p:txBody>
      </p:sp>
      <p:sp>
        <p:nvSpPr>
          <p:cNvPr id="5" name="step_u"/>
          <p:cNvSpPr/>
          <p:nvPr/>
        </p:nvSpPr>
        <p:spPr>
          <a:xfrm>
            <a:off x="457200" y="1394460"/>
            <a:ext cx="4910667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Both loss budgets are Marlow's (fictional) risk rules; the two sizes and the price limit in teal.</a:t>
            </a:r>
          </a:p>
        </p:txBody>
      </p:sp>
      <p:graphicFrame>
        <p:nvGraphicFramePr>
          <p:cNvPr id="6" name="step"/>
          <p:cNvGraphicFramePr>
            <a:graphicFrameLocks noGrp="1"/>
          </p:cNvGraphicFramePr>
          <p:nvPr/>
        </p:nvGraphicFramePr>
        <p:xfrm>
          <a:off x="457200" y="1543812"/>
          <a:ext cx="4910667" cy="153847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45533"/>
                <a:gridCol w="3535680"/>
                <a:gridCol w="1129454"/>
              </a:tblGrid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#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Step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Value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Starting loss budget: the most a bear case may cost the fund (Marlow rule)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75bp of NAV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Bear-case loss at an illustrative $1.0tn entry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74%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3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Largest starting size: 75bp / 74%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1.01% of NAV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4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Starting size, rounded down; a bear case costs 74bp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1.0% of NAV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5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Loss budget once the add conditions hold (Marlow rule)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150bp of NAV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6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Ceiling: 150bp / 74% = 2.03%, rounded down; a bear case costs 148bp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2.0% of NAV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7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Price limit: above about $1.05tn a 1.0% order costs over 75bp (79bp at $1.25tn)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0A7570"/>
                          </a:solidFill>
                          <a:latin typeface="Arial"/>
                        </a:rPr>
                        <a:t>$1.0tn</a:t>
                      </a:r>
                      <a:endParaRPr sz="800" b="1" i="0">
                        <a:solidFill>
                          <a:srgbClr val="0A7570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tep_n"/>
          <p:cNvSpPr/>
          <p:nvPr/>
        </p:nvSpPr>
        <p:spPr>
          <a:xfrm>
            <a:off x="457200" y="3137154"/>
            <a:ext cx="4910667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92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51D26"/>
                </a:solidFill>
                <a:latin typeface="Arial"/>
              </a:rPr>
              <a:t>We size to the bear case, not the weighted 1.41x. The larger budget applies only after the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conditions below show the bear case becoming less likely: at 2.0% a bear case costs</a:t>
            </a:r>
            <a:br/>
            <a:r>
              <a:rPr sz="950" b="0" i="0">
                <a:solidFill>
                  <a:srgbClr val="151D26"/>
                </a:solidFill>
                <a:latin typeface="Arial"/>
              </a:rPr>
              <a:t>148bp, twice the starting budget. Adds, like the order, are made at or below $1.0tn.</a:t>
            </a:r>
          </a:p>
        </p:txBody>
      </p:sp>
      <p:sp>
        <p:nvSpPr>
          <p:cNvPr id="8" name="blank_h"/>
          <p:cNvSpPr/>
          <p:nvPr/>
        </p:nvSpPr>
        <p:spPr>
          <a:xfrm>
            <a:off x="5596467" y="1207008"/>
            <a:ext cx="6138333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Before we order: blanks the amended S-1 must fill</a:t>
            </a:r>
          </a:p>
        </p:txBody>
      </p:sp>
      <p:sp>
        <p:nvSpPr>
          <p:cNvPr id="9" name="blank_u"/>
          <p:cNvSpPr/>
          <p:nvPr/>
        </p:nvSpPr>
        <p:spPr>
          <a:xfrm>
            <a:off x="5596467" y="1394460"/>
            <a:ext cx="6138333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This first filing leaves these figures blank; each one can move the size or the price limit.</a:t>
            </a:r>
          </a:p>
        </p:txBody>
      </p:sp>
      <p:graphicFrame>
        <p:nvGraphicFramePr>
          <p:cNvPr id="10" name="blank"/>
          <p:cNvGraphicFramePr>
            <a:graphicFrameLocks noGrp="1"/>
          </p:cNvGraphicFramePr>
          <p:nvPr/>
        </p:nvGraphicFramePr>
        <p:xfrm>
          <a:off x="5596467" y="1543812"/>
          <a:ext cx="6138333" cy="201472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025650"/>
                <a:gridCol w="1534583"/>
                <a:gridCol w="2578100"/>
              </a:tblGrid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Blank in this S-1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Where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Why it matters to the order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Price range and shares offered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Cover page; The Offering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Sets our entry value, assumed here at $1.0tn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Revenue for Q3'26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Prospectus Summary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Should exceed the about $16.6bn its revenue per employee implies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Run-Rate Revenue at 31 Oct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Business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 filing's own annualised measure; we use Q2'26 x4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9921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Total committed spend; 12-month part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Compute Investments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Our $637.0bn adds minimums, maxima and rent of seven names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Contractual payments due by year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Contractual Obligations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 annual cash claim of the commitments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Liquidity at 30 Sep 2026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MD&amp;A: Compute Investments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Cash against the next year of commitments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Share of fully diluted shares under lock-up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Underwriting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Stock that can be sold when the lock-up ends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Amazon notes converting at the offering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The Offering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Class N shares issued to a supplier and investor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17703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Pro forma cash, after RSU tax payments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Summary Balance Sheet Data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Cash left after the offering for the build-out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rig_h"/>
          <p:cNvSpPr/>
          <p:nvPr/>
        </p:nvSpPr>
        <p:spPr>
          <a:xfrm>
            <a:off x="457200" y="3774186"/>
            <a:ext cx="112776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1D3B5C"/>
                </a:solidFill>
                <a:latin typeface="Arial"/>
              </a:rPr>
              <a:t>Conditions to add to 2.0%, hold, or trim</a:t>
            </a:r>
          </a:p>
        </p:txBody>
      </p:sp>
      <p:sp>
        <p:nvSpPr>
          <p:cNvPr id="12" name="trig_u"/>
          <p:cNvSpPr/>
          <p:nvPr/>
        </p:nvSpPr>
        <p:spPr>
          <a:xfrm>
            <a:off x="457200" y="3961638"/>
            <a:ext cx="1127760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55606B"/>
                </a:solidFill>
                <a:latin typeface="Arial"/>
              </a:rPr>
              <a:t>Each condition reads an S-1 metric; the levels are illustrative Marlow assumptions. We add only when every add condition holds and trim on any trim condition.</a:t>
            </a:r>
          </a:p>
        </p:txBody>
      </p:sp>
      <p:graphicFrame>
        <p:nvGraphicFramePr>
          <p:cNvPr id="13" name="trig"/>
          <p:cNvGraphicFramePr>
            <a:graphicFrameLocks noGrp="1"/>
          </p:cNvGraphicFramePr>
          <p:nvPr/>
        </p:nvGraphicFramePr>
        <p:xfrm>
          <a:off x="457200" y="4110990"/>
          <a:ext cx="11277600" cy="163576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691640"/>
                <a:gridCol w="2368296"/>
                <a:gridCol w="1353312"/>
                <a:gridCol w="2142744"/>
                <a:gridCol w="1917192"/>
                <a:gridCol w="1804416"/>
              </a:tblGrid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Condition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S-1 metric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Today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Add if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Hold while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Trim if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Margins hold as capacity lands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Adjusted operating margin, each quarter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19% in Q2'26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Positive in both quarters after SpaceXAI capacity is fully delivered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Positive, before full delivery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Negative for two quarters running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51D26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Adoption stays broad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Top five customers' share of quarterly revenue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21% in Q3'26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25% or less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25% to 36%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Above 36%, the Q1'26 level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35407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Commitments stay covered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Named commitments / annualised quarterly revenue (multi-year vs one year)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13.8x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Falling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Flat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Rising above 13.8x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Price stays sane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Equity value when we buy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None; $1.0tn assumed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At or below $1.0tn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$1.0tn to $1.5tn, no buying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Above $1.5tn (base 0.92x)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6350">
                      <a:solidFill>
                        <a:srgbClr val="C3CAD2"/>
                      </a:solidFill>
                    </a:lnB>
                    <a:noFill/>
                  </a:tcPr>
                </a:tc>
              </a:tr>
              <a:tr h="23190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51D26"/>
                          </a:solidFill>
                          <a:latin typeface="Arial"/>
                        </a:rPr>
                        <a:t>Oversight stays independent</a:t>
                      </a:r>
                      <a:endParaRPr sz="800" b="1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Trust seats filled, terms unchanged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1 of 5 seats vacant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Vacancy filled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Seat vacant, terms unchanged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51D26"/>
                          </a:solidFill>
                          <a:latin typeface="Arial"/>
                        </a:rPr>
                        <a:t>Trust terms weakened</a:t>
                      </a:r>
                      <a:endParaRPr sz="800" b="0" i="0">
                        <a:solidFill>
                          <a:srgbClr val="151D26"/>
                        </a:solidFill>
                        <a:latin typeface="Arial"/>
                      </a:endParaRPr>
                    </a:p>
                  </a:txBody>
                  <a:tcPr marL="54864" marR="54864" marT="54864" marB="54864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3CAD2"/>
                      </a:solidFill>
                    </a:lnT>
                    <a:lnB w="12700">
                      <a:solidFill>
                        <a:srgbClr val="151D2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rig_n"/>
          <p:cNvSpPr/>
          <p:nvPr/>
        </p:nvSpPr>
        <p:spPr>
          <a:xfrm>
            <a:off x="457200" y="5801614"/>
            <a:ext cx="1127760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SpaceXAI capacity: about $3.1bn a month once fully delivered, expected December 2026 (MD&amp;A: Contractual Obligations).</a:t>
            </a:r>
          </a:p>
        </p:txBody>
      </p:sp>
      <p:sp>
        <p:nvSpPr>
          <p:cNvPr id="15" name="source"/>
          <p:cNvSpPr/>
          <p:nvPr/>
        </p:nvSpPr>
        <p:spPr>
          <a:xfrm>
            <a:off x="457200" y="6163056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5606B"/>
                </a:solidFill>
                <a:latin typeface="Arial"/>
              </a:rPr>
              <a:t>Source: Anthropic, PBC Form S-1 filed 26 October 2026: Cover page; The Offering; Business; Underwriting; Summary Financial Data; MD&amp;A (Key Factors, Liquidity and Capital Resources); Our Governance Structure. Budgets, entry value, price limit and levels:</a:t>
            </a:r>
            <a:br/>
            <a:r>
              <a:rPr sz="750" b="0" i="0">
                <a:solidFill>
                  <a:srgbClr val="55606B"/>
                </a:solidFill>
                <a:latin typeface="Arial"/>
              </a:rPr>
              <a:t>Marlow assumptions.</a:t>
            </a: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ags/tag6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Anthropic, PBC IPO: investment committee pre-read (unofficial demonstration)</dc:title>
  <dc:subject>Unofficial demonstration built from Anthropic, PBC's public Form S-1 (filed 26 October 2026). Not prepared by or affiliated with Anthropic. Not investment advice.</dc:subject>
  <dc:creator>Marlow Street Capital (fictional)</dc:creator>
  <cp:keywords>unofficial; demonstration; Form S-1</cp:keywords>
  <dc:description/>
  <cp:lastModifiedBy>Marlow Street Capital (fictional)</cp:lastModifiedBy>
  <cp:revision>1</cp:revision>
  <dcterms:created xsi:type="dcterms:W3CDTF">2026-10-27T13:12:47Z</dcterms:created>
  <dcterms:modified xsi:type="dcterms:W3CDTF">2026-10-27T13:12:47Z</dcterms:modified>
  <cp:category/>
</cp:coreProperties>
</file>